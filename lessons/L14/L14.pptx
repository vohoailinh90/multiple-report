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8288000" cy="10287000"/>
  <p:notesSz cx="10287000" cy="18288000"/>
  <p:embeddedFontLst>
    <p:embeddedFont>
      <p:font typeface="Be Vietnam Pro"/>
      <p:regular r:id="rId53"/>
      <p:bold r:id="rId50"/>
    </p:embeddedFont>
    <p:embeddedFont>
      <p:font typeface="Bricolage Grotesque ExtraBold"/>
      <p:regular r:id="rId51"/>
    </p:embeddedFont>
    <p:embeddedFont>
      <p:font typeface="Be Vietnam Pro SemiBold"/>
      <p:regular r:id="rId52"/>
    </p:embeddedFont>
    <p:embeddedFont>
      <p:font typeface="Be Vietnam Pro ExtraBold"/>
      <p:regular r:id="rId54"/>
    </p:embeddedFont>
    <p:embeddedFont>
      <p:font typeface="Be Vietnam Pro Medium"/>
      <p:regular r:id="rId5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font" Target="fonts/font1.fntdata"/><Relationship Id="rId51" Type="http://schemas.openxmlformats.org/officeDocument/2006/relationships/font" Target="fonts/font2.fntdata"/><Relationship Id="rId52" Type="http://schemas.openxmlformats.org/officeDocument/2006/relationships/font" Target="fonts/font3.fntdata"/><Relationship Id="rId53" Type="http://schemas.openxmlformats.org/officeDocument/2006/relationships/font" Target="fonts/font4.fntdata"/><Relationship Id="rId54" Type="http://schemas.openxmlformats.org/officeDocument/2006/relationships/font" Target="fonts/font5.fntdata"/><Relationship Id="rId5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652670816-360447001"/>
          <p:cNvSpPr/>
          <p:nvPr/>
        </p:nvSpPr>
        <p:spPr>
          <a:xfrm>
            <a:off x="172402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3" name="Connector line-1792652670819-59380853"/>
          <p:cNvSpPr/>
          <p:nvPr/>
        </p:nvSpPr>
        <p:spPr>
          <a:xfrm>
            <a:off x="161925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4" name="Connector line-1792652670819-258617528"/>
          <p:cNvSpPr/>
          <p:nvPr/>
        </p:nvSpPr>
        <p:spPr>
          <a:xfrm>
            <a:off x="151447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5" name="Connector line-1792652670820-466258076"/>
          <p:cNvSpPr/>
          <p:nvPr/>
        </p:nvSpPr>
        <p:spPr>
          <a:xfrm>
            <a:off x="140970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6" name="Connector line-1792652670820-509502376"/>
          <p:cNvSpPr/>
          <p:nvPr/>
        </p:nvSpPr>
        <p:spPr>
          <a:xfrm>
            <a:off x="130492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7" name="Connector line-1792652670820-685792726"/>
          <p:cNvSpPr/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8" name="Connector line-1792652670821-861035101"/>
          <p:cNvSpPr/>
          <p:nvPr/>
        </p:nvSpPr>
        <p:spPr>
          <a:xfrm>
            <a:off x="109537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9" name="Connector line-1792652670821-619209757"/>
          <p:cNvSpPr/>
          <p:nvPr/>
        </p:nvSpPr>
        <p:spPr>
          <a:xfrm>
            <a:off x="8572500" y="1714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0" name="Connector line-1792652670821-87985078"/>
          <p:cNvSpPr/>
          <p:nvPr/>
        </p:nvSpPr>
        <p:spPr>
          <a:xfrm>
            <a:off x="8572500" y="34290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1" name="Connector line-1792652670822-643785259"/>
          <p:cNvSpPr/>
          <p:nvPr/>
        </p:nvSpPr>
        <p:spPr>
          <a:xfrm>
            <a:off x="8572500" y="5143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2" name="Connector line-1792652670822-400453308"/>
          <p:cNvSpPr/>
          <p:nvPr/>
        </p:nvSpPr>
        <p:spPr>
          <a:xfrm>
            <a:off x="8572500" y="68580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3" name="Connector line-1792652670823-131509290"/>
          <p:cNvSpPr/>
          <p:nvPr/>
        </p:nvSpPr>
        <p:spPr>
          <a:xfrm>
            <a:off x="8572500" y="8572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100" b="1" spc="4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Não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81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8100" dirty="0"/>
          </a:p>
        </p:txBody>
      </p:sp>
      <p:sp>
        <p:nvSpPr>
          <p:cNvPr id="16" name="Text 14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"Não</a:t>
            </a:r>
            <a:r>
              <a:rPr lang="en-US" sz="3300" dirty="0" spc="1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3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</a:t>
            </a:r>
            <a:r>
              <a:rPr lang="en-US" sz="3300" dirty="0" spc="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3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</a:t>
            </a:r>
            <a:r>
              <a:rPr lang="en-US" sz="33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tuổi"</a:t>
            </a:r>
            <a:r>
              <a:rPr lang="en-US" sz="330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 không?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Tuổi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Myelin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a9d63cc-8059-4f71-bd99-e1d1308982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ctr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Nếu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 thay</a:t>
            </a:r>
            <a:r>
              <a:rPr lang="en-US" sz="66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suốt</a:t>
            </a:r>
            <a:r>
              <a:rPr lang="en-US" sz="6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đời,</a:t>
            </a:r>
            <a:r>
              <a:rPr lang="en-US" sz="66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tuổi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dậy</a:t>
            </a:r>
            <a:r>
              <a:rPr lang="en-US" sz="66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6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6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nhạy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cảm,</a:t>
            </a:r>
            <a:r>
              <a:rPr lang="en-US" sz="66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"não</a:t>
            </a:r>
            <a:r>
              <a:rPr lang="en-US" sz="66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</a:t>
            </a:r>
            <a:r>
              <a:rPr lang="en-US" sz="66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tuổi"</a:t>
            </a:r>
            <a:r>
              <a:rPr lang="en-US" sz="6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392"/>
              </a:lnSpc>
              <a:buNone/>
            </a:pPr>
            <a:r>
              <a:rPr lang="en-US" sz="66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600" dirty="0" spc="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6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pPr algn="l" indent="0" marL="0">
              <a:lnSpc>
                <a:spcPts val="7392"/>
              </a:lnSpc>
              <a:buNone/>
            </a:pP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1893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0c611627-dee0-4ccf-93ef-cc5da9fd51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cư,</a:t>
            </a:r>
            <a:r>
              <a:rPr lang="en-US" sz="255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Thừa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synapse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myelin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Cửa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sổ</a:t>
            </a:r>
            <a:r>
              <a:rPr lang="en-US" sz="31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1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389697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6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Tuổi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 thành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niên</a:t>
            </a:r>
            <a:r>
              <a:rPr lang="en-US" sz="31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1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1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[S14]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54544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03/43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ff08ffa3-b63f-4f4a-88b6-002b4c1187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r>
              <a:rPr lang="en-US" sz="57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khoa: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luận: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30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Suy luận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viết: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0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67195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04/43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d62bd0fe-3c2f-4b85-b7f8-25b74cc4a0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Tăng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sinh: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endParaRPr lang="en-US" sz="2700" dirty="0"/>
          </a:p>
        </p:txBody>
      </p:sp>
      <p:sp>
        <p:nvSpPr>
          <p:cNvPr id="7" name="Connector line-1792652674249-123936396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cư: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non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endParaRPr lang="en-US" sz="2700" dirty="0"/>
          </a:p>
        </p:txBody>
      </p:sp>
      <p:sp>
        <p:nvSpPr>
          <p:cNvPr id="12" name="Connector line-1792652674253-510121159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nhóm: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endParaRPr lang="en-US" sz="2700" dirty="0"/>
          </a:p>
        </p:txBody>
      </p:sp>
      <p:sp>
        <p:nvSpPr>
          <p:cNvPr id="17" name="Connector line-1792652674257-749874044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Chết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chương trình: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thừa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79847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05/43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285488bb-073f-4a5f-b50f-8ace3c0975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9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Tăng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đóng,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85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(neurogenesis)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thai;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tia,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đoan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tục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28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tia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thất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 kinh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tuần thứ tư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 thai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nơron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cư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sợi trục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92498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06/43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15045e8c-3a28-4504-abad-ac25b1465a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Tế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 kinh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myelin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652676436-7256149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89903" y="2438400"/>
            <a:ext cx="7145495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Blausen.com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staff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BruceBlaus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(Wikiversity);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 7.3)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Oligodendrocytes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7908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tế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 ít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nhánh,</a:t>
            </a: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myelin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tủy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8290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8290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39243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Schwann</a:t>
            </a:r>
            <a:r>
              <a:rPr lang="en-US" sz="22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cells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3719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tế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Schwann,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myelin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ngoại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4102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4102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054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Astrocytes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59531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tế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1391900" y="69913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91900" y="69913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7"/>
          <p:cNvSpPr/>
          <p:nvPr/>
        </p:nvSpPr>
        <p:spPr>
          <a:xfrm>
            <a:off x="11734800" y="70866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Microglia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34800" y="75342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tế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5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205149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07/43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8dcaef1f-5bce-44b8-a5f2-a79f5aa4619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Chết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Apoptosis</a:t>
            </a:r>
            <a:r>
              <a:rPr lang="en-US" sz="3300" dirty="0" spc="-3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(chết</a:t>
            </a:r>
            <a:r>
              <a:rPr lang="en-US" sz="33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300" dirty="0" spc="-2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3300" dirty="0" spc="-2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trình)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non;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Necrosis</a:t>
            </a:r>
            <a:r>
              <a:rPr lang="en-US" sz="4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(hoại</a:t>
            </a: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31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thương,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quỵ;</a:t>
            </a:r>
            <a:r>
              <a:rPr lang="en-US" sz="31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vụn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17801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6eac938f-589b-4fd0-8727-79a0ce6def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Đỉnh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sớm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muộn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5700" dirty="0"/>
          </a:p>
        </p:txBody>
      </p:sp>
      <p:sp>
        <p:nvSpPr>
          <p:cNvPr id="3" name="Connector line-1792652733676-414786290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72415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Connector line-1792652733676-91420984"/>
          <p:cNvSpPr/>
          <p:nvPr/>
        </p:nvSpPr>
        <p:spPr>
          <a:xfrm flipV="1">
            <a:off x="2971800" y="523875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Những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đời: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389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Connector line-1792652733682-518805176"/>
          <p:cNvSpPr/>
          <p:nvPr/>
        </p:nvSpPr>
        <p:spPr>
          <a:xfrm>
            <a:off x="7086600" y="605790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2197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Cuối năm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đầu: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95375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Connector line-1792652733686-116285096"/>
          <p:cNvSpPr/>
          <p:nvPr/>
        </p:nvSpPr>
        <p:spPr>
          <a:xfrm flipV="1">
            <a:off x="11201400" y="523875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3345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thơ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ấu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sớm: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50685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4" name="Connector line-1792652733689-780474028"/>
          <p:cNvSpPr/>
          <p:nvPr/>
        </p:nvSpPr>
        <p:spPr>
          <a:xfrm>
            <a:off x="15316200" y="605790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34493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đó: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30452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09/43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686b8948-65f8-433c-999a-8202b92f71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 theo giai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 phát triển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52734821-3318543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2711" y="2438400"/>
            <a:ext cx="8456879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National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Library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Medicine,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Attributions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 (chương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Xanh</a:t>
            </a:r>
            <a:r>
              <a:rPr lang="en-US" sz="2187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lá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giác, thính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Xanh</a:t>
            </a:r>
            <a:r>
              <a:rPr lang="en-US" sz="2187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dương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Broca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Đỏ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F8D9D0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 cao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 Đường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cong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 chậm hơn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43103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8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10/43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4f82e351-b9ed-4a5c-b23a-f082df414db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tỉa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Sau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thừa,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synapse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chương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Khác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mạng: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sớm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nhất,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ngữ,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bậc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cao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210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r>
              <a:rPr lang="en-US" sz="2100" dirty="0" spc="1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1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đề</a:t>
            </a:r>
            <a:r>
              <a:rPr lang="en-US" sz="21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xuất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Giữ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 quả, bỏ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ít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dùng;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myelin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[S4]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1800" dirty="0" spc="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18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(người/động</a:t>
            </a:r>
            <a:r>
              <a:rPr lang="en-US" sz="180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vật;</a:t>
            </a: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loại)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quan,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giáo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trình;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100" dirty="0" spc="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210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rõ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Synapse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thừa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kém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 quả: còn là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Cắt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tỉa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phải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thoái hóa;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chuyên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biệt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ổn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55755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11/43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76b73576-559b-4773-95ef-6d657fcf2f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Chất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trắng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đạt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đỉnh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muộn nhất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23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28,7</a:t>
            </a:r>
            <a:r>
              <a:rPr lang="en-US" sz="225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Đỉnh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 tích</a:t>
            </a:r>
            <a:r>
              <a:rPr lang="en-US" sz="33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3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trắng</a:t>
            </a:r>
            <a:r>
              <a:rPr lang="en-US" sz="33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3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33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cong</a:t>
            </a:r>
            <a:r>
              <a:rPr lang="en-US" sz="33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chuẩn</a:t>
            </a:r>
            <a:r>
              <a:rPr lang="en-US" sz="33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[S7]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33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trình:</a:t>
            </a:r>
            <a:r>
              <a:rPr lang="en-US" sz="33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myelin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3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hơn,</a:t>
            </a:r>
            <a:r>
              <a:rPr lang="en-US" sz="33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33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68406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12/43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c7b7931c-2b8d-48f1-9ab6-508d333ff5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dẻo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8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dẻo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(neuroplasticity)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nghiệm;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khi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 cấu trúc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(quy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Hebb,</a:t>
            </a:r>
            <a:r>
              <a:rPr lang="en-US" sz="2850" dirty="0" spc="-8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LTP,</a:t>
            </a:r>
            <a:r>
              <a:rPr lang="en-US" sz="2850" dirty="0" spc="-9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LTD)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L02.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dẻo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850" b="1" dirty="0" spc="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dẻo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niên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mức</a:t>
            </a:r>
            <a:r>
              <a:rPr lang="en-US" sz="195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synapse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LTP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7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LTD,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4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mức</a:t>
            </a: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195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thống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 có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dẻo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dẻo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81057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13/43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e60bcee0-9833-416b-a353-7627a44f0a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 dụ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 làm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</a:t>
            </a:r>
            <a:r>
              <a:rPr lang="en-US" sz="57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Động</a:t>
            </a:r>
            <a:r>
              <a:rPr lang="en-US" sz="4200" dirty="0" spc="-3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bịt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vĩnh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viễn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31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sớm,</a:t>
            </a: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xúc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thính giác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93709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bfc2804f-e16b-443b-865f-5f32fc4282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Dẻo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57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kém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ổn</a:t>
            </a:r>
            <a:r>
              <a:rPr lang="en-US" sz="57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dẻo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linh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4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kém</a:t>
            </a:r>
            <a:r>
              <a:rPr lang="en-US" sz="6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ổn</a:t>
            </a:r>
            <a:r>
              <a:rPr lang="en-US" sz="6900" dirty="0" spc="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kém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quả,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06360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b1591290-e7f5-48e0-9175-4253829ad7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Nhạy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Giai</a:t>
            </a: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 nhạy</a:t>
            </a:r>
            <a:r>
              <a:rPr lang="en-US" sz="42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mạnh;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1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31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Giai</a:t>
            </a: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4200" dirty="0" spc="-3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cảm;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19011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6e2f48b1-d7ed-47f1-9845-5720b465c7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Ngôn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hai: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Johnson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Newport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1989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 Anh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46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tuổi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3–39,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quan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thì;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nhạy</a:t>
            </a:r>
            <a:r>
              <a:rPr lang="en-US" sz="28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Mẫu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7859" rIns="0" bIns="-17859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46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tiếng Hàn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2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Trung,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Mỹ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3–39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Nhãn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tương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ngưỡng</a:t>
            </a:r>
            <a:r>
              <a:rPr lang="en-US" sz="2400" dirty="0" spc="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"7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tuổi"</a:t>
            </a:r>
            <a:r>
              <a:rPr lang="en-US" sz="240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31663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17/43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55710e37-668d-4f5d-977a-e46074c720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Điểm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pháp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52808950-4437625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25436" y="2438400"/>
            <a:ext cx="6531429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National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Library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Medicine,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Attributions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 7.5)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Native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Age of</a:t>
            </a:r>
            <a:r>
              <a:rPr lang="en-US" sz="22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Exposure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tuổi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 giữ cao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nhóm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3–7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tuổi,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 ở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5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 không phải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544314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18/43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0c87574d-9c98-4633-a5da-e20b5b695ff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Genie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Học</a:t>
            </a:r>
            <a:r>
              <a:rPr lang="en-US" sz="300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ngôn</a:t>
            </a:r>
            <a:r>
              <a:rPr lang="en-US" sz="300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ngữ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</a:t>
            </a:r>
            <a:r>
              <a:rPr lang="en-US" sz="30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quan,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Bịt</a:t>
            </a:r>
            <a:r>
              <a:rPr lang="en-US" sz="30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0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mắt</a:t>
            </a:r>
            <a:r>
              <a:rPr lang="en-US" sz="30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3000" dirty="0" spc="-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30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mù</a:t>
            </a:r>
            <a:r>
              <a:rPr lang="en-US" sz="30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sớm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Genie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56965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19/43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517da3fc-d8d5-49c5-bf78-0c640e379d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sơ: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nhạy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Nhạy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cảm: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cửa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sổ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nghiệm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mạnh;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hạn: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tập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đảo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ngược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Chủ</a:t>
            </a:r>
            <a:r>
              <a:rPr lang="en-US" sz="25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thời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thơ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ấu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sớm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(giác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quan,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550" dirty="0" spc="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ngữ);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tuổi vị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 niên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210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r>
              <a:rPr lang="en-US" sz="2100" dirty="0" spc="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1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đề</a:t>
            </a:r>
            <a:r>
              <a:rPr lang="en-US" sz="21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xuất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Tính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dẻo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cao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cửa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sổ,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ổn</a:t>
            </a:r>
            <a:r>
              <a:rPr lang="en-US" sz="255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[S4]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1800" dirty="0" spc="1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18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(người/động</a:t>
            </a:r>
            <a:r>
              <a:rPr lang="en-US" sz="1800" dirty="0" spc="-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vật;</a:t>
            </a:r>
            <a:r>
              <a:rPr lang="en-US" sz="18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loại)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Người: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tuổi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Genie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vật: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bịt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mắt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100" dirty="0" spc="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210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rõ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Ranh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nhạy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cảm/tới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hạn;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cửa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sổ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 sớm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"sau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7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tuổi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 học";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suốt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đời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969617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20/43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ab651eb6-12a8-4663-b6c5-a21bcc4933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Tuổi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niên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tuổi</a:t>
            </a:r>
            <a:r>
              <a:rPr lang="en-US" sz="28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(adolescence)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giai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thơ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ấu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thành,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10–24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Sawyer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2018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hội,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20,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hôn, làm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 mở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10–19 lên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10–24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Giáo</a:t>
            </a: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thường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coi là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10–24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Sawyer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2018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nên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10–19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10–24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24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phải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82268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21/43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bf82e734-e611-42d4-89bb-215b306671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Tuổi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đỉnh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Độ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dày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bình: khoảng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1,7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Thể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0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5,9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Diện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bề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 11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tuổi;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0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đại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12,5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Thể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0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 14,4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Thể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trắng: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28,7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394919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22/43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798c3971-9616-4914-9bb1-cb8dd94532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biểu</a:t>
            </a:r>
            <a:r>
              <a:rPr lang="en-US" sz="57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652813893-7827053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14682" y="2438400"/>
            <a:ext cx="6295937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Bethlehem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2022,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Grey</a:t>
            </a:r>
            <a:r>
              <a:rPr lang="en-US" sz="22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matter</a:t>
            </a:r>
            <a:r>
              <a:rPr lang="en-US" sz="22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volume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7908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thể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55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8290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8290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39243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White</a:t>
            </a:r>
            <a:r>
              <a:rPr lang="en-US" sz="22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matter</a:t>
            </a:r>
            <a:r>
              <a:rPr lang="en-US" sz="22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volume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3719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thể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trắng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4102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4102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054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Subcortical</a:t>
            </a:r>
            <a:r>
              <a:rPr lang="en-US" sz="2250" dirty="0" spc="-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grey</a:t>
            </a:r>
            <a:r>
              <a:rPr lang="en-US" sz="22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matter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59531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r>
              <a:rPr lang="en-US" sz="25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1391900" y="69913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91900" y="69913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7"/>
          <p:cNvSpPr/>
          <p:nvPr/>
        </p:nvSpPr>
        <p:spPr>
          <a:xfrm>
            <a:off x="11734800" y="70866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Ventricular</a:t>
            </a:r>
            <a:r>
              <a:rPr lang="en-US" sz="225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volume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34800" y="75342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thể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 não</a:t>
            </a: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thất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607571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Shape 4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23/43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e212640a-0151-4192-8fa5-434cb8c4cc5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chỉ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đỉnh</a:t>
            </a:r>
            <a:r>
              <a:rPr lang="en-US" sz="69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r>
              <a:rPr lang="en-US" sz="69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1,7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28,7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r>
              <a:rPr lang="en-US" sz="69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[S7];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NIMH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"giữa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20"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[S18].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20222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716086d1-c334-4405-a73b-1e396da10f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Tuổi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niên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nhạy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niên "hiện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rãi"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 đoạn</a:t>
            </a:r>
            <a:r>
              <a:rPr lang="en-US" sz="28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8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Fuhrmann,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Knoll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Blakemore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 căng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chất;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dẻo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tăng,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850" b="1" dirty="0" spc="2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giai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tuổi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lớn còn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Giáo</a:t>
            </a: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hiện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coi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rãi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Fuhrmann</a:t>
            </a: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2015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bằng</a:t>
            </a:r>
            <a:r>
              <a:rPr lang="en-US" sz="24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Nhãn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4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[S12]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32873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25/43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b86fda27-190a-4e47-848d-390f04948d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sơ: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niên như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nhạy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Giai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thơ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ấu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trưởng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thành,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coi là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10–24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tuổi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[S6]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Đầu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gắn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 dậy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thì,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cuối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gắn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lẫn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xã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hội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210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r>
              <a:rPr lang="en-US" sz="2100" dirty="0" spc="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1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đề</a:t>
            </a:r>
            <a:r>
              <a:rPr lang="en-US" sz="21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xuất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Thùy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muộn,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myelin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hóa,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 lý</a:t>
            </a: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xã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hội–cảm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dậy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[S4]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1800" dirty="0" spc="1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18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(người/động</a:t>
            </a:r>
            <a:r>
              <a:rPr lang="en-US" sz="1800" dirty="0" spc="-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vật;</a:t>
            </a:r>
            <a:r>
              <a:rPr lang="en-US" sz="18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loại)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Hình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người,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 từ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chuột;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 nghiệm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sánh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tuổi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100" dirty="0" spc="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210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rõ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Bằng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giai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nhạy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tuổi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10–24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phải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ranh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nguồn nêu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"chín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25"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[S7]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245525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26/43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9a78d972-4c92-4676-a647-f5f7c4f943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kép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Dậy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70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xã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hội–cảm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đổi,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</a:t>
            </a:r>
            <a:r>
              <a:rPr lang="en-US" sz="2700" dirty="0" spc="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[S9]</a:t>
            </a:r>
            <a:endParaRPr lang="en-US" sz="2700" dirty="0"/>
          </a:p>
        </p:txBody>
      </p:sp>
      <p:sp>
        <p:nvSpPr>
          <p:cNvPr id="7" name="Connector line-1792652882633-308096161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muộn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endParaRPr lang="en-US" sz="2700" dirty="0"/>
          </a:p>
        </p:txBody>
      </p:sp>
      <p:sp>
        <p:nvSpPr>
          <p:cNvPr id="12" name="Connector line-1792652882635-872333299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Lệch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nhịp: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dễ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liều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[S9]</a:t>
            </a:r>
            <a:endParaRPr lang="en-US" sz="2700" dirty="0"/>
          </a:p>
        </p:txBody>
      </p:sp>
      <p:sp>
        <p:nvSpPr>
          <p:cNvPr id="17" name="Connector line-1792652882639-911161084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đó: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hiểm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[S9]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58176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27/43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39bfd25-87dc-4d0e-8b8e-39027c3ee3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 kia: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ủng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Pfeifer</a:t>
            </a:r>
            <a:r>
              <a:rPr lang="en-US" sz="2850" b="1" dirty="0" spc="-2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Allen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quan,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rộng,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nó; họ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kêu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850" b="1" dirty="0" spc="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Crone và</a:t>
            </a:r>
            <a:r>
              <a:rPr lang="en-US" sz="28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Dahl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"vỏ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chín";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 mạnh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hội–cảm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thì,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mang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thích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linh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Pfeifer</a:t>
            </a:r>
            <a:r>
              <a:rPr lang="en-US" sz="195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&amp;</a:t>
            </a:r>
            <a:r>
              <a:rPr lang="en-US" sz="195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Allen</a:t>
            </a:r>
            <a:r>
              <a:rPr lang="en-US" sz="195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2012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bằng</a:t>
            </a:r>
            <a:r>
              <a:rPr lang="en-US" sz="24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khớp hệ</a:t>
            </a:r>
            <a:r>
              <a:rPr lang="en-US" sz="24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kép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Crone</a:t>
            </a:r>
            <a:r>
              <a:rPr lang="en-US" sz="19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&amp;</a:t>
            </a:r>
            <a:r>
              <a:rPr lang="en-US" sz="195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Dahl</a:t>
            </a:r>
            <a:r>
              <a:rPr lang="en-US" sz="19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2012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"vỏ trán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chín"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 hai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lưới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4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xã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hội–cảm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70827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28/43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a6ce9a8b-f184-4295-becb-41fb7f4290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57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kép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1C423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3750" dirty="0" spc="-1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kép</a:t>
            </a:r>
            <a:r>
              <a:rPr lang="en-US" sz="375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(Casey,</a:t>
            </a:r>
            <a:r>
              <a:rPr lang="en-US" sz="3750" dirty="0" spc="-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Steinberg)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1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hội–cảm xúc</a:t>
            </a:r>
            <a:r>
              <a:rPr lang="en-US" sz="31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1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 muộn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330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3300" dirty="0" spc="-3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(Pfeifer,</a:t>
            </a:r>
            <a:r>
              <a:rPr lang="en-US" sz="3300" dirty="0" spc="-3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Crone)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quá</a:t>
            </a:r>
            <a:r>
              <a:rPr lang="en-US" sz="31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giản;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1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r>
              <a:rPr lang="en-US" sz="31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[S11]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3479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90591ad3-a9ff-40eb-bf0d-ab57c8d45f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Rủi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57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cực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Khám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sắc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[S3].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096130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3b976052-15b1-464d-8748-16ec5950fa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Tương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nghèo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thuở nhỏ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tập,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thấp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hơn;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8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tích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thành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8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Cắt</a:t>
            </a:r>
            <a:r>
              <a:rPr lang="en-US" sz="19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ngang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4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000625"/>
            <a:ext cx="4438650" cy="12477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 cho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630150" y="6943725"/>
            <a:ext cx="4438650" cy="12477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08781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31/43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3328aedd-3481-4a4c-bf1c-630b95eb50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Baby's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First</a:t>
            </a:r>
            <a:r>
              <a:rPr lang="en-US" sz="57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Years: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57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562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562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Nhóm</a:t>
            </a:r>
            <a:r>
              <a:rPr lang="en-US" sz="2550" dirty="0" spc="-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nghiên</a:t>
            </a:r>
            <a:r>
              <a:rPr lang="en-US" sz="2550" dirty="0" spc="3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cứu</a:t>
            </a:r>
            <a:endParaRPr lang="en-US" sz="2550" dirty="0"/>
          </a:p>
        </p:txBody>
      </p:sp>
      <p:sp>
        <p:nvSpPr>
          <p:cNvPr id="5" name="Connector line-1792652887858-501232547"/>
          <p:cNvSpPr/>
          <p:nvPr/>
        </p:nvSpPr>
        <p:spPr>
          <a:xfrm>
            <a:off x="36576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485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Hai</a:t>
            </a:r>
            <a:r>
              <a:rPr lang="en-US" sz="255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nhóm</a:t>
            </a:r>
            <a:r>
              <a:rPr lang="en-US" sz="255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mẹ</a:t>
            </a:r>
            <a:endParaRPr lang="en-US" sz="2550" dirty="0"/>
          </a:p>
        </p:txBody>
      </p:sp>
      <p:sp>
        <p:nvSpPr>
          <p:cNvPr id="8" name="Connector line-1792652887859-19804300"/>
          <p:cNvSpPr/>
          <p:nvPr/>
        </p:nvSpPr>
        <p:spPr>
          <a:xfrm>
            <a:off x="91440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534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2534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2550" dirty="0" spc="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điện</a:t>
            </a:r>
            <a:r>
              <a:rPr lang="en-US" sz="25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endParaRPr lang="en-US" sz="2550" dirty="0"/>
          </a:p>
        </p:txBody>
      </p:sp>
      <p:sp>
        <p:nvSpPr>
          <p:cNvPr id="11" name="Connector line-1792652887860-886680418"/>
          <p:cNvSpPr/>
          <p:nvPr/>
        </p:nvSpPr>
        <p:spPr>
          <a:xfrm>
            <a:off x="146304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Connector line-1792652887860-923454562"/>
          <p:cNvSpPr/>
          <p:nvPr/>
        </p:nvSpPr>
        <p:spPr>
          <a:xfrm>
            <a:off x="3657600" y="4667250"/>
            <a:ext cx="5486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52850" y="386715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1.000 bà mẹ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2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Mỹ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[S5]</a:t>
            </a:r>
            <a:endParaRPr lang="en-US" sz="2250" dirty="0"/>
          </a:p>
        </p:txBody>
      </p:sp>
      <p:sp>
        <p:nvSpPr>
          <p:cNvPr id="14" name="Connector line-1792652887862-175938731"/>
          <p:cNvSpPr/>
          <p:nvPr/>
        </p:nvSpPr>
        <p:spPr>
          <a:xfrm>
            <a:off x="3657600" y="5629275"/>
            <a:ext cx="54864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752850" y="4829175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ngẫu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nhiên: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333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 hoặc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 mỗi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[S5]</a:t>
            </a:r>
            <a:endParaRPr lang="en-US" sz="2250" dirty="0"/>
          </a:p>
        </p:txBody>
      </p:sp>
      <p:sp>
        <p:nvSpPr>
          <p:cNvPr id="16" name="Connector line-1792652887864-366025935"/>
          <p:cNvSpPr/>
          <p:nvPr/>
        </p:nvSpPr>
        <p:spPr>
          <a:xfrm>
            <a:off x="9144000" y="6591300"/>
            <a:ext cx="54864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239250" y="579120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 tuổi:</a:t>
            </a:r>
            <a:r>
              <a:rPr lang="en-US" sz="22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2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nghỉ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nhà,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435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[S16]</a:t>
            </a:r>
            <a:endParaRPr lang="en-US" sz="2250" dirty="0"/>
          </a:p>
        </p:txBody>
      </p:sp>
      <p:sp>
        <p:nvSpPr>
          <p:cNvPr id="18" name="Connector line-1792652887865-746440341"/>
          <p:cNvSpPr/>
          <p:nvPr/>
        </p:nvSpPr>
        <p:spPr>
          <a:xfrm>
            <a:off x="14630400" y="7038975"/>
            <a:ext cx="0" cy="8572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677400" y="7038975"/>
            <a:ext cx="4724400" cy="857250"/>
          </a:xfrm>
          <a:prstGeom prst="rect">
            <a:avLst/>
          </a:prstGeom>
          <a:noFill/>
          <a:ln/>
        </p:spPr>
        <p:txBody>
          <a:bodyPr wrap="square" lIns="0" tIns="17059" rIns="0" bIns="-17059" rtlCol="0" anchor="ctr"/>
          <a:lstStyle/>
          <a:p>
            <a:pPr algn="r" indent="0" marL="0">
              <a:lnSpc>
                <a:spcPts val="2145"/>
              </a:lnSpc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195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19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đầu: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 tiền có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19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suất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dải</a:t>
            </a:r>
            <a:r>
              <a:rPr lang="en-US" sz="19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[S16]</a:t>
            </a:r>
            <a:endParaRPr lang="en-US" sz="1950" dirty="0"/>
          </a:p>
        </p:txBody>
      </p:sp>
      <p:sp>
        <p:nvSpPr>
          <p:cNvPr id="20" name="Connector line-1792652887867-448254843"/>
          <p:cNvSpPr/>
          <p:nvPr/>
        </p:nvSpPr>
        <p:spPr>
          <a:xfrm>
            <a:off x="14630400" y="8001000"/>
            <a:ext cx="0" cy="8572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77400" y="8001000"/>
            <a:ext cx="4724400" cy="85725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ctr"/>
          <a:lstStyle/>
          <a:p>
            <a:pPr algn="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22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 nghĩa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[S16]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[S16]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21433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5" name="Shape 53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32/43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cb5c46e9-3b3b-4922-910e-ecef04d970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tuổi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1C423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Khoảng</a:t>
            </a:r>
            <a:r>
              <a:rPr lang="en-US" sz="42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42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tiền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</a:t>
            </a:r>
            <a:r>
              <a:rPr lang="en-US" sz="31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 hơn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42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15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1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34084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4ad06028-642b-47c9-a4f9-ace8c517a2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nhóm,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phải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 đoán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đứa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trẻ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nghèo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chắc</a:t>
            </a: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chắn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cha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mẹ</a:t>
            </a: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"gây</a:t>
            </a:r>
            <a:r>
              <a:rPr lang="en-US" sz="6900" dirty="0" spc="-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ra"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[S5]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[S17].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[S17]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46736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65776273-c045-450d-94c6-c80332c001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Sinh</a:t>
            </a: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nơron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lớn:</a:t>
            </a: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 người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chào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đời;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thành,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850" b="1" dirty="0" spc="-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răng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cưa;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sót;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</a:t>
            </a:r>
            <a:r>
              <a:rPr lang="en-US" sz="28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cãi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Giáo</a:t>
            </a: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cãi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Nơi</a:t>
            </a:r>
            <a:r>
              <a:rPr lang="en-US" sz="1950" dirty="0" spc="-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nhất</a:t>
            </a: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quán</a:t>
            </a: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răng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cưa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Năm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Eriksson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1998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(giáo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1997)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59387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35/43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0187b593-66e0-49e6-9612-357ffcc8b2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Sorrells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Boldrini: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57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Sorrells</a:t>
            </a:r>
            <a:r>
              <a:rPr lang="en-US" sz="42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trẻ;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ở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18–77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Boldrini</a:t>
            </a:r>
            <a:r>
              <a:rPr lang="en-US" sz="42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14–79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tuổi;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[S15]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72038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f35ee30e-ea88-4c1d-ac18-34f6042525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nơron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Việc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trưởng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Chủ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18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tháng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sinh;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đang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[S14] [S15]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210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r>
              <a:rPr lang="en-US" sz="2100" dirty="0" spc="1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1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đề</a:t>
            </a:r>
            <a:r>
              <a:rPr lang="en-US" sz="21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xuất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Tế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bào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tiền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hạt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non;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sót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1800" dirty="0" spc="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18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(người/động</a:t>
            </a:r>
            <a:r>
              <a:rPr lang="en-US" sz="180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vật;</a:t>
            </a: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loại)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chết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phẫu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thuật,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2018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ngược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nhau;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khỉ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[S15]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100" dirty="0" spc="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210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rõ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bao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nhiêu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[S14] [S15]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chốt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 hai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chiều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[S15]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[S14] [S15]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84690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5" name="Shape 63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37/43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2fd9acb5-2b00-4f56-923f-f3ca0ca4aa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Lão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ở</a:t>
            </a:r>
            <a:r>
              <a:rPr lang="en-US" sz="57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5700" dirty="0"/>
          </a:p>
        </p:txBody>
      </p:sp>
      <p:sp>
        <p:nvSpPr>
          <p:cNvPr id="3" name="Connector line-1792652944939-868387040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7241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Connector line-1792652944940-969283440"/>
          <p:cNvSpPr/>
          <p:nvPr/>
        </p:nvSpPr>
        <p:spPr>
          <a:xfrm flipV="1">
            <a:off x="2971800" y="523875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 5,9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tuổi: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tuyến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389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Connector line-1792652944941-249321103"/>
          <p:cNvSpPr/>
          <p:nvPr/>
        </p:nvSpPr>
        <p:spPr>
          <a:xfrm>
            <a:off x="7086600" y="605790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2197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50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tuổi: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trắng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9537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Connector line-1792652944943-868776729"/>
          <p:cNvSpPr/>
          <p:nvPr/>
        </p:nvSpPr>
        <p:spPr>
          <a:xfrm flipV="1">
            <a:off x="11201400" y="523875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3345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Đến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tuổi: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thất</a:t>
            </a:r>
            <a:r>
              <a:rPr lang="en-US" sz="2700" dirty="0" spc="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506855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Connector line-1792652944944-665189647"/>
          <p:cNvSpPr/>
          <p:nvPr/>
        </p:nvSpPr>
        <p:spPr>
          <a:xfrm>
            <a:off x="15316200" y="605790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34493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Thập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sáu: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thất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 theo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97341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5" name="Shape 53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38/43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78396918-751c-48fa-9ce4-2a3b286ea2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"Não chín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tuổi"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"độ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chín"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não.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Bethlehem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3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1,7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28,7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 NIMH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"giữa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 tuổi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20" ở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chúng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Sawyer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niên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thể</a:t>
            </a:r>
            <a:r>
              <a:rPr lang="en-US" sz="28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từ,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48000"/>
            <a:ext cx="4438650" cy="12477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riêng,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1,7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28,7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NIMH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"giữa đến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20"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630150" y="6943725"/>
            <a:ext cx="4438650" cy="12477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Đỉnh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09992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39/43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df4eafd3-913a-4fb6-a6d4-7c5b4b58e3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 tuổi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31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1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liều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69645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31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mới,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chắn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[S14]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[S15]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dẻo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[S10] [S14]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222644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2" name="Shape 60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40/43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462de2eb-052d-4f96-84cf-6d04d2593b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Tương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Thu</a:t>
            </a: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nhập</a:t>
            </a:r>
            <a:r>
              <a:rPr lang="en-US" sz="3000" dirty="0" spc="-2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cấu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trúc não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 ngang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Thử</a:t>
            </a:r>
            <a:r>
              <a:rPr lang="en-US" sz="3000" dirty="0" spc="-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nghiệm</a:t>
            </a:r>
            <a:r>
              <a:rPr lang="en-US" sz="30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ngẫu nhiên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 ở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Theo</a:t>
            </a:r>
            <a:r>
              <a:rPr lang="en-US" sz="30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dõi</a:t>
            </a:r>
            <a:r>
              <a:rPr lang="en-US" sz="30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</a:t>
            </a: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tuổi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nghĩa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30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luận</a:t>
            </a:r>
            <a:r>
              <a:rPr lang="en-US" sz="30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</a:t>
            </a:r>
            <a:r>
              <a:rPr lang="en-US" sz="300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000" dirty="0" spc="1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đứa</a:t>
            </a:r>
            <a:r>
              <a:rPr lang="en-US" sz="3000" dirty="0" spc="-1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trẻ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7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[S16] [S17]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35295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1" name="Shape 59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41/43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a267abae-24f2-452b-a824-7345bc504e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Dựng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tự;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thừa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tỉa,</a:t>
            </a:r>
            <a:r>
              <a:rPr lang="en-US" sz="30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myelin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[S1]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Dẻo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ổn</a:t>
            </a:r>
            <a:r>
              <a:rPr lang="en-US" sz="300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[S4];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cửa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sổ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rộng,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[S3];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ngưỡng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r>
              <a:rPr lang="en-US" sz="300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[S13]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Tuổi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 thành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niên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10–24;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giai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[S12];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"chín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25"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[S7]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300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kép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[S9]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[S10]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[S11];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0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vậy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[S14]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[S15]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Tương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nhập–não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[S5];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[S16],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tuổi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[S17]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[S15]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47946" y="9549366"/>
            <a:ext cx="141767" cy="1417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1" name="Shape 59"/>
          <p:cNvSpPr/>
          <p:nvPr/>
        </p:nvSpPr>
        <p:spPr>
          <a:xfrm>
            <a:off x="9878318" y="9567087"/>
            <a:ext cx="106326" cy="106326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42/43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826389a3-ee46-4851-a7c6-9e0dd9ad28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7.3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Stages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Neuronal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7.4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Neuroplasticity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7.5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Sensitive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Critical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Periods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7.6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Plasticity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Efficiency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7.7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Infancy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Adulthood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Sawyer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adolescence,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Lancet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Child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Adolesc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Health,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Bethlehem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charts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lifespan,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Casey,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Jones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Hare,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adolescent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 NY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Acad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2008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Steinberg,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Social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adolescent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risk-taking,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</a:t>
            </a:r>
            <a:r>
              <a:rPr lang="en-US" sz="16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2008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Pfeifer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Allen,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Arrested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development?,</a:t>
            </a:r>
            <a:r>
              <a:rPr lang="en-US" sz="16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Trends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Crone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Dahl,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Social–affective engagement,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16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Fuhrmann, Knoll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Blakemore,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Adolescence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sensitive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period,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Johnson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Newport,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Critical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period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effects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second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1989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Sorrells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Hippocampal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neurogenesis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drops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sharply,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2018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Boldrini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Neurogenesis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persists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throughout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aging,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Cell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Stem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Cell, 2018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Troller-Renfree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Poverty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reduction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infant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PNAS,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Noble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 Cash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four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years,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NBER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w33844,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2025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NIMH, The</a:t>
            </a:r>
            <a:r>
              <a:rPr lang="en-US" sz="18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Teen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Brain: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Things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Know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(không</a:t>
            </a:r>
            <a:r>
              <a:rPr lang="en-US" sz="18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năm)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469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5961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7226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849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9756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01021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22287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43552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64817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86082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07347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28612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49877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71143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92408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13673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34938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56203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77468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98733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19998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41264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62529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83794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05059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26324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47589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68854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90120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7113851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32650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53915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751805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96445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177108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389759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602410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815062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9027713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9240364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9453016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665667" y="9567087"/>
            <a:ext cx="106326" cy="106326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860598" y="9549366"/>
            <a:ext cx="141767" cy="1417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0" name="Text 9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43/43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2" name="Moda image moda-export-watermark-4d025d2f-9ba5-4d1b-bf40-fe046215f9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2026-10-22T07:11:03Z</dcterms:created>
  <dcterms:modified xsi:type="dcterms:W3CDTF">2026-10-22T07:11:03Z</dcterms:modified>
</cp:coreProperties>
</file>