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8288000" cy="10287000"/>
  <p:notesSz cx="10287000" cy="18288000"/>
  <p:embeddedFontLst>
    <p:embeddedFont>
      <p:font typeface="Be Vietnam Pro"/>
      <p:regular r:id="rId54"/>
      <p:bold r:id="rId51"/>
    </p:embeddedFont>
    <p:embeddedFont>
      <p:font typeface="Bricolage Grotesque ExtraBold"/>
      <p:regular r:id="rId52"/>
    </p:embeddedFont>
    <p:embeddedFont>
      <p:font typeface="Be Vietnam Pro SemiBold"/>
      <p:regular r:id="rId53"/>
    </p:embeddedFont>
    <p:embeddedFont>
      <p:font typeface="Be Vietnam Pro ExtraBold"/>
      <p:regular r:id="rId55"/>
    </p:embeddedFont>
    <p:embeddedFont>
      <p:font typeface="Be Vietnam Pro Medium"/>
      <p:regular r:id="rId5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font" Target="fonts/font1.fntdata"/><Relationship Id="rId52" Type="http://schemas.openxmlformats.org/officeDocument/2006/relationships/font" Target="fonts/font2.fntdata"/><Relationship Id="rId53" Type="http://schemas.openxmlformats.org/officeDocument/2006/relationships/font" Target="fonts/font3.fntdata"/><Relationship Id="rId54" Type="http://schemas.openxmlformats.org/officeDocument/2006/relationships/font" Target="fonts/font4.fntdata"/><Relationship Id="rId55" Type="http://schemas.openxmlformats.org/officeDocument/2006/relationships/font" Target="fonts/font5.fntdata"/><Relationship Id="rId5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flattened ellipse-1792596291188-991163732, ellipse-1792596291191-99882373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1981200"/>
            <a:ext cx="6324600" cy="6324600"/>
          </a:xfrm>
          <a:prstGeom prst="rect">
            <a:avLst/>
          </a:prstGeom>
        </p:spPr>
      </p:pic>
      <p:sp>
        <p:nvSpPr>
          <p:cNvPr id="3" name="Connector line-1792596291192-488628446"/>
          <p:cNvSpPr/>
          <p:nvPr/>
        </p:nvSpPr>
        <p:spPr>
          <a:xfrm>
            <a:off x="13335000" y="1905000"/>
            <a:ext cx="0" cy="647700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Text 1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THẦN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truyền,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hormone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8100" dirty="0"/>
          </a:p>
        </p:txBody>
      </p:sp>
      <p:sp>
        <p:nvSpPr>
          <p:cNvPr id="6" name="Text 3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300" dirty="0" spc="-1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330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"hormone</a:t>
            </a:r>
            <a:r>
              <a:rPr lang="en-US" sz="330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33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phúc"?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Hormone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5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7108ab3-c3f9-4654-a519-fd93a5eb09c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"hormone hạnh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phúc"?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6900" dirty="0" spc="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6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r>
              <a:rPr lang="en-US" sz="6900" dirty="0" spc="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 [S12]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8671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5638e9f9-2dea-49fc-9979-8e1da85832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Hormone: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57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Hormone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cấu trúc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lớn: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steroid,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cholesterol,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cortisol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testosterone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peptide,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amino acid,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oxytocin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vasopressin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 chỉ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Từ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8992" rIns="0" bIns="-18992" rtlCol="0" anchor="t"/>
          <a:lstStyle/>
          <a:p>
            <a:pPr algn="l" indent="0" marL="0">
              <a:lnSpc>
                <a:spcPts val="2921"/>
              </a:lnSpc>
              <a:buNone/>
            </a:pPr>
            <a:r>
              <a:rPr lang="en-US" sz="2394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tuyến</a:t>
            </a:r>
            <a:r>
              <a:rPr lang="en-US" sz="2394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yên,</a:t>
            </a:r>
            <a:r>
              <a:rPr lang="en-US" sz="2394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giáp,</a:t>
            </a:r>
            <a:r>
              <a:rPr lang="en-US" sz="2394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thượng</a:t>
            </a:r>
            <a:r>
              <a:rPr lang="en-US" sz="2394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thận,</a:t>
            </a:r>
            <a:r>
              <a:rPr lang="en-US" sz="2394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394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dục</a:t>
            </a:r>
            <a:endParaRPr lang="en-US" sz="2394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Đi</a:t>
            </a:r>
            <a:r>
              <a:rPr lang="en-US" sz="195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 máu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4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 nghe hormone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46489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038d8173-1fee-4a77-af0b-5377396355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Synapse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máu: hai cách</a:t>
            </a:r>
            <a:r>
              <a:rPr lang="en-US" sz="57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Chất</a:t>
            </a: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42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vượt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nanomét,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31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như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Hormone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máu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mét,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sản,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Oxytocin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vasopressin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vai: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[S1]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307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b28fad1e-36f9-4c60-b7e2-1cde6e19fe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Cortisol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testosterone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6301522-5385835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0946" y="2438400"/>
            <a:ext cx="6220408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(chương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6, mục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6.1)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Cholesterol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Aromatase</a:t>
            </a:r>
            <a:r>
              <a:rPr lang="en-US" sz="2187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enzyme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testosterone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estradiol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Cortisol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nhánh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glucocorticoid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1C4236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steroid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cholesterol: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progesterone,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cortisol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testosterone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Testosterone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estradiol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 enzyme</a:t>
            </a:r>
            <a:r>
              <a:rPr lang="en-US" sz="22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aromatase,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"đực"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estrogen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6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05/44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4d6d9ddd-105d-46e0-b386-40ef0470a23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hormone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Hormone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chim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vằn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đực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hót,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testosterone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hót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thua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trận,</a:t>
            </a:r>
            <a:r>
              <a:rPr lang="en-US" sz="25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testosterone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khỉ giảm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testosterone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ở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vua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hormone</a:t>
            </a:r>
            <a:r>
              <a:rPr lang="en-US" sz="2550" dirty="0" spc="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nào là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9944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d25e2155-7449-4e22-8c07-b775981d42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nhãn:</a:t>
            </a:r>
            <a:r>
              <a:rPr lang="en-US" sz="57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khoa: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người: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3000" dirty="0" spc="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vật: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Đang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luận: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nguồn,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30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77762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07/44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f366e44e-c819-470e-84aa-fdc4f1c06e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chất ·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hormone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57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(muốn,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thích,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Muốn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accumbens,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 ·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chủ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Thích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accumbens, pallidum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opioid, endocannabinoid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Sợ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tâm,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·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CRF,</a:t>
            </a:r>
            <a:r>
              <a:rPr lang="en-US" sz="270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hạnh nhân giáo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85581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08/44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c49ef0be-b0b0-4286-ab00-4a4362a8c0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thích: hai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thích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các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"muốn"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"thích",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khi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"thích"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thèm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không còn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Berridge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Kringelbach,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"thích"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các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Muốn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sẵn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sàng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vất vả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Thích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nét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vui, liếm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muốn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93399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41996f60-2c1c-4b6f-a352-408ffcdca1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832"/>
              </a:lnSpc>
              <a:buNone/>
            </a:pP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xúc: mạch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hormone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54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(giận,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chăm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con,</a:t>
            </a:r>
            <a:r>
              <a:rPr lang="en-US" sz="54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4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đôi,</a:t>
            </a:r>
            <a:r>
              <a:rPr lang="en-US" sz="5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đau</a:t>
            </a:r>
            <a:r>
              <a:rPr lang="en-US" sz="54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buồn)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Giận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testosterone,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vasopressin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Chăm</a:t>
            </a:r>
            <a:r>
              <a:rPr lang="en-US" sz="30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opioid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oxytocin, prolactin,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estradiol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vật;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tương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Gắn</a:t>
            </a:r>
            <a:r>
              <a:rPr lang="en-US" sz="3000" dirty="0" spc="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đôi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oxytocin,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vasopressin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vật;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[S11]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Đau</a:t>
            </a:r>
            <a:r>
              <a:rPr lang="en-US" sz="30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buồn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opioid ·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oxytocin,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prolactin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01217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e9a526c1-cc54-4d6c-a36d-87651d0a0b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 hàng</a:t>
            </a:r>
            <a:endParaRPr lang="en-US" sz="5700" dirty="0"/>
          </a:p>
        </p:txBody>
      </p:sp>
      <p:sp>
        <p:nvSpPr>
          <p:cNvPr id="3" name="Connector line-1792596375252-530224317"/>
          <p:cNvSpPr/>
          <p:nvPr/>
        </p:nvSpPr>
        <p:spPr>
          <a:xfrm flipH="1" flipV="1">
            <a:off x="3619500" y="3810000"/>
            <a:ext cx="5524500" cy="18097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4" name="Connector line-1792596375252-240139534"/>
          <p:cNvSpPr/>
          <p:nvPr/>
        </p:nvSpPr>
        <p:spPr>
          <a:xfrm flipV="1">
            <a:off x="9144000" y="3810000"/>
            <a:ext cx="5524500" cy="18097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5" name="Connector line-1792596375252-401321513"/>
          <p:cNvSpPr/>
          <p:nvPr/>
        </p:nvSpPr>
        <p:spPr>
          <a:xfrm>
            <a:off x="9144000" y="5619750"/>
            <a:ext cx="0" cy="247650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chất,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 hàng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Opioid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sinh: thích,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con,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buồn,</a:t>
            </a:r>
            <a:r>
              <a:rPr lang="en-US" sz="25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96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Testosterone: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giận;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 [S3]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72250" y="733425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33425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Vasopressin: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9036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11/44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adc42017-2fdf-49c6-af65-c2fe2f1ba8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tin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[S12]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chuột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can thiệp,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oxytocin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lòng tin,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2015,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2020 [S7]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oxytocin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huyết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lỗi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16854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6c374819-1345-4cb1-be2c-f2fbc60715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Động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oxytocin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 thụ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giảm: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 gắn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8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 nghiệm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hormone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dược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dài.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Động</a:t>
            </a:r>
            <a:r>
              <a:rPr lang="en-US" sz="1950" dirty="0" spc="-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thiệp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chuột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 nào,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ấy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24673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118d2be1-cce7-41c4-a62e-5aa0f3a0f0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Oxytocin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lòng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tin: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nghiên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cứu,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 nghiên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4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oxytocin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xịt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lòng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42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2015</a:t>
            </a:r>
            <a:r>
              <a:rPr lang="en-US" sz="4200" dirty="0" spc="-4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31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học: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2850" dirty="0" spc="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nổi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bật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8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tra,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32491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4d093efd-319e-4c92-a0d9-d387c3f93e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nước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bọt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 chụp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synapse.</a:t>
            </a:r>
            <a:r>
              <a:rPr lang="en-US" sz="69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[S8]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40309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e3e998f1-e303-4178-aaa9-8f89d4ea97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Cortisol: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Hormone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steroid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glucocorticoid,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thượng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Tăng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chuyển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55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carbohydrate,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 trung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550" dirty="0" spc="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thẳng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Cảm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xúc</a:t>
            </a:r>
            <a:r>
              <a:rPr lang="en-US" sz="21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8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Ký</a:t>
            </a:r>
            <a:r>
              <a:rPr lang="en-US" sz="25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nghiệm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[S15]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chăm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sóc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mẹ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Sinh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lý: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giáo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khoa;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ức: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quan,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[S15]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</a:t>
            </a: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thuộc</a:t>
            </a:r>
            <a:r>
              <a:rPr lang="en-US" sz="2100" dirty="0" spc="-2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Trục</a:t>
            </a:r>
            <a:r>
              <a:rPr lang="en-US" sz="2550" dirty="0" spc="-4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HPA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căng thẳng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trúc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"chất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xấu":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ngắn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bảo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vệ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thể,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giúp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 nghi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[S15]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48128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34485dcb-5675-4409-b124-a8830b8957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Cortisol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Cortisol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glucocorticoid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then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số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sợ,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tăng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củng cố,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cortisol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hại</a:t>
            </a:r>
            <a:r>
              <a:rPr lang="en-US" sz="24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55946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d52b88cb-8cba-4410-a09e-2fa2275134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Cortisol</a:t>
            </a:r>
            <a:r>
              <a:rPr lang="en-US" sz="57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âu lẫn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cortisol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yếm,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mẹ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tỉnh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táo,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cạnh,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cortisol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hormone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[S14]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63764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0e9b2b5b-82ac-4438-b15a-3312a75ded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Oxytocin</a:t>
            </a:r>
            <a:r>
              <a:rPr lang="en-US" sz="57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vasopressin: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Hormone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peptide;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cũng là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hormone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thần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kinh,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1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Oxytocin: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tiết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sữa,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tử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cung;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vasopressin: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thận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hấp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nước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Cảm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xúc</a:t>
            </a:r>
            <a:r>
              <a:rPr lang="en-US" sz="21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Gắn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đôi,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chăm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dịu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 ly;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vasopressin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giận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Gắn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bó: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vật,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thiệp;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người: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lòng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tin: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[S8]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thuộc</a:t>
            </a:r>
            <a:r>
              <a:rPr lang="en-US" sz="2100" dirty="0" spc="-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L03,</a:t>
            </a:r>
            <a:r>
              <a:rPr lang="en-US" sz="2100" dirty="0" spc="-2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L09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Hồ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sơ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-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(L03);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gắn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bó</a:t>
            </a:r>
            <a:r>
              <a:rPr lang="en-US" sz="2550" dirty="0" spc="-3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(L09)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Oxytocin không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"hormone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tình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yêu"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 [S11]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[S11]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71583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603c0db8-ba8a-4767-875d-da8ee44e7b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Chuột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thảo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nguyên: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thiệp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6456961-9523094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8952" y="2438400"/>
            <a:ext cx="7527396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Todd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Ahern,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(chương 6,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6.4)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Prairie</a:t>
            </a:r>
            <a:r>
              <a:rPr lang="en-US" sz="2250" dirty="0" spc="-1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vole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chuột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thảo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nguyên,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Cho</a:t>
            </a:r>
            <a:r>
              <a:rPr lang="en-US" sz="22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oxytocin,</a:t>
            </a:r>
            <a:r>
              <a:rPr lang="en-US" sz="22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vasopressin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tăng;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 thể: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2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250" dirty="0" spc="2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động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thiệp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79401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20/44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638e1843-0805-4773-9fd0-b275545ebfd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Gắn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hai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việc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Oxytocin,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vasopressin: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 tín hiệu</a:t>
            </a:r>
            <a:r>
              <a:rPr lang="en-US" sz="270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xã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kia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[S11]</a:t>
            </a:r>
            <a:endParaRPr lang="en-US" sz="2700" dirty="0"/>
          </a:p>
        </p:txBody>
      </p:sp>
      <p:sp>
        <p:nvSpPr>
          <p:cNvPr id="7" name="Connector line-1792596458436-747171833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Dopamine: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[S11]</a:t>
            </a:r>
            <a:endParaRPr lang="en-US" sz="2700" dirty="0"/>
          </a:p>
        </p:txBody>
      </p:sp>
      <p:sp>
        <p:nvSpPr>
          <p:cNvPr id="12" name="Connector line-1792596458438-571208227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Cùng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hai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[S11]</a:t>
            </a:r>
            <a:endParaRPr lang="en-US" sz="2700" dirty="0"/>
          </a:p>
        </p:txBody>
      </p:sp>
      <p:sp>
        <p:nvSpPr>
          <p:cNvPr id="17" name="Connector line-1792596458441-993634994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 tình,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[S11]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87219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21/44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d1c42732-a89b-4105-aacb-d109feb75c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</a:t>
            </a:r>
            <a:r>
              <a:rPr lang="en-US" sz="57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sáng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6459981-3714321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5150" y="2438400"/>
            <a:ext cx="5715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 6,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6.4)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Mom</a:t>
            </a:r>
            <a:r>
              <a:rPr lang="en-US" sz="22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and</a:t>
            </a:r>
            <a:r>
              <a:rPr lang="en-US" sz="22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daughter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mẹ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gái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 [S2]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2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250" dirty="0" spc="2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95038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22/44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6225504b-d273-4e17-93f0-94e32fc27e5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Oxytocin,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thân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cortisol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Heinrichs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(2003)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oxytocin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xịt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dược,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8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cortisol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âu;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cả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 tĩnh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Thiết</a:t>
            </a:r>
            <a:r>
              <a:rPr lang="en-US" sz="1950" dirty="0" spc="-2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mù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đôi,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dược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 oxytocin,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cortisol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Giới</a:t>
            </a: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mẫu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nhỏ,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nam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02856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aff43603-031c-4cad-a5ca-713b329c8e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Oxytocin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lòng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tin: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 của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cãi</a:t>
            </a:r>
            <a:endParaRPr lang="en-US" sz="5700" dirty="0"/>
          </a:p>
        </p:txBody>
      </p:sp>
      <p:sp>
        <p:nvSpPr>
          <p:cNvPr id="3" name="Connector line-1792596462074-554010485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34099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Connector line-1792596462074-356118962"/>
          <p:cNvSpPr/>
          <p:nvPr/>
        </p:nvSpPr>
        <p:spPr>
          <a:xfrm flipV="1">
            <a:off x="3657600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2005: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oxytocin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xịt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mũi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lòng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người, đăng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Nature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[S7]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Connector line-1792596462076-843986750"/>
          <p:cNvSpPr/>
          <p:nvPr/>
        </p:nvSpPr>
        <p:spPr>
          <a:xfrm>
            <a:off x="9144000" y="605790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591300" y="638175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2015: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phán: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3827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Connector line-1792596462078-262706297"/>
          <p:cNvSpPr/>
          <p:nvPr/>
        </p:nvSpPr>
        <p:spPr>
          <a:xfrm flipV="1">
            <a:off x="14630400" y="523875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077700" y="3429000"/>
            <a:ext cx="51054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2020: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lớn,</a:t>
            </a: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mù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đôi,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trước: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[S9]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0674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b473346f-12cb-45f7-abbb-191af3b544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Testosterone: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Androgen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phổ biến,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hormone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steroid;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estradiol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1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Sản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xuất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trùng,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dục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phát;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dục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Cảm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xúc</a:t>
            </a:r>
            <a:r>
              <a:rPr lang="en-US" sz="21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Gây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hấn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giận;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Động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vật: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can thiệp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người: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-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quyết</a:t>
            </a:r>
            <a:r>
              <a:rPr lang="en-US" sz="25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hăng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không;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thắng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[S12]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18493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a9720f5e-034f-459c-bb45-8d401549c7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hươu</a:t>
            </a:r>
            <a:r>
              <a:rPr lang="en-US" sz="25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đực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hung hăng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testosterone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cao,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mùa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gây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hấn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dậy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5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đực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hung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hăng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cái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cắt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hấn,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5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testosterone</a:t>
            </a:r>
            <a:r>
              <a:rPr lang="en-US" sz="25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26311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5648faeb-4c21-49f7-aa79-178464eba3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≈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0,05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</a:t>
            </a:r>
            <a:r>
              <a:rPr lang="en-US" sz="225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≈</a:t>
            </a:r>
            <a:r>
              <a:rPr lang="en-US" sz="22500" dirty="0" spc="-19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0,05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4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Testosterone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nghỉ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hấn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3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người: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 hệ</a:t>
            </a:r>
            <a:r>
              <a:rPr lang="en-US" sz="33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[S12]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3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testosterone: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33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3300" dirty="0" spc="-4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[S12]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34129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27/44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77347cc6-b33e-4a4f-9105-7dd6c672f0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</a:t>
            </a:r>
            <a:r>
              <a:rPr lang="en-US" sz="57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57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 giới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 chung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gây</a:t>
            </a:r>
            <a:r>
              <a:rPr lang="en-US" sz="28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 giới,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gay</a:t>
            </a: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trừ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androgen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hấn;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androgen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"nối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dây"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khác;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testosterone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cortisol,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corticosterone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vasopressin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chứng: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 liên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có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Hormone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androgen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thúc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đẩy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hấn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Phát</a:t>
            </a:r>
            <a:r>
              <a:rPr lang="en-US" sz="19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triển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tiếp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androgen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Xã</a:t>
            </a:r>
            <a:r>
              <a:rPr lang="en-US" sz="19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hội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khuyến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khích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ngăn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41948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0e3fec24-4077-4aae-92ce-fe0a5ae5c5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Dopamine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opioid: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Dopamine: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truyền,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opioid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nội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endorphin,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enkephalin,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dynorphin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Đường</a:t>
            </a:r>
            <a:r>
              <a:rPr lang="en-US" sz="2100" dirty="0" spc="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Dopamine: vùng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</a:t>
            </a:r>
            <a:r>
              <a:rPr lang="en-US" sz="2550" dirty="0" spc="-3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(VTA)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accumbens,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Thụ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r>
              <a:rPr lang="en-US" sz="21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opioid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rộng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não: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mu,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delta,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kappa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Cảm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xúc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Dopamine: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"muốn"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 [S13]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opioid: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"thích", chăm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con,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buồn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Chủ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ủng hộ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Dopamine không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"chất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khoái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lạc"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[S6]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749766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29/44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904d0197-8893-46f6-a375-93ed671b84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thích: hai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vất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vả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thưởng;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tán,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với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Thích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liếm nhanh, thè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lưỡi,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vui;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1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nóng,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với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opioid [S3] [S13]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thèm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 khi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đem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khoái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 [S3]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57585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8644a356-2eb3-47ea-aa10-aaa15d39a6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dopamine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57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"muốn",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"thích"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Berridge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Kringelbach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(2015)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1% bình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thích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ngọt;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Parkinson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ngọt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thích;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 không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hào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"muốn"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Giảm</a:t>
            </a: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dopamine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"thích"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Tăng</a:t>
            </a: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dopamine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"muốn"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tăng,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"thích"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dopamine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khoái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65403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e31b4944-9eb3-4db4-a95a-66e376a758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Opioid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"ức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57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Opioid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bụng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7" name="Connector line-1792596543706-720479801"/>
          <p:cNvSpPr/>
          <p:nvPr/>
        </p:nvSpPr>
        <p:spPr>
          <a:xfrm>
            <a:off x="6029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5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905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24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Nơron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12" name="Connector line-1792596543708-326021430"/>
          <p:cNvSpPr/>
          <p:nvPr/>
        </p:nvSpPr>
        <p:spPr>
          <a:xfrm>
            <a:off x="11744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34875" y="3429000"/>
            <a:ext cx="5038725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20625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620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639675" y="4572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Bớt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hãm,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 accumbens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73221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a3fb084a-e15c-4a69-9af3-49a4df230e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57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 lặp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khuếch</a:t>
            </a:r>
            <a:r>
              <a:rPr lang="en-US" sz="69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đại</a:t>
            </a:r>
            <a:r>
              <a:rPr lang="en-US" sz="690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"muốn"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"thích"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nhờn</a:t>
            </a:r>
            <a:r>
              <a:rPr lang="en-US" sz="69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đi.</a:t>
            </a:r>
            <a:r>
              <a:rPr lang="en-US" sz="69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[S13]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81040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e654f184-197e-4328-a6d2-9a5fa42af1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Serotonin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noradrenaline: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Chất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serotonin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xếp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5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Điều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hòa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ăn uống,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tình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dục,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giấc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ngủ,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tỉnh,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Nhóm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thuốc</a:t>
            </a:r>
            <a:r>
              <a:rPr lang="en-US" sz="21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r>
              <a:rPr lang="en-US" sz="21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SSRI,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vòng,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MAOI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 chế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4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 quan, cơ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 còn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nghiên</a:t>
            </a:r>
            <a:r>
              <a:rPr lang="en-US" sz="2550" dirty="0" spc="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serotonin: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[S16] [S17]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Thuốc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bệnh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88858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8" name="Shape 5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346349fc-36f0-4d02-96f5-7903702b63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Thuốc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 chậm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serotonin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Những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1950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thuốc dùng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lao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 thiện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Serotonin</a:t>
            </a:r>
            <a:r>
              <a:rPr lang="en-US" sz="31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31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1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1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SSRI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69645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Triệu</a:t>
            </a:r>
            <a:r>
              <a:rPr lang="en-US" sz="315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1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1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 cải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thiện,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31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31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15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31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[S4]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996676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35/44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5d928c6-b0b8-4a6f-8cac-f0646d0d8c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Thuyết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serotonin: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Moncrieff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2022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Jauhar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2023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Moncrieff 2022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do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 [S16]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Jauhar</a:t>
            </a: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lọc,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1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tryptophan;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31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trầm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serotonin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04495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36/44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dc8b8d3a-5f0d-45cf-bdd5-33c18b8003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âu: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nhân,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trán,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GABA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Mạch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8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 của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vỏ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GABA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endocannabinoid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dược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mới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Nhóm</a:t>
            </a: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thuốc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benzodiazepine,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SSRI,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SNRI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400" dirty="0" spc="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12313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1a009d50-44ba-4464-b40d-287a4e6d47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âu có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6606093-6046302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38903" y="2438400"/>
            <a:ext cx="764749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OpenStax,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12,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12.4)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Feeling</a:t>
            </a:r>
            <a:r>
              <a:rPr lang="en-US" sz="22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dizzy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chóng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choáng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váng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Shortness</a:t>
            </a:r>
            <a:r>
              <a:rPr lang="en-US" sz="225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of</a:t>
            </a:r>
            <a:r>
              <a:rPr lang="en-US" sz="22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breath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thở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Chest</a:t>
            </a:r>
            <a:r>
              <a:rPr lang="en-US" sz="22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pain,</a:t>
            </a:r>
            <a:r>
              <a:rPr lang="en-US" sz="22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palpitations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đau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ngực,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hộp,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tim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đập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620131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7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38/44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a6f63070-a95e-4ce1-a3ac-40009a9372b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 "hormone hạnh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phúc"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2941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tên: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dopamine,</a:t>
            </a:r>
            <a:r>
              <a:rPr lang="en-US" sz="28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truyền,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629150"/>
            <a:ext cx="15125700" cy="1619250"/>
          </a:xfrm>
          <a:prstGeom prst="roundRect">
            <a:avLst>
              <a:gd name="adj" fmla="val 12941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629150"/>
            <a:ext cx="1436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6400800"/>
            <a:ext cx="13792200" cy="1619250"/>
          </a:xfrm>
          <a:prstGeom prst="roundRect">
            <a:avLst>
              <a:gd name="adj" fmla="val 12941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6400800"/>
            <a:ext cx="13030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dung: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"muốn"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827950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39/44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ee137fbd-231b-4607-b7d0-0c27360539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Nhãn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phổ biến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Dopamine</a:t>
            </a: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"hạnh</a:t>
            </a: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phúc"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"muốn" nhiều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Oxytocin</a:t>
            </a:r>
            <a:r>
              <a:rPr lang="en-US" sz="30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"tình</a:t>
            </a:r>
            <a:r>
              <a:rPr lang="en-US" sz="3000" dirty="0" spc="-1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yêu"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tương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lòng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[S9]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Cortisol</a:t>
            </a:r>
            <a:r>
              <a:rPr lang="en-US" sz="30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"căng</a:t>
            </a:r>
            <a:r>
              <a:rPr lang="en-US" sz="30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thẳng"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70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chăm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Serotonin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"thiếu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thì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trầm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cảm"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minh;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liên quan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35768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b10f65de-fe8c-493b-a684-377ea56bcc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Lindquist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(2012)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nghiên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 xúc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loại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8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Tranh</a:t>
            </a: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luận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L09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vùng,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243586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da5967a4-4eda-42dc-9604-10df53dbf1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Synapse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hormone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rộng;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oxytocin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xúc;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luôn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bó: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thiệp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 động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vật,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[S2];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oxytocin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lòng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2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[S9]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Testosterone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hấn: can thiệp ở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 hệ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 [S12]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Dopamine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"muốn",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opioid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"thích"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[S13]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Thuyết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"trầm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thiếu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serotonin"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[S16] [S17]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 [S12]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451405" y="9550977"/>
            <a:ext cx="138546" cy="138546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4" name="Shape 62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42/44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10a005e-d4b6-490f-923e-74db54e4aa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2004" rIns="0" bIns="-32004" rtlCol="0" anchor="ctr"/>
          <a:lstStyle/>
          <a:p>
            <a:pPr algn="l" indent="0" marL="0">
              <a:lnSpc>
                <a:spcPts val="7056"/>
              </a:lnSpc>
              <a:buNone/>
            </a:pPr>
            <a:r>
              <a:rPr lang="en-US" sz="6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3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300" dirty="0" spc="-2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3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</a:t>
            </a:r>
            <a:r>
              <a:rPr lang="en-US" sz="63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</a:t>
            </a:r>
            <a:r>
              <a:rPr lang="en-US" sz="6300" dirty="0" spc="-2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pPr algn="l" indent="0" marL="0">
              <a:lnSpc>
                <a:spcPts val="7056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 không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3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63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liều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3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ngừng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thuốc,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hormone;</a:t>
            </a:r>
            <a:r>
              <a:rPr lang="en-US" sz="63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buồn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63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dài, hãy</a:t>
            </a:r>
            <a:r>
              <a:rPr lang="en-US" sz="6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bác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sĩ,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chuyên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59223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Shape 46"/>
          <p:cNvSpPr/>
          <p:nvPr/>
        </p:nvSpPr>
        <p:spPr>
          <a:xfrm>
            <a:off x="988436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43/44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cd48e1b9-e5d7-4306-bee4-76a845bb91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6.1 (hormone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vi)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6.4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(gây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hấn, hành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cha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gắn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10.2 (cảm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12.3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(rối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 12.4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âu)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5.5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(thuốc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6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truyền)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Kosfeld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Nave,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Camerer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McCullough,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Perspectives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Psychological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Declerck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 Behaviour,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Heinrichs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 Biological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Young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Wang,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Geniole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Hormones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Behavior,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2020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Berridge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Kringelbach,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McEwen,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Physiological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Reviews,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2007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Quervain,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Schwabe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Roozendaal,</a:t>
            </a:r>
            <a:r>
              <a:rPr lang="en-US" sz="16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</a:t>
            </a:r>
            <a:r>
              <a:rPr lang="en-US" sz="16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Reviews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Neuroscience,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Moncrieff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Molecular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Jauhar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Molecular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2023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Lindquist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Behavioral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Sciences, 2012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94817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598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6380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7162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7944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8726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19508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40289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61071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81853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02635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23417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44199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64980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857627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06544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27326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481082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68890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89671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10453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31235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52017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72799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93581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14362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35144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55926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76708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97490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18272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390539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59835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80617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013994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22181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42963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637450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845268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9053086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9260905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468723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676541" y="9568295"/>
            <a:ext cx="103909" cy="103909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867042" y="9550977"/>
            <a:ext cx="138546" cy="138546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1" name="Text 9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44/44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3" name="Moda image moda-export-watermark-400fa471-2b16-4a9d-a7b3-50b843d180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2026-10-21T15:32:28Z</dcterms:created>
  <dcterms:modified xsi:type="dcterms:W3CDTF">2026-10-21T15:32:28Z</dcterms:modified>
</cp:coreProperties>
</file>