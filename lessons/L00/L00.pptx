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8288000" cy="10287000"/>
  <p:notesSz cx="10287000" cy="18288000"/>
  <p:embeddedFontLst>
    <p:embeddedFont>
      <p:font typeface="Be Vietnam Pro"/>
      <p:regular r:id="rId20"/>
      <p:bold r:id="rId18"/>
    </p:embeddedFont>
    <p:embeddedFont>
      <p:font typeface="Bricolage Grotesque ExtraBold"/>
      <p:regular r:id="rId19"/>
    </p:embeddedFont>
    <p:embeddedFont>
      <p:font typeface="Be Vietnam Pro ExtraBold"/>
      <p:regular r:id="rId21"/>
    </p:embeddedFont>
    <p:embeddedFont>
      <p:font typeface="Be Vietnam Pro SemiBold"/>
      <p:regular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font" Target="fonts/font3.fntdata"/><Relationship Id="rId21" Type="http://schemas.openxmlformats.org/officeDocument/2006/relationships/font" Target="fonts/font4.fntdata"/><Relationship Id="rId22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96500" y="2857500"/>
            <a:ext cx="7620000" cy="3238500"/>
          </a:xfrm>
          <a:custGeom>
            <a:avLst/>
            <a:gdLst/>
            <a:ahLst/>
            <a:cxnLst/>
            <a:rect l="l" t="t" r="r" b="b"/>
            <a:pathLst>
              <a:path w="7620000" h="3238500">
                <a:moveTo>
                  <a:pt x="0" y="2095500"/>
                </a:moveTo>
                <a:lnTo>
                  <a:pt x="3048000" y="2095500"/>
                </a:lnTo>
                <a:lnTo>
                  <a:pt x="3333750" y="2095500"/>
                </a:lnTo>
                <a:lnTo>
                  <a:pt x="3619500" y="0"/>
                </a:lnTo>
                <a:lnTo>
                  <a:pt x="3905250" y="3238500"/>
                </a:lnTo>
                <a:lnTo>
                  <a:pt x="4191000" y="2095500"/>
                </a:lnTo>
                <a:lnTo>
                  <a:pt x="4762500" y="2095500"/>
                </a:lnTo>
                <a:lnTo>
                  <a:pt x="5048250" y="1619250"/>
                </a:lnTo>
                <a:lnTo>
                  <a:pt x="5334000" y="2476500"/>
                </a:lnTo>
                <a:lnTo>
                  <a:pt x="5619750" y="2095500"/>
                </a:lnTo>
                <a:lnTo>
                  <a:pt x="7620000" y="2095500"/>
                </a:lnTo>
              </a:path>
            </a:pathLst>
          </a:custGeom>
          <a:ln w="57150">
            <a:solidFill>
              <a:srgbClr val="FF6A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582650" y="2724150"/>
            <a:ext cx="266700" cy="266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180975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THẦN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2286000"/>
            <a:ext cx="11239500" cy="24765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Dopamine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81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lực</a:t>
            </a:r>
            <a:endParaRPr lang="en-US" sz="8100" dirty="0"/>
          </a:p>
        </p:txBody>
      </p:sp>
      <p:sp>
        <p:nvSpPr>
          <p:cNvPr id="6" name="Text 4"/>
          <p:cNvSpPr/>
          <p:nvPr/>
        </p:nvSpPr>
        <p:spPr>
          <a:xfrm>
            <a:off x="1143000" y="48577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143000" y="6096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</a:t>
            </a:r>
            <a:r>
              <a:rPr lang="en-US" sz="21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1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143000" y="70104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143000" y="79248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10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143000" y="9334500"/>
            <a:ext cx="857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2" name="Moda image moda-export-watermark-795116d7-1922-4461-9065-566a882262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5725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0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238250"/>
            <a:ext cx="1600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Dopamine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“hormone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hạnh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phúc”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1143000" y="3143250"/>
            <a:ext cx="5080000" cy="4762500"/>
          </a:xfrm>
          <a:prstGeom prst="roundRect">
            <a:avLst>
              <a:gd name="adj" fmla="val 5600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600200" y="36004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600200" y="4476750"/>
            <a:ext cx="4165600" cy="1905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285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604000" y="3143250"/>
            <a:ext cx="5080000" cy="4762500"/>
          </a:xfrm>
          <a:prstGeom prst="roundRect">
            <a:avLst>
              <a:gd name="adj" fmla="val 5600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7061200" y="36004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061200" y="4476750"/>
            <a:ext cx="4165600" cy="1905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đuổi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065000" y="3143250"/>
            <a:ext cx="5080000" cy="4762500"/>
          </a:xfrm>
          <a:prstGeom prst="roundRect">
            <a:avLst>
              <a:gd name="adj" fmla="val 5600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522200" y="36004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522200" y="4476750"/>
            <a:ext cx="4165600" cy="1905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Giúp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143000" y="8572500"/>
            <a:ext cx="1143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[S2]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1620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5" name="Shape 13"/>
          <p:cNvSpPr/>
          <p:nvPr/>
        </p:nvSpPr>
        <p:spPr>
          <a:xfrm>
            <a:off x="1390650" y="950595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6192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7" name="Shape 15"/>
          <p:cNvSpPr/>
          <p:nvPr/>
        </p:nvSpPr>
        <p:spPr>
          <a:xfrm>
            <a:off x="18478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8" name="Shape 16"/>
          <p:cNvSpPr/>
          <p:nvPr/>
        </p:nvSpPr>
        <p:spPr>
          <a:xfrm>
            <a:off x="20764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9" name="Shape 17"/>
          <p:cNvSpPr/>
          <p:nvPr/>
        </p:nvSpPr>
        <p:spPr>
          <a:xfrm>
            <a:off x="23050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0" name="Shape 18"/>
          <p:cNvSpPr/>
          <p:nvPr/>
        </p:nvSpPr>
        <p:spPr>
          <a:xfrm>
            <a:off x="25336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1" name="Shape 19"/>
          <p:cNvSpPr/>
          <p:nvPr/>
        </p:nvSpPr>
        <p:spPr>
          <a:xfrm>
            <a:off x="27622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2" name="Shape 20"/>
          <p:cNvSpPr/>
          <p:nvPr/>
        </p:nvSpPr>
        <p:spPr>
          <a:xfrm>
            <a:off x="29908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3" name="Shape 21"/>
          <p:cNvSpPr/>
          <p:nvPr/>
        </p:nvSpPr>
        <p:spPr>
          <a:xfrm>
            <a:off x="32194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4" name="Shape 22"/>
          <p:cNvSpPr/>
          <p:nvPr/>
        </p:nvSpPr>
        <p:spPr>
          <a:xfrm>
            <a:off x="34480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5" name="Text 23"/>
          <p:cNvSpPr/>
          <p:nvPr/>
        </p:nvSpPr>
        <p:spPr>
          <a:xfrm>
            <a:off x="4000500" y="9410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02/11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1558c31-9ac8-4b44-b07d-7dbc50187d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5725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DOPAMINE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238250"/>
            <a:ext cx="1600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 dẫn</a:t>
            </a:r>
            <a:r>
              <a:rPr lang="en-US" sz="6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thần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endParaRPr lang="en-US" sz="6300" dirty="0"/>
          </a:p>
        </p:txBody>
      </p:sp>
      <p:sp>
        <p:nvSpPr>
          <p:cNvPr id="4" name="Connector line-1792371438267-807621031"/>
          <p:cNvSpPr/>
          <p:nvPr/>
        </p:nvSpPr>
        <p:spPr>
          <a:xfrm>
            <a:off x="5334000" y="4191000"/>
            <a:ext cx="3238500" cy="133350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5" name="Connector line-1792371438268-172105293"/>
          <p:cNvSpPr/>
          <p:nvPr/>
        </p:nvSpPr>
        <p:spPr>
          <a:xfrm flipV="1">
            <a:off x="5334000" y="5524500"/>
            <a:ext cx="3238500" cy="133350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6" name="Connector line-1792371438268-469977570"/>
          <p:cNvSpPr/>
          <p:nvPr/>
        </p:nvSpPr>
        <p:spPr>
          <a:xfrm>
            <a:off x="12001500" y="5524500"/>
            <a:ext cx="13335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1143000" y="3619500"/>
            <a:ext cx="4191000" cy="1143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VTA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(vùng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mái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bụng)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143000" y="6286500"/>
            <a:ext cx="4191000" cy="1143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đen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143000" y="781050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 nằm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não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572500" y="3810000"/>
            <a:ext cx="3429000" cy="3429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8763000" y="4953000"/>
            <a:ext cx="3048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Dopamine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13335000" y="4191000"/>
            <a:ext cx="38100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0" y="4572000"/>
            <a:ext cx="30480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NEUROTRANSMITTER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0" y="5000625"/>
            <a:ext cx="304800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Đi</a:t>
            </a:r>
            <a:r>
              <a:rPr lang="en-US" sz="25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</a:t>
            </a:r>
            <a:r>
              <a:rPr lang="en-US" sz="255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đường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1620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6" name="Shape 14"/>
          <p:cNvSpPr/>
          <p:nvPr/>
        </p:nvSpPr>
        <p:spPr>
          <a:xfrm>
            <a:off x="13906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7" name="Shape 15"/>
          <p:cNvSpPr/>
          <p:nvPr/>
        </p:nvSpPr>
        <p:spPr>
          <a:xfrm>
            <a:off x="1619250" y="9505950"/>
            <a:ext cx="114300" cy="114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8" name="Shape 16"/>
          <p:cNvSpPr/>
          <p:nvPr/>
        </p:nvSpPr>
        <p:spPr>
          <a:xfrm>
            <a:off x="18478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9" name="Shape 17"/>
          <p:cNvSpPr/>
          <p:nvPr/>
        </p:nvSpPr>
        <p:spPr>
          <a:xfrm>
            <a:off x="20764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0" name="Shape 18"/>
          <p:cNvSpPr/>
          <p:nvPr/>
        </p:nvSpPr>
        <p:spPr>
          <a:xfrm>
            <a:off x="23050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1" name="Shape 19"/>
          <p:cNvSpPr/>
          <p:nvPr/>
        </p:nvSpPr>
        <p:spPr>
          <a:xfrm>
            <a:off x="25336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2" name="Shape 20"/>
          <p:cNvSpPr/>
          <p:nvPr/>
        </p:nvSpPr>
        <p:spPr>
          <a:xfrm>
            <a:off x="27622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3" name="Shape 21"/>
          <p:cNvSpPr/>
          <p:nvPr/>
        </p:nvSpPr>
        <p:spPr>
          <a:xfrm>
            <a:off x="29908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4" name="Shape 22"/>
          <p:cNvSpPr/>
          <p:nvPr/>
        </p:nvSpPr>
        <p:spPr>
          <a:xfrm>
            <a:off x="32194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5" name="Shape 23"/>
          <p:cNvSpPr/>
          <p:nvPr/>
        </p:nvSpPr>
        <p:spPr>
          <a:xfrm>
            <a:off x="34480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6" name="Text 24"/>
          <p:cNvSpPr/>
          <p:nvPr/>
        </p:nvSpPr>
        <p:spPr>
          <a:xfrm>
            <a:off x="4000500" y="9410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03/11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0b0c615-006b-4346-a553-ad84a85992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5725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DOPAMINE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238250"/>
            <a:ext cx="1600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3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dopamine</a:t>
            </a:r>
            <a:endParaRPr lang="en-US" sz="6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6080760"/>
                <a:gridCol w="5440680"/>
              </a:tblGrid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Đường</a:t>
                      </a:r>
                      <a:r>
                        <a:rPr lang="en-US" sz="255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 → đến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4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Vai</a:t>
                      </a:r>
                      <a:r>
                        <a:rPr lang="en-US" sz="2550" b="1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trò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Mesolimbic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VTA → nhân accumbens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Phần</a:t>
                      </a:r>
                      <a:r>
                        <a:rPr lang="en-US" sz="255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thưởng,</a:t>
                      </a:r>
                      <a:r>
                        <a:rPr lang="en-US" sz="2550" dirty="0" spc="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động</a:t>
                      </a:r>
                      <a:r>
                        <a:rPr lang="en-US" sz="2550" dirty="0" spc="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lực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Mesocortical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VTA → vỏ não trước trán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Chú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ý,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550" dirty="0" spc="-3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hoạch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Nigrostriatal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Chất đen → thể vân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Vận</a:t>
                      </a:r>
                      <a:r>
                        <a:rPr lang="en-US" sz="25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động</a:t>
                      </a:r>
                      <a:r>
                        <a:rPr lang="en-US" sz="25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(Parkinson)</a:t>
                      </a:r>
                      <a:endParaRPr lang="en-US" sz="1200" dirty="0"/>
                    </a:p>
                  </a:txBody>
                  <a:tcPr marL="266700" marR="266700" marT="266700" marB="2667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43000" y="8382000"/>
            <a:ext cx="1600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mesolimbic.</a:t>
            </a:r>
            <a:endParaRPr lang="en-US" sz="1950" dirty="0"/>
          </a:p>
        </p:txBody>
      </p:sp>
      <p:sp>
        <p:nvSpPr>
          <p:cNvPr id="6" name="Shape 3"/>
          <p:cNvSpPr/>
          <p:nvPr/>
        </p:nvSpPr>
        <p:spPr>
          <a:xfrm>
            <a:off x="11620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7" name="Shape 4"/>
          <p:cNvSpPr/>
          <p:nvPr/>
        </p:nvSpPr>
        <p:spPr>
          <a:xfrm>
            <a:off x="13906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8" name="Shape 5"/>
          <p:cNvSpPr/>
          <p:nvPr/>
        </p:nvSpPr>
        <p:spPr>
          <a:xfrm>
            <a:off x="16192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9" name="Shape 6"/>
          <p:cNvSpPr/>
          <p:nvPr/>
        </p:nvSpPr>
        <p:spPr>
          <a:xfrm>
            <a:off x="1847850" y="950595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7"/>
          <p:cNvSpPr/>
          <p:nvPr/>
        </p:nvSpPr>
        <p:spPr>
          <a:xfrm>
            <a:off x="20764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1" name="Shape 8"/>
          <p:cNvSpPr/>
          <p:nvPr/>
        </p:nvSpPr>
        <p:spPr>
          <a:xfrm>
            <a:off x="23050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2" name="Shape 9"/>
          <p:cNvSpPr/>
          <p:nvPr/>
        </p:nvSpPr>
        <p:spPr>
          <a:xfrm>
            <a:off x="25336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3" name="Shape 10"/>
          <p:cNvSpPr/>
          <p:nvPr/>
        </p:nvSpPr>
        <p:spPr>
          <a:xfrm>
            <a:off x="27622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4" name="Shape 11"/>
          <p:cNvSpPr/>
          <p:nvPr/>
        </p:nvSpPr>
        <p:spPr>
          <a:xfrm>
            <a:off x="29908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5" name="Shape 12"/>
          <p:cNvSpPr/>
          <p:nvPr/>
        </p:nvSpPr>
        <p:spPr>
          <a:xfrm>
            <a:off x="32194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6" name="Shape 13"/>
          <p:cNvSpPr/>
          <p:nvPr/>
        </p:nvSpPr>
        <p:spPr>
          <a:xfrm>
            <a:off x="34480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7" name="Text 14"/>
          <p:cNvSpPr/>
          <p:nvPr/>
        </p:nvSpPr>
        <p:spPr>
          <a:xfrm>
            <a:off x="4000500" y="9410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04/11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69ac786c-dfd4-4444-80f2-446db2a215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5725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</a:t>
            </a:r>
            <a:r>
              <a:rPr lang="en-US" sz="1800" b="1" spc="30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1800" b="1" spc="28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238250"/>
            <a:ext cx="1600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Thí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3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Schultz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8382000" y="2667000"/>
            <a:ext cx="1333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Đèn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3144500" y="2667000"/>
            <a:ext cx="1333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Thưởng</a:t>
            </a:r>
            <a:endParaRPr lang="en-US" sz="1950" dirty="0"/>
          </a:p>
        </p:txBody>
      </p:sp>
      <p:sp>
        <p:nvSpPr>
          <p:cNvPr id="6" name="Connector line-1792371440189-347437095"/>
          <p:cNvSpPr/>
          <p:nvPr/>
        </p:nvSpPr>
        <p:spPr>
          <a:xfrm>
            <a:off x="9048750" y="3143250"/>
            <a:ext cx="0" cy="5429250"/>
          </a:xfrm>
          <a:prstGeom prst="line">
            <a:avLst/>
          </a:prstGeom>
          <a:noFill/>
          <a:ln w="19050">
            <a:solidFill>
              <a:srgbClr val="3A3F4E"/>
            </a:solidFill>
            <a:prstDash val="dash"/>
            <a:headEnd type="none"/>
            <a:tailEnd type="none"/>
          </a:ln>
        </p:spPr>
      </p:sp>
      <p:sp>
        <p:nvSpPr>
          <p:cNvPr id="7" name="Connector line-1792371440190-593779292"/>
          <p:cNvSpPr/>
          <p:nvPr/>
        </p:nvSpPr>
        <p:spPr>
          <a:xfrm>
            <a:off x="13811250" y="3143250"/>
            <a:ext cx="0" cy="5429250"/>
          </a:xfrm>
          <a:prstGeom prst="line">
            <a:avLst/>
          </a:prstGeom>
          <a:noFill/>
          <a:ln w="19050">
            <a:solidFill>
              <a:srgbClr val="3A3F4E"/>
            </a:solidFill>
            <a:prstDash val="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143000" y="34290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43000" y="38862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 hiệu mạnh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667500" y="3333750"/>
            <a:ext cx="10287000" cy="857250"/>
          </a:xfrm>
          <a:custGeom>
            <a:avLst/>
            <a:gdLst/>
            <a:ahLst/>
            <a:cxnLst/>
            <a:rect l="l" t="t" r="r" b="b"/>
            <a:pathLst>
              <a:path w="10287000" h="857250">
                <a:moveTo>
                  <a:pt x="0" y="857250"/>
                </a:moveTo>
                <a:lnTo>
                  <a:pt x="6858000" y="857250"/>
                </a:lnTo>
                <a:lnTo>
                  <a:pt x="7143750" y="0"/>
                </a:lnTo>
                <a:lnTo>
                  <a:pt x="7429500" y="857250"/>
                </a:lnTo>
                <a:lnTo>
                  <a:pt x="10287000" y="857250"/>
                </a:ln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53340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43000" y="57912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dopamine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9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đèn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6667500" y="5238750"/>
            <a:ext cx="10287000" cy="857250"/>
          </a:xfrm>
          <a:custGeom>
            <a:avLst/>
            <a:gdLst/>
            <a:ahLst/>
            <a:cxnLst/>
            <a:rect l="l" t="t" r="r" b="b"/>
            <a:pathLst>
              <a:path w="10287000" h="857250">
                <a:moveTo>
                  <a:pt x="0" y="857250"/>
                </a:moveTo>
                <a:lnTo>
                  <a:pt x="2095500" y="857250"/>
                </a:lnTo>
                <a:lnTo>
                  <a:pt x="2381250" y="0"/>
                </a:lnTo>
                <a:lnTo>
                  <a:pt x="2667000" y="857250"/>
                </a:lnTo>
                <a:lnTo>
                  <a:pt x="10287000" y="857250"/>
                </a:ln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72390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Đèn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sáng,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143000" y="76962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19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lẽ</a:t>
            </a:r>
            <a:r>
              <a:rPr lang="en-US" sz="195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6667500" y="7143750"/>
            <a:ext cx="10287000" cy="1333500"/>
          </a:xfrm>
          <a:custGeom>
            <a:avLst/>
            <a:gdLst/>
            <a:ahLst/>
            <a:cxnLst/>
            <a:rect l="l" t="t" r="r" b="b"/>
            <a:pathLst>
              <a:path w="10287000" h="1333500">
                <a:moveTo>
                  <a:pt x="0" y="857250"/>
                </a:moveTo>
                <a:lnTo>
                  <a:pt x="2095500" y="857250"/>
                </a:lnTo>
                <a:lnTo>
                  <a:pt x="2381250" y="0"/>
                </a:lnTo>
                <a:lnTo>
                  <a:pt x="2667000" y="857250"/>
                </a:lnTo>
                <a:lnTo>
                  <a:pt x="6858000" y="857250"/>
                </a:lnTo>
                <a:lnTo>
                  <a:pt x="7143750" y="1333500"/>
                </a:lnTo>
                <a:lnTo>
                  <a:pt x="7429500" y="857250"/>
                </a:lnTo>
                <a:lnTo>
                  <a:pt x="10287000" y="857250"/>
                </a:ln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8858250"/>
            <a:ext cx="1333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Schultz,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Dayan,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Montague,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Science,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1997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1620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9" name="Shape 17"/>
          <p:cNvSpPr/>
          <p:nvPr/>
        </p:nvSpPr>
        <p:spPr>
          <a:xfrm>
            <a:off x="13906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0" name="Shape 18"/>
          <p:cNvSpPr/>
          <p:nvPr/>
        </p:nvSpPr>
        <p:spPr>
          <a:xfrm>
            <a:off x="16192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1" name="Shape 19"/>
          <p:cNvSpPr/>
          <p:nvPr/>
        </p:nvSpPr>
        <p:spPr>
          <a:xfrm>
            <a:off x="18478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2" name="Shape 20"/>
          <p:cNvSpPr/>
          <p:nvPr/>
        </p:nvSpPr>
        <p:spPr>
          <a:xfrm>
            <a:off x="2076450" y="9505950"/>
            <a:ext cx="114300" cy="114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23050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4" name="Shape 22"/>
          <p:cNvSpPr/>
          <p:nvPr/>
        </p:nvSpPr>
        <p:spPr>
          <a:xfrm>
            <a:off x="25336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5" name="Shape 23"/>
          <p:cNvSpPr/>
          <p:nvPr/>
        </p:nvSpPr>
        <p:spPr>
          <a:xfrm>
            <a:off x="27622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6" name="Shape 24"/>
          <p:cNvSpPr/>
          <p:nvPr/>
        </p:nvSpPr>
        <p:spPr>
          <a:xfrm>
            <a:off x="29908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7" name="Shape 25"/>
          <p:cNvSpPr/>
          <p:nvPr/>
        </p:nvSpPr>
        <p:spPr>
          <a:xfrm>
            <a:off x="32194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8" name="Shape 26"/>
          <p:cNvSpPr/>
          <p:nvPr/>
        </p:nvSpPr>
        <p:spPr>
          <a:xfrm>
            <a:off x="34480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9" name="Text 27"/>
          <p:cNvSpPr/>
          <p:nvPr/>
        </p:nvSpPr>
        <p:spPr>
          <a:xfrm>
            <a:off x="4000500" y="9410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05/11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c85db4a2-a933-4c7a-916a-40d6d3e1c3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5725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</a:t>
            </a:r>
            <a:r>
              <a:rPr lang="en-US" sz="1800" b="1" spc="30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1800" b="1" spc="28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2381250"/>
            <a:ext cx="114300" cy="20955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714500" y="2381250"/>
            <a:ext cx="15430500" cy="342900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Dopamine báo</a:t>
            </a:r>
            <a:r>
              <a:rPr lang="en-US" sz="6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392"/>
              </a:lnSpc>
              <a:buNone/>
            </a:pPr>
            <a:r>
              <a:rPr lang="en-US" sz="66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“khác</a:t>
            </a:r>
            <a:r>
              <a:rPr lang="en-US" sz="6600" dirty="0" spc="-8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</a:t>
            </a:r>
            <a:r>
              <a:rPr lang="en-US" sz="66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đoán”</a:t>
            </a:r>
            <a:pPr algn="l" indent="0" marL="0">
              <a:lnSpc>
                <a:spcPts val="7392"/>
              </a:lnSpc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 không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6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“có</a:t>
            </a:r>
            <a:r>
              <a:rPr lang="en-US" sz="66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thưởng”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1714500" y="6477000"/>
            <a:ext cx="1543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cường</a:t>
            </a:r>
            <a:r>
              <a:rPr lang="en-US" sz="25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(reinforcement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learning)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714500" y="7143750"/>
            <a:ext cx="1543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Thưởng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 tác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dụng;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143000" y="8858250"/>
            <a:ext cx="1333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620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9" name="Shape 7"/>
          <p:cNvSpPr/>
          <p:nvPr/>
        </p:nvSpPr>
        <p:spPr>
          <a:xfrm>
            <a:off x="13906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0" name="Shape 8"/>
          <p:cNvSpPr/>
          <p:nvPr/>
        </p:nvSpPr>
        <p:spPr>
          <a:xfrm>
            <a:off x="16192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1" name="Shape 9"/>
          <p:cNvSpPr/>
          <p:nvPr/>
        </p:nvSpPr>
        <p:spPr>
          <a:xfrm>
            <a:off x="18478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2" name="Shape 10"/>
          <p:cNvSpPr/>
          <p:nvPr/>
        </p:nvSpPr>
        <p:spPr>
          <a:xfrm>
            <a:off x="20764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3" name="Shape 11"/>
          <p:cNvSpPr/>
          <p:nvPr/>
        </p:nvSpPr>
        <p:spPr>
          <a:xfrm>
            <a:off x="2305050" y="9505950"/>
            <a:ext cx="114300" cy="114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25336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5" name="Shape 13"/>
          <p:cNvSpPr/>
          <p:nvPr/>
        </p:nvSpPr>
        <p:spPr>
          <a:xfrm>
            <a:off x="27622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6" name="Shape 14"/>
          <p:cNvSpPr/>
          <p:nvPr/>
        </p:nvSpPr>
        <p:spPr>
          <a:xfrm>
            <a:off x="29908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7" name="Shape 15"/>
          <p:cNvSpPr/>
          <p:nvPr/>
        </p:nvSpPr>
        <p:spPr>
          <a:xfrm>
            <a:off x="32194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8" name="Shape 16"/>
          <p:cNvSpPr/>
          <p:nvPr/>
        </p:nvSpPr>
        <p:spPr>
          <a:xfrm>
            <a:off x="34480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9" name="Text 17"/>
          <p:cNvSpPr/>
          <p:nvPr/>
        </p:nvSpPr>
        <p:spPr>
          <a:xfrm>
            <a:off x="4000500" y="9410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06/11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1bd542aa-b48d-4f8e-8174-f6d0fb47b5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5725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1800" b="1" spc="2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29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238250"/>
            <a:ext cx="1600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Muốn khác</a:t>
            </a:r>
            <a:r>
              <a:rPr lang="en-US" sz="63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1143000" y="2952750"/>
            <a:ext cx="7810500" cy="4476750"/>
          </a:xfrm>
          <a:prstGeom prst="roundRect">
            <a:avLst>
              <a:gd name="adj" fmla="val 595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38300" y="344805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WANTING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638300" y="3962400"/>
            <a:ext cx="68199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Sức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hút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khiến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38300" y="5219700"/>
            <a:ext cx="681990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dopamine: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(incentive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salience)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34500" y="2952750"/>
            <a:ext cx="7810500" cy="4476750"/>
          </a:xfrm>
          <a:prstGeom prst="roundRect">
            <a:avLst>
              <a:gd name="adj" fmla="val 595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829800" y="344805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THÍCH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LIKING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29800" y="3962400"/>
            <a:ext cx="68199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Khoái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829800" y="5219700"/>
            <a:ext cx="681990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 các hệ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4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43000" y="7810500"/>
            <a:ext cx="1600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2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700" b="1" dirty="0" spc="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lướt</a:t>
            </a:r>
            <a:r>
              <a:rPr lang="en-US" sz="2700" b="1" dirty="0" spc="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7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27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b="1" dirty="0" spc="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lướt</a:t>
            </a:r>
            <a:r>
              <a:rPr lang="en-US" sz="2700" b="1" dirty="0" spc="-2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7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vui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143000" y="8667750"/>
            <a:ext cx="1333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Berridge,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Robinson,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Brain</a:t>
            </a:r>
            <a:r>
              <a:rPr lang="en-US" sz="16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</a:t>
            </a:r>
            <a:r>
              <a:rPr lang="en-US" sz="16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Reviews,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1998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1620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5" name="Shape 13"/>
          <p:cNvSpPr/>
          <p:nvPr/>
        </p:nvSpPr>
        <p:spPr>
          <a:xfrm>
            <a:off x="13906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6" name="Shape 14"/>
          <p:cNvSpPr/>
          <p:nvPr/>
        </p:nvSpPr>
        <p:spPr>
          <a:xfrm>
            <a:off x="16192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7" name="Shape 15"/>
          <p:cNvSpPr/>
          <p:nvPr/>
        </p:nvSpPr>
        <p:spPr>
          <a:xfrm>
            <a:off x="18478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8" name="Shape 16"/>
          <p:cNvSpPr/>
          <p:nvPr/>
        </p:nvSpPr>
        <p:spPr>
          <a:xfrm>
            <a:off x="20764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9" name="Shape 17"/>
          <p:cNvSpPr/>
          <p:nvPr/>
        </p:nvSpPr>
        <p:spPr>
          <a:xfrm>
            <a:off x="23050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0" name="Shape 18"/>
          <p:cNvSpPr/>
          <p:nvPr/>
        </p:nvSpPr>
        <p:spPr>
          <a:xfrm>
            <a:off x="2533650" y="950595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7622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2" name="Shape 20"/>
          <p:cNvSpPr/>
          <p:nvPr/>
        </p:nvSpPr>
        <p:spPr>
          <a:xfrm>
            <a:off x="29908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3" name="Shape 21"/>
          <p:cNvSpPr/>
          <p:nvPr/>
        </p:nvSpPr>
        <p:spPr>
          <a:xfrm>
            <a:off x="32194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4" name="Shape 22"/>
          <p:cNvSpPr/>
          <p:nvPr/>
        </p:nvSpPr>
        <p:spPr>
          <a:xfrm>
            <a:off x="34480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5" name="Text 23"/>
          <p:cNvSpPr/>
          <p:nvPr/>
        </p:nvSpPr>
        <p:spPr>
          <a:xfrm>
            <a:off x="4000500" y="9410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07/11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4ec90bae-3ca2-4fdb-8a5b-f51b054736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5725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DOPAMINE</a:t>
            </a:r>
            <a:r>
              <a:rPr lang="en-US" sz="1800" b="1" spc="2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NỖ LỰC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238250"/>
            <a:ext cx="1600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Động</a:t>
            </a:r>
            <a:r>
              <a:rPr lang="en-US" sz="63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lực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sẵn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sàng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1143000" y="3143250"/>
            <a:ext cx="4000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vọng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143000" y="5048250"/>
            <a:ext cx="4000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 phí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</p:txBody>
      </p:sp>
      <p:sp>
        <p:nvSpPr>
          <p:cNvPr id="6" name="Connector line-1792371443068-818952297"/>
          <p:cNvSpPr/>
          <p:nvPr/>
        </p:nvSpPr>
        <p:spPr>
          <a:xfrm>
            <a:off x="5143500" y="3810000"/>
            <a:ext cx="1524000" cy="85725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7" name="Connector line-1792371443069-511643770"/>
          <p:cNvSpPr/>
          <p:nvPr/>
        </p:nvSpPr>
        <p:spPr>
          <a:xfrm flipV="1">
            <a:off x="5143500" y="4857750"/>
            <a:ext cx="1524000" cy="85725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6762750" y="3810000"/>
            <a:ext cx="4953000" cy="19050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Dopamine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accumbens: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công?</a:t>
            </a:r>
            <a:endParaRPr lang="en-US" sz="2550" dirty="0"/>
          </a:p>
        </p:txBody>
      </p:sp>
      <p:sp>
        <p:nvSpPr>
          <p:cNvPr id="9" name="Connector line-1792371443073-830567122"/>
          <p:cNvSpPr/>
          <p:nvPr/>
        </p:nvSpPr>
        <p:spPr>
          <a:xfrm>
            <a:off x="11715750" y="4762500"/>
            <a:ext cx="15240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0" name="Text 8"/>
          <p:cNvSpPr/>
          <p:nvPr/>
        </p:nvSpPr>
        <p:spPr>
          <a:xfrm>
            <a:off x="13335000" y="3143250"/>
            <a:ext cx="3810000" cy="1333500"/>
          </a:xfrm>
          <a:prstGeom prst="roundRect">
            <a:avLst>
              <a:gd name="adj" fmla="val 17143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Hành</a:t>
            </a:r>
            <a:r>
              <a:rPr lang="en-US" sz="25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3335000" y="5048250"/>
            <a:ext cx="3810000" cy="1333500"/>
          </a:xfrm>
          <a:prstGeom prst="roundRect">
            <a:avLst>
              <a:gd name="adj" fmla="val 17143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143000" y="6953250"/>
            <a:ext cx="160020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447800" y="7258050"/>
            <a:ext cx="15392400" cy="23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1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</a:t>
            </a:r>
            <a:r>
              <a:rPr lang="en-US" sz="1571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1571" dirty="0"/>
          </a:p>
        </p:txBody>
      </p:sp>
      <p:sp>
        <p:nvSpPr>
          <p:cNvPr id="14" name="Text 12"/>
          <p:cNvSpPr/>
          <p:nvPr/>
        </p:nvSpPr>
        <p:spPr>
          <a:xfrm>
            <a:off x="1447800" y="7564103"/>
            <a:ext cx="15392400" cy="32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13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</a:t>
            </a:r>
            <a:r>
              <a:rPr lang="en-US" sz="2113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dopamine:</a:t>
            </a:r>
            <a:r>
              <a:rPr lang="en-US" sz="2113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13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ăn</a:t>
            </a:r>
            <a:r>
              <a:rPr lang="en-US" sz="2113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13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13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sẵn,</a:t>
            </a:r>
            <a:r>
              <a:rPr lang="en-US" sz="2113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113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13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13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13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13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13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ngon</a:t>
            </a:r>
            <a:r>
              <a:rPr lang="en-US" sz="2113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13" dirty="0"/>
          </a:p>
        </p:txBody>
      </p:sp>
      <p:sp>
        <p:nvSpPr>
          <p:cNvPr id="15" name="Text 13"/>
          <p:cNvSpPr/>
          <p:nvPr/>
        </p:nvSpPr>
        <p:spPr>
          <a:xfrm>
            <a:off x="1143000" y="8572500"/>
            <a:ext cx="1333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Salamone,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Correa,</a:t>
            </a:r>
            <a:r>
              <a:rPr lang="en-US" sz="16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Neuron,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2012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1620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7" name="Shape 15"/>
          <p:cNvSpPr/>
          <p:nvPr/>
        </p:nvSpPr>
        <p:spPr>
          <a:xfrm>
            <a:off x="13906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8" name="Shape 16"/>
          <p:cNvSpPr/>
          <p:nvPr/>
        </p:nvSpPr>
        <p:spPr>
          <a:xfrm>
            <a:off x="16192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9" name="Shape 17"/>
          <p:cNvSpPr/>
          <p:nvPr/>
        </p:nvSpPr>
        <p:spPr>
          <a:xfrm>
            <a:off x="18478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0" name="Shape 18"/>
          <p:cNvSpPr/>
          <p:nvPr/>
        </p:nvSpPr>
        <p:spPr>
          <a:xfrm>
            <a:off x="20764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1" name="Shape 19"/>
          <p:cNvSpPr/>
          <p:nvPr/>
        </p:nvSpPr>
        <p:spPr>
          <a:xfrm>
            <a:off x="23050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2" name="Shape 20"/>
          <p:cNvSpPr/>
          <p:nvPr/>
        </p:nvSpPr>
        <p:spPr>
          <a:xfrm>
            <a:off x="25336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3" name="Shape 21"/>
          <p:cNvSpPr/>
          <p:nvPr/>
        </p:nvSpPr>
        <p:spPr>
          <a:xfrm>
            <a:off x="2762250" y="950595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29908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5" name="Shape 23"/>
          <p:cNvSpPr/>
          <p:nvPr/>
        </p:nvSpPr>
        <p:spPr>
          <a:xfrm>
            <a:off x="32194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6" name="Shape 24"/>
          <p:cNvSpPr/>
          <p:nvPr/>
        </p:nvSpPr>
        <p:spPr>
          <a:xfrm>
            <a:off x="34480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27" name="Text 25"/>
          <p:cNvSpPr/>
          <p:nvPr/>
        </p:nvSpPr>
        <p:spPr>
          <a:xfrm>
            <a:off x="4000500" y="9410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08/11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79283c43-bf1c-432c-ab5e-ffad44d59d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5725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ÁP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b="1" spc="2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</a:t>
            </a:r>
            <a:r>
              <a:rPr lang="en-US" sz="1800" b="1" spc="3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238250"/>
            <a:ext cx="1600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1143000" y="2857500"/>
            <a:ext cx="133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2857500" y="304800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Chia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mốc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</a:t>
            </a:r>
            <a:endParaRPr lang="en-US" sz="3000" dirty="0"/>
          </a:p>
        </p:txBody>
      </p:sp>
      <p:sp>
        <p:nvSpPr>
          <p:cNvPr id="6" name="Connector line-1792371443923-912359120"/>
          <p:cNvSpPr/>
          <p:nvPr/>
        </p:nvSpPr>
        <p:spPr>
          <a:xfrm>
            <a:off x="1143000" y="4095750"/>
            <a:ext cx="16002000" cy="0"/>
          </a:xfrm>
          <a:prstGeom prst="line">
            <a:avLst/>
          </a:prstGeom>
          <a:noFill/>
          <a:ln w="19050">
            <a:solidFill>
              <a:srgbClr val="2A2E3A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143000" y="4286250"/>
            <a:ext cx="133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2857500" y="447675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Giảm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phí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khởi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động:</a:t>
            </a:r>
            <a:r>
              <a:rPr lang="en-US" sz="300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30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</a:t>
            </a:r>
            <a:endParaRPr lang="en-US" sz="3000" dirty="0"/>
          </a:p>
        </p:txBody>
      </p:sp>
      <p:sp>
        <p:nvSpPr>
          <p:cNvPr id="9" name="Connector line-1792371443927-814899683"/>
          <p:cNvSpPr/>
          <p:nvPr/>
        </p:nvSpPr>
        <p:spPr>
          <a:xfrm>
            <a:off x="1143000" y="5524500"/>
            <a:ext cx="16002000" cy="0"/>
          </a:xfrm>
          <a:prstGeom prst="line">
            <a:avLst/>
          </a:prstGeom>
          <a:noFill/>
          <a:ln w="19050">
            <a:solidFill>
              <a:srgbClr val="2A2E3A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143000" y="5715000"/>
            <a:ext cx="133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2857500" y="590550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Tự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hỏi: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mình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muốn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sẽ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 nó?</a:t>
            </a:r>
            <a:endParaRPr lang="en-US" sz="3000" dirty="0"/>
          </a:p>
        </p:txBody>
      </p:sp>
      <p:sp>
        <p:nvSpPr>
          <p:cNvPr id="12" name="Connector line-1792371443931-789669464"/>
          <p:cNvSpPr/>
          <p:nvPr/>
        </p:nvSpPr>
        <p:spPr>
          <a:xfrm>
            <a:off x="1143000" y="6953250"/>
            <a:ext cx="16002000" cy="0"/>
          </a:xfrm>
          <a:prstGeom prst="line">
            <a:avLst/>
          </a:prstGeom>
          <a:noFill/>
          <a:ln w="19050">
            <a:solidFill>
              <a:srgbClr val="2A2E3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143000" y="7143750"/>
            <a:ext cx="133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2857500" y="733425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9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Tạm</a:t>
            </a:r>
            <a:r>
              <a:rPr lang="en-US" sz="30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ngừng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thói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quen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khoảng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30</a:t>
            </a:r>
            <a:r>
              <a:rPr lang="en-US" sz="30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ngày</a:t>
            </a:r>
            <a:r>
              <a:rPr lang="en-US" sz="3000" dirty="0" spc="-2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(Lembke)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143000" y="8667750"/>
            <a:ext cx="1428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165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 chế, không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phác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6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6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 [S1] [S2]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1620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7" name="Shape 15"/>
          <p:cNvSpPr/>
          <p:nvPr/>
        </p:nvSpPr>
        <p:spPr>
          <a:xfrm>
            <a:off x="13906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8" name="Shape 16"/>
          <p:cNvSpPr/>
          <p:nvPr/>
        </p:nvSpPr>
        <p:spPr>
          <a:xfrm>
            <a:off x="16192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9" name="Shape 17"/>
          <p:cNvSpPr/>
          <p:nvPr/>
        </p:nvSpPr>
        <p:spPr>
          <a:xfrm>
            <a:off x="18478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0" name="Shape 18"/>
          <p:cNvSpPr/>
          <p:nvPr/>
        </p:nvSpPr>
        <p:spPr>
          <a:xfrm>
            <a:off x="20764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1" name="Shape 19"/>
          <p:cNvSpPr/>
          <p:nvPr/>
        </p:nvSpPr>
        <p:spPr>
          <a:xfrm>
            <a:off x="23050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2" name="Shape 20"/>
          <p:cNvSpPr/>
          <p:nvPr/>
        </p:nvSpPr>
        <p:spPr>
          <a:xfrm>
            <a:off x="25336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3" name="Shape 21"/>
          <p:cNvSpPr/>
          <p:nvPr/>
        </p:nvSpPr>
        <p:spPr>
          <a:xfrm>
            <a:off x="27622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4" name="Shape 22"/>
          <p:cNvSpPr/>
          <p:nvPr/>
        </p:nvSpPr>
        <p:spPr>
          <a:xfrm>
            <a:off x="2990850" y="9505950"/>
            <a:ext cx="114300" cy="114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Shape 23"/>
          <p:cNvSpPr/>
          <p:nvPr/>
        </p:nvSpPr>
        <p:spPr>
          <a:xfrm>
            <a:off x="32194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6" name="Shape 24"/>
          <p:cNvSpPr/>
          <p:nvPr/>
        </p:nvSpPr>
        <p:spPr>
          <a:xfrm>
            <a:off x="34480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27" name="Text 25"/>
          <p:cNvSpPr/>
          <p:nvPr/>
        </p:nvSpPr>
        <p:spPr>
          <a:xfrm>
            <a:off x="4000500" y="9410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09/11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ee8cff4-4afd-48d0-93ca-1f9d9c887c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5725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3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2571750"/>
            <a:ext cx="114300" cy="2095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714500" y="2571750"/>
            <a:ext cx="15430500" cy="28575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 học</a:t>
            </a:r>
            <a:r>
              <a:rPr lang="en-US" sz="72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chế,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920"/>
              </a:lnSpc>
              <a:buNone/>
            </a:pPr>
            <a:r>
              <a:rPr lang="en-US" sz="72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200" dirty="0" spc="-3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khuyên</a:t>
            </a:r>
            <a:r>
              <a:rPr lang="en-US" sz="72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</a:t>
            </a:r>
            <a:r>
              <a:rPr lang="en-US" sz="7200" dirty="0" spc="-3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tế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714500" y="6096000"/>
            <a:ext cx="14287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8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 kiểm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vi: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sĩ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11620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7" name="Shape 5"/>
          <p:cNvSpPr/>
          <p:nvPr/>
        </p:nvSpPr>
        <p:spPr>
          <a:xfrm>
            <a:off x="13906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8" name="Shape 6"/>
          <p:cNvSpPr/>
          <p:nvPr/>
        </p:nvSpPr>
        <p:spPr>
          <a:xfrm>
            <a:off x="16192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9" name="Shape 7"/>
          <p:cNvSpPr/>
          <p:nvPr/>
        </p:nvSpPr>
        <p:spPr>
          <a:xfrm>
            <a:off x="18478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0" name="Shape 8"/>
          <p:cNvSpPr/>
          <p:nvPr/>
        </p:nvSpPr>
        <p:spPr>
          <a:xfrm>
            <a:off x="20764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1" name="Shape 9"/>
          <p:cNvSpPr/>
          <p:nvPr/>
        </p:nvSpPr>
        <p:spPr>
          <a:xfrm>
            <a:off x="23050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2" name="Shape 10"/>
          <p:cNvSpPr/>
          <p:nvPr/>
        </p:nvSpPr>
        <p:spPr>
          <a:xfrm>
            <a:off x="25336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3" name="Shape 11"/>
          <p:cNvSpPr/>
          <p:nvPr/>
        </p:nvSpPr>
        <p:spPr>
          <a:xfrm>
            <a:off x="27622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4" name="Shape 12"/>
          <p:cNvSpPr/>
          <p:nvPr/>
        </p:nvSpPr>
        <p:spPr>
          <a:xfrm>
            <a:off x="29908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5" name="Shape 13"/>
          <p:cNvSpPr/>
          <p:nvPr/>
        </p:nvSpPr>
        <p:spPr>
          <a:xfrm>
            <a:off x="3219450" y="950595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3448050" y="9505950"/>
            <a:ext cx="114300" cy="114300"/>
          </a:xfrm>
          <a:prstGeom prst="ellipse">
            <a:avLst/>
          </a:prstGeom>
          <a:solidFill>
            <a:srgbClr val="CFC6B2"/>
          </a:solidFill>
          <a:ln/>
        </p:spPr>
      </p:sp>
      <p:sp>
        <p:nvSpPr>
          <p:cNvPr id="17" name="Text 15"/>
          <p:cNvSpPr/>
          <p:nvPr/>
        </p:nvSpPr>
        <p:spPr>
          <a:xfrm>
            <a:off x="4000500" y="9410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10/11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a022fe2f-9a29-481b-9cc0-038a93daaf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5725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THAM</a:t>
            </a:r>
            <a:r>
              <a:rPr lang="en-US" sz="1800" b="1" spc="28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238250"/>
            <a:ext cx="1600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6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400800"/>
                <a:gridCol w="8001000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6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Mã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68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Tác</a:t>
                      </a:r>
                      <a:r>
                        <a:rPr lang="en-US" sz="2250" b="1" dirty="0" spc="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4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Nơi</a:t>
                      </a:r>
                      <a:r>
                        <a:rPr lang="en-US" sz="2250" b="1" dirty="0" spc="3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đăng,</a:t>
                      </a:r>
                      <a:r>
                        <a:rPr lang="en-US" sz="2250" b="1" dirty="0" spc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năm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S1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Schultz,</a:t>
                      </a:r>
                      <a:r>
                        <a:rPr lang="en-US" sz="2250" dirty="0" spc="-1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Dayan,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Montague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Science,</a:t>
                      </a:r>
                      <a:r>
                        <a:rPr lang="en-US" sz="2250" dirty="0" spc="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1997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4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S2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Berridge,</a:t>
                      </a: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Robinson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Brain</a:t>
                      </a:r>
                      <a:r>
                        <a:rPr lang="en-US" sz="2250" dirty="0" spc="-2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Research</a:t>
                      </a:r>
                      <a:r>
                        <a:rPr lang="en-US" sz="2250" dirty="0" spc="-2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Reviews,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1998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S3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Salamone,</a:t>
                      </a:r>
                      <a:r>
                        <a:rPr lang="en-US" sz="22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Correa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Neuron,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2012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S4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Lembke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Dopamine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Nation,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2021</a:t>
                      </a:r>
                      <a:endParaRPr lang="en-US" sz="1200" dirty="0"/>
                    </a:p>
                  </a:txBody>
                  <a:tcPr marL="228600" marR="228600" marT="228600" marB="228600">
                    <a:lnL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E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43000" y="8667750"/>
            <a:ext cx="1428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đủ: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lessons/L00/lesson.md,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khảo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620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7" name="Shape 4"/>
          <p:cNvSpPr/>
          <p:nvPr/>
        </p:nvSpPr>
        <p:spPr>
          <a:xfrm>
            <a:off x="13906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8" name="Shape 5"/>
          <p:cNvSpPr/>
          <p:nvPr/>
        </p:nvSpPr>
        <p:spPr>
          <a:xfrm>
            <a:off x="16192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9" name="Shape 6"/>
          <p:cNvSpPr/>
          <p:nvPr/>
        </p:nvSpPr>
        <p:spPr>
          <a:xfrm>
            <a:off x="18478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0" name="Shape 7"/>
          <p:cNvSpPr/>
          <p:nvPr/>
        </p:nvSpPr>
        <p:spPr>
          <a:xfrm>
            <a:off x="20764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1" name="Shape 8"/>
          <p:cNvSpPr/>
          <p:nvPr/>
        </p:nvSpPr>
        <p:spPr>
          <a:xfrm>
            <a:off x="23050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2" name="Shape 9"/>
          <p:cNvSpPr/>
          <p:nvPr/>
        </p:nvSpPr>
        <p:spPr>
          <a:xfrm>
            <a:off x="25336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3" name="Shape 10"/>
          <p:cNvSpPr/>
          <p:nvPr/>
        </p:nvSpPr>
        <p:spPr>
          <a:xfrm>
            <a:off x="27622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4" name="Shape 11"/>
          <p:cNvSpPr/>
          <p:nvPr/>
        </p:nvSpPr>
        <p:spPr>
          <a:xfrm>
            <a:off x="29908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5" name="Shape 12"/>
          <p:cNvSpPr/>
          <p:nvPr/>
        </p:nvSpPr>
        <p:spPr>
          <a:xfrm>
            <a:off x="3219450" y="9505950"/>
            <a:ext cx="114300" cy="114300"/>
          </a:xfrm>
          <a:prstGeom prst="ellipse">
            <a:avLst/>
          </a:prstGeom>
          <a:solidFill>
            <a:srgbClr val="3A3F4E"/>
          </a:solidFill>
          <a:ln/>
        </p:spPr>
      </p:sp>
      <p:sp>
        <p:nvSpPr>
          <p:cNvPr id="16" name="Shape 13"/>
          <p:cNvSpPr/>
          <p:nvPr/>
        </p:nvSpPr>
        <p:spPr>
          <a:xfrm>
            <a:off x="3448050" y="9505950"/>
            <a:ext cx="114300" cy="114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Text 14"/>
          <p:cNvSpPr/>
          <p:nvPr/>
        </p:nvSpPr>
        <p:spPr>
          <a:xfrm>
            <a:off x="4000500" y="9410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11/11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4e71a405-15cd-4876-882f-eb399b58e6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2026-10-19T00:58:00Z</dcterms:created>
  <dcterms:modified xsi:type="dcterms:W3CDTF">2026-10-19T00:58:00Z</dcterms:modified>
</cp:coreProperties>
</file>