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embeddedFontLst>
    <p:embeddedFont>
      <p:font typeface="Be Vietnam Pro"/>
      <p:regular r:id="rId29"/>
      <p:bold r:id="rId25"/>
    </p:embeddedFont>
    <p:embeddedFont>
      <p:font typeface="Bricolage Grotesque ExtraBold"/>
      <p:regular r:id="rId26"/>
    </p:embeddedFont>
    <p:embeddedFont>
      <p:font typeface="Be Vietnam Pro SemiBold"/>
      <p:regular r:id="rId27"/>
    </p:embeddedFont>
    <p:embeddedFont>
      <p:font typeface="Be Vietnam Pro ExtraBold"/>
      <p:regular r:id="rId28"/>
    </p:embeddedFont>
    <p:embeddedFont>
      <p:font typeface="Be Vietnam Pro Medium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100" b="1" spc="4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b="1" spc="4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0763250" cy="4476750"/>
          </a:xfrm>
          <a:prstGeom prst="rect">
            <a:avLst/>
          </a:prstGeom>
          <a:noFill/>
          <a:ln/>
        </p:spPr>
        <p:txBody>
          <a:bodyPr wrap="square" lIns="0" tIns="66008" rIns="0" bIns="-66008" rtlCol="0" anchor="t"/>
          <a:lstStyle/>
          <a:p>
            <a:pPr algn="l" indent="0" marL="0">
              <a:lnSpc>
                <a:spcPts val="7722"/>
              </a:lnSpc>
              <a:buNone/>
            </a:pPr>
            <a:r>
              <a:rPr lang="en-US" sz="7425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Transistor</a:t>
            </a:r>
            <a:r>
              <a:rPr lang="en-US" sz="7425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425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425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mới:</a:t>
            </a:r>
            <a:r>
              <a:rPr lang="en-US" sz="7425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425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dạng,</a:t>
            </a:r>
            <a:r>
              <a:rPr lang="en-US" sz="7425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7425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7425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425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7425" dirty="0" spc="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endParaRPr lang="en-US" sz="7425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095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300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linh</a:t>
            </a:r>
            <a:r>
              <a:rPr lang="en-US" sz="30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r>
              <a:rPr lang="en-US" sz="30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30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chân</a:t>
            </a:r>
            <a:r>
              <a:rPr lang="en-US" sz="300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000" dirty="0" spc="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3000" dirty="0" spc="1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vừa</a:t>
            </a:r>
            <a:r>
              <a:rPr lang="en-US" sz="30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khuếch</a:t>
            </a:r>
            <a:r>
              <a:rPr lang="en-US" sz="3000" dirty="0" spc="1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đại</a:t>
            </a:r>
            <a:r>
              <a:rPr lang="en-US" sz="30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</a:t>
            </a:r>
            <a:r>
              <a:rPr lang="en-US" sz="30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hiệu,</a:t>
            </a:r>
            <a:r>
              <a:rPr lang="en-US" sz="3000" dirty="0" spc="1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vừa</a:t>
            </a:r>
            <a:r>
              <a:rPr lang="en-US" sz="3000" dirty="0" spc="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đóng</a:t>
            </a:r>
            <a:r>
              <a:rPr lang="en-US" sz="3000" dirty="0" spc="-1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ngắt</a:t>
            </a:r>
            <a:r>
              <a:rPr lang="en-US" sz="3000" dirty="0" spc="1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-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3000" dirty="0" spc="1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30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7620000"/>
            <a:ext cx="5334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47625">
            <a:solidFill>
              <a:srgbClr val="DD4B0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6350" y="8162925"/>
            <a:ext cx="342900" cy="34290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7620000"/>
            <a:ext cx="4191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Base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477000" y="7620000"/>
            <a:ext cx="5334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47625">
            <a:solidFill>
              <a:srgbClr val="2F6B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38950" y="8162925"/>
            <a:ext cx="342900" cy="34290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10" name="Text 8"/>
          <p:cNvSpPr/>
          <p:nvPr/>
        </p:nvSpPr>
        <p:spPr>
          <a:xfrm>
            <a:off x="7391400" y="7620000"/>
            <a:ext cx="4191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Collector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Drain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12039600" y="7620000"/>
            <a:ext cx="5334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47625">
            <a:solidFill>
              <a:srgbClr val="0B8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401550" y="8162925"/>
            <a:ext cx="342900" cy="34290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0" y="7620000"/>
            <a:ext cx="4191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Emitter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Source</a:t>
            </a:r>
            <a:endParaRPr lang="en-US" sz="2850" dirty="0"/>
          </a:p>
        </p:txBody>
      </p:sp>
      <p:sp>
        <p:nvSpPr>
          <p:cNvPr id="14" name="Connector line-1793173911252-901752970"/>
          <p:cNvSpPr/>
          <p:nvPr/>
        </p:nvSpPr>
        <p:spPr>
          <a:xfrm>
            <a:off x="14859000" y="3190875"/>
            <a:ext cx="0" cy="1809750"/>
          </a:xfrm>
          <a:prstGeom prst="line">
            <a:avLst/>
          </a:prstGeom>
          <a:noFill/>
          <a:ln w="952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5" name="Connector line-1793173911252-61897631"/>
          <p:cNvSpPr/>
          <p:nvPr/>
        </p:nvSpPr>
        <p:spPr>
          <a:xfrm>
            <a:off x="12782550" y="4095750"/>
            <a:ext cx="2076450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4859000" y="1828800"/>
            <a:ext cx="1181100" cy="1866900"/>
          </a:xfrm>
          <a:custGeom>
            <a:avLst/>
            <a:gdLst/>
            <a:ahLst/>
            <a:cxnLst/>
            <a:rect l="l" t="t" r="r" b="b"/>
            <a:pathLst>
              <a:path w="1181100" h="1866900">
                <a:moveTo>
                  <a:pt x="0" y="1866900"/>
                </a:moveTo>
                <a:lnTo>
                  <a:pt x="1181100" y="962025"/>
                </a:lnTo>
                <a:lnTo>
                  <a:pt x="1181100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17" name="Connector line-1793173911261-891394992"/>
          <p:cNvSpPr/>
          <p:nvPr/>
        </p:nvSpPr>
        <p:spPr>
          <a:xfrm>
            <a:off x="16040100" y="5400675"/>
            <a:ext cx="0" cy="96202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18" name="Connector line-1793173911261-305796435"/>
          <p:cNvSpPr/>
          <p:nvPr/>
        </p:nvSpPr>
        <p:spPr>
          <a:xfrm>
            <a:off x="14859000" y="4495800"/>
            <a:ext cx="1181100" cy="90487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315825" y="391477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20" name="Text 18"/>
          <p:cNvSpPr/>
          <p:nvPr/>
        </p:nvSpPr>
        <p:spPr>
          <a:xfrm>
            <a:off x="12306300" y="391477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6221075" y="1571625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22" name="Text 20"/>
          <p:cNvSpPr/>
          <p:nvPr/>
        </p:nvSpPr>
        <p:spPr>
          <a:xfrm>
            <a:off x="16211550" y="15811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6221075" y="6257925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24" name="Text 22"/>
          <p:cNvSpPr/>
          <p:nvPr/>
        </p:nvSpPr>
        <p:spPr>
          <a:xfrm>
            <a:off x="16211550" y="62484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d9d402a-ecb2-4e70-9b79-276dde1242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Transistor: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tay</a:t>
            </a:r>
            <a:r>
              <a:rPr lang="en-US" sz="57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khiển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8858250" cy="6096000"/>
          </a:xfrm>
          <a:prstGeom prst="roundRect">
            <a:avLst>
              <a:gd name="adj" fmla="val 437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3500" y="5334000"/>
            <a:ext cx="3524250" cy="762000"/>
          </a:xfrm>
          <a:prstGeom prst="roundRect">
            <a:avLst>
              <a:gd name="adj" fmla="val 17500"/>
            </a:avLst>
          </a:prstGeom>
          <a:solidFill>
            <a:srgbClr val="CDDCFB"/>
          </a:solidFill>
          <a:ln w="38100">
            <a:solidFill>
              <a:srgbClr val="2F6B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0" y="5334000"/>
            <a:ext cx="2762250" cy="762000"/>
          </a:xfrm>
          <a:prstGeom prst="roundRect">
            <a:avLst>
              <a:gd name="adj" fmla="val 17500"/>
            </a:avLst>
          </a:prstGeom>
          <a:solidFill>
            <a:srgbClr val="BDE5D6"/>
          </a:solidFill>
          <a:ln w="38100">
            <a:solidFill>
              <a:srgbClr val="0B8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62500" y="4857750"/>
            <a:ext cx="1428750" cy="1714500"/>
          </a:xfrm>
          <a:prstGeom prst="roundRect">
            <a:avLst>
              <a:gd name="adj" fmla="val 14667"/>
            </a:avLst>
          </a:prstGeom>
          <a:solidFill>
            <a:srgbClr val="3A3F4B"/>
          </a:solidFill>
          <a:ln/>
        </p:spPr>
      </p:sp>
      <p:sp>
        <p:nvSpPr>
          <p:cNvPr id="7" name="Shape 5"/>
          <p:cNvSpPr/>
          <p:nvPr/>
        </p:nvSpPr>
        <p:spPr>
          <a:xfrm>
            <a:off x="5286375" y="3905250"/>
            <a:ext cx="381000" cy="952500"/>
          </a:xfrm>
          <a:prstGeom prst="roundRect">
            <a:avLst>
              <a:gd name="adj" fmla="val 20000"/>
            </a:avLst>
          </a:prstGeom>
          <a:solidFill>
            <a:srgbClr val="3A3F4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3619500"/>
            <a:ext cx="1809750" cy="342900"/>
          </a:xfrm>
          <a:prstGeom prst="roundRect">
            <a:avLst>
              <a:gd name="adj" fmla="val 44444"/>
            </a:avLst>
          </a:prstGeom>
          <a:solidFill>
            <a:srgbClr val="DD4B0E"/>
          </a:solidFill>
          <a:ln/>
        </p:spPr>
      </p:sp>
      <p:sp>
        <p:nvSpPr>
          <p:cNvPr id="9" name="Connector line-1793174341292-220788943"/>
          <p:cNvSpPr/>
          <p:nvPr/>
        </p:nvSpPr>
        <p:spPr>
          <a:xfrm>
            <a:off x="1571625" y="5715000"/>
            <a:ext cx="2905125" cy="0"/>
          </a:xfrm>
          <a:prstGeom prst="line">
            <a:avLst/>
          </a:prstGeom>
          <a:noFill/>
          <a:ln w="114300">
            <a:solidFill>
              <a:srgbClr val="2F6BEF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3174341292-986839301"/>
          <p:cNvSpPr/>
          <p:nvPr/>
        </p:nvSpPr>
        <p:spPr>
          <a:xfrm>
            <a:off x="6334125" y="5715000"/>
            <a:ext cx="2286000" cy="0"/>
          </a:xfrm>
          <a:prstGeom prst="line">
            <a:avLst/>
          </a:prstGeom>
          <a:noFill/>
          <a:ln w="114300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200150" y="2495550"/>
            <a:ext cx="8286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87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Tay</a:t>
            </a:r>
            <a:r>
              <a:rPr lang="en-US" sz="2250" dirty="0" spc="-10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van</a:t>
            </a:r>
            <a:r>
              <a:rPr lang="en-US" sz="2250" dirty="0" spc="-3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nhỏ</a:t>
            </a:r>
            <a:r>
              <a:rPr lang="en-US" sz="2250" dirty="0" spc="2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=</a:t>
            </a:r>
            <a:r>
              <a:rPr lang="en-US" sz="2250" dirty="0" spc="16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cực</a:t>
            </a:r>
            <a:r>
              <a:rPr lang="en-US" sz="2250" dirty="0" spc="11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điều</a:t>
            </a:r>
            <a:r>
              <a:rPr lang="en-US" sz="2250" dirty="0" spc="-1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khiển</a:t>
            </a:r>
            <a:r>
              <a:rPr lang="en-US" sz="2250" dirty="0" spc="2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(Base</a:t>
            </a:r>
            <a:r>
              <a:rPr lang="en-US" sz="2250" dirty="0" spc="0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/ Gate)</a:t>
            </a:r>
            <a:endParaRPr lang="en-US" sz="2250" dirty="0"/>
          </a:p>
        </p:txBody>
      </p:sp>
      <p:sp>
        <p:nvSpPr>
          <p:cNvPr id="12" name="Connector line-1793174341298-372627960"/>
          <p:cNvSpPr/>
          <p:nvPr/>
        </p:nvSpPr>
        <p:spPr>
          <a:xfrm>
            <a:off x="5476875" y="3105150"/>
            <a:ext cx="0" cy="438150"/>
          </a:xfrm>
          <a:prstGeom prst="line">
            <a:avLst/>
          </a:prstGeom>
          <a:noFill/>
          <a:ln w="57150">
            <a:solidFill>
              <a:srgbClr val="DD4B0E"/>
            </a:solidFill>
            <a:prstDash val="solid"/>
            <a:headEnd type="none"/>
            <a:tailEnd type="triangle" w="med" len="lg"/>
          </a:ln>
        </p:spPr>
      </p:sp>
      <p:sp>
        <p:nvSpPr>
          <p:cNvPr id="13" name="Text 11"/>
          <p:cNvSpPr/>
          <p:nvPr/>
        </p:nvSpPr>
        <p:spPr>
          <a:xfrm>
            <a:off x="6667500" y="36195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29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xoay</a:t>
            </a:r>
            <a:r>
              <a:rPr lang="en-US" sz="2100" b="1" dirty="0" spc="-3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33500" y="6286500"/>
            <a:ext cx="3524250" cy="104775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en-US" sz="2100" dirty="0" spc="11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Nước</a:t>
            </a:r>
            <a:r>
              <a:rPr lang="en-US" sz="2100" dirty="0" spc="-11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vào</a:t>
            </a:r>
            <a:r>
              <a:rPr lang="en-US" sz="2100" dirty="0" spc="-3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=</a:t>
            </a:r>
            <a:r>
              <a:rPr lang="en-US" sz="2100" dirty="0" spc="-12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dòng</a:t>
            </a:r>
            <a:r>
              <a:rPr lang="en-US" sz="2100" dirty="0" spc="-2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r>
              <a:rPr lang="en-US" sz="2100" dirty="0" spc="-11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vào</a:t>
            </a:r>
            <a:r>
              <a:rPr lang="en-US" sz="2100" dirty="0" spc="-4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(Collector</a:t>
            </a:r>
            <a:r>
              <a:rPr lang="en-US" sz="2100" dirty="0" spc="-3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/</a:t>
            </a:r>
            <a:r>
              <a:rPr lang="en-US" sz="2100" dirty="0" spc="-2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Drain)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0" y="6286500"/>
            <a:ext cx="2762250" cy="104775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en-US" sz="2100" dirty="0" spc="11" kern="0">
                <a:solidFill>
                  <a:srgbClr val="0B8A5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Nước</a:t>
            </a:r>
            <a:r>
              <a:rPr lang="en-US" sz="2100" dirty="0" spc="-11" kern="0">
                <a:solidFill>
                  <a:srgbClr val="0B8A5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ra</a:t>
            </a:r>
            <a:r>
              <a:rPr lang="en-US" sz="2100" dirty="0" spc="-3" kern="0">
                <a:solidFill>
                  <a:srgbClr val="0B8A5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=</a:t>
            </a:r>
            <a:r>
              <a:rPr lang="en-US" sz="2100" dirty="0" spc="-12" kern="0">
                <a:solidFill>
                  <a:srgbClr val="0B8A5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dòng</a:t>
            </a:r>
            <a:r>
              <a:rPr lang="en-US" sz="2100" dirty="0" spc="-10" kern="0">
                <a:solidFill>
                  <a:srgbClr val="0B8A5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ra</a:t>
            </a:r>
            <a:r>
              <a:rPr lang="en-US" sz="2100" dirty="0" spc="-2" kern="0">
                <a:solidFill>
                  <a:srgbClr val="0B8A5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(Emitter /</a:t>
            </a:r>
            <a:r>
              <a:rPr lang="en-US" sz="2100" dirty="0" spc="-7" kern="0">
                <a:solidFill>
                  <a:srgbClr val="0B8A5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Source)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95400" y="7715250"/>
            <a:ext cx="809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Xoay</a:t>
            </a:r>
            <a:r>
              <a:rPr lang="en-US" sz="22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nhẹ</a:t>
            </a:r>
            <a:r>
              <a:rPr lang="en-US" sz="2250" dirty="0" spc="-1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</a:t>
            </a:r>
            <a:r>
              <a:rPr lang="en-US" sz="2250" dirty="0" spc="-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van,</a:t>
            </a:r>
            <a:r>
              <a:rPr lang="en-US" sz="225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250" dirty="0" spc="1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nước</a:t>
            </a:r>
            <a:r>
              <a:rPr lang="en-US" sz="22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2250" dirty="0" spc="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2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058400" y="2381250"/>
            <a:ext cx="7315200" cy="3619500"/>
          </a:xfrm>
          <a:prstGeom prst="roundRect">
            <a:avLst>
              <a:gd name="adj" fmla="val 5789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10363200" y="2647950"/>
            <a:ext cx="6705600" cy="3086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Transistor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chân: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18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cực</a:t>
            </a:r>
            <a:r>
              <a:rPr lang="en-US" sz="2250" b="1" dirty="0" spc="15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b="1" dirty="0" spc="-1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2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khuếch</a:t>
            </a: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đóng/ngắt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[S1][S3]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van</a:t>
            </a: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xoay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van,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NPN,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PNP, MOSFET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N,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JFET.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058400" y="6248400"/>
            <a:ext cx="7315200" cy="6858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0" y="6248400"/>
            <a:ext cx="114300" cy="685800"/>
          </a:xfrm>
          <a:prstGeom prst="roundRect">
            <a:avLst>
              <a:gd name="adj" fmla="val 50000"/>
            </a:avLst>
          </a:prstGeom>
          <a:solidFill>
            <a:srgbClr val="DD4B0E"/>
          </a:solidFill>
          <a:ln/>
        </p:spPr>
      </p:sp>
      <p:sp>
        <p:nvSpPr>
          <p:cNvPr id="21" name="Text 19"/>
          <p:cNvSpPr/>
          <p:nvPr/>
        </p:nvSpPr>
        <p:spPr>
          <a:xfrm>
            <a:off x="10382250" y="62484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18371" rIns="0" bIns="-18371" rtlCol="0" anchor="ctr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Điều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khiển: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Base</a:t>
            </a:r>
            <a:r>
              <a:rPr lang="en-US" sz="21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(BJT)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1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(FET), màu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cam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058400" y="7048500"/>
            <a:ext cx="7315200" cy="6858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0" y="7048500"/>
            <a:ext cx="114300" cy="685800"/>
          </a:xfrm>
          <a:prstGeom prst="roundRect">
            <a:avLst>
              <a:gd name="adj" fmla="val 50000"/>
            </a:avLst>
          </a:prstGeom>
          <a:solidFill>
            <a:srgbClr val="2F6BEF"/>
          </a:solidFill>
          <a:ln/>
        </p:spPr>
      </p:sp>
      <p:sp>
        <p:nvSpPr>
          <p:cNvPr id="24" name="Text 22"/>
          <p:cNvSpPr/>
          <p:nvPr/>
        </p:nvSpPr>
        <p:spPr>
          <a:xfrm>
            <a:off x="10382250" y="70485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18371" rIns="0" bIns="-18371" rtlCol="0" anchor="ctr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Dòng</a:t>
            </a:r>
            <a:r>
              <a:rPr lang="en-US" sz="21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vào:</a:t>
            </a: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Collector</a:t>
            </a:r>
            <a:r>
              <a:rPr lang="en-US" sz="21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1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Drain,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màu</a:t>
            </a:r>
            <a:r>
              <a:rPr lang="en-US" sz="21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xanh</a:t>
            </a:r>
            <a:r>
              <a:rPr lang="en-US" sz="21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0058400" y="7848600"/>
            <a:ext cx="7315200" cy="6858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58400" y="7848600"/>
            <a:ext cx="114300" cy="685800"/>
          </a:xfrm>
          <a:prstGeom prst="roundRect">
            <a:avLst>
              <a:gd name="adj" fmla="val 50000"/>
            </a:avLst>
          </a:prstGeom>
          <a:solidFill>
            <a:srgbClr val="0B8A5F"/>
          </a:solidFill>
          <a:ln/>
        </p:spPr>
      </p:sp>
      <p:sp>
        <p:nvSpPr>
          <p:cNvPr id="27" name="Text 25"/>
          <p:cNvSpPr/>
          <p:nvPr/>
        </p:nvSpPr>
        <p:spPr>
          <a:xfrm>
            <a:off x="10382250" y="7848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18371" rIns="0" bIns="-18371" rtlCol="0" anchor="ctr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Dòng</a:t>
            </a:r>
            <a:r>
              <a:rPr lang="en-US" sz="21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ra: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Emitter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1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Source,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màu</a:t>
            </a:r>
            <a:r>
              <a:rPr lang="en-US" sz="21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xanh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lục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 [S1]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 [S4]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52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02/18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a41acafd-6dd0-458b-ad10-3a658cc33d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57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loại:</a:t>
            </a:r>
            <a:r>
              <a:rPr lang="en-US" sz="5700" dirty="0" spc="-8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BJT,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MOSFET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JFET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7524750" y="2495550"/>
            <a:ext cx="3238500" cy="742950"/>
          </a:xfrm>
          <a:prstGeom prst="roundRect">
            <a:avLst>
              <a:gd name="adj" fmla="val 28205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7524750" y="2495550"/>
            <a:ext cx="3238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Transistor</a:t>
            </a:r>
            <a:endParaRPr lang="en-US" sz="3300" dirty="0"/>
          </a:p>
        </p:txBody>
      </p:sp>
      <p:sp>
        <p:nvSpPr>
          <p:cNvPr id="5" name="Connector line-1793174374121-822177946"/>
          <p:cNvSpPr/>
          <p:nvPr/>
        </p:nvSpPr>
        <p:spPr>
          <a:xfrm>
            <a:off x="9144000" y="3238500"/>
            <a:ext cx="0" cy="3048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6" name="Connector line-1793174374121-732915260"/>
          <p:cNvSpPr/>
          <p:nvPr/>
        </p:nvSpPr>
        <p:spPr>
          <a:xfrm>
            <a:off x="4095750" y="3543300"/>
            <a:ext cx="80486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Connector line-1793174374121-127373967"/>
          <p:cNvSpPr/>
          <p:nvPr/>
        </p:nvSpPr>
        <p:spPr>
          <a:xfrm>
            <a:off x="4095750" y="3543300"/>
            <a:ext cx="0" cy="2667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8" name="Connector line-1793174374122-585855371"/>
          <p:cNvSpPr/>
          <p:nvPr/>
        </p:nvSpPr>
        <p:spPr>
          <a:xfrm>
            <a:off x="12144375" y="3543300"/>
            <a:ext cx="0" cy="2667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619250" y="3810000"/>
            <a:ext cx="4953000" cy="952500"/>
          </a:xfrm>
          <a:prstGeom prst="roundRect">
            <a:avLst>
              <a:gd name="adj" fmla="val 22000"/>
            </a:avLst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19250" y="3848100"/>
            <a:ext cx="495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BJT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19250" y="43053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điều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khiển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 Base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286875" y="3810000"/>
            <a:ext cx="5715000" cy="952500"/>
          </a:xfrm>
          <a:prstGeom prst="roundRect">
            <a:avLst>
              <a:gd name="adj" fmla="val 22000"/>
            </a:avLst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6875" y="38481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FET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286875" y="43053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điều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khiển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1950" dirty="0" spc="1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19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áp</a:t>
            </a:r>
            <a:r>
              <a:rPr lang="en-US" sz="1950" dirty="0" spc="-1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</a:t>
            </a:r>
            <a:endParaRPr lang="en-US" sz="1950" dirty="0"/>
          </a:p>
        </p:txBody>
      </p:sp>
      <p:sp>
        <p:nvSpPr>
          <p:cNvPr id="15" name="Connector line-1793174374135-572599738"/>
          <p:cNvSpPr/>
          <p:nvPr/>
        </p:nvSpPr>
        <p:spPr>
          <a:xfrm>
            <a:off x="4095750" y="4762500"/>
            <a:ext cx="0" cy="7620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6" name="Connector line-1793174374136-996505637"/>
          <p:cNvSpPr/>
          <p:nvPr/>
        </p:nvSpPr>
        <p:spPr>
          <a:xfrm>
            <a:off x="2857500" y="5524500"/>
            <a:ext cx="2476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7" name="Connector line-1793174374136-350720668"/>
          <p:cNvSpPr/>
          <p:nvPr/>
        </p:nvSpPr>
        <p:spPr>
          <a:xfrm>
            <a:off x="2857500" y="5524500"/>
            <a:ext cx="0" cy="7620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8" name="Connector line-1793174374136-885863812"/>
          <p:cNvSpPr/>
          <p:nvPr/>
        </p:nvSpPr>
        <p:spPr>
          <a:xfrm>
            <a:off x="5334000" y="5524500"/>
            <a:ext cx="0" cy="7620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9" name="Connector line-1793174374136-807040716"/>
          <p:cNvSpPr/>
          <p:nvPr/>
        </p:nvSpPr>
        <p:spPr>
          <a:xfrm>
            <a:off x="12144375" y="4762500"/>
            <a:ext cx="0" cy="1905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0" name="Connector line-1793174374137-127559789"/>
          <p:cNvSpPr/>
          <p:nvPr/>
        </p:nvSpPr>
        <p:spPr>
          <a:xfrm>
            <a:off x="9667875" y="4953000"/>
            <a:ext cx="4953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1" name="Connector line-1793174374137-423361362"/>
          <p:cNvSpPr/>
          <p:nvPr/>
        </p:nvSpPr>
        <p:spPr>
          <a:xfrm>
            <a:off x="9667875" y="4953000"/>
            <a:ext cx="0" cy="1905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2" name="Connector line-1793174374137-481341626"/>
          <p:cNvSpPr/>
          <p:nvPr/>
        </p:nvSpPr>
        <p:spPr>
          <a:xfrm>
            <a:off x="14620875" y="4953000"/>
            <a:ext cx="0" cy="1905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7620000" y="5143500"/>
            <a:ext cx="4095750" cy="85725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0000" y="5181600"/>
            <a:ext cx="4095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MOSFET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7620000" y="5600700"/>
            <a:ext cx="409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bật</a:t>
            </a:r>
            <a:r>
              <a:rPr lang="en-US" sz="180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180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VGS</a:t>
            </a:r>
            <a:r>
              <a:rPr lang="en-US" sz="1800" dirty="0" spc="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vượt</a:t>
            </a:r>
            <a:r>
              <a:rPr lang="en-US" sz="1800" dirty="0" spc="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Vth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573000" y="5143500"/>
            <a:ext cx="4095750" cy="85725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573000" y="5181600"/>
            <a:ext cx="4095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JFET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2573000" y="5600700"/>
            <a:ext cx="409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thường</a:t>
            </a:r>
            <a:r>
              <a:rPr lang="en-US" sz="180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180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180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VGS</a:t>
            </a:r>
            <a:r>
              <a:rPr lang="en-US" sz="180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180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</a:t>
            </a:r>
            <a:endParaRPr lang="en-US" sz="1800" dirty="0"/>
          </a:p>
        </p:txBody>
      </p:sp>
      <p:sp>
        <p:nvSpPr>
          <p:cNvPr id="29" name="Connector line-1793174374146-748636132"/>
          <p:cNvSpPr/>
          <p:nvPr/>
        </p:nvSpPr>
        <p:spPr>
          <a:xfrm>
            <a:off x="9667875" y="6000750"/>
            <a:ext cx="0" cy="142875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0" name="Connector line-1793174374147-570619365"/>
          <p:cNvSpPr/>
          <p:nvPr/>
        </p:nvSpPr>
        <p:spPr>
          <a:xfrm>
            <a:off x="8572500" y="6143625"/>
            <a:ext cx="2190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1" name="Connector line-1793174374147-288349555"/>
          <p:cNvSpPr/>
          <p:nvPr/>
        </p:nvSpPr>
        <p:spPr>
          <a:xfrm>
            <a:off x="8572500" y="6143625"/>
            <a:ext cx="0" cy="142875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2" name="Connector line-1793174374147-54457048"/>
          <p:cNvSpPr/>
          <p:nvPr/>
        </p:nvSpPr>
        <p:spPr>
          <a:xfrm>
            <a:off x="10763250" y="6143625"/>
            <a:ext cx="0" cy="142875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3" name="Connector line-1793174374147-105831190"/>
          <p:cNvSpPr/>
          <p:nvPr/>
        </p:nvSpPr>
        <p:spPr>
          <a:xfrm>
            <a:off x="14620875" y="6000750"/>
            <a:ext cx="0" cy="142875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4" name="Connector line-1793174374147-254804413"/>
          <p:cNvSpPr/>
          <p:nvPr/>
        </p:nvSpPr>
        <p:spPr>
          <a:xfrm>
            <a:off x="13525500" y="6143625"/>
            <a:ext cx="2190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5" name="Connector line-1793174374147-483220831"/>
          <p:cNvSpPr/>
          <p:nvPr/>
        </p:nvSpPr>
        <p:spPr>
          <a:xfrm>
            <a:off x="13525500" y="6143625"/>
            <a:ext cx="0" cy="142875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6" name="Connector line-1793174374147-308965976"/>
          <p:cNvSpPr/>
          <p:nvPr/>
        </p:nvSpPr>
        <p:spPr>
          <a:xfrm>
            <a:off x="15716250" y="6143625"/>
            <a:ext cx="0" cy="142875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809750" y="6286500"/>
            <a:ext cx="2095500" cy="20955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38" name="Connector line-1793174374148-372158363"/>
          <p:cNvSpPr/>
          <p:nvPr/>
        </p:nvSpPr>
        <p:spPr>
          <a:xfrm>
            <a:off x="2743200" y="6867525"/>
            <a:ext cx="0" cy="457200"/>
          </a:xfrm>
          <a:prstGeom prst="line">
            <a:avLst/>
          </a:prstGeom>
          <a:noFill/>
          <a:ln w="952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9" name="Connector line-1793174374148-185479492"/>
          <p:cNvSpPr/>
          <p:nvPr/>
        </p:nvSpPr>
        <p:spPr>
          <a:xfrm>
            <a:off x="2219325" y="7096125"/>
            <a:ext cx="52387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2743200" y="6524625"/>
            <a:ext cx="295275" cy="466725"/>
          </a:xfrm>
          <a:custGeom>
            <a:avLst/>
            <a:gdLst/>
            <a:ahLst/>
            <a:cxnLst/>
            <a:rect l="l" t="t" r="r" b="b"/>
            <a:pathLst>
              <a:path w="295275" h="466725">
                <a:moveTo>
                  <a:pt x="0" y="466725"/>
                </a:moveTo>
                <a:lnTo>
                  <a:pt x="295275" y="238125"/>
                </a:lnTo>
                <a:lnTo>
                  <a:pt x="295275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41" name="Connector line-1793174374156-153170518"/>
          <p:cNvSpPr/>
          <p:nvPr/>
        </p:nvSpPr>
        <p:spPr>
          <a:xfrm>
            <a:off x="3038475" y="7429500"/>
            <a:ext cx="0" cy="23812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42" name="Connector line-1793174374156-388480810"/>
          <p:cNvSpPr/>
          <p:nvPr/>
        </p:nvSpPr>
        <p:spPr>
          <a:xfrm>
            <a:off x="2743200" y="7200900"/>
            <a:ext cx="295275" cy="22860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1809750" y="7867650"/>
            <a:ext cx="209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NPN</a:t>
            </a:r>
            <a:endParaRPr lang="en-US" sz="2250" dirty="0"/>
          </a:p>
        </p:txBody>
      </p:sp>
      <p:sp>
        <p:nvSpPr>
          <p:cNvPr id="44" name="Shape 42"/>
          <p:cNvSpPr/>
          <p:nvPr/>
        </p:nvSpPr>
        <p:spPr>
          <a:xfrm>
            <a:off x="4286250" y="6286500"/>
            <a:ext cx="2095500" cy="20955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5" name="Connector line-1793174374159-253117211"/>
          <p:cNvSpPr/>
          <p:nvPr/>
        </p:nvSpPr>
        <p:spPr>
          <a:xfrm flipV="1">
            <a:off x="5219700" y="6867525"/>
            <a:ext cx="0" cy="457200"/>
          </a:xfrm>
          <a:prstGeom prst="line">
            <a:avLst/>
          </a:prstGeom>
          <a:noFill/>
          <a:ln w="952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6" name="Connector line-1793174374159-529559201"/>
          <p:cNvSpPr/>
          <p:nvPr/>
        </p:nvSpPr>
        <p:spPr>
          <a:xfrm>
            <a:off x="4695825" y="7096125"/>
            <a:ext cx="52387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5219700" y="7200900"/>
            <a:ext cx="295275" cy="466725"/>
          </a:xfrm>
          <a:custGeom>
            <a:avLst/>
            <a:gdLst/>
            <a:ahLst/>
            <a:cxnLst/>
            <a:rect l="l" t="t" r="r" b="b"/>
            <a:pathLst>
              <a:path w="295275" h="466725">
                <a:moveTo>
                  <a:pt x="0" y="0"/>
                </a:moveTo>
                <a:lnTo>
                  <a:pt x="295275" y="228600"/>
                </a:lnTo>
                <a:lnTo>
                  <a:pt x="295275" y="466725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48" name="Connector line-1793174374160-216168027"/>
          <p:cNvSpPr/>
          <p:nvPr/>
        </p:nvSpPr>
        <p:spPr>
          <a:xfrm flipV="1">
            <a:off x="5514975" y="6524625"/>
            <a:ext cx="0" cy="23812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49" name="Connector line-1793174374161-690655097"/>
          <p:cNvSpPr/>
          <p:nvPr/>
        </p:nvSpPr>
        <p:spPr>
          <a:xfrm flipH="1">
            <a:off x="5219700" y="6762750"/>
            <a:ext cx="295275" cy="22860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4286250" y="7867650"/>
            <a:ext cx="209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PNP</a:t>
            </a:r>
            <a:endParaRPr lang="en-US" sz="2250" dirty="0"/>
          </a:p>
        </p:txBody>
      </p:sp>
      <p:sp>
        <p:nvSpPr>
          <p:cNvPr id="51" name="Shape 49"/>
          <p:cNvSpPr/>
          <p:nvPr/>
        </p:nvSpPr>
        <p:spPr>
          <a:xfrm>
            <a:off x="7524750" y="6286500"/>
            <a:ext cx="2095500" cy="20955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2" name="Connector line-1793174374163-984007556"/>
          <p:cNvSpPr/>
          <p:nvPr/>
        </p:nvSpPr>
        <p:spPr>
          <a:xfrm>
            <a:off x="7905750" y="7096125"/>
            <a:ext cx="438150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53" name="Connector line-1793174374163-56828764"/>
          <p:cNvSpPr/>
          <p:nvPr/>
        </p:nvSpPr>
        <p:spPr>
          <a:xfrm>
            <a:off x="8343900" y="6867525"/>
            <a:ext cx="0" cy="4572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4" name="Connector line-1793174374163-809613493"/>
          <p:cNvSpPr/>
          <p:nvPr/>
        </p:nvSpPr>
        <p:spPr>
          <a:xfrm>
            <a:off x="8458200" y="6838950"/>
            <a:ext cx="0" cy="1333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5" name="Connector line-1793174374163-797770149"/>
          <p:cNvSpPr/>
          <p:nvPr/>
        </p:nvSpPr>
        <p:spPr>
          <a:xfrm>
            <a:off x="8458200" y="7029450"/>
            <a:ext cx="0" cy="1333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6" name="Connector line-1793174374163-838818172"/>
          <p:cNvSpPr/>
          <p:nvPr/>
        </p:nvSpPr>
        <p:spPr>
          <a:xfrm>
            <a:off x="8458200" y="7219950"/>
            <a:ext cx="0" cy="1333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8458200" y="6524625"/>
            <a:ext cx="295275" cy="381000"/>
          </a:xfrm>
          <a:custGeom>
            <a:avLst/>
            <a:gdLst/>
            <a:ahLst/>
            <a:cxnLst/>
            <a:rect l="l" t="t" r="r" b="b"/>
            <a:pathLst>
              <a:path w="295275" h="381000">
                <a:moveTo>
                  <a:pt x="0" y="381000"/>
                </a:moveTo>
                <a:lnTo>
                  <a:pt x="295275" y="381000"/>
                </a:lnTo>
                <a:lnTo>
                  <a:pt x="295275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58200" y="7286625"/>
            <a:ext cx="295275" cy="381000"/>
          </a:xfrm>
          <a:custGeom>
            <a:avLst/>
            <a:gdLst/>
            <a:ahLst/>
            <a:cxnLst/>
            <a:rect l="l" t="t" r="r" b="b"/>
            <a:pathLst>
              <a:path w="295275" h="381000">
                <a:moveTo>
                  <a:pt x="0" y="0"/>
                </a:moveTo>
                <a:lnTo>
                  <a:pt x="295275" y="0"/>
                </a:lnTo>
                <a:lnTo>
                  <a:pt x="295275" y="381000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59" name="Connector line-1793174374165-397207972"/>
          <p:cNvSpPr/>
          <p:nvPr/>
        </p:nvSpPr>
        <p:spPr>
          <a:xfrm>
            <a:off x="8753475" y="7096125"/>
            <a:ext cx="0" cy="19050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60" name="Connector line-1793174374165-245108690"/>
          <p:cNvSpPr/>
          <p:nvPr/>
        </p:nvSpPr>
        <p:spPr>
          <a:xfrm flipH="1">
            <a:off x="8458200" y="7096125"/>
            <a:ext cx="295275" cy="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7524750" y="7867650"/>
            <a:ext cx="209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Kênh</a:t>
            </a:r>
            <a:r>
              <a:rPr lang="en-US" sz="22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</a:t>
            </a:r>
            <a:endParaRPr lang="en-US" sz="2250" dirty="0"/>
          </a:p>
        </p:txBody>
      </p:sp>
      <p:sp>
        <p:nvSpPr>
          <p:cNvPr id="62" name="Shape 60"/>
          <p:cNvSpPr/>
          <p:nvPr/>
        </p:nvSpPr>
        <p:spPr>
          <a:xfrm>
            <a:off x="9715500" y="6286500"/>
            <a:ext cx="2095500" cy="20955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63" name="Connector line-1793174374167-834213169"/>
          <p:cNvSpPr/>
          <p:nvPr/>
        </p:nvSpPr>
        <p:spPr>
          <a:xfrm>
            <a:off x="10096500" y="7096125"/>
            <a:ext cx="438150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64" name="Connector line-1793174374167-200505289"/>
          <p:cNvSpPr/>
          <p:nvPr/>
        </p:nvSpPr>
        <p:spPr>
          <a:xfrm flipV="1">
            <a:off x="10534650" y="6867525"/>
            <a:ext cx="0" cy="4572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65" name="Connector line-1793174374167-999076020"/>
          <p:cNvSpPr/>
          <p:nvPr/>
        </p:nvSpPr>
        <p:spPr>
          <a:xfrm flipV="1">
            <a:off x="10648950" y="7219950"/>
            <a:ext cx="0" cy="1333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66" name="Connector line-1793174374167-559577735"/>
          <p:cNvSpPr/>
          <p:nvPr/>
        </p:nvSpPr>
        <p:spPr>
          <a:xfrm flipV="1">
            <a:off x="10648950" y="7029450"/>
            <a:ext cx="0" cy="1333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67" name="Connector line-1793174374168-642209748"/>
          <p:cNvSpPr/>
          <p:nvPr/>
        </p:nvSpPr>
        <p:spPr>
          <a:xfrm flipV="1">
            <a:off x="10648950" y="6838950"/>
            <a:ext cx="0" cy="1333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10648950" y="7286625"/>
            <a:ext cx="295275" cy="381000"/>
          </a:xfrm>
          <a:custGeom>
            <a:avLst/>
            <a:gdLst/>
            <a:ahLst/>
            <a:cxnLst/>
            <a:rect l="l" t="t" r="r" b="b"/>
            <a:pathLst>
              <a:path w="295275" h="381000">
                <a:moveTo>
                  <a:pt x="0" y="0"/>
                </a:moveTo>
                <a:lnTo>
                  <a:pt x="295275" y="0"/>
                </a:lnTo>
                <a:lnTo>
                  <a:pt x="295275" y="38100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648950" y="6524625"/>
            <a:ext cx="295275" cy="381000"/>
          </a:xfrm>
          <a:custGeom>
            <a:avLst/>
            <a:gdLst/>
            <a:ahLst/>
            <a:cxnLst/>
            <a:rect l="l" t="t" r="r" b="b"/>
            <a:pathLst>
              <a:path w="295275" h="381000">
                <a:moveTo>
                  <a:pt x="0" y="381000"/>
                </a:moveTo>
                <a:lnTo>
                  <a:pt x="295275" y="381000"/>
                </a:lnTo>
                <a:lnTo>
                  <a:pt x="295275" y="0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70" name="Connector line-1793174374169-935459100"/>
          <p:cNvSpPr/>
          <p:nvPr/>
        </p:nvSpPr>
        <p:spPr>
          <a:xfrm flipV="1">
            <a:off x="10944225" y="6905625"/>
            <a:ext cx="0" cy="19050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71" name="Connector line-1793174374169-511241543"/>
          <p:cNvSpPr/>
          <p:nvPr/>
        </p:nvSpPr>
        <p:spPr>
          <a:xfrm>
            <a:off x="10648950" y="7096125"/>
            <a:ext cx="295275" cy="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9715500" y="7867650"/>
            <a:ext cx="209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Kênh</a:t>
            </a: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</a:t>
            </a:r>
            <a:endParaRPr lang="en-US" sz="2250" dirty="0"/>
          </a:p>
        </p:txBody>
      </p:sp>
      <p:sp>
        <p:nvSpPr>
          <p:cNvPr id="73" name="Shape 71"/>
          <p:cNvSpPr/>
          <p:nvPr/>
        </p:nvSpPr>
        <p:spPr>
          <a:xfrm>
            <a:off x="12477750" y="6286500"/>
            <a:ext cx="2095500" cy="20955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74" name="Connector line-1793174374171-531131280"/>
          <p:cNvSpPr/>
          <p:nvPr/>
        </p:nvSpPr>
        <p:spPr>
          <a:xfrm>
            <a:off x="13411200" y="6810375"/>
            <a:ext cx="0" cy="571500"/>
          </a:xfrm>
          <a:prstGeom prst="line">
            <a:avLst/>
          </a:prstGeom>
          <a:noFill/>
          <a:ln w="952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13411200" y="6524625"/>
            <a:ext cx="247650" cy="381000"/>
          </a:xfrm>
          <a:custGeom>
            <a:avLst/>
            <a:gdLst/>
            <a:ahLst/>
            <a:cxnLst/>
            <a:rect l="l" t="t" r="r" b="b"/>
            <a:pathLst>
              <a:path w="247650" h="381000">
                <a:moveTo>
                  <a:pt x="0" y="381000"/>
                </a:moveTo>
                <a:lnTo>
                  <a:pt x="247650" y="381000"/>
                </a:lnTo>
                <a:lnTo>
                  <a:pt x="247650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411200" y="7286625"/>
            <a:ext cx="247650" cy="381000"/>
          </a:xfrm>
          <a:custGeom>
            <a:avLst/>
            <a:gdLst/>
            <a:ahLst/>
            <a:cxnLst/>
            <a:rect l="l" t="t" r="r" b="b"/>
            <a:pathLst>
              <a:path w="247650" h="381000">
                <a:moveTo>
                  <a:pt x="0" y="0"/>
                </a:moveTo>
                <a:lnTo>
                  <a:pt x="247650" y="0"/>
                </a:lnTo>
                <a:lnTo>
                  <a:pt x="247650" y="381000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77" name="Connector line-1793174374173-517738553"/>
          <p:cNvSpPr/>
          <p:nvPr/>
        </p:nvSpPr>
        <p:spPr>
          <a:xfrm>
            <a:off x="12887325" y="7096125"/>
            <a:ext cx="52387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12477750" y="7867650"/>
            <a:ext cx="209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Kênh</a:t>
            </a:r>
            <a:r>
              <a:rPr lang="en-US" sz="22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</a:t>
            </a:r>
            <a:endParaRPr lang="en-US" sz="2250" dirty="0"/>
          </a:p>
        </p:txBody>
      </p:sp>
      <p:sp>
        <p:nvSpPr>
          <p:cNvPr id="79" name="Shape 77"/>
          <p:cNvSpPr/>
          <p:nvPr/>
        </p:nvSpPr>
        <p:spPr>
          <a:xfrm>
            <a:off x="14668500" y="6286500"/>
            <a:ext cx="2095500" cy="20955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0" name="Connector line-1793174374175-34438670"/>
          <p:cNvSpPr/>
          <p:nvPr/>
        </p:nvSpPr>
        <p:spPr>
          <a:xfrm>
            <a:off x="15601950" y="6810375"/>
            <a:ext cx="0" cy="571500"/>
          </a:xfrm>
          <a:prstGeom prst="line">
            <a:avLst/>
          </a:prstGeom>
          <a:noFill/>
          <a:ln w="952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15601950" y="6524625"/>
            <a:ext cx="247650" cy="381000"/>
          </a:xfrm>
          <a:custGeom>
            <a:avLst/>
            <a:gdLst/>
            <a:ahLst/>
            <a:cxnLst/>
            <a:rect l="l" t="t" r="r" b="b"/>
            <a:pathLst>
              <a:path w="247650" h="381000">
                <a:moveTo>
                  <a:pt x="0" y="381000"/>
                </a:moveTo>
                <a:lnTo>
                  <a:pt x="247650" y="381000"/>
                </a:lnTo>
                <a:lnTo>
                  <a:pt x="247650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5601950" y="7286625"/>
            <a:ext cx="247650" cy="381000"/>
          </a:xfrm>
          <a:custGeom>
            <a:avLst/>
            <a:gdLst/>
            <a:ahLst/>
            <a:cxnLst/>
            <a:rect l="l" t="t" r="r" b="b"/>
            <a:pathLst>
              <a:path w="247650" h="381000">
                <a:moveTo>
                  <a:pt x="0" y="0"/>
                </a:moveTo>
                <a:lnTo>
                  <a:pt x="247650" y="0"/>
                </a:lnTo>
                <a:lnTo>
                  <a:pt x="247650" y="381000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83" name="Connector line-1793174374177-169648993"/>
          <p:cNvSpPr/>
          <p:nvPr/>
        </p:nvSpPr>
        <p:spPr>
          <a:xfrm flipH="1">
            <a:off x="15354300" y="7096125"/>
            <a:ext cx="247650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triangle"/>
          </a:ln>
        </p:spPr>
      </p:sp>
      <p:sp>
        <p:nvSpPr>
          <p:cNvPr id="84" name="Connector line-1793174374177-276272738"/>
          <p:cNvSpPr/>
          <p:nvPr/>
        </p:nvSpPr>
        <p:spPr>
          <a:xfrm flipH="1">
            <a:off x="15078075" y="7096125"/>
            <a:ext cx="27622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85" name="Text 83"/>
          <p:cNvSpPr/>
          <p:nvPr/>
        </p:nvSpPr>
        <p:spPr>
          <a:xfrm>
            <a:off x="14668500" y="7867650"/>
            <a:ext cx="209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Kênh</a:t>
            </a: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</a:t>
            </a:r>
            <a:endParaRPr lang="en-US" sz="2250" dirty="0"/>
          </a:p>
        </p:txBody>
      </p:sp>
      <p:sp>
        <p:nvSpPr>
          <p:cNvPr id="86" name="Text 8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 [S1]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[S2]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 [S4]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381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0" name="Shape 8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5" name="Text 103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03/18</a:t>
            </a:r>
            <a:endParaRPr lang="en-US" sz="1800" dirty="0"/>
          </a:p>
        </p:txBody>
      </p:sp>
      <p:sp>
        <p:nvSpPr>
          <p:cNvPr id="106" name="Shape 10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7" name="Moda image moda-export-watermark-57eab5d4-a11c-4d98-9496-14fb29ff07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Hình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</a:t>
            </a:r>
            <a:r>
              <a:rPr lang="en-US" sz="57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57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tế: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57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6286500" cy="37719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3177867413-9852009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41040" y="2514600"/>
            <a:ext cx="4433221" cy="3505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29500" y="2381250"/>
            <a:ext cx="2476500" cy="377190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6" name="Moda image rect-1793177867513-2536746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04843" y="2514600"/>
            <a:ext cx="1725814" cy="3505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287000" y="2381250"/>
            <a:ext cx="7086600" cy="37719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8" name="Moda image rect-1793177867663-625692327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428589" y="2514600"/>
            <a:ext cx="4803422" cy="3505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62103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TO-92</a:t>
            </a:r>
            <a:r>
              <a:rPr lang="en-US" sz="225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2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SOT-23</a:t>
            </a:r>
            <a:endParaRPr lang="en-US" sz="2250" dirty="0"/>
          </a:p>
        </p:txBody>
      </p:sp>
      <p:sp>
        <p:nvSpPr>
          <p:cNvPr id="10" name="Text 5"/>
          <p:cNvSpPr/>
          <p:nvPr/>
        </p:nvSpPr>
        <p:spPr>
          <a:xfrm>
            <a:off x="914400" y="6572250"/>
            <a:ext cx="6286500" cy="628650"/>
          </a:xfrm>
          <a:prstGeom prst="rect">
            <a:avLst/>
          </a:prstGeom>
          <a:noFill/>
          <a:ln/>
        </p:spPr>
        <p:txBody>
          <a:bodyPr wrap="square" lIns="0" tIns="10032" rIns="0" bIns="-10032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dirty="0" spc="-2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TO-92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viên</a:t>
            </a:r>
            <a:r>
              <a:rPr lang="en-US" sz="1800" dirty="0" spc="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nhựa</a:t>
            </a: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chân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thẳng hàng</a:t>
            </a:r>
            <a:r>
              <a:rPr lang="en-US" sz="1800" dirty="0" spc="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(2N3906);</a:t>
            </a:r>
            <a:r>
              <a:rPr lang="en-US" sz="1800" dirty="0" spc="-1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SOT-23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180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18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dán,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nhỏ</a:t>
            </a:r>
            <a:r>
              <a:rPr lang="en-US" sz="1800" dirty="0" spc="-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</a:t>
            </a:r>
            <a:r>
              <a:rPr lang="en-US" sz="1800" dirty="0" spc="-1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ảnh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429500" y="62103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TO-220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7429500" y="6572250"/>
            <a:ext cx="2476500" cy="628650"/>
          </a:xfrm>
          <a:prstGeom prst="rect">
            <a:avLst/>
          </a:prstGeom>
          <a:noFill/>
          <a:ln/>
        </p:spPr>
        <p:txBody>
          <a:bodyPr wrap="square" lIns="0" tIns="10032" rIns="0" bIns="-10032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dirty="0" spc="-1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tai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kim loại</a:t>
            </a:r>
            <a:r>
              <a:rPr lang="en-US" sz="1800" dirty="0" spc="-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bắt</a:t>
            </a:r>
            <a:r>
              <a:rPr lang="en-US" sz="1800" dirty="0" spc="-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tản</a:t>
            </a: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nhiệt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0287000" y="6210300"/>
            <a:ext cx="708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D2PAK</a:t>
            </a:r>
            <a:endParaRPr lang="en-US" sz="2250" dirty="0"/>
          </a:p>
        </p:txBody>
      </p:sp>
      <p:sp>
        <p:nvSpPr>
          <p:cNvPr id="14" name="Text 9"/>
          <p:cNvSpPr/>
          <p:nvPr/>
        </p:nvSpPr>
        <p:spPr>
          <a:xfrm>
            <a:off x="10287000" y="6572250"/>
            <a:ext cx="7086600" cy="628650"/>
          </a:xfrm>
          <a:prstGeom prst="rect">
            <a:avLst/>
          </a:prstGeom>
          <a:noFill/>
          <a:ln/>
        </p:spPr>
        <p:txBody>
          <a:bodyPr wrap="square" lIns="0" tIns="10032" rIns="0" bIns="-10032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dirty="0" spc="-2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vỏ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1800" dirty="0" spc="-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suất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dạng dán;</a:t>
            </a:r>
            <a:r>
              <a:rPr lang="en-US" sz="18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que</a:t>
            </a: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diêm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thước</a:t>
            </a:r>
            <a:r>
              <a:rPr lang="en-US" sz="1800" dirty="0" spc="1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914400" y="752475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E8E0CF"/>
          </a:solidFill>
          <a:ln/>
        </p:spPr>
      </p:sp>
      <p:sp>
        <p:nvSpPr>
          <p:cNvPr id="16" name="Text 11"/>
          <p:cNvSpPr/>
          <p:nvPr/>
        </p:nvSpPr>
        <p:spPr>
          <a:xfrm>
            <a:off x="1181100" y="7524750"/>
            <a:ext cx="5715000" cy="800100"/>
          </a:xfrm>
          <a:prstGeom prst="rect">
            <a:avLst/>
          </a:prstGeom>
          <a:noFill/>
          <a:ln/>
        </p:spPr>
        <p:txBody>
          <a:bodyPr wrap="square" lIns="0" tIns="18371" rIns="0" bIns="-18371" rtlCol="0" anchor="ctr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chân: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kiểu,</a:t>
            </a:r>
            <a:r>
              <a:rPr lang="en-US" sz="21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1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datasheet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7200900" y="7524750"/>
            <a:ext cx="1905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8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2N3906</a:t>
            </a:r>
            <a:r>
              <a:rPr lang="en-US" sz="19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in:</a:t>
            </a:r>
            <a:endParaRPr lang="en-US" sz="1950" dirty="0"/>
          </a:p>
        </p:txBody>
      </p:sp>
      <p:sp>
        <p:nvSpPr>
          <p:cNvPr id="18" name="Shape 13"/>
          <p:cNvSpPr/>
          <p:nvPr/>
        </p:nvSpPr>
        <p:spPr>
          <a:xfrm>
            <a:off x="9305925" y="7743825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19" name="Text 14"/>
          <p:cNvSpPr/>
          <p:nvPr/>
        </p:nvSpPr>
        <p:spPr>
          <a:xfrm>
            <a:off x="9305925" y="77438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9839325" y="774382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21" name="Text 16"/>
          <p:cNvSpPr/>
          <p:nvPr/>
        </p:nvSpPr>
        <p:spPr>
          <a:xfrm>
            <a:off x="9839325" y="77438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10372725" y="7743825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23" name="Text 18"/>
          <p:cNvSpPr/>
          <p:nvPr/>
        </p:nvSpPr>
        <p:spPr>
          <a:xfrm>
            <a:off x="10372725" y="77438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11391900" y="7524750"/>
            <a:ext cx="2667000" cy="800100"/>
          </a:xfrm>
          <a:prstGeom prst="rect">
            <a:avLst/>
          </a:prstGeom>
          <a:noFill/>
          <a:ln/>
        </p:spPr>
        <p:txBody>
          <a:bodyPr wrap="square" lIns="0" tIns="17059" rIns="0" bIns="-17059" rtlCol="0" anchor="ctr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IRLZ24N</a:t>
            </a:r>
            <a:r>
              <a:rPr lang="en-US" sz="1950" dirty="0" spc="-1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(TO-220):</a:t>
            </a:r>
            <a:endParaRPr lang="en-US" sz="1950" dirty="0"/>
          </a:p>
        </p:txBody>
      </p:sp>
      <p:sp>
        <p:nvSpPr>
          <p:cNvPr id="25" name="Shape 20"/>
          <p:cNvSpPr/>
          <p:nvPr/>
        </p:nvSpPr>
        <p:spPr>
          <a:xfrm>
            <a:off x="14449425" y="774382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26" name="Text 21"/>
          <p:cNvSpPr/>
          <p:nvPr/>
        </p:nvSpPr>
        <p:spPr>
          <a:xfrm>
            <a:off x="14449425" y="77438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14982825" y="7743825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28" name="Text 23"/>
          <p:cNvSpPr/>
          <p:nvPr/>
        </p:nvSpPr>
        <p:spPr>
          <a:xfrm>
            <a:off x="14982825" y="77438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15516225" y="7743825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30" name="Text 25"/>
          <p:cNvSpPr/>
          <p:nvPr/>
        </p:nvSpPr>
        <p:spPr>
          <a:xfrm>
            <a:off x="15516225" y="77438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Mister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rf,</a:t>
            </a: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 Commons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[S12];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Axel</a:t>
            </a:r>
            <a:r>
              <a:rPr lang="en-US" sz="16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Richter,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 License</a:t>
            </a: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(cắt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ảnh)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[S18];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CyrilB,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GFDL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 Commons [S13]</a:t>
            </a:r>
            <a:endParaRPr lang="en-US" sz="1650" dirty="0"/>
          </a:p>
        </p:txBody>
      </p:sp>
      <p:sp>
        <p:nvSpPr>
          <p:cNvPr id="32" name="Text 2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 [S1]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[S8]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[S9]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[S10]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[S12]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[S13] [S18]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2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1"/>
          <p:cNvSpPr/>
          <p:nvPr/>
        </p:nvSpPr>
        <p:spPr>
          <a:xfrm>
            <a:off x="1609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3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3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Text 46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04/18</a:t>
            </a:r>
            <a:endParaRPr lang="en-US" sz="1800" dirty="0"/>
          </a:p>
        </p:txBody>
      </p:sp>
      <p:sp>
        <p:nvSpPr>
          <p:cNvPr id="52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21f09033-a0c0-47a4-861e-12d76953aff6" descr="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BJT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NPN: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 Base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 mở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57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Collector</a:t>
            </a:r>
            <a:r>
              <a:rPr lang="en-US" sz="57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3810000" cy="6000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3174861534-4581998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724150"/>
            <a:ext cx="3543300" cy="5314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48250" y="2381250"/>
            <a:ext cx="4762500" cy="6000750"/>
          </a:xfrm>
          <a:prstGeom prst="roundRect">
            <a:avLst>
              <a:gd name="adj" fmla="val 5600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6" name="Connector line-1793174861536-802968164"/>
          <p:cNvSpPr/>
          <p:nvPr/>
        </p:nvSpPr>
        <p:spPr>
          <a:xfrm>
            <a:off x="7334250" y="4772025"/>
            <a:ext cx="0" cy="1219200"/>
          </a:xfrm>
          <a:prstGeom prst="line">
            <a:avLst/>
          </a:prstGeom>
          <a:noFill/>
          <a:ln w="952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7" name="Connector line-1793174861537-364641191"/>
          <p:cNvSpPr/>
          <p:nvPr/>
        </p:nvSpPr>
        <p:spPr>
          <a:xfrm>
            <a:off x="5934075" y="5381625"/>
            <a:ext cx="140017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7334250" y="3857625"/>
            <a:ext cx="790575" cy="1257300"/>
          </a:xfrm>
          <a:custGeom>
            <a:avLst/>
            <a:gdLst/>
            <a:ahLst/>
            <a:cxnLst/>
            <a:rect l="l" t="t" r="r" b="b"/>
            <a:pathLst>
              <a:path w="790575" h="1257300">
                <a:moveTo>
                  <a:pt x="0" y="1257300"/>
                </a:moveTo>
                <a:lnTo>
                  <a:pt x="790575" y="647700"/>
                </a:lnTo>
                <a:lnTo>
                  <a:pt x="790575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9" name="Connector line-1793174861545-500640276"/>
          <p:cNvSpPr/>
          <p:nvPr/>
        </p:nvSpPr>
        <p:spPr>
          <a:xfrm>
            <a:off x="8124825" y="6257925"/>
            <a:ext cx="0" cy="64770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10" name="Connector line-1793174861545-515735849"/>
          <p:cNvSpPr/>
          <p:nvPr/>
        </p:nvSpPr>
        <p:spPr>
          <a:xfrm>
            <a:off x="7334250" y="5648325"/>
            <a:ext cx="790575" cy="60960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67350" y="5200650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12" name="Text 9"/>
          <p:cNvSpPr/>
          <p:nvPr/>
        </p:nvSpPr>
        <p:spPr>
          <a:xfrm>
            <a:off x="5467350" y="52006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305800" y="3600450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14" name="Text 11"/>
          <p:cNvSpPr/>
          <p:nvPr/>
        </p:nvSpPr>
        <p:spPr>
          <a:xfrm>
            <a:off x="8305800" y="36004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305800" y="6800850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16" name="Text 13"/>
          <p:cNvSpPr/>
          <p:nvPr/>
        </p:nvSpPr>
        <p:spPr>
          <a:xfrm>
            <a:off x="8305800" y="68008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</a:t>
            </a:r>
            <a:endParaRPr lang="en-US" sz="1800" dirty="0"/>
          </a:p>
        </p:txBody>
      </p:sp>
      <p:sp>
        <p:nvSpPr>
          <p:cNvPr id="17" name="Connector line-1793174861554-98107861"/>
          <p:cNvSpPr/>
          <p:nvPr/>
        </p:nvSpPr>
        <p:spPr>
          <a:xfrm>
            <a:off x="4886325" y="5381625"/>
            <a:ext cx="457200" cy="0"/>
          </a:xfrm>
          <a:prstGeom prst="line">
            <a:avLst/>
          </a:prstGeom>
          <a:noFill/>
          <a:ln w="57150">
            <a:solidFill>
              <a:srgbClr val="DD4B0E"/>
            </a:solidFill>
            <a:prstDash val="solid"/>
            <a:headEnd type="none"/>
            <a:tailEnd type="triangle" w="med" len="lg"/>
          </a:ln>
        </p:spPr>
      </p:sp>
      <p:sp>
        <p:nvSpPr>
          <p:cNvPr id="18" name="Text 15"/>
          <p:cNvSpPr/>
          <p:nvPr/>
        </p:nvSpPr>
        <p:spPr>
          <a:xfrm>
            <a:off x="4076700" y="4905375"/>
            <a:ext cx="95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IB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5219700" y="7524750"/>
            <a:ext cx="4419600" cy="666750"/>
          </a:xfrm>
          <a:prstGeom prst="rect">
            <a:avLst/>
          </a:prstGeom>
          <a:noFill/>
          <a:ln/>
        </p:spPr>
        <p:txBody>
          <a:bodyPr wrap="square" lIns="0" tIns="17059" rIns="0" bIns="-17059" rtlCol="0" anchor="ctr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VBE ≈</a:t>
            </a:r>
            <a:r>
              <a:rPr lang="en-US" sz="1950" dirty="0" spc="-1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0,6</a:t>
            </a:r>
            <a:r>
              <a:rPr lang="en-US" sz="1950" dirty="0" spc="1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</a:t>
            </a:r>
            <a:r>
              <a:rPr lang="en-US" sz="1950" dirty="0" spc="-1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(nhiều</a:t>
            </a:r>
            <a:r>
              <a:rPr lang="en-US" sz="1950" dirty="0" spc="2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giáo</a:t>
            </a:r>
            <a:r>
              <a:rPr lang="en-US" sz="1950" dirty="0" spc="3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1950" dirty="0" spc="-2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1950" dirty="0" spc="-13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tròn</a:t>
            </a:r>
            <a:r>
              <a:rPr lang="en-US" sz="1950" dirty="0" spc="-1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0,7</a:t>
            </a:r>
            <a:r>
              <a:rPr lang="en-US" sz="1950" dirty="0" spc="0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V)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0096500" y="2381250"/>
            <a:ext cx="72771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21" name="Shape 18"/>
          <p:cNvSpPr/>
          <p:nvPr/>
        </p:nvSpPr>
        <p:spPr>
          <a:xfrm>
            <a:off x="10096500" y="23812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DD4B0E"/>
          </a:solidFill>
          <a:ln/>
        </p:spPr>
      </p:sp>
      <p:sp>
        <p:nvSpPr>
          <p:cNvPr id="22" name="Text 19"/>
          <p:cNvSpPr/>
          <p:nvPr/>
        </p:nvSpPr>
        <p:spPr>
          <a:xfrm>
            <a:off x="10439400" y="2476500"/>
            <a:ext cx="67437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Base</a:t>
            </a:r>
            <a:r>
              <a:rPr lang="en-US" sz="2187" dirty="0" spc="2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(B)</a:t>
            </a:r>
            <a:endParaRPr lang="en-US" sz="2187" dirty="0"/>
          </a:p>
        </p:txBody>
      </p:sp>
      <p:sp>
        <p:nvSpPr>
          <p:cNvPr id="23" name="Text 20"/>
          <p:cNvSpPr/>
          <p:nvPr/>
        </p:nvSpPr>
        <p:spPr>
          <a:xfrm>
            <a:off x="10439400" y="2714625"/>
            <a:ext cx="67437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cực</a:t>
            </a:r>
            <a:r>
              <a:rPr lang="en-US" sz="255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khiển,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màu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cam</a:t>
            </a:r>
            <a:endParaRPr lang="en-US" sz="2550" dirty="0"/>
          </a:p>
        </p:txBody>
      </p:sp>
      <p:sp>
        <p:nvSpPr>
          <p:cNvPr id="24" name="Shape 21"/>
          <p:cNvSpPr/>
          <p:nvPr/>
        </p:nvSpPr>
        <p:spPr>
          <a:xfrm>
            <a:off x="10096500" y="3352800"/>
            <a:ext cx="72771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25" name="Shape 22"/>
          <p:cNvSpPr/>
          <p:nvPr/>
        </p:nvSpPr>
        <p:spPr>
          <a:xfrm>
            <a:off x="10096500" y="33528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2F6BEF"/>
          </a:solidFill>
          <a:ln/>
        </p:spPr>
      </p:sp>
      <p:sp>
        <p:nvSpPr>
          <p:cNvPr id="26" name="Text 23"/>
          <p:cNvSpPr/>
          <p:nvPr/>
        </p:nvSpPr>
        <p:spPr>
          <a:xfrm>
            <a:off x="10439400" y="3448050"/>
            <a:ext cx="67437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5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Collector</a:t>
            </a:r>
            <a:r>
              <a:rPr lang="en-US" sz="2187" dirty="0" spc="1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(C)</a:t>
            </a:r>
            <a:endParaRPr lang="en-US" sz="2187" dirty="0"/>
          </a:p>
        </p:txBody>
      </p:sp>
      <p:sp>
        <p:nvSpPr>
          <p:cNvPr id="27" name="Text 24"/>
          <p:cNvSpPr/>
          <p:nvPr/>
        </p:nvSpPr>
        <p:spPr>
          <a:xfrm>
            <a:off x="10439400" y="3686175"/>
            <a:ext cx="67437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dòng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5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vào,</a:t>
            </a:r>
            <a:r>
              <a:rPr lang="en-US" sz="25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xanh</a:t>
            </a:r>
            <a:r>
              <a:rPr lang="en-US" sz="25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endParaRPr lang="en-US" sz="2550" dirty="0"/>
          </a:p>
        </p:txBody>
      </p:sp>
      <p:sp>
        <p:nvSpPr>
          <p:cNvPr id="28" name="Shape 25"/>
          <p:cNvSpPr/>
          <p:nvPr/>
        </p:nvSpPr>
        <p:spPr>
          <a:xfrm>
            <a:off x="10096500" y="4324350"/>
            <a:ext cx="72771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29" name="Shape 26"/>
          <p:cNvSpPr/>
          <p:nvPr/>
        </p:nvSpPr>
        <p:spPr>
          <a:xfrm>
            <a:off x="10096500" y="43243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0B8A5F"/>
          </a:solidFill>
          <a:ln/>
        </p:spPr>
      </p:sp>
      <p:sp>
        <p:nvSpPr>
          <p:cNvPr id="30" name="Text 27"/>
          <p:cNvSpPr/>
          <p:nvPr/>
        </p:nvSpPr>
        <p:spPr>
          <a:xfrm>
            <a:off x="10439400" y="4419600"/>
            <a:ext cx="67437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" kern="0">
                <a:solidFill>
                  <a:srgbClr val="0B8A5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Emitter</a:t>
            </a:r>
            <a:r>
              <a:rPr lang="en-US" sz="2187" dirty="0" spc="-1" kern="0">
                <a:solidFill>
                  <a:srgbClr val="0B8A5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(E)</a:t>
            </a:r>
            <a:endParaRPr lang="en-US" sz="2187" dirty="0"/>
          </a:p>
        </p:txBody>
      </p:sp>
      <p:sp>
        <p:nvSpPr>
          <p:cNvPr id="31" name="Text 28"/>
          <p:cNvSpPr/>
          <p:nvPr/>
        </p:nvSpPr>
        <p:spPr>
          <a:xfrm>
            <a:off x="10439400" y="4657725"/>
            <a:ext cx="6743700" cy="466725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dòng</a:t>
            </a:r>
            <a:r>
              <a:rPr lang="en-US" sz="22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ra,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mũi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2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ngoài,</a:t>
            </a:r>
            <a:r>
              <a:rPr lang="en-US" sz="22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xanh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lục</a:t>
            </a:r>
            <a:endParaRPr lang="en-US" sz="2250" dirty="0"/>
          </a:p>
        </p:txBody>
      </p:sp>
      <p:sp>
        <p:nvSpPr>
          <p:cNvPr id="32" name="Shape 29"/>
          <p:cNvSpPr/>
          <p:nvPr/>
        </p:nvSpPr>
        <p:spPr>
          <a:xfrm>
            <a:off x="10096500" y="5295900"/>
            <a:ext cx="7277100" cy="3086100"/>
          </a:xfrm>
          <a:prstGeom prst="roundRect">
            <a:avLst>
              <a:gd name="adj" fmla="val 6790"/>
            </a:avLst>
          </a:prstGeom>
          <a:solidFill>
            <a:srgbClr val="1E212B"/>
          </a:solidFill>
          <a:ln/>
        </p:spPr>
      </p:sp>
      <p:sp>
        <p:nvSpPr>
          <p:cNvPr id="33" name="Text 30"/>
          <p:cNvSpPr/>
          <p:nvPr/>
        </p:nvSpPr>
        <p:spPr>
          <a:xfrm>
            <a:off x="10401300" y="5562600"/>
            <a:ext cx="6667500" cy="25527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NPN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2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Base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VBE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0,6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(nhiều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0,7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V)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Collector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Emitter;</a:t>
            </a:r>
            <a:r>
              <a:rPr lang="en-US" sz="22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ngắt.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Mẹo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nhớ: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"không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trong"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Ảnh: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BC547,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TO-92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250" dirty="0"/>
          </a:p>
        </p:txBody>
      </p:sp>
      <p:sp>
        <p:nvSpPr>
          <p:cNvPr id="34" name="Text 31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Suyash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Dwivedi,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4.0,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 Commons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[S5]</a:t>
            </a:r>
            <a:r>
              <a:rPr lang="en-US" sz="1800" dirty="0" spc="-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[S11]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1838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8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05/18</a:t>
            </a:r>
            <a:endParaRPr lang="en-US" sz="1800" dirty="0"/>
          </a:p>
        </p:txBody>
      </p:sp>
      <p:sp>
        <p:nvSpPr>
          <p:cNvPr id="55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e8fdaef9-164c-4ddb-9f33-01fd53f1b97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NPN: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IB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khiển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IC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9620250" cy="6096000"/>
          </a:xfrm>
          <a:prstGeom prst="roundRect">
            <a:avLst>
              <a:gd name="adj" fmla="val 437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Connector line-1793177923824-874048845"/>
          <p:cNvSpPr/>
          <p:nvPr/>
        </p:nvSpPr>
        <p:spPr>
          <a:xfrm>
            <a:off x="6667500" y="5715000"/>
            <a:ext cx="0" cy="952500"/>
          </a:xfrm>
          <a:prstGeom prst="line">
            <a:avLst/>
          </a:prstGeom>
          <a:noFill/>
          <a:ln w="952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Connector line-1793177923825-932524030"/>
          <p:cNvSpPr/>
          <p:nvPr/>
        </p:nvSpPr>
        <p:spPr>
          <a:xfrm>
            <a:off x="5572125" y="6191250"/>
            <a:ext cx="109537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667500" y="5000625"/>
            <a:ext cx="619125" cy="981075"/>
          </a:xfrm>
          <a:custGeom>
            <a:avLst/>
            <a:gdLst/>
            <a:ahLst/>
            <a:cxnLst/>
            <a:rect l="l" t="t" r="r" b="b"/>
            <a:pathLst>
              <a:path w="619125" h="981075">
                <a:moveTo>
                  <a:pt x="0" y="981075"/>
                </a:moveTo>
                <a:lnTo>
                  <a:pt x="619125" y="504825"/>
                </a:lnTo>
                <a:lnTo>
                  <a:pt x="619125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7" name="Connector line-1793177923833-617967929"/>
          <p:cNvSpPr/>
          <p:nvPr/>
        </p:nvSpPr>
        <p:spPr>
          <a:xfrm>
            <a:off x="7286625" y="6877050"/>
            <a:ext cx="0" cy="50482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8" name="Connector line-1793177923833-778737380"/>
          <p:cNvSpPr/>
          <p:nvPr/>
        </p:nvSpPr>
        <p:spPr>
          <a:xfrm>
            <a:off x="6667500" y="6400800"/>
            <a:ext cx="619125" cy="47625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05400" y="601027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10" name="Text 8"/>
          <p:cNvSpPr/>
          <p:nvPr/>
        </p:nvSpPr>
        <p:spPr>
          <a:xfrm>
            <a:off x="5105400" y="601027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67600" y="4743450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12" name="Text 10"/>
          <p:cNvSpPr/>
          <p:nvPr/>
        </p:nvSpPr>
        <p:spPr>
          <a:xfrm>
            <a:off x="7467600" y="47434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67600" y="7277100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14" name="Text 12"/>
          <p:cNvSpPr/>
          <p:nvPr/>
        </p:nvSpPr>
        <p:spPr>
          <a:xfrm>
            <a:off x="7467600" y="72771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</a:t>
            </a:r>
            <a:endParaRPr lang="en-US" sz="1800" dirty="0"/>
          </a:p>
        </p:txBody>
      </p:sp>
      <p:sp>
        <p:nvSpPr>
          <p:cNvPr id="15" name="Connector line-1793177923840-50263670"/>
          <p:cNvSpPr/>
          <p:nvPr/>
        </p:nvSpPr>
        <p:spPr>
          <a:xfrm>
            <a:off x="5953125" y="2857500"/>
            <a:ext cx="2667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095875" y="2647950"/>
            <a:ext cx="76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+V</a:t>
            </a:r>
            <a:endParaRPr lang="en-US" sz="2100" dirty="0"/>
          </a:p>
        </p:txBody>
      </p:sp>
      <p:sp>
        <p:nvSpPr>
          <p:cNvPr id="17" name="Connector line-1793177923841-819821780"/>
          <p:cNvSpPr/>
          <p:nvPr/>
        </p:nvSpPr>
        <p:spPr>
          <a:xfrm>
            <a:off x="7286625" y="2857500"/>
            <a:ext cx="0" cy="3810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143625" y="3238500"/>
            <a:ext cx="2286000" cy="9525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3625" y="32385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17059" rIns="0" bIns="-17059" rtlCol="0" anchor="ctr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 spc="-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Tải: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LED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endParaRPr lang="en-US" sz="1950" dirty="0"/>
          </a:p>
        </p:txBody>
      </p:sp>
      <p:sp>
        <p:nvSpPr>
          <p:cNvPr id="20" name="Connector line-1793177923843-816829524"/>
          <p:cNvSpPr/>
          <p:nvPr/>
        </p:nvSpPr>
        <p:spPr>
          <a:xfrm>
            <a:off x="7286625" y="4191000"/>
            <a:ext cx="0" cy="600075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1" name="Connector line-1793177923844-375179922"/>
          <p:cNvSpPr/>
          <p:nvPr/>
        </p:nvSpPr>
        <p:spPr>
          <a:xfrm>
            <a:off x="7286625" y="7591425"/>
            <a:ext cx="0" cy="3048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2" name="Connector line-1793177923844-720740799"/>
          <p:cNvSpPr/>
          <p:nvPr/>
        </p:nvSpPr>
        <p:spPr>
          <a:xfrm>
            <a:off x="7286625" y="7896225"/>
            <a:ext cx="0" cy="952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3" name="Connector line-1793177923844-884875801"/>
          <p:cNvSpPr/>
          <p:nvPr/>
        </p:nvSpPr>
        <p:spPr>
          <a:xfrm>
            <a:off x="6962775" y="7991475"/>
            <a:ext cx="6477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4" name="Connector line-1793177923844-243498610"/>
          <p:cNvSpPr/>
          <p:nvPr/>
        </p:nvSpPr>
        <p:spPr>
          <a:xfrm>
            <a:off x="7048500" y="8124825"/>
            <a:ext cx="4762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5" name="Connector line-1793177923844-702344350"/>
          <p:cNvSpPr/>
          <p:nvPr/>
        </p:nvSpPr>
        <p:spPr>
          <a:xfrm>
            <a:off x="7134225" y="8258175"/>
            <a:ext cx="3048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6" name="Connector line-1793177923844-538634659"/>
          <p:cNvSpPr/>
          <p:nvPr/>
        </p:nvSpPr>
        <p:spPr>
          <a:xfrm flipH="1">
            <a:off x="4619625" y="6191250"/>
            <a:ext cx="5905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3476625" y="5981700"/>
            <a:ext cx="1143000" cy="419100"/>
          </a:xfrm>
          <a:prstGeom prst="roundRect">
            <a:avLst>
              <a:gd name="adj" fmla="val 13636"/>
            </a:avLst>
          </a:prstGeom>
          <a:noFill/>
          <a:ln w="47625">
            <a:solidFill>
              <a:srgbClr val="1416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6625" y="5657850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RB</a:t>
            </a:r>
            <a:endParaRPr lang="en-US" sz="1800" dirty="0"/>
          </a:p>
        </p:txBody>
      </p:sp>
      <p:sp>
        <p:nvSpPr>
          <p:cNvPr id="29" name="Connector line-1793177923846-445125272"/>
          <p:cNvSpPr/>
          <p:nvPr/>
        </p:nvSpPr>
        <p:spPr>
          <a:xfrm flipH="1">
            <a:off x="2809875" y="6191250"/>
            <a:ext cx="6667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2724150" y="6105525"/>
            <a:ext cx="171450" cy="1714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Text 29"/>
          <p:cNvSpPr/>
          <p:nvPr/>
        </p:nvSpPr>
        <p:spPr>
          <a:xfrm>
            <a:off x="714375" y="5810250"/>
            <a:ext cx="2000250" cy="762000"/>
          </a:xfrm>
          <a:prstGeom prst="rect">
            <a:avLst/>
          </a:prstGeom>
          <a:noFill/>
          <a:ln/>
        </p:spPr>
        <p:txBody>
          <a:bodyPr wrap="square" lIns="0" tIns="15747" rIns="0" bIns="-15747" rtlCol="0" anchor="ctr"/>
          <a:lstStyle/>
          <a:p>
            <a:pPr algn="r" indent="0" marL="0">
              <a:lnSpc>
                <a:spcPts val="1980"/>
              </a:lnSpc>
              <a:buNone/>
            </a:pPr>
            <a:r>
              <a:rPr lang="en-US" sz="180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tín</a:t>
            </a:r>
            <a:r>
              <a:rPr lang="en-US" sz="180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180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180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</a:t>
            </a:r>
            <a:r>
              <a:rPr lang="en-US" sz="1800" dirty="0" spc="1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180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khiển</a:t>
            </a:r>
            <a:endParaRPr lang="en-US" sz="1800" dirty="0"/>
          </a:p>
        </p:txBody>
      </p:sp>
      <p:sp>
        <p:nvSpPr>
          <p:cNvPr id="32" name="Connector line-1793177923850-536993110"/>
          <p:cNvSpPr/>
          <p:nvPr/>
        </p:nvSpPr>
        <p:spPr>
          <a:xfrm>
            <a:off x="2943225" y="6629400"/>
            <a:ext cx="1485900" cy="0"/>
          </a:xfrm>
          <a:prstGeom prst="line">
            <a:avLst/>
          </a:prstGeom>
          <a:noFill/>
          <a:ln w="57150">
            <a:solidFill>
              <a:srgbClr val="DD4B0E"/>
            </a:solidFill>
            <a:prstDash val="solid"/>
            <a:headEnd type="none"/>
            <a:tailEnd type="triangle" w="med" len="lg"/>
          </a:ln>
        </p:spPr>
      </p:sp>
      <p:sp>
        <p:nvSpPr>
          <p:cNvPr id="33" name="Text 31"/>
          <p:cNvSpPr/>
          <p:nvPr/>
        </p:nvSpPr>
        <p:spPr>
          <a:xfrm>
            <a:off x="2943225" y="6686550"/>
            <a:ext cx="152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IB</a:t>
            </a:r>
            <a:r>
              <a:rPr lang="en-US" sz="1950" dirty="0" spc="-1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(nhỏ)</a:t>
            </a:r>
            <a:endParaRPr lang="en-US" sz="1950" dirty="0"/>
          </a:p>
        </p:txBody>
      </p:sp>
      <p:sp>
        <p:nvSpPr>
          <p:cNvPr id="34" name="Connector line-1793177923852-141184483"/>
          <p:cNvSpPr/>
          <p:nvPr/>
        </p:nvSpPr>
        <p:spPr>
          <a:xfrm>
            <a:off x="8162925" y="4286250"/>
            <a:ext cx="0" cy="390525"/>
          </a:xfrm>
          <a:prstGeom prst="line">
            <a:avLst/>
          </a:prstGeom>
          <a:noFill/>
          <a:ln w="133350">
            <a:solidFill>
              <a:srgbClr val="2F6BEF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8391525" y="4286250"/>
            <a:ext cx="114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IC</a:t>
            </a:r>
            <a:endParaRPr lang="en-US" sz="2250" dirty="0"/>
          </a:p>
        </p:txBody>
      </p:sp>
      <p:sp>
        <p:nvSpPr>
          <p:cNvPr id="36" name="Connector line-1793177923853-538868490"/>
          <p:cNvSpPr/>
          <p:nvPr/>
        </p:nvSpPr>
        <p:spPr>
          <a:xfrm>
            <a:off x="8162925" y="7496175"/>
            <a:ext cx="0" cy="323850"/>
          </a:xfrm>
          <a:prstGeom prst="line">
            <a:avLst/>
          </a:prstGeom>
          <a:noFill/>
          <a:ln w="95250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8391525" y="7439025"/>
            <a:ext cx="114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0B8A5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IE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10858500" y="2381250"/>
            <a:ext cx="6515100" cy="1123950"/>
          </a:xfrm>
          <a:prstGeom prst="roundRect">
            <a:avLst>
              <a:gd name="adj" fmla="val 16949"/>
            </a:avLst>
          </a:prstGeom>
          <a:solidFill>
            <a:srgbClr val="E8E0CF"/>
          </a:solidFill>
          <a:ln/>
        </p:spPr>
      </p:sp>
      <p:sp>
        <p:nvSpPr>
          <p:cNvPr id="39" name="Shape 37"/>
          <p:cNvSpPr/>
          <p:nvPr/>
        </p:nvSpPr>
        <p:spPr>
          <a:xfrm>
            <a:off x="10858500" y="2381250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DD4B0E"/>
          </a:solidFill>
          <a:ln/>
        </p:spPr>
      </p:sp>
      <p:sp>
        <p:nvSpPr>
          <p:cNvPr id="40" name="Text 38"/>
          <p:cNvSpPr/>
          <p:nvPr/>
        </p:nvSpPr>
        <p:spPr>
          <a:xfrm>
            <a:off x="11201400" y="2381250"/>
            <a:ext cx="59817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IB nhỏ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chảy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Base (mũi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cam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mảnh)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10858500" y="3619500"/>
            <a:ext cx="6515100" cy="1123950"/>
          </a:xfrm>
          <a:prstGeom prst="roundRect">
            <a:avLst>
              <a:gd name="adj" fmla="val 16949"/>
            </a:avLst>
          </a:prstGeom>
          <a:solidFill>
            <a:srgbClr val="E8E0CF"/>
          </a:solidFill>
          <a:ln/>
        </p:spPr>
      </p:sp>
      <p:sp>
        <p:nvSpPr>
          <p:cNvPr id="42" name="Shape 40"/>
          <p:cNvSpPr/>
          <p:nvPr/>
        </p:nvSpPr>
        <p:spPr>
          <a:xfrm>
            <a:off x="10858500" y="3619500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2F6BEF"/>
          </a:solidFill>
          <a:ln/>
        </p:spPr>
      </p:sp>
      <p:sp>
        <p:nvSpPr>
          <p:cNvPr id="43" name="Text 41"/>
          <p:cNvSpPr/>
          <p:nvPr/>
        </p:nvSpPr>
        <p:spPr>
          <a:xfrm>
            <a:off x="11201400" y="3619500"/>
            <a:ext cx="59817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chảy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Collector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Emitter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(mũi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xanh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đậm)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10858500" y="4857750"/>
            <a:ext cx="6515100" cy="1123950"/>
          </a:xfrm>
          <a:prstGeom prst="roundRect">
            <a:avLst>
              <a:gd name="adj" fmla="val 16949"/>
            </a:avLst>
          </a:prstGeom>
          <a:solidFill>
            <a:srgbClr val="E8E0C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858500" y="4857750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1201400" y="4857750"/>
            <a:ext cx="59817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IC ≈ β × IB trong vùng khuếch đại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0858500" y="6096000"/>
            <a:ext cx="6515100" cy="1123950"/>
          </a:xfrm>
          <a:prstGeom prst="roundRect">
            <a:avLst>
              <a:gd name="adj" fmla="val 16949"/>
            </a:avLst>
          </a:prstGeom>
          <a:solidFill>
            <a:srgbClr val="E8E0CF"/>
          </a:solidFill>
          <a:ln/>
        </p:spPr>
      </p:sp>
      <p:sp>
        <p:nvSpPr>
          <p:cNvPr id="48" name="Shape 46"/>
          <p:cNvSpPr/>
          <p:nvPr/>
        </p:nvSpPr>
        <p:spPr>
          <a:xfrm>
            <a:off x="10858500" y="6096000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0B8A5F"/>
          </a:solidFill>
          <a:ln/>
        </p:spPr>
      </p:sp>
      <p:sp>
        <p:nvSpPr>
          <p:cNvPr id="49" name="Text 47"/>
          <p:cNvSpPr/>
          <p:nvPr/>
        </p:nvSpPr>
        <p:spPr>
          <a:xfrm>
            <a:off x="11201400" y="6096000"/>
            <a:ext cx="59817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IE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IC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IB: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khỏi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Emitter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10858500" y="7334250"/>
            <a:ext cx="6515100" cy="1123950"/>
          </a:xfrm>
          <a:prstGeom prst="roundRect">
            <a:avLst>
              <a:gd name="adj" fmla="val 16949"/>
            </a:avLst>
          </a:prstGeom>
          <a:solidFill>
            <a:srgbClr val="E8E0CF"/>
          </a:solidFill>
          <a:ln/>
        </p:spPr>
      </p:sp>
      <p:sp>
        <p:nvSpPr>
          <p:cNvPr id="51" name="Shape 49"/>
          <p:cNvSpPr/>
          <p:nvPr/>
        </p:nvSpPr>
        <p:spPr>
          <a:xfrm>
            <a:off x="10858500" y="7334250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52" name="Text 50"/>
          <p:cNvSpPr/>
          <p:nvPr/>
        </p:nvSpPr>
        <p:spPr>
          <a:xfrm>
            <a:off x="11201400" y="7334250"/>
            <a:ext cx="59817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Ví dụ giả định: β = 100, IB = 1 mA cho IC = 100 mA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[S2]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[S5]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066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0" name="Shape 5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e877cfe8-694b-49b8-bf46-79c34b1310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BJT</a:t>
            </a: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PNP:</a:t>
            </a:r>
            <a:r>
              <a:rPr lang="en-US" sz="57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ngược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NPN,</a:t>
            </a:r>
            <a:r>
              <a:rPr lang="en-US" sz="57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kéo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Base xuống</a:t>
            </a:r>
            <a:r>
              <a:rPr lang="en-US" sz="57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3143250" cy="6000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3176654537-3241354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3463925"/>
            <a:ext cx="2876550" cy="3835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86250" y="2381250"/>
            <a:ext cx="5334000" cy="600075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6" name="Connector line-1793176654539-322930684"/>
          <p:cNvSpPr/>
          <p:nvPr/>
        </p:nvSpPr>
        <p:spPr>
          <a:xfrm flipV="1">
            <a:off x="7239000" y="4876800"/>
            <a:ext cx="0" cy="914400"/>
          </a:xfrm>
          <a:prstGeom prst="line">
            <a:avLst/>
          </a:prstGeom>
          <a:noFill/>
          <a:ln w="952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Connector line-1793176654539-401696190"/>
          <p:cNvSpPr/>
          <p:nvPr/>
        </p:nvSpPr>
        <p:spPr>
          <a:xfrm>
            <a:off x="6191250" y="5334000"/>
            <a:ext cx="1047750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7239000" y="5534025"/>
            <a:ext cx="590550" cy="942975"/>
          </a:xfrm>
          <a:custGeom>
            <a:avLst/>
            <a:gdLst/>
            <a:ahLst/>
            <a:cxnLst/>
            <a:rect l="l" t="t" r="r" b="b"/>
            <a:pathLst>
              <a:path w="590550" h="942975">
                <a:moveTo>
                  <a:pt x="0" y="0"/>
                </a:moveTo>
                <a:lnTo>
                  <a:pt x="590550" y="457200"/>
                </a:lnTo>
                <a:lnTo>
                  <a:pt x="590550" y="942975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9" name="Connector line-1793176654547-475179665"/>
          <p:cNvSpPr/>
          <p:nvPr/>
        </p:nvSpPr>
        <p:spPr>
          <a:xfrm flipV="1">
            <a:off x="7829550" y="4191000"/>
            <a:ext cx="0" cy="48577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10" name="Connector line-1793176654548-938909339"/>
          <p:cNvSpPr/>
          <p:nvPr/>
        </p:nvSpPr>
        <p:spPr>
          <a:xfrm flipH="1">
            <a:off x="7239000" y="4676775"/>
            <a:ext cx="590550" cy="45720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724525" y="515302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12" name="Text 9"/>
          <p:cNvSpPr/>
          <p:nvPr/>
        </p:nvSpPr>
        <p:spPr>
          <a:xfrm>
            <a:off x="5724525" y="51530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010525" y="6372225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14" name="Text 11"/>
          <p:cNvSpPr/>
          <p:nvPr/>
        </p:nvSpPr>
        <p:spPr>
          <a:xfrm>
            <a:off x="8010525" y="63722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010525" y="3933825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16" name="Text 13"/>
          <p:cNvSpPr/>
          <p:nvPr/>
        </p:nvSpPr>
        <p:spPr>
          <a:xfrm>
            <a:off x="8010525" y="39338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</a:t>
            </a:r>
            <a:endParaRPr lang="en-US" sz="1800" dirty="0"/>
          </a:p>
        </p:txBody>
      </p:sp>
      <p:sp>
        <p:nvSpPr>
          <p:cNvPr id="17" name="Connector line-1793176654556-523483187"/>
          <p:cNvSpPr/>
          <p:nvPr/>
        </p:nvSpPr>
        <p:spPr>
          <a:xfrm>
            <a:off x="6781800" y="2762250"/>
            <a:ext cx="2095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5924550" y="2552700"/>
            <a:ext cx="76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+V</a:t>
            </a:r>
            <a:endParaRPr lang="en-US" sz="2100" dirty="0"/>
          </a:p>
        </p:txBody>
      </p:sp>
      <p:sp>
        <p:nvSpPr>
          <p:cNvPr id="19" name="Connector line-1793176654558-771718741"/>
          <p:cNvSpPr/>
          <p:nvPr/>
        </p:nvSpPr>
        <p:spPr>
          <a:xfrm>
            <a:off x="7829550" y="2762250"/>
            <a:ext cx="0" cy="12192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0" name="Connector line-1793176654558-287361717"/>
          <p:cNvSpPr/>
          <p:nvPr/>
        </p:nvSpPr>
        <p:spPr>
          <a:xfrm>
            <a:off x="7829550" y="6686550"/>
            <a:ext cx="0" cy="3619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6781800" y="7048500"/>
            <a:ext cx="2095500" cy="857250"/>
          </a:xfrm>
          <a:prstGeom prst="roundRect">
            <a:avLst>
              <a:gd name="adj" fmla="val 15556"/>
            </a:avLst>
          </a:prstGeom>
          <a:solidFill>
            <a:srgbClr val="E8E0CF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81800" y="7048500"/>
            <a:ext cx="209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endParaRPr lang="en-US" sz="2100" dirty="0"/>
          </a:p>
        </p:txBody>
      </p:sp>
      <p:sp>
        <p:nvSpPr>
          <p:cNvPr id="23" name="Connector line-1793176654561-333889895"/>
          <p:cNvSpPr/>
          <p:nvPr/>
        </p:nvSpPr>
        <p:spPr>
          <a:xfrm>
            <a:off x="7829550" y="7905750"/>
            <a:ext cx="0" cy="1905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4" name="Connector line-1793176654561-998998578"/>
          <p:cNvSpPr/>
          <p:nvPr/>
        </p:nvSpPr>
        <p:spPr>
          <a:xfrm>
            <a:off x="7829550" y="8096250"/>
            <a:ext cx="0" cy="952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5" name="Connector line-1793176654562-812059807"/>
          <p:cNvSpPr/>
          <p:nvPr/>
        </p:nvSpPr>
        <p:spPr>
          <a:xfrm>
            <a:off x="7505700" y="8191500"/>
            <a:ext cx="6477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6" name="Connector line-1793176654562-877960659"/>
          <p:cNvSpPr/>
          <p:nvPr/>
        </p:nvSpPr>
        <p:spPr>
          <a:xfrm>
            <a:off x="7591425" y="8324850"/>
            <a:ext cx="4762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7" name="Connector line-1793176654562-301288769"/>
          <p:cNvSpPr/>
          <p:nvPr/>
        </p:nvSpPr>
        <p:spPr>
          <a:xfrm>
            <a:off x="7677150" y="8458200"/>
            <a:ext cx="3048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8" name="Connector line-1793176654562-446961030"/>
          <p:cNvSpPr/>
          <p:nvPr/>
        </p:nvSpPr>
        <p:spPr>
          <a:xfrm flipH="1">
            <a:off x="5334000" y="5334000"/>
            <a:ext cx="4953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>
            <a:off x="4286250" y="5124450"/>
            <a:ext cx="1047750" cy="419100"/>
          </a:xfrm>
          <a:prstGeom prst="roundRect">
            <a:avLst>
              <a:gd name="adj" fmla="val 13636"/>
            </a:avLst>
          </a:prstGeom>
          <a:noFill/>
          <a:ln w="47625">
            <a:solidFill>
              <a:srgbClr val="14161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86250" y="480060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RB</a:t>
            </a:r>
            <a:endParaRPr lang="en-US" sz="1800" dirty="0"/>
          </a:p>
        </p:txBody>
      </p:sp>
      <p:sp>
        <p:nvSpPr>
          <p:cNvPr id="31" name="Connector line-1793176654565-788462880"/>
          <p:cNvSpPr/>
          <p:nvPr/>
        </p:nvSpPr>
        <p:spPr>
          <a:xfrm flipH="1">
            <a:off x="3810000" y="5334000"/>
            <a:ext cx="4762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3724275" y="5248275"/>
            <a:ext cx="171450" cy="1714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Text 30"/>
          <p:cNvSpPr/>
          <p:nvPr/>
        </p:nvSpPr>
        <p:spPr>
          <a:xfrm>
            <a:off x="3790950" y="6362700"/>
            <a:ext cx="2190750" cy="666750"/>
          </a:xfrm>
          <a:prstGeom prst="rect">
            <a:avLst/>
          </a:prstGeom>
          <a:noFill/>
          <a:ln/>
        </p:spPr>
        <p:txBody>
          <a:bodyPr wrap="square" lIns="0" tIns="15747" rIns="0" bIns="-15747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 spc="-3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kéo</a:t>
            </a:r>
            <a:r>
              <a:rPr lang="en-US" sz="180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xuống</a:t>
            </a:r>
            <a:r>
              <a:rPr lang="en-US" sz="180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thấp</a:t>
            </a:r>
            <a:r>
              <a:rPr lang="en-US" sz="1800" dirty="0" spc="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180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bật</a:t>
            </a:r>
            <a:endParaRPr lang="en-US" sz="1800" dirty="0"/>
          </a:p>
        </p:txBody>
      </p:sp>
      <p:sp>
        <p:nvSpPr>
          <p:cNvPr id="34" name="Connector line-1793176654567-193778941"/>
          <p:cNvSpPr/>
          <p:nvPr/>
        </p:nvSpPr>
        <p:spPr>
          <a:xfrm flipH="1">
            <a:off x="3905250" y="5772150"/>
            <a:ext cx="1333500" cy="0"/>
          </a:xfrm>
          <a:prstGeom prst="line">
            <a:avLst/>
          </a:prstGeom>
          <a:noFill/>
          <a:ln w="57150">
            <a:solidFill>
              <a:srgbClr val="DD4B0E"/>
            </a:solidFill>
            <a:prstDash val="solid"/>
            <a:headEnd type="none"/>
            <a:tailEnd type="triangle" w="med" len="lg"/>
          </a:ln>
        </p:spPr>
      </p:sp>
      <p:sp>
        <p:nvSpPr>
          <p:cNvPr id="35" name="Text 32"/>
          <p:cNvSpPr/>
          <p:nvPr/>
        </p:nvSpPr>
        <p:spPr>
          <a:xfrm>
            <a:off x="3905250" y="5867400"/>
            <a:ext cx="152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IB</a:t>
            </a:r>
            <a:r>
              <a:rPr lang="en-US" sz="1950" dirty="0" spc="-4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(ra)</a:t>
            </a:r>
            <a:endParaRPr lang="en-US" sz="1950" dirty="0"/>
          </a:p>
        </p:txBody>
      </p:sp>
      <p:sp>
        <p:nvSpPr>
          <p:cNvPr id="36" name="Connector line-1793176654570-221995122"/>
          <p:cNvSpPr/>
          <p:nvPr/>
        </p:nvSpPr>
        <p:spPr>
          <a:xfrm>
            <a:off x="8705850" y="3429000"/>
            <a:ext cx="0" cy="476250"/>
          </a:xfrm>
          <a:prstGeom prst="line">
            <a:avLst/>
          </a:prstGeom>
          <a:noFill/>
          <a:ln w="114300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37" name="Text 34"/>
          <p:cNvSpPr/>
          <p:nvPr/>
        </p:nvSpPr>
        <p:spPr>
          <a:xfrm>
            <a:off x="8934450" y="3333750"/>
            <a:ext cx="133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0B8A5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IE</a:t>
            </a:r>
            <a:endParaRPr lang="en-US" sz="2250" dirty="0"/>
          </a:p>
        </p:txBody>
      </p:sp>
      <p:sp>
        <p:nvSpPr>
          <p:cNvPr id="38" name="Connector line-1793176654572-512347663"/>
          <p:cNvSpPr/>
          <p:nvPr/>
        </p:nvSpPr>
        <p:spPr>
          <a:xfrm>
            <a:off x="8705850" y="6610350"/>
            <a:ext cx="0" cy="400050"/>
          </a:xfrm>
          <a:prstGeom prst="line">
            <a:avLst/>
          </a:prstGeom>
          <a:noFill/>
          <a:ln w="114300">
            <a:solidFill>
              <a:srgbClr val="2F6BEF"/>
            </a:solidFill>
            <a:prstDash val="solid"/>
            <a:headEnd type="none"/>
            <a:tailEnd type="triangle"/>
          </a:ln>
        </p:spPr>
      </p:sp>
      <p:sp>
        <p:nvSpPr>
          <p:cNvPr id="39" name="Text 36"/>
          <p:cNvSpPr/>
          <p:nvPr/>
        </p:nvSpPr>
        <p:spPr>
          <a:xfrm>
            <a:off x="8934450" y="6553200"/>
            <a:ext cx="133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IC</a:t>
            </a:r>
            <a:endParaRPr lang="en-US" sz="2250" dirty="0"/>
          </a:p>
        </p:txBody>
      </p:sp>
      <p:sp>
        <p:nvSpPr>
          <p:cNvPr id="40" name="Shape 37"/>
          <p:cNvSpPr/>
          <p:nvPr/>
        </p:nvSpPr>
        <p:spPr>
          <a:xfrm>
            <a:off x="9906000" y="2381250"/>
            <a:ext cx="74676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41" name="Shape 38"/>
          <p:cNvSpPr/>
          <p:nvPr/>
        </p:nvSpPr>
        <p:spPr>
          <a:xfrm>
            <a:off x="9906000" y="23812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42" name="Text 39"/>
          <p:cNvSpPr/>
          <p:nvPr/>
        </p:nvSpPr>
        <p:spPr>
          <a:xfrm>
            <a:off x="10248900" y="2381250"/>
            <a:ext cx="6934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Mũi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Emitter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endParaRPr lang="en-US" sz="2550" dirty="0"/>
          </a:p>
        </p:txBody>
      </p:sp>
      <p:sp>
        <p:nvSpPr>
          <p:cNvPr id="43" name="Shape 40"/>
          <p:cNvSpPr/>
          <p:nvPr/>
        </p:nvSpPr>
        <p:spPr>
          <a:xfrm>
            <a:off x="9906000" y="3352800"/>
            <a:ext cx="74676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44" name="Shape 41"/>
          <p:cNvSpPr/>
          <p:nvPr/>
        </p:nvSpPr>
        <p:spPr>
          <a:xfrm>
            <a:off x="9906000" y="33528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45" name="Text 42"/>
          <p:cNvSpPr/>
          <p:nvPr/>
        </p:nvSpPr>
        <p:spPr>
          <a:xfrm>
            <a:off x="10248900" y="3352800"/>
            <a:ext cx="6934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Dòng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chảy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Emitter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Collector</a:t>
            </a:r>
            <a:endParaRPr lang="en-US" sz="2250" dirty="0"/>
          </a:p>
        </p:txBody>
      </p:sp>
      <p:sp>
        <p:nvSpPr>
          <p:cNvPr id="46" name="Shape 43"/>
          <p:cNvSpPr/>
          <p:nvPr/>
        </p:nvSpPr>
        <p:spPr>
          <a:xfrm>
            <a:off x="9906000" y="4324350"/>
            <a:ext cx="74676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47" name="Shape 44"/>
          <p:cNvSpPr/>
          <p:nvPr/>
        </p:nvSpPr>
        <p:spPr>
          <a:xfrm>
            <a:off x="9906000" y="43243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48" name="Text 45"/>
          <p:cNvSpPr/>
          <p:nvPr/>
        </p:nvSpPr>
        <p:spPr>
          <a:xfrm>
            <a:off x="10248900" y="4419600"/>
            <a:ext cx="69342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3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Bật</a:t>
            </a:r>
            <a:endParaRPr lang="en-US" sz="2187" dirty="0"/>
          </a:p>
        </p:txBody>
      </p:sp>
      <p:sp>
        <p:nvSpPr>
          <p:cNvPr id="49" name="Text 46"/>
          <p:cNvSpPr/>
          <p:nvPr/>
        </p:nvSpPr>
        <p:spPr>
          <a:xfrm>
            <a:off x="10248900" y="4657725"/>
            <a:ext cx="6934200" cy="466725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dirty="0" spc="-3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kéo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Base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thấp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Emitter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0,6 V</a:t>
            </a:r>
            <a:endParaRPr lang="en-US" sz="2400" dirty="0"/>
          </a:p>
        </p:txBody>
      </p:sp>
      <p:sp>
        <p:nvSpPr>
          <p:cNvPr id="50" name="Shape 47"/>
          <p:cNvSpPr/>
          <p:nvPr/>
        </p:nvSpPr>
        <p:spPr>
          <a:xfrm>
            <a:off x="9906000" y="5295900"/>
            <a:ext cx="7467600" cy="3086100"/>
          </a:xfrm>
          <a:prstGeom prst="roundRect">
            <a:avLst>
              <a:gd name="adj" fmla="val 6790"/>
            </a:avLst>
          </a:prstGeom>
          <a:solidFill>
            <a:srgbClr val="E8E0CF"/>
          </a:solidFill>
          <a:ln/>
        </p:spPr>
      </p:sp>
      <p:sp>
        <p:nvSpPr>
          <p:cNvPr id="51" name="Text 48"/>
          <p:cNvSpPr/>
          <p:nvPr/>
        </p:nvSpPr>
        <p:spPr>
          <a:xfrm>
            <a:off x="10210800" y="5562600"/>
            <a:ext cx="6858000" cy="25527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PNP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bản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3" kern="0">
                <a:solidFill>
                  <a:srgbClr val="0B8A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Emitter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dương, dòng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Emitter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4" kern="0">
                <a:solidFill>
                  <a:srgbClr val="2F6BE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Collector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Base.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Emitter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0,6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bật;</a:t>
            </a: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Emitter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Ảnh: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2N3906,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TO-92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[S12]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250" dirty="0"/>
          </a:p>
        </p:txBody>
      </p:sp>
      <p:sp>
        <p:nvSpPr>
          <p:cNvPr id="52" name="Text 49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Mister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rf,</a:t>
            </a: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(cắt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ảnh),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 Commons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650" dirty="0"/>
          </a:p>
        </p:txBody>
      </p:sp>
      <p:sp>
        <p:nvSpPr>
          <p:cNvPr id="53" name="Text 5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[S5] [S12]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2295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1" name="Shape 5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69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07/18</a:t>
            </a:r>
            <a:endParaRPr lang="en-US" sz="1800" dirty="0"/>
          </a:p>
        </p:txBody>
      </p:sp>
      <p:sp>
        <p:nvSpPr>
          <p:cNvPr id="73" name="Shape 7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7dac104d-de72-4d87-80aa-974db27244b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MOSFET</a:t>
            </a:r>
            <a:r>
              <a:rPr lang="en-US" sz="57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N: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khiển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57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áp,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57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3810000" cy="6000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3175004693-2930708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761798"/>
            <a:ext cx="3543300" cy="523965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48250" y="2381250"/>
            <a:ext cx="4762500" cy="600075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6" name="Connector line-1793175004694-526319185"/>
          <p:cNvSpPr/>
          <p:nvPr/>
        </p:nvSpPr>
        <p:spPr>
          <a:xfrm>
            <a:off x="5772150" y="5381625"/>
            <a:ext cx="1162050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7" name="Connector line-1793175004694-988708525"/>
          <p:cNvSpPr/>
          <p:nvPr/>
        </p:nvSpPr>
        <p:spPr>
          <a:xfrm>
            <a:off x="6934200" y="4772025"/>
            <a:ext cx="0" cy="12192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8" name="Connector line-1793175004694-98773287"/>
          <p:cNvSpPr/>
          <p:nvPr/>
        </p:nvSpPr>
        <p:spPr>
          <a:xfrm>
            <a:off x="7239000" y="4695825"/>
            <a:ext cx="0" cy="3429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9" name="Connector line-1793175004695-677797947"/>
          <p:cNvSpPr/>
          <p:nvPr/>
        </p:nvSpPr>
        <p:spPr>
          <a:xfrm>
            <a:off x="7239000" y="5210175"/>
            <a:ext cx="0" cy="3429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0" name="Connector line-1793175004695-616004486"/>
          <p:cNvSpPr/>
          <p:nvPr/>
        </p:nvSpPr>
        <p:spPr>
          <a:xfrm>
            <a:off x="7239000" y="5724525"/>
            <a:ext cx="0" cy="3429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7239000" y="3857625"/>
            <a:ext cx="790575" cy="1009650"/>
          </a:xfrm>
          <a:custGeom>
            <a:avLst/>
            <a:gdLst/>
            <a:ahLst/>
            <a:cxnLst/>
            <a:rect l="l" t="t" r="r" b="b"/>
            <a:pathLst>
              <a:path w="790575" h="1009650">
                <a:moveTo>
                  <a:pt x="0" y="1009650"/>
                </a:moveTo>
                <a:lnTo>
                  <a:pt x="790575" y="1009650"/>
                </a:lnTo>
                <a:lnTo>
                  <a:pt x="790575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39000" y="5895975"/>
            <a:ext cx="790575" cy="1009650"/>
          </a:xfrm>
          <a:custGeom>
            <a:avLst/>
            <a:gdLst/>
            <a:ahLst/>
            <a:cxnLst/>
            <a:rect l="l" t="t" r="r" b="b"/>
            <a:pathLst>
              <a:path w="790575" h="1009650">
                <a:moveTo>
                  <a:pt x="0" y="0"/>
                </a:moveTo>
                <a:lnTo>
                  <a:pt x="790575" y="0"/>
                </a:lnTo>
                <a:lnTo>
                  <a:pt x="790575" y="1009650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13" name="Connector line-1793175004698-761267628"/>
          <p:cNvSpPr/>
          <p:nvPr/>
        </p:nvSpPr>
        <p:spPr>
          <a:xfrm>
            <a:off x="8029575" y="5381625"/>
            <a:ext cx="0" cy="51435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14" name="Connector line-1793175004698-760265497"/>
          <p:cNvSpPr/>
          <p:nvPr/>
        </p:nvSpPr>
        <p:spPr>
          <a:xfrm flipH="1">
            <a:off x="7239000" y="5381625"/>
            <a:ext cx="790575" cy="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305425" y="5200650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16" name="Text 13"/>
          <p:cNvSpPr/>
          <p:nvPr/>
        </p:nvSpPr>
        <p:spPr>
          <a:xfrm>
            <a:off x="5305425" y="52006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210550" y="3600450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18" name="Text 15"/>
          <p:cNvSpPr/>
          <p:nvPr/>
        </p:nvSpPr>
        <p:spPr>
          <a:xfrm>
            <a:off x="8210550" y="36004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210550" y="6800850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20" name="Text 17"/>
          <p:cNvSpPr/>
          <p:nvPr/>
        </p:nvSpPr>
        <p:spPr>
          <a:xfrm>
            <a:off x="8210550" y="68008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219700" y="7524750"/>
            <a:ext cx="4419600" cy="666750"/>
          </a:xfrm>
          <a:prstGeom prst="rect">
            <a:avLst/>
          </a:prstGeom>
          <a:noFill/>
          <a:ln/>
        </p:spPr>
        <p:txBody>
          <a:bodyPr wrap="square" lIns="0" tIns="17059" rIns="0" bIns="-17059" rtlCol="0" anchor="ctr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950" dirty="0" spc="-1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VGS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1950" dirty="0" spc="1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19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áp</a:t>
            </a:r>
            <a:r>
              <a:rPr lang="en-US" sz="1950" dirty="0" spc="8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1950" dirty="0" spc="-1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</a:t>
            </a:r>
            <a:r>
              <a:rPr lang="en-US" sz="1950" dirty="0" spc="-18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dirty="0" spc="-8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Source;</a:t>
            </a:r>
            <a:r>
              <a:rPr lang="en-US" sz="1950" dirty="0" spc="-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bật</a:t>
            </a:r>
            <a:r>
              <a:rPr lang="en-US" sz="19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1950" dirty="0" spc="-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VGS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&gt;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Vth</a:t>
            </a:r>
            <a:endParaRPr lang="en-US" sz="1950" dirty="0"/>
          </a:p>
        </p:txBody>
      </p:sp>
      <p:sp>
        <p:nvSpPr>
          <p:cNvPr id="22" name="Connector line-1793175004716-382293499"/>
          <p:cNvSpPr/>
          <p:nvPr/>
        </p:nvSpPr>
        <p:spPr>
          <a:xfrm>
            <a:off x="4533900" y="5381625"/>
            <a:ext cx="609600" cy="0"/>
          </a:xfrm>
          <a:prstGeom prst="line">
            <a:avLst/>
          </a:prstGeom>
          <a:noFill/>
          <a:ln w="57150">
            <a:solidFill>
              <a:srgbClr val="DD4B0E"/>
            </a:solidFill>
            <a:prstDash val="solid"/>
            <a:headEnd type="none"/>
            <a:tailEnd type="triangle" w="med" len="lg"/>
          </a:ln>
        </p:spPr>
      </p:sp>
      <p:sp>
        <p:nvSpPr>
          <p:cNvPr id="23" name="Text 20"/>
          <p:cNvSpPr/>
          <p:nvPr/>
        </p:nvSpPr>
        <p:spPr>
          <a:xfrm>
            <a:off x="3533775" y="4905375"/>
            <a:ext cx="1238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3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VGS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096500" y="2381250"/>
            <a:ext cx="72771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/>
        </p:spPr>
      </p:sp>
      <p:sp>
        <p:nvSpPr>
          <p:cNvPr id="25" name="Shape 22"/>
          <p:cNvSpPr/>
          <p:nvPr/>
        </p:nvSpPr>
        <p:spPr>
          <a:xfrm>
            <a:off x="10096500" y="2381250"/>
            <a:ext cx="114300" cy="1333500"/>
          </a:xfrm>
          <a:prstGeom prst="roundRect">
            <a:avLst>
              <a:gd name="adj" fmla="val 50000"/>
            </a:avLst>
          </a:prstGeom>
          <a:solidFill>
            <a:srgbClr val="DD4B0E"/>
          </a:solidFill>
          <a:ln/>
        </p:spPr>
      </p:sp>
      <p:sp>
        <p:nvSpPr>
          <p:cNvPr id="26" name="Text 23"/>
          <p:cNvSpPr/>
          <p:nvPr/>
        </p:nvSpPr>
        <p:spPr>
          <a:xfrm>
            <a:off x="10439400" y="2476500"/>
            <a:ext cx="6743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Gate</a:t>
            </a:r>
            <a:r>
              <a:rPr lang="en-US" sz="2250" dirty="0" spc="3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(G)</a:t>
            </a:r>
            <a:endParaRPr lang="en-US" sz="2250" dirty="0"/>
          </a:p>
        </p:txBody>
      </p:sp>
      <p:sp>
        <p:nvSpPr>
          <p:cNvPr id="27" name="Text 24"/>
          <p:cNvSpPr/>
          <p:nvPr/>
        </p:nvSpPr>
        <p:spPr>
          <a:xfrm>
            <a:off x="10439400" y="2914650"/>
            <a:ext cx="6743700" cy="7429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cổng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5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điện,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màu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cam</a:t>
            </a:r>
            <a:endParaRPr lang="en-US" sz="2550" dirty="0"/>
          </a:p>
        </p:txBody>
      </p:sp>
      <p:sp>
        <p:nvSpPr>
          <p:cNvPr id="28" name="Shape 25"/>
          <p:cNvSpPr/>
          <p:nvPr/>
        </p:nvSpPr>
        <p:spPr>
          <a:xfrm>
            <a:off x="10096500" y="3943350"/>
            <a:ext cx="72771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/>
        </p:spPr>
      </p:sp>
      <p:sp>
        <p:nvSpPr>
          <p:cNvPr id="29" name="Shape 26"/>
          <p:cNvSpPr/>
          <p:nvPr/>
        </p:nvSpPr>
        <p:spPr>
          <a:xfrm>
            <a:off x="10096500" y="3943350"/>
            <a:ext cx="114300" cy="1333500"/>
          </a:xfrm>
          <a:prstGeom prst="roundRect">
            <a:avLst>
              <a:gd name="adj" fmla="val 50000"/>
            </a:avLst>
          </a:prstGeom>
          <a:solidFill>
            <a:srgbClr val="2F6BEF"/>
          </a:solidFill>
          <a:ln/>
        </p:spPr>
      </p:sp>
      <p:sp>
        <p:nvSpPr>
          <p:cNvPr id="30" name="Text 27"/>
          <p:cNvSpPr/>
          <p:nvPr/>
        </p:nvSpPr>
        <p:spPr>
          <a:xfrm>
            <a:off x="10439400" y="4038600"/>
            <a:ext cx="6743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Drain</a:t>
            </a:r>
            <a:r>
              <a:rPr lang="en-US" sz="2250" dirty="0" spc="6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(D)</a:t>
            </a:r>
            <a:endParaRPr lang="en-US" sz="2250" dirty="0"/>
          </a:p>
        </p:txBody>
      </p:sp>
      <p:sp>
        <p:nvSpPr>
          <p:cNvPr id="31" name="Text 28"/>
          <p:cNvSpPr/>
          <p:nvPr/>
        </p:nvSpPr>
        <p:spPr>
          <a:xfrm>
            <a:off x="10439400" y="4476750"/>
            <a:ext cx="6743700" cy="742950"/>
          </a:xfrm>
          <a:prstGeom prst="rect">
            <a:avLst/>
          </a:prstGeom>
          <a:noFill/>
          <a:ln/>
        </p:spPr>
        <p:txBody>
          <a:bodyPr wrap="square" lIns="0" tIns="14138" rIns="0" bIns="-14138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543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dòng</a:t>
            </a:r>
            <a:r>
              <a:rPr lang="en-US" sz="2543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vào,</a:t>
            </a:r>
            <a:r>
              <a:rPr lang="en-US" sz="2543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xanh</a:t>
            </a:r>
            <a:r>
              <a:rPr lang="en-US" sz="2543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dương.</a:t>
            </a:r>
            <a:r>
              <a:rPr lang="en-US" sz="2543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Source</a:t>
            </a:r>
            <a:r>
              <a:rPr lang="en-US" sz="2543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(S):</a:t>
            </a:r>
            <a:r>
              <a:rPr lang="en-US" sz="2543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543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ra,</a:t>
            </a:r>
            <a:r>
              <a:rPr lang="en-US" sz="2543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xanh</a:t>
            </a:r>
            <a:r>
              <a:rPr lang="en-US" sz="2543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lục</a:t>
            </a:r>
            <a:endParaRPr lang="en-US" sz="2543" dirty="0"/>
          </a:p>
        </p:txBody>
      </p:sp>
      <p:sp>
        <p:nvSpPr>
          <p:cNvPr id="32" name="Shape 29"/>
          <p:cNvSpPr/>
          <p:nvPr/>
        </p:nvSpPr>
        <p:spPr>
          <a:xfrm>
            <a:off x="10096500" y="5505450"/>
            <a:ext cx="72771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/>
        </p:spPr>
      </p:sp>
      <p:sp>
        <p:nvSpPr>
          <p:cNvPr id="33" name="Shape 30"/>
          <p:cNvSpPr/>
          <p:nvPr/>
        </p:nvSpPr>
        <p:spPr>
          <a:xfrm>
            <a:off x="10096500" y="5505450"/>
            <a:ext cx="114300" cy="13335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34" name="Text 31"/>
          <p:cNvSpPr/>
          <p:nvPr/>
        </p:nvSpPr>
        <p:spPr>
          <a:xfrm>
            <a:off x="10439400" y="5505450"/>
            <a:ext cx="67437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Bật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VGS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&gt;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Vth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(Gate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Source)</a:t>
            </a:r>
            <a:endParaRPr lang="en-US" sz="2550" dirty="0"/>
          </a:p>
        </p:txBody>
      </p:sp>
      <p:sp>
        <p:nvSpPr>
          <p:cNvPr id="35" name="Shape 32"/>
          <p:cNvSpPr/>
          <p:nvPr/>
        </p:nvSpPr>
        <p:spPr>
          <a:xfrm>
            <a:off x="10096500" y="7067550"/>
            <a:ext cx="72771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/>
        </p:spPr>
      </p:sp>
      <p:sp>
        <p:nvSpPr>
          <p:cNvPr id="36" name="Shape 33"/>
          <p:cNvSpPr/>
          <p:nvPr/>
        </p:nvSpPr>
        <p:spPr>
          <a:xfrm>
            <a:off x="10096500" y="7067550"/>
            <a:ext cx="114300" cy="13335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37" name="Text 34"/>
          <p:cNvSpPr/>
          <p:nvPr/>
        </p:nvSpPr>
        <p:spPr>
          <a:xfrm>
            <a:off x="10439400" y="7067550"/>
            <a:ext cx="67437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Ở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DC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có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Gate;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dung</a:t>
            </a:r>
            <a:endParaRPr lang="en-US" sz="2550" dirty="0"/>
          </a:p>
        </p:txBody>
      </p:sp>
      <p:sp>
        <p:nvSpPr>
          <p:cNvPr id="38" name="Text 35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Retired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electrician,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CC0,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 Commons [S15]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[S15]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2524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08/18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7646dc2a-5bfa-4ac6-938b-95acd9ed52b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N-MOSFET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thấp</a:t>
            </a:r>
            <a:r>
              <a:rPr lang="en-US" sz="57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(low-side)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9620250" cy="6096000"/>
          </a:xfrm>
          <a:prstGeom prst="roundRect">
            <a:avLst>
              <a:gd name="adj" fmla="val 437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Connector line-1793176715118-258424970"/>
          <p:cNvSpPr/>
          <p:nvPr/>
        </p:nvSpPr>
        <p:spPr>
          <a:xfrm>
            <a:off x="5429250" y="6191250"/>
            <a:ext cx="90487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5" name="Connector line-1793176715118-409243938"/>
          <p:cNvSpPr/>
          <p:nvPr/>
        </p:nvSpPr>
        <p:spPr>
          <a:xfrm>
            <a:off x="6334125" y="5715000"/>
            <a:ext cx="0" cy="952500"/>
          </a:xfrm>
          <a:prstGeom prst="line">
            <a:avLst/>
          </a:prstGeom>
          <a:noFill/>
          <a:ln w="857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6" name="Connector line-1793176715118-230759748"/>
          <p:cNvSpPr/>
          <p:nvPr/>
        </p:nvSpPr>
        <p:spPr>
          <a:xfrm>
            <a:off x="6572250" y="5657850"/>
            <a:ext cx="0" cy="266700"/>
          </a:xfrm>
          <a:prstGeom prst="line">
            <a:avLst/>
          </a:prstGeom>
          <a:noFill/>
          <a:ln w="857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7" name="Connector line-1793176715119-899060691"/>
          <p:cNvSpPr/>
          <p:nvPr/>
        </p:nvSpPr>
        <p:spPr>
          <a:xfrm>
            <a:off x="6572250" y="6057900"/>
            <a:ext cx="0" cy="266700"/>
          </a:xfrm>
          <a:prstGeom prst="line">
            <a:avLst/>
          </a:prstGeom>
          <a:noFill/>
          <a:ln w="857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8" name="Connector line-1793176715119-875167994"/>
          <p:cNvSpPr/>
          <p:nvPr/>
        </p:nvSpPr>
        <p:spPr>
          <a:xfrm>
            <a:off x="6572250" y="6457950"/>
            <a:ext cx="0" cy="266700"/>
          </a:xfrm>
          <a:prstGeom prst="line">
            <a:avLst/>
          </a:prstGeom>
          <a:noFill/>
          <a:ln w="857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572250" y="5000625"/>
            <a:ext cx="619125" cy="790575"/>
          </a:xfrm>
          <a:custGeom>
            <a:avLst/>
            <a:gdLst/>
            <a:ahLst/>
            <a:cxnLst/>
            <a:rect l="l" t="t" r="r" b="b"/>
            <a:pathLst>
              <a:path w="619125" h="790575">
                <a:moveTo>
                  <a:pt x="0" y="790575"/>
                </a:moveTo>
                <a:lnTo>
                  <a:pt x="619125" y="790575"/>
                </a:lnTo>
                <a:lnTo>
                  <a:pt x="619125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72250" y="6591300"/>
            <a:ext cx="619125" cy="790575"/>
          </a:xfrm>
          <a:custGeom>
            <a:avLst/>
            <a:gdLst/>
            <a:ahLst/>
            <a:cxnLst/>
            <a:rect l="l" t="t" r="r" b="b"/>
            <a:pathLst>
              <a:path w="619125" h="790575">
                <a:moveTo>
                  <a:pt x="0" y="0"/>
                </a:moveTo>
                <a:lnTo>
                  <a:pt x="619125" y="0"/>
                </a:lnTo>
                <a:lnTo>
                  <a:pt x="619125" y="790575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11" name="Connector line-1793176715122-309470271"/>
          <p:cNvSpPr/>
          <p:nvPr/>
        </p:nvSpPr>
        <p:spPr>
          <a:xfrm>
            <a:off x="7191375" y="6191250"/>
            <a:ext cx="0" cy="40005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12" name="Connector line-1793176715123-643011957"/>
          <p:cNvSpPr/>
          <p:nvPr/>
        </p:nvSpPr>
        <p:spPr>
          <a:xfrm flipH="1">
            <a:off x="6572250" y="6191250"/>
            <a:ext cx="619125" cy="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62525" y="601027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14" name="Text 12"/>
          <p:cNvSpPr/>
          <p:nvPr/>
        </p:nvSpPr>
        <p:spPr>
          <a:xfrm>
            <a:off x="4962525" y="601027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72350" y="4743450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16" name="Text 14"/>
          <p:cNvSpPr/>
          <p:nvPr/>
        </p:nvSpPr>
        <p:spPr>
          <a:xfrm>
            <a:off x="7372350" y="47434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72350" y="7277100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18" name="Text 16"/>
          <p:cNvSpPr/>
          <p:nvPr/>
        </p:nvSpPr>
        <p:spPr>
          <a:xfrm>
            <a:off x="7372350" y="72771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</a:t>
            </a:r>
            <a:endParaRPr lang="en-US" sz="1800" dirty="0"/>
          </a:p>
        </p:txBody>
      </p:sp>
      <p:sp>
        <p:nvSpPr>
          <p:cNvPr id="19" name="Connector line-1793176715131-114787061"/>
          <p:cNvSpPr/>
          <p:nvPr/>
        </p:nvSpPr>
        <p:spPr>
          <a:xfrm>
            <a:off x="5857875" y="2857500"/>
            <a:ext cx="26670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000625" y="2647950"/>
            <a:ext cx="76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+V</a:t>
            </a:r>
            <a:endParaRPr lang="en-US" sz="2100" dirty="0"/>
          </a:p>
        </p:txBody>
      </p:sp>
      <p:sp>
        <p:nvSpPr>
          <p:cNvPr id="21" name="Connector line-1793176715133-446307840"/>
          <p:cNvSpPr/>
          <p:nvPr/>
        </p:nvSpPr>
        <p:spPr>
          <a:xfrm>
            <a:off x="7191375" y="2857500"/>
            <a:ext cx="0" cy="38100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6048375" y="3238500"/>
            <a:ext cx="2286000" cy="9525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8375" y="32385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17059" rIns="0" bIns="-17059" rtlCol="0" anchor="ctr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Tải: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LED,</a:t>
            </a:r>
            <a:r>
              <a:rPr lang="en-US" sz="19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relay, van</a:t>
            </a:r>
            <a:endParaRPr lang="en-US" sz="1950" dirty="0"/>
          </a:p>
        </p:txBody>
      </p:sp>
      <p:sp>
        <p:nvSpPr>
          <p:cNvPr id="24" name="Connector line-1793176715136-748305468"/>
          <p:cNvSpPr/>
          <p:nvPr/>
        </p:nvSpPr>
        <p:spPr>
          <a:xfrm>
            <a:off x="7191375" y="4191000"/>
            <a:ext cx="0" cy="600075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5" name="Connector line-1793176715136-300220224"/>
          <p:cNvSpPr/>
          <p:nvPr/>
        </p:nvSpPr>
        <p:spPr>
          <a:xfrm>
            <a:off x="7191375" y="7591425"/>
            <a:ext cx="0" cy="30480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6" name="Connector line-1793176715137-614970854"/>
          <p:cNvSpPr/>
          <p:nvPr/>
        </p:nvSpPr>
        <p:spPr>
          <a:xfrm>
            <a:off x="7191375" y="7896225"/>
            <a:ext cx="0" cy="9525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7" name="Connector line-1793176715137-946518199"/>
          <p:cNvSpPr/>
          <p:nvPr/>
        </p:nvSpPr>
        <p:spPr>
          <a:xfrm>
            <a:off x="6867525" y="7991475"/>
            <a:ext cx="6477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8" name="Connector line-1793176715137-964626503"/>
          <p:cNvSpPr/>
          <p:nvPr/>
        </p:nvSpPr>
        <p:spPr>
          <a:xfrm>
            <a:off x="6953250" y="8124825"/>
            <a:ext cx="47625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9" name="Connector line-1793176715137-602876617"/>
          <p:cNvSpPr/>
          <p:nvPr/>
        </p:nvSpPr>
        <p:spPr>
          <a:xfrm>
            <a:off x="7038975" y="8258175"/>
            <a:ext cx="3048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30" name="Connector line-1793176715138-840948550"/>
          <p:cNvSpPr/>
          <p:nvPr/>
        </p:nvSpPr>
        <p:spPr>
          <a:xfrm flipH="1">
            <a:off x="4305300" y="6191250"/>
            <a:ext cx="7620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3257550" y="5981700"/>
            <a:ext cx="1047750" cy="419100"/>
          </a:xfrm>
          <a:prstGeom prst="roundRect">
            <a:avLst>
              <a:gd name="adj" fmla="val 13636"/>
            </a:avLst>
          </a:prstGeom>
          <a:noFill/>
          <a:ln w="47625">
            <a:solidFill>
              <a:srgbClr val="F3EE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57550" y="565785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RG</a:t>
            </a:r>
            <a:endParaRPr lang="en-US" sz="1800" dirty="0"/>
          </a:p>
        </p:txBody>
      </p:sp>
      <p:sp>
        <p:nvSpPr>
          <p:cNvPr id="33" name="Connector line-1793176715140-872718430"/>
          <p:cNvSpPr/>
          <p:nvPr/>
        </p:nvSpPr>
        <p:spPr>
          <a:xfrm flipH="1">
            <a:off x="2686050" y="6191250"/>
            <a:ext cx="5715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2600325" y="6105525"/>
            <a:ext cx="171450" cy="1714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Text 33"/>
          <p:cNvSpPr/>
          <p:nvPr/>
        </p:nvSpPr>
        <p:spPr>
          <a:xfrm>
            <a:off x="590550" y="5810250"/>
            <a:ext cx="2000250" cy="762000"/>
          </a:xfrm>
          <a:prstGeom prst="rect">
            <a:avLst/>
          </a:prstGeom>
          <a:noFill/>
          <a:ln/>
        </p:spPr>
        <p:txBody>
          <a:bodyPr wrap="square" lIns="0" tIns="15747" rIns="0" bIns="-15747" rtlCol="0" anchor="ctr"/>
          <a:lstStyle/>
          <a:p>
            <a:pPr algn="r" indent="0" marL="0">
              <a:lnSpc>
                <a:spcPts val="1980"/>
              </a:lnSpc>
              <a:buNone/>
            </a:pPr>
            <a:r>
              <a:rPr lang="en-US" sz="1800" dirty="0" spc="13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điện</a:t>
            </a:r>
            <a:r>
              <a:rPr lang="en-US" sz="1800" dirty="0" spc="3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áp từ</a:t>
            </a:r>
            <a:r>
              <a:rPr lang="en-US" sz="1800" dirty="0" spc="-1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</a:t>
            </a:r>
            <a:r>
              <a:rPr lang="en-US" sz="1800" dirty="0" spc="11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1800" dirty="0" spc="-1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khiển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486275" y="6105525"/>
            <a:ext cx="171450" cy="1714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Connector line-1793176715142-245932421"/>
          <p:cNvSpPr/>
          <p:nvPr/>
        </p:nvSpPr>
        <p:spPr>
          <a:xfrm>
            <a:off x="4572000" y="6191250"/>
            <a:ext cx="0" cy="85725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362450" y="7048500"/>
            <a:ext cx="419100" cy="857250"/>
          </a:xfrm>
          <a:prstGeom prst="roundRect">
            <a:avLst>
              <a:gd name="adj" fmla="val 13636"/>
            </a:avLst>
          </a:prstGeom>
          <a:noFill/>
          <a:ln w="47625">
            <a:solidFill>
              <a:srgbClr val="F3EE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5850" y="704850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RGS</a:t>
            </a:r>
            <a:endParaRPr lang="en-US" sz="1800" dirty="0"/>
          </a:p>
        </p:txBody>
      </p:sp>
      <p:sp>
        <p:nvSpPr>
          <p:cNvPr id="40" name="Connector line-1793176715145-290714656"/>
          <p:cNvSpPr/>
          <p:nvPr/>
        </p:nvSpPr>
        <p:spPr>
          <a:xfrm>
            <a:off x="4572000" y="7905750"/>
            <a:ext cx="0" cy="28575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1" name="Connector line-1793176715145-912527758"/>
          <p:cNvSpPr/>
          <p:nvPr/>
        </p:nvSpPr>
        <p:spPr>
          <a:xfrm>
            <a:off x="4572000" y="8191500"/>
            <a:ext cx="0" cy="9525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2" name="Connector line-1793176715145-419972274"/>
          <p:cNvSpPr/>
          <p:nvPr/>
        </p:nvSpPr>
        <p:spPr>
          <a:xfrm>
            <a:off x="4248150" y="8286750"/>
            <a:ext cx="6477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3" name="Connector line-1793176715145-60541814"/>
          <p:cNvSpPr/>
          <p:nvPr/>
        </p:nvSpPr>
        <p:spPr>
          <a:xfrm>
            <a:off x="4333875" y="8420100"/>
            <a:ext cx="47625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4" name="Connector line-1793176715145-941713402"/>
          <p:cNvSpPr/>
          <p:nvPr/>
        </p:nvSpPr>
        <p:spPr>
          <a:xfrm>
            <a:off x="4419600" y="8553450"/>
            <a:ext cx="3048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2724150" y="51244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IG</a:t>
            </a:r>
            <a:r>
              <a:rPr lang="en-US" sz="1950" dirty="0" spc="2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≈ 0</a:t>
            </a:r>
            <a:r>
              <a:rPr lang="en-US" sz="1950" dirty="0" spc="-1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ở</a:t>
            </a:r>
            <a:r>
              <a:rPr lang="en-US" sz="1950" dirty="0" spc="-9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trạng</a:t>
            </a:r>
            <a:r>
              <a:rPr lang="en-US" sz="1950" dirty="0" spc="-2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thái tĩnh</a:t>
            </a:r>
            <a:endParaRPr lang="en-US" sz="1950" dirty="0"/>
          </a:p>
        </p:txBody>
      </p:sp>
      <p:sp>
        <p:nvSpPr>
          <p:cNvPr id="46" name="Connector line-1793176715148-656438435"/>
          <p:cNvSpPr/>
          <p:nvPr/>
        </p:nvSpPr>
        <p:spPr>
          <a:xfrm>
            <a:off x="8067675" y="4286250"/>
            <a:ext cx="0" cy="390525"/>
          </a:xfrm>
          <a:prstGeom prst="line">
            <a:avLst/>
          </a:prstGeom>
          <a:noFill/>
          <a:ln w="133350">
            <a:solidFill>
              <a:srgbClr val="2F6BEF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8296275" y="428625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ID</a:t>
            </a:r>
            <a:endParaRPr lang="en-US" sz="2250" dirty="0"/>
          </a:p>
        </p:txBody>
      </p:sp>
      <p:sp>
        <p:nvSpPr>
          <p:cNvPr id="48" name="Connector line-1793176715149-237612113"/>
          <p:cNvSpPr/>
          <p:nvPr/>
        </p:nvSpPr>
        <p:spPr>
          <a:xfrm>
            <a:off x="8067675" y="7496175"/>
            <a:ext cx="0" cy="323850"/>
          </a:xfrm>
          <a:prstGeom prst="line">
            <a:avLst/>
          </a:prstGeom>
          <a:noFill/>
          <a:ln w="114300">
            <a:solidFill>
              <a:srgbClr val="2F6BEF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8296275" y="7439025"/>
            <a:ext cx="114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ID</a:t>
            </a:r>
            <a:endParaRPr lang="en-US" sz="2250" dirty="0"/>
          </a:p>
        </p:txBody>
      </p:sp>
      <p:sp>
        <p:nvSpPr>
          <p:cNvPr id="50" name="Shape 48"/>
          <p:cNvSpPr/>
          <p:nvPr/>
        </p:nvSpPr>
        <p:spPr>
          <a:xfrm>
            <a:off x="10858500" y="2381250"/>
            <a:ext cx="6515100" cy="1123950"/>
          </a:xfrm>
          <a:prstGeom prst="roundRect">
            <a:avLst>
              <a:gd name="adj" fmla="val 16949"/>
            </a:avLst>
          </a:prstGeom>
          <a:solidFill>
            <a:srgbClr val="1E212B"/>
          </a:solidFill>
          <a:ln/>
        </p:spPr>
      </p:sp>
      <p:sp>
        <p:nvSpPr>
          <p:cNvPr id="51" name="Shape 49"/>
          <p:cNvSpPr/>
          <p:nvPr/>
        </p:nvSpPr>
        <p:spPr>
          <a:xfrm>
            <a:off x="10858500" y="2381250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0B8A5F"/>
          </a:solidFill>
          <a:ln/>
        </p:spPr>
      </p:sp>
      <p:sp>
        <p:nvSpPr>
          <p:cNvPr id="52" name="Text 50"/>
          <p:cNvSpPr/>
          <p:nvPr/>
        </p:nvSpPr>
        <p:spPr>
          <a:xfrm>
            <a:off x="11201400" y="2381250"/>
            <a:ext cx="59817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Source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đất;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Drain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10858500" y="3619500"/>
            <a:ext cx="6515100" cy="1123950"/>
          </a:xfrm>
          <a:prstGeom prst="roundRect">
            <a:avLst>
              <a:gd name="adj" fmla="val 16949"/>
            </a:avLst>
          </a:prstGeom>
          <a:solidFill>
            <a:srgbClr val="1E212B"/>
          </a:solidFill>
          <a:ln/>
        </p:spPr>
      </p:sp>
      <p:sp>
        <p:nvSpPr>
          <p:cNvPr id="54" name="Shape 52"/>
          <p:cNvSpPr/>
          <p:nvPr/>
        </p:nvSpPr>
        <p:spPr>
          <a:xfrm>
            <a:off x="10858500" y="3619500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2F6BEF"/>
          </a:solidFill>
          <a:ln/>
        </p:spPr>
      </p:sp>
      <p:sp>
        <p:nvSpPr>
          <p:cNvPr id="55" name="Text 53"/>
          <p:cNvSpPr/>
          <p:nvPr/>
        </p:nvSpPr>
        <p:spPr>
          <a:xfrm>
            <a:off x="11201400" y="3619500"/>
            <a:ext cx="59817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VGS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&gt;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Vth:</a:t>
            </a:r>
            <a:r>
              <a:rPr lang="en-US" sz="24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kênh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thành,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ID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chảy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Drain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Source</a:t>
            </a:r>
            <a:endParaRPr lang="en-US" sz="2400" dirty="0"/>
          </a:p>
        </p:txBody>
      </p:sp>
      <p:sp>
        <p:nvSpPr>
          <p:cNvPr id="56" name="Shape 54"/>
          <p:cNvSpPr/>
          <p:nvPr/>
        </p:nvSpPr>
        <p:spPr>
          <a:xfrm>
            <a:off x="10858500" y="4857750"/>
            <a:ext cx="6515100" cy="1123950"/>
          </a:xfrm>
          <a:prstGeom prst="roundRect">
            <a:avLst>
              <a:gd name="adj" fmla="val 16949"/>
            </a:avLst>
          </a:prstGeom>
          <a:solidFill>
            <a:srgbClr val="1E212B"/>
          </a:solidFill>
          <a:ln/>
        </p:spPr>
      </p:sp>
      <p:sp>
        <p:nvSpPr>
          <p:cNvPr id="57" name="Shape 55"/>
          <p:cNvSpPr/>
          <p:nvPr/>
        </p:nvSpPr>
        <p:spPr>
          <a:xfrm>
            <a:off x="10858500" y="4857750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DD4B0E"/>
          </a:solidFill>
          <a:ln/>
        </p:spPr>
      </p:sp>
      <p:sp>
        <p:nvSpPr>
          <p:cNvPr id="58" name="Text 56"/>
          <p:cNvSpPr/>
          <p:nvPr/>
        </p:nvSpPr>
        <p:spPr>
          <a:xfrm>
            <a:off x="11201400" y="4857750"/>
            <a:ext cx="59817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Gate</a:t>
            </a:r>
            <a:r>
              <a:rPr lang="en-US" sz="24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khiển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4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áp, qua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trở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endParaRPr lang="en-US" sz="2400" dirty="0"/>
          </a:p>
        </p:txBody>
      </p:sp>
      <p:sp>
        <p:nvSpPr>
          <p:cNvPr id="59" name="Shape 57"/>
          <p:cNvSpPr/>
          <p:nvPr/>
        </p:nvSpPr>
        <p:spPr>
          <a:xfrm>
            <a:off x="10858500" y="6096000"/>
            <a:ext cx="6515100" cy="1123950"/>
          </a:xfrm>
          <a:prstGeom prst="roundRect">
            <a:avLst>
              <a:gd name="adj" fmla="val 16949"/>
            </a:avLst>
          </a:prstGeom>
          <a:solidFill>
            <a:srgbClr val="1E212B"/>
          </a:solidFill>
          <a:ln/>
        </p:spPr>
      </p:sp>
      <p:sp>
        <p:nvSpPr>
          <p:cNvPr id="60" name="Shape 58"/>
          <p:cNvSpPr/>
          <p:nvPr/>
        </p:nvSpPr>
        <p:spPr>
          <a:xfrm>
            <a:off x="10858500" y="6096000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1" name="Text 59"/>
          <p:cNvSpPr/>
          <p:nvPr/>
        </p:nvSpPr>
        <p:spPr>
          <a:xfrm>
            <a:off x="11201400" y="6096000"/>
            <a:ext cx="59817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Điện</a:t>
            </a: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trở</a:t>
            </a:r>
            <a:r>
              <a:rPr lang="en-US" sz="24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kéo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xuống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Source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MOSFET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hở</a:t>
            </a:r>
            <a:endParaRPr lang="en-US" sz="2400" dirty="0"/>
          </a:p>
        </p:txBody>
      </p:sp>
      <p:sp>
        <p:nvSpPr>
          <p:cNvPr id="62" name="Shape 60"/>
          <p:cNvSpPr/>
          <p:nvPr/>
        </p:nvSpPr>
        <p:spPr>
          <a:xfrm>
            <a:off x="10858500" y="7334250"/>
            <a:ext cx="6515100" cy="1123950"/>
          </a:xfrm>
          <a:prstGeom prst="roundRect">
            <a:avLst>
              <a:gd name="adj" fmla="val 16949"/>
            </a:avLst>
          </a:prstGeom>
          <a:solidFill>
            <a:srgbClr val="1E212B"/>
          </a:solidFill>
          <a:ln/>
        </p:spPr>
      </p:sp>
      <p:sp>
        <p:nvSpPr>
          <p:cNvPr id="63" name="Shape 61"/>
          <p:cNvSpPr/>
          <p:nvPr/>
        </p:nvSpPr>
        <p:spPr>
          <a:xfrm>
            <a:off x="10858500" y="7334250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9AA0B5"/>
          </a:solidFill>
          <a:ln/>
        </p:spPr>
      </p:sp>
      <p:sp>
        <p:nvSpPr>
          <p:cNvPr id="64" name="Text 62"/>
          <p:cNvSpPr/>
          <p:nvPr/>
        </p:nvSpPr>
        <p:spPr>
          <a:xfrm>
            <a:off x="11201400" y="7334250"/>
            <a:ext cx="59817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Chọn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logic-level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nếu</a:t>
            </a:r>
            <a:r>
              <a:rPr lang="en-US" sz="24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khiển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3,3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 [S10]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2752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5" name="Shape 7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09/18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6" name="Moda image moda-export-watermark-ec2162a2-11ee-4912-82da-cac6947355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MOSFET</a:t>
            </a:r>
            <a:r>
              <a:rPr lang="en-US" sz="57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P: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bật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VGS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âm,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4381500" cy="31432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3178016874-189860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581275"/>
            <a:ext cx="41148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5715000"/>
            <a:ext cx="4381500" cy="2667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5829300"/>
            <a:ext cx="39243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IRFI9540:</a:t>
            </a:r>
            <a:r>
              <a:rPr lang="en-US" sz="19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kênh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P,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19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19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TO-220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fullpak</a:t>
            </a:r>
            <a:r>
              <a:rPr lang="en-US" sz="19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19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IRFIBC30</a:t>
            </a:r>
            <a:r>
              <a:rPr lang="en-US" sz="19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(kênh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N); chỉ</a:t>
            </a:r>
            <a:r>
              <a:rPr lang="en-US" sz="19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19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thân phân biệt</a:t>
            </a:r>
            <a:r>
              <a:rPr lang="en-US" sz="19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5524500" y="2381250"/>
            <a:ext cx="5143500" cy="6000750"/>
          </a:xfrm>
          <a:prstGeom prst="roundRect">
            <a:avLst>
              <a:gd name="adj" fmla="val 518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Connector line-1793178016878-335374182"/>
          <p:cNvSpPr/>
          <p:nvPr/>
        </p:nvSpPr>
        <p:spPr>
          <a:xfrm>
            <a:off x="7048500" y="5524500"/>
            <a:ext cx="82867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9" name="Connector line-1793178016878-359196030"/>
          <p:cNvSpPr/>
          <p:nvPr/>
        </p:nvSpPr>
        <p:spPr>
          <a:xfrm flipV="1">
            <a:off x="7877175" y="5086350"/>
            <a:ext cx="0" cy="8763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0" name="Connector line-1793178016878-977399105"/>
          <p:cNvSpPr/>
          <p:nvPr/>
        </p:nvSpPr>
        <p:spPr>
          <a:xfrm flipV="1">
            <a:off x="8096250" y="5772150"/>
            <a:ext cx="0" cy="2476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1" name="Connector line-1793178016878-525943059"/>
          <p:cNvSpPr/>
          <p:nvPr/>
        </p:nvSpPr>
        <p:spPr>
          <a:xfrm flipV="1">
            <a:off x="8096250" y="5400675"/>
            <a:ext cx="0" cy="2476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2" name="Connector line-1793178016878-363732949"/>
          <p:cNvSpPr/>
          <p:nvPr/>
        </p:nvSpPr>
        <p:spPr>
          <a:xfrm flipV="1">
            <a:off x="8096250" y="5029200"/>
            <a:ext cx="0" cy="2476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8096250" y="5895975"/>
            <a:ext cx="571500" cy="723900"/>
          </a:xfrm>
          <a:custGeom>
            <a:avLst/>
            <a:gdLst/>
            <a:ahLst/>
            <a:cxnLst/>
            <a:rect l="l" t="t" r="r" b="b"/>
            <a:pathLst>
              <a:path w="571500" h="723900">
                <a:moveTo>
                  <a:pt x="0" y="0"/>
                </a:moveTo>
                <a:lnTo>
                  <a:pt x="571500" y="0"/>
                </a:lnTo>
                <a:lnTo>
                  <a:pt x="571500" y="72390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96250" y="4429125"/>
            <a:ext cx="571500" cy="723900"/>
          </a:xfrm>
          <a:custGeom>
            <a:avLst/>
            <a:gdLst/>
            <a:ahLst/>
            <a:cxnLst/>
            <a:rect l="l" t="t" r="r" b="b"/>
            <a:pathLst>
              <a:path w="571500" h="723900">
                <a:moveTo>
                  <a:pt x="0" y="723900"/>
                </a:moveTo>
                <a:lnTo>
                  <a:pt x="571500" y="723900"/>
                </a:lnTo>
                <a:lnTo>
                  <a:pt x="571500" y="0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15" name="Connector line-1793178016881-353132455"/>
          <p:cNvSpPr/>
          <p:nvPr/>
        </p:nvSpPr>
        <p:spPr>
          <a:xfrm flipV="1">
            <a:off x="8667750" y="5153025"/>
            <a:ext cx="0" cy="37147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16" name="Connector line-1793178016881-99502949"/>
          <p:cNvSpPr/>
          <p:nvPr/>
        </p:nvSpPr>
        <p:spPr>
          <a:xfrm>
            <a:off x="8096250" y="5524500"/>
            <a:ext cx="571500" cy="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581775" y="534352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18" name="Text 15"/>
          <p:cNvSpPr/>
          <p:nvPr/>
        </p:nvSpPr>
        <p:spPr>
          <a:xfrm>
            <a:off x="6581775" y="53435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848725" y="6515100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20" name="Text 17"/>
          <p:cNvSpPr/>
          <p:nvPr/>
        </p:nvSpPr>
        <p:spPr>
          <a:xfrm>
            <a:off x="8848725" y="65151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848725" y="4171950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22" name="Text 19"/>
          <p:cNvSpPr/>
          <p:nvPr/>
        </p:nvSpPr>
        <p:spPr>
          <a:xfrm>
            <a:off x="8848725" y="41719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</a:t>
            </a:r>
            <a:endParaRPr lang="en-US" sz="1800" dirty="0"/>
          </a:p>
        </p:txBody>
      </p:sp>
      <p:sp>
        <p:nvSpPr>
          <p:cNvPr id="23" name="Connector line-1793178016885-202641244"/>
          <p:cNvSpPr/>
          <p:nvPr/>
        </p:nvSpPr>
        <p:spPr>
          <a:xfrm>
            <a:off x="7620000" y="2762250"/>
            <a:ext cx="2095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/>
          <p:nvPr/>
        </p:nvSpPr>
        <p:spPr>
          <a:xfrm>
            <a:off x="9810750" y="2552700"/>
            <a:ext cx="76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+V</a:t>
            </a:r>
            <a:endParaRPr lang="en-US" sz="2100" dirty="0"/>
          </a:p>
        </p:txBody>
      </p:sp>
      <p:sp>
        <p:nvSpPr>
          <p:cNvPr id="25" name="Connector line-1793178016886-350238337"/>
          <p:cNvSpPr/>
          <p:nvPr/>
        </p:nvSpPr>
        <p:spPr>
          <a:xfrm>
            <a:off x="8667750" y="2762250"/>
            <a:ext cx="0" cy="1457325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6" name="Connector line-1793178016886-557298497"/>
          <p:cNvSpPr/>
          <p:nvPr/>
        </p:nvSpPr>
        <p:spPr>
          <a:xfrm>
            <a:off x="8667750" y="6829425"/>
            <a:ext cx="0" cy="3238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7620000" y="7153275"/>
            <a:ext cx="2095500" cy="857250"/>
          </a:xfrm>
          <a:prstGeom prst="roundRect">
            <a:avLst>
              <a:gd name="adj" fmla="val 15556"/>
            </a:avLst>
          </a:prstGeom>
          <a:solidFill>
            <a:srgbClr val="E8E0CF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20000" y="7153275"/>
            <a:ext cx="209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endParaRPr lang="en-US" sz="2100" dirty="0"/>
          </a:p>
        </p:txBody>
      </p:sp>
      <p:sp>
        <p:nvSpPr>
          <p:cNvPr id="29" name="Connector line-1793178016887-33897013"/>
          <p:cNvSpPr/>
          <p:nvPr/>
        </p:nvSpPr>
        <p:spPr>
          <a:xfrm>
            <a:off x="8667750" y="8010525"/>
            <a:ext cx="0" cy="1905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0" name="Connector line-1793178016888-364609145"/>
          <p:cNvSpPr/>
          <p:nvPr/>
        </p:nvSpPr>
        <p:spPr>
          <a:xfrm>
            <a:off x="8667750" y="8201025"/>
            <a:ext cx="0" cy="952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1" name="Connector line-1793178016888-755784699"/>
          <p:cNvSpPr/>
          <p:nvPr/>
        </p:nvSpPr>
        <p:spPr>
          <a:xfrm>
            <a:off x="8343900" y="8296275"/>
            <a:ext cx="6477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2" name="Connector line-1793178016888-526559126"/>
          <p:cNvSpPr/>
          <p:nvPr/>
        </p:nvSpPr>
        <p:spPr>
          <a:xfrm>
            <a:off x="8429625" y="8429625"/>
            <a:ext cx="4762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3" name="Connector line-1793178016888-112206382"/>
          <p:cNvSpPr/>
          <p:nvPr/>
        </p:nvSpPr>
        <p:spPr>
          <a:xfrm>
            <a:off x="8515350" y="8562975"/>
            <a:ext cx="3048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4" name="Connector line-1793178016888-879019556"/>
          <p:cNvSpPr/>
          <p:nvPr/>
        </p:nvSpPr>
        <p:spPr>
          <a:xfrm flipH="1">
            <a:off x="6305550" y="5524500"/>
            <a:ext cx="381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5" name="Shape 32"/>
          <p:cNvSpPr/>
          <p:nvPr/>
        </p:nvSpPr>
        <p:spPr>
          <a:xfrm>
            <a:off x="5257800" y="5314950"/>
            <a:ext cx="1047750" cy="419100"/>
          </a:xfrm>
          <a:prstGeom prst="roundRect">
            <a:avLst>
              <a:gd name="adj" fmla="val 13636"/>
            </a:avLst>
          </a:prstGeom>
          <a:noFill/>
          <a:ln w="47625">
            <a:solidFill>
              <a:srgbClr val="14161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257800" y="499110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RG</a:t>
            </a:r>
            <a:endParaRPr lang="en-US" sz="1800" dirty="0"/>
          </a:p>
        </p:txBody>
      </p:sp>
      <p:sp>
        <p:nvSpPr>
          <p:cNvPr id="37" name="Connector line-1793178016890-583835131"/>
          <p:cNvSpPr/>
          <p:nvPr/>
        </p:nvSpPr>
        <p:spPr>
          <a:xfrm flipH="1">
            <a:off x="4876800" y="5524500"/>
            <a:ext cx="381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8" name="Shape 35"/>
          <p:cNvSpPr/>
          <p:nvPr/>
        </p:nvSpPr>
        <p:spPr>
          <a:xfrm>
            <a:off x="4791075" y="5438775"/>
            <a:ext cx="171450" cy="1714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Text 36"/>
          <p:cNvSpPr/>
          <p:nvPr/>
        </p:nvSpPr>
        <p:spPr>
          <a:xfrm>
            <a:off x="4762500" y="58102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15747" rIns="0" bIns="-15747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 spc="-3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kéo</a:t>
            </a:r>
            <a:r>
              <a:rPr lang="en-US" sz="180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xuống</a:t>
            </a:r>
            <a:r>
              <a:rPr lang="en-US" sz="180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thấp</a:t>
            </a:r>
            <a:r>
              <a:rPr lang="en-US" sz="1800" dirty="0" spc="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180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bật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6238875" y="5438775"/>
            <a:ext cx="171450" cy="1714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Connector line-1793178016892-364010573"/>
          <p:cNvSpPr/>
          <p:nvPr/>
        </p:nvSpPr>
        <p:spPr>
          <a:xfrm flipV="1">
            <a:off x="6324600" y="5143500"/>
            <a:ext cx="0" cy="3810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2" name="Shape 39"/>
          <p:cNvSpPr/>
          <p:nvPr/>
        </p:nvSpPr>
        <p:spPr>
          <a:xfrm>
            <a:off x="6134100" y="4286250"/>
            <a:ext cx="381000" cy="857250"/>
          </a:xfrm>
          <a:prstGeom prst="roundRect">
            <a:avLst>
              <a:gd name="adj" fmla="val 15000"/>
            </a:avLst>
          </a:prstGeom>
          <a:noFill/>
          <a:ln w="47625">
            <a:solidFill>
              <a:srgbClr val="14161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29400" y="428625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RGS</a:t>
            </a:r>
            <a:endParaRPr lang="en-US" sz="1650" dirty="0"/>
          </a:p>
        </p:txBody>
      </p:sp>
      <p:sp>
        <p:nvSpPr>
          <p:cNvPr id="44" name="Connector line-1793178016893-405443213"/>
          <p:cNvSpPr/>
          <p:nvPr/>
        </p:nvSpPr>
        <p:spPr>
          <a:xfrm flipV="1">
            <a:off x="6324600" y="2762250"/>
            <a:ext cx="0" cy="15240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5" name="Connector line-1793178016893-972576793"/>
          <p:cNvSpPr/>
          <p:nvPr/>
        </p:nvSpPr>
        <p:spPr>
          <a:xfrm>
            <a:off x="6324600" y="2762250"/>
            <a:ext cx="12954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6" name="Shape 43"/>
          <p:cNvSpPr/>
          <p:nvPr/>
        </p:nvSpPr>
        <p:spPr>
          <a:xfrm>
            <a:off x="6238875" y="2676525"/>
            <a:ext cx="171450" cy="1714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7" name="Connector line-1793178016893-491615600"/>
          <p:cNvSpPr/>
          <p:nvPr/>
        </p:nvSpPr>
        <p:spPr>
          <a:xfrm>
            <a:off x="9544050" y="3667125"/>
            <a:ext cx="0" cy="476250"/>
          </a:xfrm>
          <a:prstGeom prst="line">
            <a:avLst/>
          </a:prstGeom>
          <a:noFill/>
          <a:ln w="114300">
            <a:solidFill>
              <a:srgbClr val="2F6BEF"/>
            </a:solidFill>
            <a:prstDash val="solid"/>
            <a:headEnd type="none"/>
            <a:tailEnd type="triangle"/>
          </a:ln>
        </p:spPr>
      </p:sp>
      <p:sp>
        <p:nvSpPr>
          <p:cNvPr id="48" name="Text 45"/>
          <p:cNvSpPr/>
          <p:nvPr/>
        </p:nvSpPr>
        <p:spPr>
          <a:xfrm>
            <a:off x="9772650" y="3552825"/>
            <a:ext cx="114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ID</a:t>
            </a:r>
            <a:endParaRPr lang="en-US" sz="2250" dirty="0"/>
          </a:p>
        </p:txBody>
      </p:sp>
      <p:sp>
        <p:nvSpPr>
          <p:cNvPr id="49" name="Connector line-1793178016895-17359735"/>
          <p:cNvSpPr/>
          <p:nvPr/>
        </p:nvSpPr>
        <p:spPr>
          <a:xfrm>
            <a:off x="9544050" y="6753225"/>
            <a:ext cx="0" cy="361950"/>
          </a:xfrm>
          <a:prstGeom prst="line">
            <a:avLst/>
          </a:prstGeom>
          <a:noFill/>
          <a:ln w="114300">
            <a:solidFill>
              <a:srgbClr val="2F6BEF"/>
            </a:solidFill>
            <a:prstDash val="solid"/>
            <a:headEnd type="none"/>
            <a:tailEnd type="triangle"/>
          </a:ln>
        </p:spPr>
      </p:sp>
      <p:sp>
        <p:nvSpPr>
          <p:cNvPr id="50" name="Text 47"/>
          <p:cNvSpPr/>
          <p:nvPr/>
        </p:nvSpPr>
        <p:spPr>
          <a:xfrm>
            <a:off x="9772650" y="6696075"/>
            <a:ext cx="114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ID</a:t>
            </a:r>
            <a:endParaRPr lang="en-US" sz="2250" dirty="0"/>
          </a:p>
        </p:txBody>
      </p:sp>
      <p:sp>
        <p:nvSpPr>
          <p:cNvPr id="51" name="Shape 48"/>
          <p:cNvSpPr/>
          <p:nvPr/>
        </p:nvSpPr>
        <p:spPr>
          <a:xfrm>
            <a:off x="10953750" y="2381250"/>
            <a:ext cx="64198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52" name="Shape 49"/>
          <p:cNvSpPr/>
          <p:nvPr/>
        </p:nvSpPr>
        <p:spPr>
          <a:xfrm>
            <a:off x="10953750" y="23812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53" name="Text 50"/>
          <p:cNvSpPr/>
          <p:nvPr/>
        </p:nvSpPr>
        <p:spPr>
          <a:xfrm>
            <a:off x="11296650" y="2381250"/>
            <a:ext cx="58864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Mũi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2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2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Source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</a:t>
            </a:r>
            <a:endParaRPr lang="en-US" sz="2250" dirty="0"/>
          </a:p>
        </p:txBody>
      </p:sp>
      <p:sp>
        <p:nvSpPr>
          <p:cNvPr id="54" name="Shape 51"/>
          <p:cNvSpPr/>
          <p:nvPr/>
        </p:nvSpPr>
        <p:spPr>
          <a:xfrm>
            <a:off x="10953750" y="3352800"/>
            <a:ext cx="64198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55" name="Shape 52"/>
          <p:cNvSpPr/>
          <p:nvPr/>
        </p:nvSpPr>
        <p:spPr>
          <a:xfrm>
            <a:off x="10953750" y="33528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56" name="Text 53"/>
          <p:cNvSpPr/>
          <p:nvPr/>
        </p:nvSpPr>
        <p:spPr>
          <a:xfrm>
            <a:off x="11296650" y="3352800"/>
            <a:ext cx="58864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Dòng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ID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chảy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Source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Drain</a:t>
            </a:r>
            <a:endParaRPr lang="en-US" sz="2400" dirty="0"/>
          </a:p>
        </p:txBody>
      </p:sp>
      <p:sp>
        <p:nvSpPr>
          <p:cNvPr id="57" name="Shape 54"/>
          <p:cNvSpPr/>
          <p:nvPr/>
        </p:nvSpPr>
        <p:spPr>
          <a:xfrm>
            <a:off x="10953750" y="4324350"/>
            <a:ext cx="64198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58" name="Shape 55"/>
          <p:cNvSpPr/>
          <p:nvPr/>
        </p:nvSpPr>
        <p:spPr>
          <a:xfrm>
            <a:off x="10953750" y="43243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59" name="Text 56"/>
          <p:cNvSpPr/>
          <p:nvPr/>
        </p:nvSpPr>
        <p:spPr>
          <a:xfrm>
            <a:off x="11296650" y="4324350"/>
            <a:ext cx="58864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Bật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2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thấp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2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Source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|Vth|</a:t>
            </a:r>
            <a:endParaRPr lang="en-US" sz="2250" dirty="0"/>
          </a:p>
        </p:txBody>
      </p:sp>
      <p:sp>
        <p:nvSpPr>
          <p:cNvPr id="60" name="Shape 57"/>
          <p:cNvSpPr/>
          <p:nvPr/>
        </p:nvSpPr>
        <p:spPr>
          <a:xfrm>
            <a:off x="10953750" y="5295900"/>
            <a:ext cx="6419850" cy="3086100"/>
          </a:xfrm>
          <a:prstGeom prst="roundRect">
            <a:avLst>
              <a:gd name="adj" fmla="val 6790"/>
            </a:avLst>
          </a:prstGeom>
          <a:solidFill>
            <a:srgbClr val="E8E0CF"/>
          </a:solidFill>
          <a:ln/>
        </p:spPr>
      </p:sp>
      <p:sp>
        <p:nvSpPr>
          <p:cNvPr id="61" name="Text 58"/>
          <p:cNvSpPr/>
          <p:nvPr/>
        </p:nvSpPr>
        <p:spPr>
          <a:xfrm>
            <a:off x="11258550" y="5562600"/>
            <a:ext cx="5810250" cy="25527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MOSFET</a:t>
            </a:r>
            <a:r>
              <a:rPr lang="en-US" sz="21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2100" b="1" dirty="0" spc="-12" kern="0">
                <a:solidFill>
                  <a:srgbClr val="0B8A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Source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dương,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2100" b="1" dirty="0" spc="-8" kern="0">
                <a:solidFill>
                  <a:srgbClr val="2F6BE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Drain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r>
              <a:rPr lang="en-US" sz="21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1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Source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</a:t>
            </a:r>
            <a:pPr algn="l" indent="0" marL="0">
              <a:lnSpc>
                <a:spcPts val="2730"/>
              </a:lnSpc>
              <a:buNone/>
            </a:pPr>
            <a:r>
              <a:rPr lang="en-US" sz="21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VGS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);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1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</a:t>
            </a:r>
            <a:r>
              <a:rPr lang="en-US" sz="21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Source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tắt.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Ảnh: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IRFI9540,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1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TO-220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fullpak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[S14]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100" dirty="0"/>
          </a:p>
        </p:txBody>
      </p:sp>
      <p:sp>
        <p:nvSpPr>
          <p:cNvPr id="62" name="Text 59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Retired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electrician,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CC0,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 Commons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650" dirty="0"/>
          </a:p>
        </p:txBody>
      </p:sp>
      <p:sp>
        <p:nvSpPr>
          <p:cNvPr id="63" name="Text 6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[S14]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2981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74" name="Shape 7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2" name="Text 79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10/18</a:t>
            </a:r>
            <a:endParaRPr lang="en-US" sz="1800" dirty="0"/>
          </a:p>
        </p:txBody>
      </p:sp>
      <p:sp>
        <p:nvSpPr>
          <p:cNvPr id="83" name="Shape 8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4" name="Moda image moda-export-watermark-a4646628-e91d-4e1c-82cb-cc44a529123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Cấu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dẫn:</a:t>
            </a:r>
            <a:r>
              <a:rPr lang="en-US" sz="57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 bằng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electron,</a:t>
            </a:r>
            <a:r>
              <a:rPr lang="en-US" sz="57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 lỗ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trống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8058150" cy="4953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249555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Kênh</a:t>
            </a:r>
            <a:r>
              <a:rPr lang="en-US" sz="28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4057650" y="2495550"/>
            <a:ext cx="46291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dirty="0" spc="-15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VGS</a:t>
            </a:r>
            <a:r>
              <a:rPr lang="en-US" sz="1950" dirty="0" spc="3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dương:</a:t>
            </a:r>
            <a:r>
              <a:rPr lang="en-US" sz="1950" dirty="0" spc="-21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kéo</a:t>
            </a:r>
            <a:r>
              <a:rPr lang="en-US" sz="1950" dirty="0" spc="-10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electron lên</a:t>
            </a:r>
            <a:r>
              <a:rPr lang="en-US" sz="1950" dirty="0" spc="-7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mặt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104900" y="4667250"/>
            <a:ext cx="7677150" cy="1619250"/>
          </a:xfrm>
          <a:prstGeom prst="roundRect">
            <a:avLst>
              <a:gd name="adj" fmla="val 5882"/>
            </a:avLst>
          </a:prstGeom>
          <a:solidFill>
            <a:srgbClr val="E9D2BF"/>
          </a:solidFill>
          <a:ln/>
        </p:spPr>
      </p:sp>
      <p:sp>
        <p:nvSpPr>
          <p:cNvPr id="7" name="Shape 5"/>
          <p:cNvSpPr/>
          <p:nvPr/>
        </p:nvSpPr>
        <p:spPr>
          <a:xfrm>
            <a:off x="1485900" y="46672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9CB7E6"/>
          </a:solidFill>
          <a:ln/>
        </p:spPr>
      </p:sp>
      <p:sp>
        <p:nvSpPr>
          <p:cNvPr id="8" name="Shape 6"/>
          <p:cNvSpPr/>
          <p:nvPr/>
        </p:nvSpPr>
        <p:spPr>
          <a:xfrm>
            <a:off x="6591300" y="46672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9CB7E6"/>
          </a:solidFill>
          <a:ln/>
        </p:spPr>
      </p:sp>
      <p:sp>
        <p:nvSpPr>
          <p:cNvPr id="9" name="Text 7"/>
          <p:cNvSpPr/>
          <p:nvPr/>
        </p:nvSpPr>
        <p:spPr>
          <a:xfrm>
            <a:off x="1485900" y="4667250"/>
            <a:ext cx="1809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N+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91300" y="4667250"/>
            <a:ext cx="1809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N+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009900" y="4457700"/>
            <a:ext cx="3867150" cy="190500"/>
          </a:xfrm>
          <a:prstGeom prst="roundRect">
            <a:avLst>
              <a:gd name="adj" fmla="val 20000"/>
            </a:avLst>
          </a:prstGeom>
          <a:solidFill>
            <a:srgbClr val="D9D9D9"/>
          </a:solidFill>
          <a:ln w="19050">
            <a:solidFill>
              <a:srgbClr val="9A9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9900" y="3924300"/>
            <a:ext cx="3867150" cy="533400"/>
          </a:xfrm>
          <a:prstGeom prst="roundRect">
            <a:avLst>
              <a:gd name="adj" fmla="val 14286"/>
            </a:avLst>
          </a:prstGeom>
          <a:solidFill>
            <a:srgbClr val="DD4B0E"/>
          </a:solidFill>
          <a:ln/>
        </p:spPr>
      </p:sp>
      <p:sp>
        <p:nvSpPr>
          <p:cNvPr id="13" name="Text 11"/>
          <p:cNvSpPr/>
          <p:nvPr/>
        </p:nvSpPr>
        <p:spPr>
          <a:xfrm>
            <a:off x="3009900" y="3924300"/>
            <a:ext cx="3867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Gate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905000" y="4324350"/>
            <a:ext cx="952500" cy="323850"/>
          </a:xfrm>
          <a:prstGeom prst="roundRect">
            <a:avLst>
              <a:gd name="adj" fmla="val 17647"/>
            </a:avLst>
          </a:prstGeom>
          <a:solidFill>
            <a:srgbClr val="0B8A5F"/>
          </a:solidFill>
          <a:ln/>
        </p:spPr>
      </p:sp>
      <p:sp>
        <p:nvSpPr>
          <p:cNvPr id="15" name="Connector line-1793177040558-115719887"/>
          <p:cNvSpPr/>
          <p:nvPr/>
        </p:nvSpPr>
        <p:spPr>
          <a:xfrm flipV="1">
            <a:off x="2381250" y="3752850"/>
            <a:ext cx="0" cy="571500"/>
          </a:xfrm>
          <a:prstGeom prst="line">
            <a:avLst/>
          </a:prstGeom>
          <a:noFill/>
          <a:ln w="57150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029450" y="4324350"/>
            <a:ext cx="952500" cy="323850"/>
          </a:xfrm>
          <a:prstGeom prst="roundRect">
            <a:avLst>
              <a:gd name="adj" fmla="val 17647"/>
            </a:avLst>
          </a:prstGeom>
          <a:solidFill>
            <a:srgbClr val="2F6BEF"/>
          </a:solidFill>
          <a:ln/>
        </p:spPr>
      </p:sp>
      <p:sp>
        <p:nvSpPr>
          <p:cNvPr id="17" name="Connector line-1793177040559-748921307"/>
          <p:cNvSpPr/>
          <p:nvPr/>
        </p:nvSpPr>
        <p:spPr>
          <a:xfrm flipV="1">
            <a:off x="7505700" y="3752850"/>
            <a:ext cx="0" cy="571500"/>
          </a:xfrm>
          <a:prstGeom prst="line">
            <a:avLst/>
          </a:prstGeom>
          <a:noFill/>
          <a:ln w="57150">
            <a:solidFill>
              <a:srgbClr val="2F6BE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2200275" y="3362325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19" name="Text 17"/>
          <p:cNvSpPr/>
          <p:nvPr/>
        </p:nvSpPr>
        <p:spPr>
          <a:xfrm>
            <a:off x="2200275" y="33623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24725" y="3362325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21" name="Text 19"/>
          <p:cNvSpPr/>
          <p:nvPr/>
        </p:nvSpPr>
        <p:spPr>
          <a:xfrm>
            <a:off x="7324725" y="33623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62500" y="336232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23" name="Text 21"/>
          <p:cNvSpPr/>
          <p:nvPr/>
        </p:nvSpPr>
        <p:spPr>
          <a:xfrm>
            <a:off x="4762500" y="33623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04900" y="5562600"/>
            <a:ext cx="7677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3324225" y="4676775"/>
            <a:ext cx="323850" cy="323850"/>
          </a:xfrm>
          <a:prstGeom prst="ellipse">
            <a:avLst/>
          </a:prstGeom>
          <a:solidFill>
            <a:srgbClr val="1B2A66"/>
          </a:solidFill>
          <a:ln/>
        </p:spPr>
      </p:sp>
      <p:sp>
        <p:nvSpPr>
          <p:cNvPr id="26" name="Text 24"/>
          <p:cNvSpPr/>
          <p:nvPr/>
        </p:nvSpPr>
        <p:spPr>
          <a:xfrm>
            <a:off x="3324225" y="46767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−</a:t>
            </a:r>
            <a:endParaRPr lang="en-US" sz="2124" dirty="0"/>
          </a:p>
        </p:txBody>
      </p:sp>
      <p:sp>
        <p:nvSpPr>
          <p:cNvPr id="27" name="Shape 25"/>
          <p:cNvSpPr/>
          <p:nvPr/>
        </p:nvSpPr>
        <p:spPr>
          <a:xfrm>
            <a:off x="3905250" y="4676775"/>
            <a:ext cx="323850" cy="323850"/>
          </a:xfrm>
          <a:prstGeom prst="ellipse">
            <a:avLst/>
          </a:prstGeom>
          <a:solidFill>
            <a:srgbClr val="1B2A66"/>
          </a:solidFill>
          <a:ln/>
        </p:spPr>
      </p:sp>
      <p:sp>
        <p:nvSpPr>
          <p:cNvPr id="28" name="Text 26"/>
          <p:cNvSpPr/>
          <p:nvPr/>
        </p:nvSpPr>
        <p:spPr>
          <a:xfrm>
            <a:off x="3905250" y="46767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−</a:t>
            </a:r>
            <a:endParaRPr lang="en-US" sz="2124" dirty="0"/>
          </a:p>
        </p:txBody>
      </p:sp>
      <p:sp>
        <p:nvSpPr>
          <p:cNvPr id="29" name="Shape 27"/>
          <p:cNvSpPr/>
          <p:nvPr/>
        </p:nvSpPr>
        <p:spPr>
          <a:xfrm>
            <a:off x="4486275" y="4676775"/>
            <a:ext cx="323850" cy="323850"/>
          </a:xfrm>
          <a:prstGeom prst="ellipse">
            <a:avLst/>
          </a:prstGeom>
          <a:solidFill>
            <a:srgbClr val="1B2A66"/>
          </a:solidFill>
          <a:ln/>
        </p:spPr>
      </p:sp>
      <p:sp>
        <p:nvSpPr>
          <p:cNvPr id="30" name="Text 28"/>
          <p:cNvSpPr/>
          <p:nvPr/>
        </p:nvSpPr>
        <p:spPr>
          <a:xfrm>
            <a:off x="4486275" y="46767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−</a:t>
            </a:r>
            <a:endParaRPr lang="en-US" sz="2124" dirty="0"/>
          </a:p>
        </p:txBody>
      </p:sp>
      <p:sp>
        <p:nvSpPr>
          <p:cNvPr id="31" name="Shape 29"/>
          <p:cNvSpPr/>
          <p:nvPr/>
        </p:nvSpPr>
        <p:spPr>
          <a:xfrm>
            <a:off x="5076825" y="4676775"/>
            <a:ext cx="323850" cy="323850"/>
          </a:xfrm>
          <a:prstGeom prst="ellipse">
            <a:avLst/>
          </a:prstGeom>
          <a:solidFill>
            <a:srgbClr val="1B2A66"/>
          </a:solidFill>
          <a:ln/>
        </p:spPr>
      </p:sp>
      <p:sp>
        <p:nvSpPr>
          <p:cNvPr id="32" name="Text 30"/>
          <p:cNvSpPr/>
          <p:nvPr/>
        </p:nvSpPr>
        <p:spPr>
          <a:xfrm>
            <a:off x="5076825" y="46767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−</a:t>
            </a:r>
            <a:endParaRPr lang="en-US" sz="2124" dirty="0"/>
          </a:p>
        </p:txBody>
      </p:sp>
      <p:sp>
        <p:nvSpPr>
          <p:cNvPr id="33" name="Shape 31"/>
          <p:cNvSpPr/>
          <p:nvPr/>
        </p:nvSpPr>
        <p:spPr>
          <a:xfrm>
            <a:off x="5657850" y="4676775"/>
            <a:ext cx="323850" cy="323850"/>
          </a:xfrm>
          <a:prstGeom prst="ellipse">
            <a:avLst/>
          </a:prstGeom>
          <a:solidFill>
            <a:srgbClr val="1B2A66"/>
          </a:solidFill>
          <a:ln/>
        </p:spPr>
      </p:sp>
      <p:sp>
        <p:nvSpPr>
          <p:cNvPr id="34" name="Text 32"/>
          <p:cNvSpPr/>
          <p:nvPr/>
        </p:nvSpPr>
        <p:spPr>
          <a:xfrm>
            <a:off x="5657850" y="46767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−</a:t>
            </a:r>
            <a:endParaRPr lang="en-US" sz="2124" dirty="0"/>
          </a:p>
        </p:txBody>
      </p:sp>
      <p:sp>
        <p:nvSpPr>
          <p:cNvPr id="35" name="Shape 33"/>
          <p:cNvSpPr/>
          <p:nvPr/>
        </p:nvSpPr>
        <p:spPr>
          <a:xfrm>
            <a:off x="6238875" y="4676775"/>
            <a:ext cx="323850" cy="323850"/>
          </a:xfrm>
          <a:prstGeom prst="ellipse">
            <a:avLst/>
          </a:prstGeom>
          <a:solidFill>
            <a:srgbClr val="1B2A66"/>
          </a:solidFill>
          <a:ln/>
        </p:spPr>
      </p:sp>
      <p:sp>
        <p:nvSpPr>
          <p:cNvPr id="36" name="Text 34"/>
          <p:cNvSpPr/>
          <p:nvPr/>
        </p:nvSpPr>
        <p:spPr>
          <a:xfrm>
            <a:off x="6238875" y="46767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−</a:t>
            </a:r>
            <a:endParaRPr lang="en-US" sz="2124" dirty="0"/>
          </a:p>
        </p:txBody>
      </p:sp>
      <p:sp>
        <p:nvSpPr>
          <p:cNvPr id="37" name="Text 35"/>
          <p:cNvSpPr/>
          <p:nvPr/>
        </p:nvSpPr>
        <p:spPr>
          <a:xfrm>
            <a:off x="1200150" y="6572250"/>
            <a:ext cx="7486650" cy="628650"/>
          </a:xfrm>
          <a:prstGeom prst="rect">
            <a:avLst/>
          </a:prstGeom>
          <a:noFill/>
          <a:ln/>
        </p:spPr>
        <p:txBody>
          <a:bodyPr wrap="square" lIns="0" tIns="10899" rIns="0" bIns="-10899" rtlCol="0" anchor="ctr"/>
          <a:lstStyle/>
          <a:p>
            <a:pPr algn="ctr" indent="0" marL="0">
              <a:lnSpc>
                <a:spcPts val="2242"/>
              </a:lnSpc>
              <a:buNone/>
            </a:pPr>
            <a:r>
              <a:rPr lang="en-US" sz="195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electron chạy từ Source đến Drain; dòng quy ước chảy D → S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9315450" y="2381250"/>
            <a:ext cx="8058150" cy="4953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39" name="Text 37"/>
          <p:cNvSpPr/>
          <p:nvPr/>
        </p:nvSpPr>
        <p:spPr>
          <a:xfrm>
            <a:off x="9601200" y="249555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Kênh</a:t>
            </a:r>
            <a:r>
              <a:rPr lang="en-US" sz="2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</a:t>
            </a:r>
            <a:endParaRPr lang="en-US" sz="2850" dirty="0"/>
          </a:p>
        </p:txBody>
      </p:sp>
      <p:sp>
        <p:nvSpPr>
          <p:cNvPr id="40" name="Text 38"/>
          <p:cNvSpPr/>
          <p:nvPr/>
        </p:nvSpPr>
        <p:spPr>
          <a:xfrm>
            <a:off x="12458700" y="2495550"/>
            <a:ext cx="46291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dirty="0" spc="-15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VGS</a:t>
            </a:r>
            <a:r>
              <a:rPr lang="en-US" sz="1950" dirty="0" spc="1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âm:</a:t>
            </a:r>
            <a:r>
              <a:rPr lang="en-US" sz="1950" dirty="0" spc="-21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kéo</a:t>
            </a:r>
            <a:r>
              <a:rPr lang="en-US" sz="1950" dirty="0" spc="-7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lỗ</a:t>
            </a:r>
            <a:r>
              <a:rPr lang="en-US" sz="1950" dirty="0" spc="-13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trống</a:t>
            </a:r>
            <a:r>
              <a:rPr lang="en-US" sz="1950" dirty="0" spc="-10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lên</a:t>
            </a:r>
            <a:r>
              <a:rPr lang="en-US" sz="1950" dirty="0" spc="-7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mặt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505950" y="4667250"/>
            <a:ext cx="7677150" cy="1619250"/>
          </a:xfrm>
          <a:prstGeom prst="roundRect">
            <a:avLst>
              <a:gd name="adj" fmla="val 5882"/>
            </a:avLst>
          </a:prstGeom>
          <a:solidFill>
            <a:srgbClr val="BFD6E9"/>
          </a:solidFill>
          <a:ln/>
        </p:spPr>
      </p:sp>
      <p:sp>
        <p:nvSpPr>
          <p:cNvPr id="42" name="Shape 40"/>
          <p:cNvSpPr/>
          <p:nvPr/>
        </p:nvSpPr>
        <p:spPr>
          <a:xfrm>
            <a:off x="9886950" y="46672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E3A894"/>
          </a:solidFill>
          <a:ln/>
        </p:spPr>
      </p:sp>
      <p:sp>
        <p:nvSpPr>
          <p:cNvPr id="43" name="Shape 41"/>
          <p:cNvSpPr/>
          <p:nvPr/>
        </p:nvSpPr>
        <p:spPr>
          <a:xfrm>
            <a:off x="14992350" y="46672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E3A894"/>
          </a:solidFill>
          <a:ln/>
        </p:spPr>
      </p:sp>
      <p:sp>
        <p:nvSpPr>
          <p:cNvPr id="44" name="Text 42"/>
          <p:cNvSpPr/>
          <p:nvPr/>
        </p:nvSpPr>
        <p:spPr>
          <a:xfrm>
            <a:off x="9886950" y="4667250"/>
            <a:ext cx="1809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P+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4992350" y="4667250"/>
            <a:ext cx="1809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P+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11410950" y="4457700"/>
            <a:ext cx="3867150" cy="190500"/>
          </a:xfrm>
          <a:prstGeom prst="roundRect">
            <a:avLst>
              <a:gd name="adj" fmla="val 20000"/>
            </a:avLst>
          </a:prstGeom>
          <a:solidFill>
            <a:srgbClr val="D9D9D9"/>
          </a:solidFill>
          <a:ln w="19050">
            <a:solidFill>
              <a:srgbClr val="9A9A9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10950" y="3924300"/>
            <a:ext cx="3867150" cy="533400"/>
          </a:xfrm>
          <a:prstGeom prst="roundRect">
            <a:avLst>
              <a:gd name="adj" fmla="val 14286"/>
            </a:avLst>
          </a:prstGeom>
          <a:solidFill>
            <a:srgbClr val="DD4B0E"/>
          </a:solidFill>
          <a:ln/>
        </p:spPr>
      </p:sp>
      <p:sp>
        <p:nvSpPr>
          <p:cNvPr id="48" name="Text 46"/>
          <p:cNvSpPr/>
          <p:nvPr/>
        </p:nvSpPr>
        <p:spPr>
          <a:xfrm>
            <a:off x="11410950" y="3924300"/>
            <a:ext cx="3867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Gate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10306050" y="4324350"/>
            <a:ext cx="952500" cy="323850"/>
          </a:xfrm>
          <a:prstGeom prst="roundRect">
            <a:avLst>
              <a:gd name="adj" fmla="val 17647"/>
            </a:avLst>
          </a:prstGeom>
          <a:solidFill>
            <a:srgbClr val="0B8A5F"/>
          </a:solidFill>
          <a:ln/>
        </p:spPr>
      </p:sp>
      <p:sp>
        <p:nvSpPr>
          <p:cNvPr id="50" name="Connector line-1793177040601-682449962"/>
          <p:cNvSpPr/>
          <p:nvPr/>
        </p:nvSpPr>
        <p:spPr>
          <a:xfrm flipV="1">
            <a:off x="10782300" y="3752850"/>
            <a:ext cx="0" cy="571500"/>
          </a:xfrm>
          <a:prstGeom prst="line">
            <a:avLst/>
          </a:prstGeom>
          <a:noFill/>
          <a:ln w="57150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15430500" y="4324350"/>
            <a:ext cx="952500" cy="323850"/>
          </a:xfrm>
          <a:prstGeom prst="roundRect">
            <a:avLst>
              <a:gd name="adj" fmla="val 17647"/>
            </a:avLst>
          </a:prstGeom>
          <a:solidFill>
            <a:srgbClr val="2F6BEF"/>
          </a:solidFill>
          <a:ln/>
        </p:spPr>
      </p:sp>
      <p:sp>
        <p:nvSpPr>
          <p:cNvPr id="52" name="Connector line-1793177040601-431355641"/>
          <p:cNvSpPr/>
          <p:nvPr/>
        </p:nvSpPr>
        <p:spPr>
          <a:xfrm flipV="1">
            <a:off x="15906750" y="3752850"/>
            <a:ext cx="0" cy="571500"/>
          </a:xfrm>
          <a:prstGeom prst="line">
            <a:avLst/>
          </a:prstGeom>
          <a:noFill/>
          <a:ln w="57150">
            <a:solidFill>
              <a:srgbClr val="2F6BEF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10601325" y="3362325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54" name="Text 52"/>
          <p:cNvSpPr/>
          <p:nvPr/>
        </p:nvSpPr>
        <p:spPr>
          <a:xfrm>
            <a:off x="10601325" y="33623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725775" y="3362325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56" name="Text 54"/>
          <p:cNvSpPr/>
          <p:nvPr/>
        </p:nvSpPr>
        <p:spPr>
          <a:xfrm>
            <a:off x="15725775" y="33623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3163550" y="336232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58" name="Text 56"/>
          <p:cNvSpPr/>
          <p:nvPr/>
        </p:nvSpPr>
        <p:spPr>
          <a:xfrm>
            <a:off x="13163550" y="33623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9505950" y="5562600"/>
            <a:ext cx="7677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</a:t>
            </a:r>
            <a:endParaRPr lang="en-US" sz="1950" dirty="0"/>
          </a:p>
        </p:txBody>
      </p:sp>
      <p:sp>
        <p:nvSpPr>
          <p:cNvPr id="60" name="Shape 58"/>
          <p:cNvSpPr/>
          <p:nvPr/>
        </p:nvSpPr>
        <p:spPr>
          <a:xfrm>
            <a:off x="11725275" y="4676775"/>
            <a:ext cx="323850" cy="3238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11725275" y="4676775"/>
            <a:ext cx="323850" cy="323850"/>
          </a:xfrm>
          <a:prstGeom prst="ellipse">
            <a:avLst/>
          </a:prstGeom>
          <a:noFill/>
          <a:ln w="28575">
            <a:solidFill>
              <a:srgbClr val="8A2B1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725275" y="46767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dirty="0" spc="2" kern="0">
                <a:solidFill>
                  <a:srgbClr val="8A2B1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+</a:t>
            </a:r>
            <a:endParaRPr lang="en-US" sz="2124" dirty="0"/>
          </a:p>
        </p:txBody>
      </p:sp>
      <p:sp>
        <p:nvSpPr>
          <p:cNvPr id="63" name="Shape 61"/>
          <p:cNvSpPr/>
          <p:nvPr/>
        </p:nvSpPr>
        <p:spPr>
          <a:xfrm>
            <a:off x="12306300" y="4676775"/>
            <a:ext cx="323850" cy="3238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12306300" y="4676775"/>
            <a:ext cx="323850" cy="323850"/>
          </a:xfrm>
          <a:prstGeom prst="ellipse">
            <a:avLst/>
          </a:prstGeom>
          <a:noFill/>
          <a:ln w="28575">
            <a:solidFill>
              <a:srgbClr val="8A2B1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306300" y="46767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dirty="0" spc="2" kern="0">
                <a:solidFill>
                  <a:srgbClr val="8A2B1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+</a:t>
            </a:r>
            <a:endParaRPr lang="en-US" sz="2124" dirty="0"/>
          </a:p>
        </p:txBody>
      </p:sp>
      <p:sp>
        <p:nvSpPr>
          <p:cNvPr id="66" name="Shape 64"/>
          <p:cNvSpPr/>
          <p:nvPr/>
        </p:nvSpPr>
        <p:spPr>
          <a:xfrm>
            <a:off x="12887325" y="4676775"/>
            <a:ext cx="323850" cy="3238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12887325" y="4676775"/>
            <a:ext cx="323850" cy="323850"/>
          </a:xfrm>
          <a:prstGeom prst="ellipse">
            <a:avLst/>
          </a:prstGeom>
          <a:noFill/>
          <a:ln w="28575">
            <a:solidFill>
              <a:srgbClr val="8A2B1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2887325" y="46767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dirty="0" spc="2" kern="0">
                <a:solidFill>
                  <a:srgbClr val="8A2B1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+</a:t>
            </a:r>
            <a:endParaRPr lang="en-US" sz="2124" dirty="0"/>
          </a:p>
        </p:txBody>
      </p:sp>
      <p:sp>
        <p:nvSpPr>
          <p:cNvPr id="69" name="Shape 67"/>
          <p:cNvSpPr/>
          <p:nvPr/>
        </p:nvSpPr>
        <p:spPr>
          <a:xfrm>
            <a:off x="13477875" y="4676775"/>
            <a:ext cx="323850" cy="3238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13477875" y="4676775"/>
            <a:ext cx="323850" cy="323850"/>
          </a:xfrm>
          <a:prstGeom prst="ellipse">
            <a:avLst/>
          </a:prstGeom>
          <a:noFill/>
          <a:ln w="28575">
            <a:solidFill>
              <a:srgbClr val="8A2B1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3477875" y="46767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dirty="0" spc="2" kern="0">
                <a:solidFill>
                  <a:srgbClr val="8A2B1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+</a:t>
            </a:r>
            <a:endParaRPr lang="en-US" sz="2124" dirty="0"/>
          </a:p>
        </p:txBody>
      </p:sp>
      <p:sp>
        <p:nvSpPr>
          <p:cNvPr id="72" name="Shape 70"/>
          <p:cNvSpPr/>
          <p:nvPr/>
        </p:nvSpPr>
        <p:spPr>
          <a:xfrm>
            <a:off x="14058900" y="4676775"/>
            <a:ext cx="323850" cy="3238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14058900" y="4676775"/>
            <a:ext cx="323850" cy="323850"/>
          </a:xfrm>
          <a:prstGeom prst="ellipse">
            <a:avLst/>
          </a:prstGeom>
          <a:noFill/>
          <a:ln w="28575">
            <a:solidFill>
              <a:srgbClr val="8A2B1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4058900" y="46767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dirty="0" spc="2" kern="0">
                <a:solidFill>
                  <a:srgbClr val="8A2B1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+</a:t>
            </a:r>
            <a:endParaRPr lang="en-US" sz="2124" dirty="0"/>
          </a:p>
        </p:txBody>
      </p:sp>
      <p:sp>
        <p:nvSpPr>
          <p:cNvPr id="75" name="Shape 73"/>
          <p:cNvSpPr/>
          <p:nvPr/>
        </p:nvSpPr>
        <p:spPr>
          <a:xfrm>
            <a:off x="14639925" y="4676775"/>
            <a:ext cx="323850" cy="3238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6" name="Shape 74"/>
          <p:cNvSpPr/>
          <p:nvPr/>
        </p:nvSpPr>
        <p:spPr>
          <a:xfrm>
            <a:off x="14639925" y="4676775"/>
            <a:ext cx="323850" cy="323850"/>
          </a:xfrm>
          <a:prstGeom prst="ellipse">
            <a:avLst/>
          </a:prstGeom>
          <a:noFill/>
          <a:ln w="28575">
            <a:solidFill>
              <a:srgbClr val="8A2B1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639925" y="46767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dirty="0" spc="2" kern="0">
                <a:solidFill>
                  <a:srgbClr val="8A2B1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+</a:t>
            </a:r>
            <a:endParaRPr lang="en-US" sz="2124" dirty="0"/>
          </a:p>
        </p:txBody>
      </p:sp>
      <p:sp>
        <p:nvSpPr>
          <p:cNvPr id="78" name="Text 76"/>
          <p:cNvSpPr/>
          <p:nvPr/>
        </p:nvSpPr>
        <p:spPr>
          <a:xfrm>
            <a:off x="9601200" y="6572250"/>
            <a:ext cx="7486650" cy="628650"/>
          </a:xfrm>
          <a:prstGeom prst="rect">
            <a:avLst/>
          </a:prstGeom>
          <a:noFill/>
          <a:ln/>
        </p:spPr>
        <p:txBody>
          <a:bodyPr wrap="square" lIns="0" tIns="10899" rIns="0" bIns="-10899" rtlCol="0" anchor="ctr"/>
          <a:lstStyle/>
          <a:p>
            <a:pPr algn="ctr" indent="0" marL="0">
              <a:lnSpc>
                <a:spcPts val="2242"/>
              </a:lnSpc>
              <a:buNone/>
            </a:pPr>
            <a:r>
              <a:rPr lang="en-US" sz="195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lỗ trống chạy từ Source đến Drain; dòng quy ước chảy S → D</a:t>
            </a:r>
            <a:endParaRPr lang="en-US" sz="1950" dirty="0"/>
          </a:p>
        </p:txBody>
      </p:sp>
      <p:sp>
        <p:nvSpPr>
          <p:cNvPr id="79" name="Shape 77"/>
          <p:cNvSpPr/>
          <p:nvPr/>
        </p:nvSpPr>
        <p:spPr>
          <a:xfrm>
            <a:off x="914400" y="7524750"/>
            <a:ext cx="16459200" cy="819150"/>
          </a:xfrm>
          <a:prstGeom prst="roundRect">
            <a:avLst>
              <a:gd name="adj" fmla="val 23256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181100" y="7524750"/>
            <a:ext cx="159258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Kênh</a:t>
            </a: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 dẫn</a:t>
            </a:r>
            <a:r>
              <a:rPr lang="en-US" sz="25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55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electron</a:t>
            </a: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550" dirty="0" spc="-2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Kênh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</a:t>
            </a: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5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55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lỗ</a:t>
            </a:r>
            <a:r>
              <a:rPr lang="en-US" sz="2550" dirty="0" spc="-1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trống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(hole)</a:t>
            </a:r>
            <a:endParaRPr lang="en-US" sz="2550" dirty="0"/>
          </a:p>
        </p:txBody>
      </p:sp>
      <p:sp>
        <p:nvSpPr>
          <p:cNvPr id="81" name="Text 7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3209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3" name="Shape 91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11/18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2" name="Moda image moda-export-watermark-923b74e3-fba7-4fa6-acff-76f96b1219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JFET:</a:t>
            </a:r>
            <a:r>
              <a:rPr lang="en-US" sz="57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dẫn,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bóp</a:t>
            </a:r>
            <a:r>
              <a:rPr lang="en-US" sz="57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áp</a:t>
            </a:r>
            <a:r>
              <a:rPr lang="en-US" sz="57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3143250" cy="6000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3177076064-142758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3073194"/>
            <a:ext cx="2876550" cy="461686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86250" y="2381250"/>
            <a:ext cx="5334000" cy="600075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6" name="Connector line-1793177076064-92334618"/>
          <p:cNvSpPr/>
          <p:nvPr/>
        </p:nvSpPr>
        <p:spPr>
          <a:xfrm>
            <a:off x="6572250" y="4305300"/>
            <a:ext cx="0" cy="1295400"/>
          </a:xfrm>
          <a:prstGeom prst="line">
            <a:avLst/>
          </a:prstGeom>
          <a:noFill/>
          <a:ln w="952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6572250" y="3638550"/>
            <a:ext cx="571500" cy="876300"/>
          </a:xfrm>
          <a:custGeom>
            <a:avLst/>
            <a:gdLst/>
            <a:ahLst/>
            <a:cxnLst/>
            <a:rect l="l" t="t" r="r" b="b"/>
            <a:pathLst>
              <a:path w="571500" h="876300">
                <a:moveTo>
                  <a:pt x="0" y="876300"/>
                </a:moveTo>
                <a:lnTo>
                  <a:pt x="571500" y="876300"/>
                </a:lnTo>
                <a:lnTo>
                  <a:pt x="571500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72250" y="5391150"/>
            <a:ext cx="571500" cy="876300"/>
          </a:xfrm>
          <a:custGeom>
            <a:avLst/>
            <a:gdLst/>
            <a:ahLst/>
            <a:cxnLst/>
            <a:rect l="l" t="t" r="r" b="b"/>
            <a:pathLst>
              <a:path w="571500" h="876300">
                <a:moveTo>
                  <a:pt x="0" y="0"/>
                </a:moveTo>
                <a:lnTo>
                  <a:pt x="571500" y="0"/>
                </a:lnTo>
                <a:lnTo>
                  <a:pt x="571500" y="876300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9" name="Connector line-1793177076071-780809938"/>
          <p:cNvSpPr/>
          <p:nvPr/>
        </p:nvSpPr>
        <p:spPr>
          <a:xfrm>
            <a:off x="5372100" y="4953000"/>
            <a:ext cx="1200150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905375" y="477202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11" name="Text 8"/>
          <p:cNvSpPr/>
          <p:nvPr/>
        </p:nvSpPr>
        <p:spPr>
          <a:xfrm>
            <a:off x="4895850" y="47720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324725" y="3381375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13" name="Text 10"/>
          <p:cNvSpPr/>
          <p:nvPr/>
        </p:nvSpPr>
        <p:spPr>
          <a:xfrm>
            <a:off x="7334250" y="33909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324725" y="6162675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15" name="Text 12"/>
          <p:cNvSpPr/>
          <p:nvPr/>
        </p:nvSpPr>
        <p:spPr>
          <a:xfrm>
            <a:off x="7334250" y="61531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476750" y="67246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JFET</a:t>
            </a:r>
            <a:r>
              <a:rPr lang="en-US" sz="1800" dirty="0" spc="-1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kênh</a:t>
            </a:r>
            <a:r>
              <a:rPr lang="en-US" sz="180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</a:t>
            </a:r>
            <a:r>
              <a:rPr lang="en-US" sz="180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(mũi</a:t>
            </a:r>
            <a:r>
              <a:rPr lang="en-US" sz="1800" dirty="0" spc="-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180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800" dirty="0" spc="-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</a:t>
            </a:r>
            <a:r>
              <a:rPr lang="en-US" sz="180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1800" dirty="0" spc="-1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1800" dirty="0" spc="-1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kênh)</a:t>
            </a:r>
            <a:endParaRPr lang="en-US" sz="1800" dirty="0"/>
          </a:p>
        </p:txBody>
      </p:sp>
      <p:sp>
        <p:nvSpPr>
          <p:cNvPr id="17" name="Connector line-1793177076081-861422979"/>
          <p:cNvSpPr/>
          <p:nvPr/>
        </p:nvSpPr>
        <p:spPr>
          <a:xfrm>
            <a:off x="4572000" y="7334250"/>
            <a:ext cx="1524000" cy="0"/>
          </a:xfrm>
          <a:prstGeom prst="line">
            <a:avLst/>
          </a:prstGeom>
          <a:noFill/>
          <a:ln w="152400">
            <a:solidFill>
              <a:srgbClr val="2F6BEF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6286500" y="7086600"/>
            <a:ext cx="3143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VGS</a:t>
            </a:r>
            <a:r>
              <a:rPr lang="en-US" sz="21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=</a:t>
            </a:r>
            <a:r>
              <a:rPr lang="en-US" sz="21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0:</a:t>
            </a:r>
            <a:r>
              <a:rPr lang="en-US" sz="21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ID</a:t>
            </a:r>
            <a:r>
              <a:rPr lang="en-US" sz="21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lớn</a:t>
            </a:r>
            <a:endParaRPr lang="en-US" sz="2100" dirty="0"/>
          </a:p>
        </p:txBody>
      </p:sp>
      <p:sp>
        <p:nvSpPr>
          <p:cNvPr id="19" name="Connector line-1793177076084-716600469"/>
          <p:cNvSpPr/>
          <p:nvPr/>
        </p:nvSpPr>
        <p:spPr>
          <a:xfrm>
            <a:off x="4572000" y="7905750"/>
            <a:ext cx="381000" cy="0"/>
          </a:xfrm>
          <a:prstGeom prst="line">
            <a:avLst/>
          </a:prstGeom>
          <a:noFill/>
          <a:ln w="47625">
            <a:solidFill>
              <a:srgbClr val="2F6BEF"/>
            </a:solidFill>
            <a:prstDash val="solid"/>
            <a:headEnd type="none"/>
            <a:tailEnd type="triangle" w="lg" len="lg"/>
          </a:ln>
        </p:spPr>
      </p:sp>
      <p:sp>
        <p:nvSpPr>
          <p:cNvPr id="20" name="Text 17"/>
          <p:cNvSpPr/>
          <p:nvPr/>
        </p:nvSpPr>
        <p:spPr>
          <a:xfrm>
            <a:off x="5334000" y="7658100"/>
            <a:ext cx="4191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VGS</a:t>
            </a:r>
            <a:r>
              <a:rPr lang="en-US" sz="21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âm:</a:t>
            </a:r>
            <a:r>
              <a:rPr lang="en-US" sz="21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ID</a:t>
            </a:r>
            <a:r>
              <a:rPr lang="en-US" sz="21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giảm</a:t>
            </a:r>
            <a:r>
              <a:rPr lang="en-US" sz="21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21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0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9906000" y="2381250"/>
            <a:ext cx="74676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/>
        </p:spPr>
      </p:sp>
      <p:sp>
        <p:nvSpPr>
          <p:cNvPr id="22" name="Shape 19"/>
          <p:cNvSpPr/>
          <p:nvPr/>
        </p:nvSpPr>
        <p:spPr>
          <a:xfrm>
            <a:off x="9906000" y="2381250"/>
            <a:ext cx="114300" cy="13335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23" name="Text 20"/>
          <p:cNvSpPr/>
          <p:nvPr/>
        </p:nvSpPr>
        <p:spPr>
          <a:xfrm>
            <a:off x="10248900" y="2381250"/>
            <a:ext cx="6934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Điều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khiển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5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áp,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5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cực</a:t>
            </a:r>
            <a:endParaRPr lang="en-US" sz="2550" dirty="0"/>
          </a:p>
        </p:txBody>
      </p:sp>
      <p:sp>
        <p:nvSpPr>
          <p:cNvPr id="24" name="Shape 21"/>
          <p:cNvSpPr/>
          <p:nvPr/>
        </p:nvSpPr>
        <p:spPr>
          <a:xfrm>
            <a:off x="9906000" y="3943350"/>
            <a:ext cx="74676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/>
        </p:spPr>
      </p:sp>
      <p:sp>
        <p:nvSpPr>
          <p:cNvPr id="25" name="Shape 22"/>
          <p:cNvSpPr/>
          <p:nvPr/>
        </p:nvSpPr>
        <p:spPr>
          <a:xfrm>
            <a:off x="9906000" y="3943350"/>
            <a:ext cx="114300" cy="13335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26" name="Text 23"/>
          <p:cNvSpPr/>
          <p:nvPr/>
        </p:nvSpPr>
        <p:spPr>
          <a:xfrm>
            <a:off x="10248900" y="3943350"/>
            <a:ext cx="6934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Thường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VGS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</a:t>
            </a:r>
            <a:endParaRPr lang="en-US" sz="2550" dirty="0"/>
          </a:p>
        </p:txBody>
      </p:sp>
      <p:sp>
        <p:nvSpPr>
          <p:cNvPr id="27" name="Shape 24"/>
          <p:cNvSpPr/>
          <p:nvPr/>
        </p:nvSpPr>
        <p:spPr>
          <a:xfrm>
            <a:off x="9906000" y="5505450"/>
            <a:ext cx="74676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/>
        </p:spPr>
      </p:sp>
      <p:sp>
        <p:nvSpPr>
          <p:cNvPr id="28" name="Shape 25"/>
          <p:cNvSpPr/>
          <p:nvPr/>
        </p:nvSpPr>
        <p:spPr>
          <a:xfrm>
            <a:off x="9906000" y="5505450"/>
            <a:ext cx="114300" cy="13335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29" name="Text 26"/>
          <p:cNvSpPr/>
          <p:nvPr/>
        </p:nvSpPr>
        <p:spPr>
          <a:xfrm>
            <a:off x="10248900" y="5505450"/>
            <a:ext cx="6934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Gate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5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cực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ngược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kênh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bóp;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pinch-off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55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ngừng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endParaRPr lang="en-US" sz="2550" dirty="0"/>
          </a:p>
        </p:txBody>
      </p:sp>
      <p:sp>
        <p:nvSpPr>
          <p:cNvPr id="30" name="Shape 27"/>
          <p:cNvSpPr/>
          <p:nvPr/>
        </p:nvSpPr>
        <p:spPr>
          <a:xfrm>
            <a:off x="9906000" y="7067550"/>
            <a:ext cx="74676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/>
        </p:spPr>
      </p:sp>
      <p:sp>
        <p:nvSpPr>
          <p:cNvPr id="31" name="Shape 28"/>
          <p:cNvSpPr/>
          <p:nvPr/>
        </p:nvSpPr>
        <p:spPr>
          <a:xfrm>
            <a:off x="9906000" y="7067550"/>
            <a:ext cx="114300" cy="13335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32" name="Text 29"/>
          <p:cNvSpPr/>
          <p:nvPr/>
        </p:nvSpPr>
        <p:spPr>
          <a:xfrm>
            <a:off x="10248900" y="7162800"/>
            <a:ext cx="6934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8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Kênh</a:t>
            </a:r>
            <a:r>
              <a:rPr lang="en-US" sz="2250" dirty="0" spc="1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</a:t>
            </a:r>
            <a:endParaRPr lang="en-US" sz="2250" dirty="0"/>
          </a:p>
        </p:txBody>
      </p:sp>
      <p:sp>
        <p:nvSpPr>
          <p:cNvPr id="33" name="Text 30"/>
          <p:cNvSpPr/>
          <p:nvPr/>
        </p:nvSpPr>
        <p:spPr>
          <a:xfrm>
            <a:off x="10248900" y="7600950"/>
            <a:ext cx="6934200" cy="742950"/>
          </a:xfrm>
          <a:prstGeom prst="rect">
            <a:avLst/>
          </a:prstGeom>
          <a:noFill/>
          <a:ln/>
        </p:spPr>
        <p:txBody>
          <a:bodyPr wrap="square" lIns="0" tIns="14138" rIns="0" bIns="-14138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543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mũi</a:t>
            </a:r>
            <a:r>
              <a:rPr lang="en-US" sz="2543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543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43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</a:t>
            </a:r>
            <a:r>
              <a:rPr lang="en-US" sz="2543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43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43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kênh;</a:t>
            </a:r>
            <a:r>
              <a:rPr lang="en-US" sz="2543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trở</a:t>
            </a:r>
            <a:r>
              <a:rPr lang="en-US" sz="2543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kháng</a:t>
            </a:r>
            <a:r>
              <a:rPr lang="en-US" sz="2543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43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endParaRPr lang="en-US" sz="2543" dirty="0"/>
          </a:p>
        </p:txBody>
      </p:sp>
      <p:sp>
        <p:nvSpPr>
          <p:cNvPr id="34" name="Text 31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Euler666,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 Commons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 [S4] [S16]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3438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5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12/18</a:t>
            </a:r>
            <a:endParaRPr lang="en-US" sz="1800" dirty="0"/>
          </a:p>
        </p:txBody>
      </p:sp>
      <p:sp>
        <p:nvSpPr>
          <p:cNvPr id="55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21b13f07-5373-454b-a0de-4d6fd91be75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BJT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MOSFET: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16459200" cy="609600"/>
          </a:xfrm>
          <a:prstGeom prst="roundRect">
            <a:avLst>
              <a:gd name="adj" fmla="val 25000"/>
            </a:avLst>
          </a:prstGeom>
          <a:solidFill>
            <a:srgbClr val="F3EEE3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381250"/>
            <a:ext cx="373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Tiêu chí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34000" y="2381250"/>
            <a:ext cx="563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BJT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0" y="2381250"/>
            <a:ext cx="571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MOSFET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105150"/>
            <a:ext cx="16459200" cy="99060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105150"/>
            <a:ext cx="3733800" cy="99060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Điều</a:t>
            </a:r>
            <a:r>
              <a:rPr lang="en-US" sz="24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khiển</a:t>
            </a:r>
            <a:r>
              <a:rPr lang="en-US" sz="240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34000" y="3105150"/>
            <a:ext cx="5638800" cy="990600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dòng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Base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430000" y="3105150"/>
            <a:ext cx="5715000" cy="990600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điện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áp</a:t>
            </a:r>
            <a:r>
              <a:rPr lang="en-US" sz="22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Gate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4171950"/>
            <a:ext cx="16459200" cy="99060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171950"/>
            <a:ext cx="3733800" cy="99060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dirty="0" spc="-5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Trở</a:t>
            </a:r>
            <a:r>
              <a:rPr lang="en-US" sz="240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kháng</a:t>
            </a:r>
            <a:r>
              <a:rPr lang="en-US" sz="2400" dirty="0" spc="-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34000" y="4171950"/>
            <a:ext cx="5638800" cy="990600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thấp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hơn,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22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dòng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Base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430000" y="4171950"/>
            <a:ext cx="5715000" cy="990600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-4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rất</a:t>
            </a:r>
            <a:r>
              <a:rPr lang="en-US" sz="22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cao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DC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14400" y="5238750"/>
            <a:ext cx="16459200" cy="99060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5238750"/>
            <a:ext cx="3733800" cy="99060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dirty="0" spc="-9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Tốc</a:t>
            </a:r>
            <a:r>
              <a:rPr lang="en-US" sz="24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</a:t>
            </a:r>
            <a:r>
              <a:rPr lang="en-US" sz="240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chuyển</a:t>
            </a:r>
            <a:r>
              <a:rPr lang="en-US" sz="24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mạch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34000" y="5238750"/>
            <a:ext cx="5638800" cy="990600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chậm hơn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430000" y="5238750"/>
            <a:ext cx="5715000" cy="990600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nhanh,</a:t>
            </a:r>
            <a:r>
              <a:rPr lang="en-US" sz="22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đơn</a:t>
            </a:r>
            <a:r>
              <a:rPr lang="en-US" sz="22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cực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(MOSFET</a:t>
            </a:r>
            <a:r>
              <a:rPr lang="en-US" sz="22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2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suất)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6305550"/>
            <a:ext cx="16459200" cy="99060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6305550"/>
            <a:ext cx="3733800" cy="99060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dirty="0" spc="-9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Tổn</a:t>
            </a:r>
            <a:r>
              <a:rPr lang="en-US" sz="240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hao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34000" y="6305550"/>
            <a:ext cx="5638800" cy="990600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sụt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áp</a:t>
            </a:r>
            <a:r>
              <a:rPr lang="en-US" sz="22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VCE(sat)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430000" y="6305550"/>
            <a:ext cx="5715000" cy="990600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điện</a:t>
            </a:r>
            <a:r>
              <a:rPr lang="en-US" sz="22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trở</a:t>
            </a:r>
            <a:r>
              <a:rPr lang="en-US" sz="22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RDS(on)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14400" y="7372350"/>
            <a:ext cx="16459200" cy="99060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7372350"/>
            <a:ext cx="3733800" cy="99060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dirty="0" spc="-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Ứng</a:t>
            </a:r>
            <a:r>
              <a:rPr lang="en-US" sz="24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dụng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334000" y="7372350"/>
            <a:ext cx="5638800" cy="990600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khuếch</a:t>
            </a:r>
            <a:r>
              <a:rPr lang="en-US" sz="225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đại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</a:t>
            </a:r>
            <a:r>
              <a:rPr lang="en-US" sz="22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hiệu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nhỏ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1430000" y="7372350"/>
            <a:ext cx="5715000" cy="990600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công</a:t>
            </a:r>
            <a:r>
              <a:rPr lang="en-US" sz="22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tắc</a:t>
            </a:r>
            <a:r>
              <a:rPr lang="en-US" sz="22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2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suất,</a:t>
            </a:r>
            <a:r>
              <a:rPr lang="en-US" sz="22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2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cơ,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CMOS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[S2]</a:t>
            </a:r>
            <a:r>
              <a:rPr lang="en-US" sz="1800" dirty="0" spc="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 [S5]</a:t>
            </a:r>
            <a:r>
              <a:rPr lang="en-US" sz="1800" dirty="0" spc="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[S6]</a:t>
            </a:r>
            <a:r>
              <a:rPr lang="en-US" sz="1800" dirty="0" spc="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[S10]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67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13/18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94ceb0f8-5756-438c-947d-bde02de34e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chính: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mũi</a:t>
            </a: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3886200" cy="6096000"/>
          </a:xfrm>
          <a:prstGeom prst="roundRect">
            <a:avLst>
              <a:gd name="adj" fmla="val 6373"/>
            </a:avLst>
          </a:prstGeom>
          <a:solidFill>
            <a:srgbClr val="E8E0CF"/>
          </a:solidFill>
          <a:ln/>
        </p:spPr>
      </p:sp>
      <p:sp>
        <p:nvSpPr>
          <p:cNvPr id="4" name="Connector line-1793177216771-247815160"/>
          <p:cNvSpPr/>
          <p:nvPr/>
        </p:nvSpPr>
        <p:spPr>
          <a:xfrm>
            <a:off x="2343150" y="4029075"/>
            <a:ext cx="0" cy="704850"/>
          </a:xfrm>
          <a:prstGeom prst="line">
            <a:avLst/>
          </a:prstGeom>
          <a:noFill/>
          <a:ln w="952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Connector line-1793177216772-174594076"/>
          <p:cNvSpPr/>
          <p:nvPr/>
        </p:nvSpPr>
        <p:spPr>
          <a:xfrm>
            <a:off x="1533525" y="4381500"/>
            <a:ext cx="80962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343150" y="3505200"/>
            <a:ext cx="457200" cy="723900"/>
          </a:xfrm>
          <a:custGeom>
            <a:avLst/>
            <a:gdLst/>
            <a:ahLst/>
            <a:cxnLst/>
            <a:rect l="l" t="t" r="r" b="b"/>
            <a:pathLst>
              <a:path w="457200" h="723900">
                <a:moveTo>
                  <a:pt x="0" y="723900"/>
                </a:moveTo>
                <a:lnTo>
                  <a:pt x="457200" y="371475"/>
                </a:lnTo>
                <a:lnTo>
                  <a:pt x="457200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7" name="Connector line-1793177216773-988204006"/>
          <p:cNvSpPr/>
          <p:nvPr/>
        </p:nvSpPr>
        <p:spPr>
          <a:xfrm>
            <a:off x="2800350" y="4886325"/>
            <a:ext cx="0" cy="37147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8" name="Connector line-1793177216774-754497634"/>
          <p:cNvSpPr/>
          <p:nvPr/>
        </p:nvSpPr>
        <p:spPr>
          <a:xfrm>
            <a:off x="2343150" y="4533900"/>
            <a:ext cx="457200" cy="35242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66800" y="420052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42005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81325" y="3248025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12" name="Text 10"/>
          <p:cNvSpPr/>
          <p:nvPr/>
        </p:nvSpPr>
        <p:spPr>
          <a:xfrm>
            <a:off x="2981325" y="32385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81325" y="5153025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14" name="Text 12"/>
          <p:cNvSpPr/>
          <p:nvPr/>
        </p:nvSpPr>
        <p:spPr>
          <a:xfrm>
            <a:off x="2981325" y="51625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</a:t>
            </a:r>
            <a:endParaRPr lang="en-US" sz="1800" dirty="0"/>
          </a:p>
        </p:txBody>
      </p:sp>
      <p:sp>
        <p:nvSpPr>
          <p:cNvPr id="15" name="Connector line-1793177216783-891597936"/>
          <p:cNvSpPr/>
          <p:nvPr/>
        </p:nvSpPr>
        <p:spPr>
          <a:xfrm>
            <a:off x="4133850" y="3619500"/>
            <a:ext cx="0" cy="1524000"/>
          </a:xfrm>
          <a:prstGeom prst="line">
            <a:avLst/>
          </a:prstGeom>
          <a:noFill/>
          <a:ln w="114300">
            <a:solidFill>
              <a:srgbClr val="2F6BE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657600" y="5238750"/>
            <a:ext cx="95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dòng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5715000"/>
            <a:ext cx="342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NPN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143000" y="6286500"/>
            <a:ext cx="3429000" cy="85725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Mũi</a:t>
            </a: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Emitter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1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43000" y="71437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Dòng C → 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43000" y="77152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0899" rIns="0" bIns="-10899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en-US" sz="1950" b="1" dirty="0" spc="-2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Bật:</a:t>
            </a:r>
            <a:r>
              <a:rPr lang="en-US" sz="1950" b="1" dirty="0" spc="-3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 cao</a:t>
            </a:r>
            <a:r>
              <a:rPr lang="en-US" sz="1950" b="1" dirty="0" spc="-1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950" b="1" dirty="0" spc="-2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Emitter</a:t>
            </a:r>
            <a:r>
              <a:rPr lang="en-US" sz="1950" b="1" dirty="0" spc="2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~0,6 V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5105400" y="2381250"/>
            <a:ext cx="3886200" cy="6096000"/>
          </a:xfrm>
          <a:prstGeom prst="roundRect">
            <a:avLst>
              <a:gd name="adj" fmla="val 6373"/>
            </a:avLst>
          </a:prstGeom>
          <a:solidFill>
            <a:srgbClr val="E8E0CF"/>
          </a:solidFill>
          <a:ln/>
        </p:spPr>
      </p:sp>
      <p:sp>
        <p:nvSpPr>
          <p:cNvPr id="22" name="Connector line-1793177216797-380878166"/>
          <p:cNvSpPr/>
          <p:nvPr/>
        </p:nvSpPr>
        <p:spPr>
          <a:xfrm flipV="1">
            <a:off x="6534150" y="4029075"/>
            <a:ext cx="0" cy="704850"/>
          </a:xfrm>
          <a:prstGeom prst="line">
            <a:avLst/>
          </a:prstGeom>
          <a:noFill/>
          <a:ln w="952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3" name="Connector line-1793177216797-440605010"/>
          <p:cNvSpPr/>
          <p:nvPr/>
        </p:nvSpPr>
        <p:spPr>
          <a:xfrm>
            <a:off x="5724525" y="4381500"/>
            <a:ext cx="80962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534150" y="4533900"/>
            <a:ext cx="457200" cy="723900"/>
          </a:xfrm>
          <a:custGeom>
            <a:avLst/>
            <a:gdLst/>
            <a:ahLst/>
            <a:cxnLst/>
            <a:rect l="l" t="t" r="r" b="b"/>
            <a:pathLst>
              <a:path w="457200" h="723900">
                <a:moveTo>
                  <a:pt x="0" y="0"/>
                </a:moveTo>
                <a:lnTo>
                  <a:pt x="457200" y="352425"/>
                </a:lnTo>
                <a:lnTo>
                  <a:pt x="457200" y="72390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25" name="Connector line-1793177216799-701576528"/>
          <p:cNvSpPr/>
          <p:nvPr/>
        </p:nvSpPr>
        <p:spPr>
          <a:xfrm flipV="1">
            <a:off x="6991350" y="3505200"/>
            <a:ext cx="0" cy="37147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26" name="Connector line-1793177216799-662002876"/>
          <p:cNvSpPr/>
          <p:nvPr/>
        </p:nvSpPr>
        <p:spPr>
          <a:xfrm flipH="1">
            <a:off x="6534150" y="3876675"/>
            <a:ext cx="457200" cy="35242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257800" y="420052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42005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172325" y="5153025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30" name="Text 28"/>
          <p:cNvSpPr/>
          <p:nvPr/>
        </p:nvSpPr>
        <p:spPr>
          <a:xfrm>
            <a:off x="7172325" y="51625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172325" y="3248025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32" name="Text 30"/>
          <p:cNvSpPr/>
          <p:nvPr/>
        </p:nvSpPr>
        <p:spPr>
          <a:xfrm>
            <a:off x="7172325" y="32385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</a:t>
            </a:r>
            <a:endParaRPr lang="en-US" sz="1800" dirty="0"/>
          </a:p>
        </p:txBody>
      </p:sp>
      <p:sp>
        <p:nvSpPr>
          <p:cNvPr id="33" name="Connector line-1793177216805-218222318"/>
          <p:cNvSpPr/>
          <p:nvPr/>
        </p:nvSpPr>
        <p:spPr>
          <a:xfrm>
            <a:off x="8324850" y="3619500"/>
            <a:ext cx="0" cy="1524000"/>
          </a:xfrm>
          <a:prstGeom prst="line">
            <a:avLst/>
          </a:prstGeom>
          <a:noFill/>
          <a:ln w="114300">
            <a:solidFill>
              <a:srgbClr val="2F6BEF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848600" y="5238750"/>
            <a:ext cx="95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dòng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34000" y="5715000"/>
            <a:ext cx="342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PNP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5334000" y="6286500"/>
            <a:ext cx="3429000" cy="85725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Mũi</a:t>
            </a: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Emitter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1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1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5334000" y="71437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Dòng E → C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5334000" y="77152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0899" rIns="0" bIns="-10899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en-US" sz="1950" b="1" dirty="0" spc="-2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Bật:</a:t>
            </a:r>
            <a:r>
              <a:rPr lang="en-US" sz="1950" b="1" dirty="0" spc="-3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</a:t>
            </a:r>
            <a:r>
              <a:rPr lang="en-US" sz="1950" b="1" dirty="0" spc="0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1950" b="1" dirty="0" spc="-1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950" b="1" dirty="0" spc="-2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Emitter</a:t>
            </a:r>
            <a:r>
              <a:rPr lang="en-US" sz="1950" b="1" dirty="0" spc="2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~0,6 V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9296400" y="2381250"/>
            <a:ext cx="3886200" cy="6096000"/>
          </a:xfrm>
          <a:prstGeom prst="roundRect">
            <a:avLst>
              <a:gd name="adj" fmla="val 6373"/>
            </a:avLst>
          </a:prstGeom>
          <a:solidFill>
            <a:srgbClr val="E8E0CF"/>
          </a:solidFill>
          <a:ln/>
        </p:spPr>
      </p:sp>
      <p:sp>
        <p:nvSpPr>
          <p:cNvPr id="40" name="Connector line-1793177216813-452721205"/>
          <p:cNvSpPr/>
          <p:nvPr/>
        </p:nvSpPr>
        <p:spPr>
          <a:xfrm>
            <a:off x="9877425" y="4381500"/>
            <a:ext cx="67627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41" name="Connector line-1793177216813-356010388"/>
          <p:cNvSpPr/>
          <p:nvPr/>
        </p:nvSpPr>
        <p:spPr>
          <a:xfrm>
            <a:off x="10553700" y="4029075"/>
            <a:ext cx="0" cy="7048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2" name="Connector line-1793177216813-219475396"/>
          <p:cNvSpPr/>
          <p:nvPr/>
        </p:nvSpPr>
        <p:spPr>
          <a:xfrm>
            <a:off x="10725150" y="3990975"/>
            <a:ext cx="0" cy="1905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3" name="Connector line-1793177216813-798999484"/>
          <p:cNvSpPr/>
          <p:nvPr/>
        </p:nvSpPr>
        <p:spPr>
          <a:xfrm>
            <a:off x="10725150" y="4286250"/>
            <a:ext cx="0" cy="1905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4" name="Connector line-1793177216814-749970316"/>
          <p:cNvSpPr/>
          <p:nvPr/>
        </p:nvSpPr>
        <p:spPr>
          <a:xfrm>
            <a:off x="10725150" y="4581525"/>
            <a:ext cx="0" cy="1905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10725150" y="3505200"/>
            <a:ext cx="457200" cy="581025"/>
          </a:xfrm>
          <a:custGeom>
            <a:avLst/>
            <a:gdLst/>
            <a:ahLst/>
            <a:cxnLst/>
            <a:rect l="l" t="t" r="r" b="b"/>
            <a:pathLst>
              <a:path w="457200" h="581025">
                <a:moveTo>
                  <a:pt x="0" y="581025"/>
                </a:moveTo>
                <a:lnTo>
                  <a:pt x="457200" y="581025"/>
                </a:lnTo>
                <a:lnTo>
                  <a:pt x="457200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25150" y="4676775"/>
            <a:ext cx="457200" cy="581025"/>
          </a:xfrm>
          <a:custGeom>
            <a:avLst/>
            <a:gdLst/>
            <a:ahLst/>
            <a:cxnLst/>
            <a:rect l="l" t="t" r="r" b="b"/>
            <a:pathLst>
              <a:path w="457200" h="581025">
                <a:moveTo>
                  <a:pt x="0" y="0"/>
                </a:moveTo>
                <a:lnTo>
                  <a:pt x="457200" y="0"/>
                </a:lnTo>
                <a:lnTo>
                  <a:pt x="457200" y="581025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47" name="Connector line-1793177216816-755364175"/>
          <p:cNvSpPr/>
          <p:nvPr/>
        </p:nvSpPr>
        <p:spPr>
          <a:xfrm>
            <a:off x="11182350" y="4381500"/>
            <a:ext cx="0" cy="29527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48" name="Connector line-1793177216816-383279765"/>
          <p:cNvSpPr/>
          <p:nvPr/>
        </p:nvSpPr>
        <p:spPr>
          <a:xfrm flipH="1">
            <a:off x="10725150" y="4381500"/>
            <a:ext cx="457200" cy="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410700" y="420052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50" name="Text 48"/>
          <p:cNvSpPr/>
          <p:nvPr/>
        </p:nvSpPr>
        <p:spPr>
          <a:xfrm>
            <a:off x="9410700" y="42005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1363325" y="3248025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52" name="Text 50"/>
          <p:cNvSpPr/>
          <p:nvPr/>
        </p:nvSpPr>
        <p:spPr>
          <a:xfrm>
            <a:off x="11363325" y="32385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1363325" y="5153025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54" name="Text 52"/>
          <p:cNvSpPr/>
          <p:nvPr/>
        </p:nvSpPr>
        <p:spPr>
          <a:xfrm>
            <a:off x="11363325" y="51625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</a:t>
            </a:r>
            <a:endParaRPr lang="en-US" sz="1800" dirty="0"/>
          </a:p>
        </p:txBody>
      </p:sp>
      <p:sp>
        <p:nvSpPr>
          <p:cNvPr id="55" name="Connector line-1793177216820-920452192"/>
          <p:cNvSpPr/>
          <p:nvPr/>
        </p:nvSpPr>
        <p:spPr>
          <a:xfrm>
            <a:off x="12515850" y="3619500"/>
            <a:ext cx="0" cy="1524000"/>
          </a:xfrm>
          <a:prstGeom prst="line">
            <a:avLst/>
          </a:prstGeom>
          <a:noFill/>
          <a:ln w="114300">
            <a:solidFill>
              <a:srgbClr val="2F6BEF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12039600" y="5238750"/>
            <a:ext cx="95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dòng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9525000" y="5715000"/>
            <a:ext cx="342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N-MOS</a:t>
            </a:r>
            <a:endParaRPr lang="en-US" sz="3000" dirty="0"/>
          </a:p>
        </p:txBody>
      </p:sp>
      <p:sp>
        <p:nvSpPr>
          <p:cNvPr id="58" name="Text 56"/>
          <p:cNvSpPr/>
          <p:nvPr/>
        </p:nvSpPr>
        <p:spPr>
          <a:xfrm>
            <a:off x="9525000" y="6286500"/>
            <a:ext cx="3429000" cy="85725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Mũi</a:t>
            </a: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1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1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kênh</a:t>
            </a:r>
            <a:endParaRPr lang="en-US" sz="2100" dirty="0"/>
          </a:p>
        </p:txBody>
      </p:sp>
      <p:sp>
        <p:nvSpPr>
          <p:cNvPr id="59" name="Text 57"/>
          <p:cNvSpPr/>
          <p:nvPr/>
        </p:nvSpPr>
        <p:spPr>
          <a:xfrm>
            <a:off x="9525000" y="71437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Dòng D → S</a:t>
            </a:r>
            <a:endParaRPr lang="en-US" sz="2100" dirty="0"/>
          </a:p>
        </p:txBody>
      </p:sp>
      <p:sp>
        <p:nvSpPr>
          <p:cNvPr id="60" name="Text 58"/>
          <p:cNvSpPr/>
          <p:nvPr/>
        </p:nvSpPr>
        <p:spPr>
          <a:xfrm>
            <a:off x="9525000" y="77152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0899" rIns="0" bIns="-10899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en-US" sz="1950" b="1" dirty="0" spc="-2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Bật:</a:t>
            </a:r>
            <a:r>
              <a:rPr lang="en-US" sz="1950" b="1" dirty="0" spc="-9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VGS</a:t>
            </a:r>
            <a:r>
              <a:rPr lang="en-US" sz="1950" b="1" dirty="0" spc="2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&gt;</a:t>
            </a:r>
            <a:r>
              <a:rPr lang="en-US" sz="1950" b="1" dirty="0" spc="1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Vth</a:t>
            </a:r>
            <a:r>
              <a:rPr lang="en-US" sz="1950" b="1" dirty="0" spc="4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(dương)</a:t>
            </a:r>
            <a:endParaRPr lang="en-US" sz="1950" dirty="0"/>
          </a:p>
        </p:txBody>
      </p:sp>
      <p:sp>
        <p:nvSpPr>
          <p:cNvPr id="61" name="Shape 59"/>
          <p:cNvSpPr/>
          <p:nvPr/>
        </p:nvSpPr>
        <p:spPr>
          <a:xfrm>
            <a:off x="13487400" y="2381250"/>
            <a:ext cx="3886200" cy="6096000"/>
          </a:xfrm>
          <a:prstGeom prst="roundRect">
            <a:avLst>
              <a:gd name="adj" fmla="val 6373"/>
            </a:avLst>
          </a:prstGeom>
          <a:solidFill>
            <a:srgbClr val="E8E0CF"/>
          </a:solidFill>
          <a:ln/>
        </p:spPr>
      </p:sp>
      <p:sp>
        <p:nvSpPr>
          <p:cNvPr id="62" name="Connector line-1793177216829-994798129"/>
          <p:cNvSpPr/>
          <p:nvPr/>
        </p:nvSpPr>
        <p:spPr>
          <a:xfrm>
            <a:off x="14068425" y="4381500"/>
            <a:ext cx="67627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63" name="Connector line-1793177216829-949443995"/>
          <p:cNvSpPr/>
          <p:nvPr/>
        </p:nvSpPr>
        <p:spPr>
          <a:xfrm flipV="1">
            <a:off x="14744700" y="4029075"/>
            <a:ext cx="0" cy="7048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64" name="Connector line-1793177216829-383182816"/>
          <p:cNvSpPr/>
          <p:nvPr/>
        </p:nvSpPr>
        <p:spPr>
          <a:xfrm flipV="1">
            <a:off x="14916150" y="4581525"/>
            <a:ext cx="0" cy="1905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65" name="Connector line-1793177216829-962600160"/>
          <p:cNvSpPr/>
          <p:nvPr/>
        </p:nvSpPr>
        <p:spPr>
          <a:xfrm flipV="1">
            <a:off x="14916150" y="4286250"/>
            <a:ext cx="0" cy="1905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66" name="Connector line-1793177216829-922375496"/>
          <p:cNvSpPr/>
          <p:nvPr/>
        </p:nvSpPr>
        <p:spPr>
          <a:xfrm flipV="1">
            <a:off x="14916150" y="3990975"/>
            <a:ext cx="0" cy="1905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14916150" y="4676775"/>
            <a:ext cx="457200" cy="581025"/>
          </a:xfrm>
          <a:custGeom>
            <a:avLst/>
            <a:gdLst/>
            <a:ahLst/>
            <a:cxnLst/>
            <a:rect l="l" t="t" r="r" b="b"/>
            <a:pathLst>
              <a:path w="457200" h="581025">
                <a:moveTo>
                  <a:pt x="0" y="0"/>
                </a:moveTo>
                <a:lnTo>
                  <a:pt x="457200" y="0"/>
                </a:lnTo>
                <a:lnTo>
                  <a:pt x="457200" y="581025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4916150" y="3505200"/>
            <a:ext cx="457200" cy="581025"/>
          </a:xfrm>
          <a:custGeom>
            <a:avLst/>
            <a:gdLst/>
            <a:ahLst/>
            <a:cxnLst/>
            <a:rect l="l" t="t" r="r" b="b"/>
            <a:pathLst>
              <a:path w="457200" h="581025">
                <a:moveTo>
                  <a:pt x="0" y="581025"/>
                </a:moveTo>
                <a:lnTo>
                  <a:pt x="457200" y="581025"/>
                </a:lnTo>
                <a:lnTo>
                  <a:pt x="457200" y="0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69" name="Connector line-1793177216831-845670026"/>
          <p:cNvSpPr/>
          <p:nvPr/>
        </p:nvSpPr>
        <p:spPr>
          <a:xfrm flipV="1">
            <a:off x="15373350" y="4086225"/>
            <a:ext cx="0" cy="29527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70" name="Connector line-1793177216832-769363047"/>
          <p:cNvSpPr/>
          <p:nvPr/>
        </p:nvSpPr>
        <p:spPr>
          <a:xfrm>
            <a:off x="14916150" y="4381500"/>
            <a:ext cx="457200" cy="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3601700" y="420052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72" name="Text 70"/>
          <p:cNvSpPr/>
          <p:nvPr/>
        </p:nvSpPr>
        <p:spPr>
          <a:xfrm>
            <a:off x="13601700" y="42005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554325" y="5153025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74" name="Text 72"/>
          <p:cNvSpPr/>
          <p:nvPr/>
        </p:nvSpPr>
        <p:spPr>
          <a:xfrm>
            <a:off x="15554325" y="51625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5554325" y="3248025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76" name="Text 74"/>
          <p:cNvSpPr/>
          <p:nvPr/>
        </p:nvSpPr>
        <p:spPr>
          <a:xfrm>
            <a:off x="15554325" y="32385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</a:t>
            </a:r>
            <a:endParaRPr lang="en-US" sz="1800" dirty="0"/>
          </a:p>
        </p:txBody>
      </p:sp>
      <p:sp>
        <p:nvSpPr>
          <p:cNvPr id="77" name="Connector line-1793177216838-418503569"/>
          <p:cNvSpPr/>
          <p:nvPr/>
        </p:nvSpPr>
        <p:spPr>
          <a:xfrm>
            <a:off x="16706850" y="3619500"/>
            <a:ext cx="0" cy="1524000"/>
          </a:xfrm>
          <a:prstGeom prst="line">
            <a:avLst/>
          </a:prstGeom>
          <a:noFill/>
          <a:ln w="114300">
            <a:solidFill>
              <a:srgbClr val="2F6BEF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16230600" y="5238750"/>
            <a:ext cx="95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dòng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3716000" y="5715000"/>
            <a:ext cx="342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P-MOS</a:t>
            </a:r>
            <a:endParaRPr lang="en-US" sz="3000" dirty="0"/>
          </a:p>
        </p:txBody>
      </p:sp>
      <p:sp>
        <p:nvSpPr>
          <p:cNvPr id="80" name="Text 78"/>
          <p:cNvSpPr/>
          <p:nvPr/>
        </p:nvSpPr>
        <p:spPr>
          <a:xfrm>
            <a:off x="13716000" y="6286500"/>
            <a:ext cx="3429000" cy="85725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Mũi</a:t>
            </a: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1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khỏi</a:t>
            </a:r>
            <a:r>
              <a:rPr lang="en-US" sz="21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kênh</a:t>
            </a:r>
            <a:endParaRPr lang="en-US" sz="2100" dirty="0"/>
          </a:p>
        </p:txBody>
      </p:sp>
      <p:sp>
        <p:nvSpPr>
          <p:cNvPr id="81" name="Text 79"/>
          <p:cNvSpPr/>
          <p:nvPr/>
        </p:nvSpPr>
        <p:spPr>
          <a:xfrm>
            <a:off x="13716000" y="71437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F6BE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Dòng S → D</a:t>
            </a:r>
            <a:endParaRPr lang="en-US" sz="2100" dirty="0"/>
          </a:p>
        </p:txBody>
      </p:sp>
      <p:sp>
        <p:nvSpPr>
          <p:cNvPr id="82" name="Text 80"/>
          <p:cNvSpPr/>
          <p:nvPr/>
        </p:nvSpPr>
        <p:spPr>
          <a:xfrm>
            <a:off x="13716000" y="77152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0899" rIns="0" bIns="-10899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en-US" sz="1950" b="1" dirty="0" spc="-2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Bật:</a:t>
            </a:r>
            <a:r>
              <a:rPr lang="en-US" sz="1950" b="1" dirty="0" spc="-9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VGS</a:t>
            </a:r>
            <a:r>
              <a:rPr lang="en-US" sz="1950" b="1" dirty="0" spc="2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âm,</a:t>
            </a:r>
            <a:r>
              <a:rPr lang="en-US" sz="1950" b="1" dirty="0" spc="12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1950" b="1" dirty="0" spc="0" kern="0">
                <a:solidFill>
                  <a:srgbClr val="DD4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−|Vth|</a:t>
            </a:r>
            <a:endParaRPr lang="en-US" sz="1950" dirty="0"/>
          </a:p>
        </p:txBody>
      </p:sp>
      <p:sp>
        <p:nvSpPr>
          <p:cNvPr id="83" name="Text 8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 [S5]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3895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8" name="Shape 9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14/18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4" name="Moda image moda-export-watermark-faa6ce02-3cd5-4828-938d-a89e3ede4f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transistor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vạn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57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(thang</a:t>
            </a:r>
            <a:r>
              <a:rPr lang="en-US" sz="57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diode)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8191500" cy="6096000"/>
          </a:xfrm>
          <a:prstGeom prst="roundRect">
            <a:avLst>
              <a:gd name="adj" fmla="val 437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8250" y="2714625"/>
            <a:ext cx="3143250" cy="2476500"/>
          </a:xfrm>
          <a:prstGeom prst="roundRect">
            <a:avLst>
              <a:gd name="adj" fmla="val 10769"/>
            </a:avLst>
          </a:prstGeom>
          <a:solidFill>
            <a:srgbClr val="2B2F3A"/>
          </a:solidFill>
          <a:ln/>
        </p:spPr>
      </p:sp>
      <p:sp>
        <p:nvSpPr>
          <p:cNvPr id="5" name="Shape 3"/>
          <p:cNvSpPr/>
          <p:nvPr/>
        </p:nvSpPr>
        <p:spPr>
          <a:xfrm>
            <a:off x="1524000" y="2971800"/>
            <a:ext cx="2571750" cy="914400"/>
          </a:xfrm>
          <a:prstGeom prst="roundRect">
            <a:avLst>
              <a:gd name="adj" fmla="val 12500"/>
            </a:avLst>
          </a:prstGeom>
          <a:solidFill>
            <a:srgbClr val="C9D8B8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971800"/>
            <a:ext cx="2571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B2A1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sụt</a:t>
            </a:r>
            <a:r>
              <a:rPr lang="en-US" sz="2250" dirty="0" spc="6" kern="0">
                <a:solidFill>
                  <a:srgbClr val="1B2A1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áp</a:t>
            </a:r>
            <a:r>
              <a:rPr lang="en-US" sz="2250" dirty="0" spc="4" kern="0">
                <a:solidFill>
                  <a:srgbClr val="1B2A1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thuận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2428875" y="4171950"/>
            <a:ext cx="762000" cy="762000"/>
          </a:xfrm>
          <a:prstGeom prst="ellipse">
            <a:avLst/>
          </a:prstGeom>
          <a:solidFill>
            <a:srgbClr val="555B6A"/>
          </a:solidFill>
          <a:ln/>
        </p:spPr>
      </p:sp>
      <p:sp>
        <p:nvSpPr>
          <p:cNvPr id="8" name="Text 6"/>
          <p:cNvSpPr/>
          <p:nvPr/>
        </p:nvSpPr>
        <p:spPr>
          <a:xfrm>
            <a:off x="2428875" y="436245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diode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771650" y="5057775"/>
            <a:ext cx="266700" cy="2667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Shape 8"/>
          <p:cNvSpPr/>
          <p:nvPr/>
        </p:nvSpPr>
        <p:spPr>
          <a:xfrm>
            <a:off x="3581400" y="5057775"/>
            <a:ext cx="266700" cy="266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1" name="Connector line-1793181197481-812583740"/>
          <p:cNvSpPr/>
          <p:nvPr/>
        </p:nvSpPr>
        <p:spPr>
          <a:xfrm>
            <a:off x="6096000" y="4857750"/>
            <a:ext cx="0" cy="952500"/>
          </a:xfrm>
          <a:prstGeom prst="line">
            <a:avLst/>
          </a:prstGeom>
          <a:noFill/>
          <a:ln w="952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2" name="Connector line-1793181197482-544480518"/>
          <p:cNvSpPr/>
          <p:nvPr/>
        </p:nvSpPr>
        <p:spPr>
          <a:xfrm>
            <a:off x="5000625" y="5334000"/>
            <a:ext cx="109537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096000" y="4143375"/>
            <a:ext cx="619125" cy="981075"/>
          </a:xfrm>
          <a:custGeom>
            <a:avLst/>
            <a:gdLst/>
            <a:ahLst/>
            <a:cxnLst/>
            <a:rect l="l" t="t" r="r" b="b"/>
            <a:pathLst>
              <a:path w="619125" h="981075">
                <a:moveTo>
                  <a:pt x="0" y="981075"/>
                </a:moveTo>
                <a:lnTo>
                  <a:pt x="619125" y="504825"/>
                </a:lnTo>
                <a:lnTo>
                  <a:pt x="619125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14" name="Connector line-1793181197490-487018390"/>
          <p:cNvSpPr/>
          <p:nvPr/>
        </p:nvSpPr>
        <p:spPr>
          <a:xfrm>
            <a:off x="6715125" y="6019800"/>
            <a:ext cx="0" cy="50482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15" name="Connector line-1793181197491-464299039"/>
          <p:cNvSpPr/>
          <p:nvPr/>
        </p:nvSpPr>
        <p:spPr>
          <a:xfrm>
            <a:off x="6096000" y="5543550"/>
            <a:ext cx="619125" cy="47625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33900" y="5153025"/>
            <a:ext cx="361950" cy="3619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17" name="Text 15"/>
          <p:cNvSpPr/>
          <p:nvPr/>
        </p:nvSpPr>
        <p:spPr>
          <a:xfrm>
            <a:off x="4533900" y="51530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96100" y="3886200"/>
            <a:ext cx="361950" cy="361950"/>
          </a:xfrm>
          <a:prstGeom prst="ellipse">
            <a:avLst/>
          </a:prstGeom>
          <a:solidFill>
            <a:srgbClr val="2F6BEF"/>
          </a:solidFill>
          <a:ln/>
        </p:spPr>
      </p:sp>
      <p:sp>
        <p:nvSpPr>
          <p:cNvPr id="19" name="Text 17"/>
          <p:cNvSpPr/>
          <p:nvPr/>
        </p:nvSpPr>
        <p:spPr>
          <a:xfrm>
            <a:off x="6896100" y="38862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96100" y="6419850"/>
            <a:ext cx="361950" cy="361950"/>
          </a:xfrm>
          <a:prstGeom prst="ellipse">
            <a:avLst/>
          </a:prstGeom>
          <a:solidFill>
            <a:srgbClr val="0B8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896100" y="64198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905000" y="5219700"/>
            <a:ext cx="2428875" cy="876300"/>
          </a:xfrm>
          <a:custGeom>
            <a:avLst/>
            <a:gdLst/>
            <a:ahLst/>
            <a:cxnLst/>
            <a:rect l="l" t="t" r="r" b="b"/>
            <a:pathLst>
              <a:path w="2428875" h="876300">
                <a:moveTo>
                  <a:pt x="0" y="0"/>
                </a:moveTo>
                <a:cubicBezTo>
                  <a:pt x="0" y="876300"/>
                  <a:pt x="1666875" y="114300"/>
                  <a:pt x="2428875" y="114300"/>
                </a:cubicBezTo>
              </a:path>
            </a:pathLst>
          </a:custGeom>
          <a:ln w="66675">
            <a:solidFill>
              <a:srgbClr val="D32F2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38625" y="52387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4" name="Shape 22"/>
          <p:cNvSpPr/>
          <p:nvPr/>
        </p:nvSpPr>
        <p:spPr>
          <a:xfrm>
            <a:off x="3714750" y="3857625"/>
            <a:ext cx="3190875" cy="1362075"/>
          </a:xfrm>
          <a:custGeom>
            <a:avLst/>
            <a:gdLst/>
            <a:ahLst/>
            <a:cxnLst/>
            <a:rect l="l" t="t" r="r" b="b"/>
            <a:pathLst>
              <a:path w="3190875" h="1362075">
                <a:moveTo>
                  <a:pt x="0" y="1362075"/>
                </a:moveTo>
                <a:cubicBezTo>
                  <a:pt x="762000" y="142875"/>
                  <a:pt x="3190875" y="0"/>
                  <a:pt x="2809875" y="666750"/>
                </a:cubicBezTo>
              </a:path>
            </a:pathLst>
          </a:custGeom>
          <a:ln w="66675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9375" y="4429125"/>
            <a:ext cx="190500" cy="190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1428750" y="7524750"/>
            <a:ext cx="7620000" cy="762000"/>
          </a:xfrm>
          <a:prstGeom prst="rect">
            <a:avLst/>
          </a:prstGeom>
          <a:noFill/>
          <a:ln/>
        </p:spPr>
        <p:txBody>
          <a:bodyPr wrap="square" lIns="0" tIns="10899" rIns="0" bIns="-10899" rtlCol="0" anchor="ctr"/>
          <a:lstStyle/>
          <a:p>
            <a:pPr algn="ctr" indent="0" marL="0">
              <a:lnSpc>
                <a:spcPts val="2242"/>
              </a:lnSpc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Que</a:t>
            </a:r>
            <a:r>
              <a:rPr lang="en-US" sz="1950" dirty="0" spc="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đỏ</a:t>
            </a:r>
            <a:r>
              <a:rPr lang="en-US" sz="19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(+) ở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Base;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que</a:t>
            </a:r>
            <a:r>
              <a:rPr lang="en-US" sz="195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đen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(−)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1950" dirty="0" spc="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95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Collector</a:t>
            </a:r>
            <a:r>
              <a:rPr lang="en-US" sz="1950" dirty="0" spc="-1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1950" dirty="0" spc="-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Emitter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525000" y="2381250"/>
            <a:ext cx="7848600" cy="1409700"/>
          </a:xfrm>
          <a:prstGeom prst="roundRect">
            <a:avLst>
              <a:gd name="adj" fmla="val 14865"/>
            </a:avLst>
          </a:prstGeom>
          <a:solidFill>
            <a:srgbClr val="E8E0CF"/>
          </a:solidFill>
          <a:ln/>
        </p:spPr>
      </p:sp>
      <p:sp>
        <p:nvSpPr>
          <p:cNvPr id="28" name="Shape 26"/>
          <p:cNvSpPr/>
          <p:nvPr/>
        </p:nvSpPr>
        <p:spPr>
          <a:xfrm>
            <a:off x="9525000" y="2381250"/>
            <a:ext cx="114300" cy="14097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9" name="Text 27"/>
          <p:cNvSpPr/>
          <p:nvPr/>
        </p:nvSpPr>
        <p:spPr>
          <a:xfrm>
            <a:off x="9906000" y="2381250"/>
            <a:ext cx="8001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10763250" y="2381250"/>
            <a:ext cx="63817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NPN: que</a:t>
            </a:r>
            <a:r>
              <a:rPr lang="en-US" sz="22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đỏ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Base,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que</a:t>
            </a:r>
            <a:r>
              <a:rPr lang="en-US" sz="22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đen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Collector</a:t>
            </a:r>
            <a:r>
              <a:rPr lang="en-US" sz="22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Emitter: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 sụt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áp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thuận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525000" y="3924300"/>
            <a:ext cx="7848600" cy="1409700"/>
          </a:xfrm>
          <a:prstGeom prst="roundRect">
            <a:avLst>
              <a:gd name="adj" fmla="val 14865"/>
            </a:avLst>
          </a:prstGeom>
          <a:solidFill>
            <a:srgbClr val="E8E0CF"/>
          </a:solidFill>
          <a:ln/>
        </p:spPr>
      </p:sp>
      <p:sp>
        <p:nvSpPr>
          <p:cNvPr id="32" name="Shape 30"/>
          <p:cNvSpPr/>
          <p:nvPr/>
        </p:nvSpPr>
        <p:spPr>
          <a:xfrm>
            <a:off x="9525000" y="3924300"/>
            <a:ext cx="114300" cy="14097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33" name="Text 31"/>
          <p:cNvSpPr/>
          <p:nvPr/>
        </p:nvSpPr>
        <p:spPr>
          <a:xfrm>
            <a:off x="9906000" y="3924300"/>
            <a:ext cx="8001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10763250" y="3924300"/>
            <a:ext cx="63817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Đảo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que,</a:t>
            </a:r>
            <a:r>
              <a:rPr lang="en-US" sz="22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Collector</a:t>
            </a:r>
            <a:r>
              <a:rPr lang="en-US" sz="22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Emitter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chiều: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hở (OL)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525000" y="5467350"/>
            <a:ext cx="7848600" cy="1409700"/>
          </a:xfrm>
          <a:prstGeom prst="roundRect">
            <a:avLst>
              <a:gd name="adj" fmla="val 14865"/>
            </a:avLst>
          </a:prstGeom>
          <a:solidFill>
            <a:srgbClr val="E8E0CF"/>
          </a:solidFill>
          <a:ln/>
        </p:spPr>
      </p:sp>
      <p:sp>
        <p:nvSpPr>
          <p:cNvPr id="36" name="Shape 34"/>
          <p:cNvSpPr/>
          <p:nvPr/>
        </p:nvSpPr>
        <p:spPr>
          <a:xfrm>
            <a:off x="9525000" y="5467350"/>
            <a:ext cx="114300" cy="14097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37" name="Text 35"/>
          <p:cNvSpPr/>
          <p:nvPr/>
        </p:nvSpPr>
        <p:spPr>
          <a:xfrm>
            <a:off x="9906000" y="5467350"/>
            <a:ext cx="8001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38" name="Text 36"/>
          <p:cNvSpPr/>
          <p:nvPr/>
        </p:nvSpPr>
        <p:spPr>
          <a:xfrm>
            <a:off x="10763250" y="5467350"/>
            <a:ext cx="63817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PNP:</a:t>
            </a:r>
            <a:r>
              <a:rPr lang="en-US" sz="225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đảo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lại, que</a:t>
            </a:r>
            <a:r>
              <a:rPr lang="en-US" sz="22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đen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Base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mối nối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9525000" y="7010400"/>
            <a:ext cx="7848600" cy="1409700"/>
          </a:xfrm>
          <a:prstGeom prst="roundRect">
            <a:avLst>
              <a:gd name="adj" fmla="val 14865"/>
            </a:avLst>
          </a:prstGeom>
          <a:solidFill>
            <a:srgbClr val="E8E0CF"/>
          </a:solidFill>
          <a:ln/>
        </p:spPr>
      </p:sp>
      <p:sp>
        <p:nvSpPr>
          <p:cNvPr id="40" name="Shape 38"/>
          <p:cNvSpPr/>
          <p:nvPr/>
        </p:nvSpPr>
        <p:spPr>
          <a:xfrm>
            <a:off x="9525000" y="7010400"/>
            <a:ext cx="114300" cy="14097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41" name="Text 39"/>
          <p:cNvSpPr/>
          <p:nvPr/>
        </p:nvSpPr>
        <p:spPr>
          <a:xfrm>
            <a:off x="9906000" y="7010400"/>
            <a:ext cx="8001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42" name="Text 40"/>
          <p:cNvSpPr/>
          <p:nvPr/>
        </p:nvSpPr>
        <p:spPr>
          <a:xfrm>
            <a:off x="10763250" y="7010400"/>
            <a:ext cx="63817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MOSFET:</a:t>
            </a:r>
            <a:r>
              <a:rPr lang="en-US" sz="22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OL;</a:t>
            </a:r>
            <a:r>
              <a:rPr lang="en-US" sz="22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Drain–Source</a:t>
            </a:r>
            <a:r>
              <a:rPr lang="en-US" sz="22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diode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thân;</a:t>
            </a:r>
            <a:r>
              <a:rPr lang="en-US" sz="22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xả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tĩnh</a:t>
            </a:r>
            <a:r>
              <a:rPr lang="en-US" sz="22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22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2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[S5]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124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9" name="Shape 5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15/18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292e1ce5-7190-4420-bafe-8a1ccabdc0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57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khiển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</a:t>
            </a: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tô (ECU)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4476750" cy="447675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3177576412-3472421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514600"/>
            <a:ext cx="4210050" cy="42100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7048500"/>
            <a:ext cx="447675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/>
        </p:spPr>
      </p:sp>
      <p:sp>
        <p:nvSpPr>
          <p:cNvPr id="6" name="Text 3"/>
          <p:cNvSpPr/>
          <p:nvPr/>
        </p:nvSpPr>
        <p:spPr>
          <a:xfrm>
            <a:off x="1104900" y="7048500"/>
            <a:ext cx="4095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Bo</a:t>
            </a:r>
            <a:r>
              <a:rPr lang="en-US" sz="18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 bộ</a:t>
            </a:r>
            <a:r>
              <a:rPr lang="en-US" sz="18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khiển</a:t>
            </a:r>
            <a:r>
              <a:rPr lang="en-US" sz="18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Renault:</a:t>
            </a:r>
            <a:r>
              <a:rPr lang="en-US" sz="18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transistor</a:t>
            </a:r>
            <a:r>
              <a:rPr lang="en-US" sz="18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NPN</a:t>
            </a:r>
            <a:r>
              <a:rPr lang="en-US" sz="18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BCP56-16</a:t>
            </a:r>
            <a:r>
              <a:rPr lang="en-US" sz="18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18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SOT-223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77000" y="2381250"/>
            <a:ext cx="4000500" cy="600075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Connector line-1793177576416-101120850"/>
          <p:cNvSpPr/>
          <p:nvPr/>
        </p:nvSpPr>
        <p:spPr>
          <a:xfrm>
            <a:off x="7934325" y="4095750"/>
            <a:ext cx="58102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9" name="Connector line-1793177576417-774434661"/>
          <p:cNvSpPr/>
          <p:nvPr/>
        </p:nvSpPr>
        <p:spPr>
          <a:xfrm flipV="1">
            <a:off x="8515350" y="3790950"/>
            <a:ext cx="0" cy="6096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0" name="Connector line-1793177576417-693117789"/>
          <p:cNvSpPr/>
          <p:nvPr/>
        </p:nvSpPr>
        <p:spPr>
          <a:xfrm flipV="1">
            <a:off x="8667750" y="4267200"/>
            <a:ext cx="0" cy="1714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1" name="Connector line-1793177576417-113932182"/>
          <p:cNvSpPr/>
          <p:nvPr/>
        </p:nvSpPr>
        <p:spPr>
          <a:xfrm flipV="1">
            <a:off x="8667750" y="4010025"/>
            <a:ext cx="0" cy="1714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2" name="Connector line-1793177576417-170272532"/>
          <p:cNvSpPr/>
          <p:nvPr/>
        </p:nvSpPr>
        <p:spPr>
          <a:xfrm flipV="1">
            <a:off x="8667750" y="3752850"/>
            <a:ext cx="0" cy="1714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8667750" y="4352925"/>
            <a:ext cx="400050" cy="504825"/>
          </a:xfrm>
          <a:custGeom>
            <a:avLst/>
            <a:gdLst/>
            <a:ahLst/>
            <a:cxnLst/>
            <a:rect l="l" t="t" r="r" b="b"/>
            <a:pathLst>
              <a:path w="400050" h="504825">
                <a:moveTo>
                  <a:pt x="0" y="0"/>
                </a:moveTo>
                <a:lnTo>
                  <a:pt x="400050" y="0"/>
                </a:lnTo>
                <a:lnTo>
                  <a:pt x="400050" y="504825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67750" y="3333750"/>
            <a:ext cx="400050" cy="504825"/>
          </a:xfrm>
          <a:custGeom>
            <a:avLst/>
            <a:gdLst/>
            <a:ahLst/>
            <a:cxnLst/>
            <a:rect l="l" t="t" r="r" b="b"/>
            <a:pathLst>
              <a:path w="400050" h="504825">
                <a:moveTo>
                  <a:pt x="0" y="504825"/>
                </a:moveTo>
                <a:lnTo>
                  <a:pt x="400050" y="504825"/>
                </a:lnTo>
                <a:lnTo>
                  <a:pt x="400050" y="0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15" name="Connector line-1793177576421-802497267"/>
          <p:cNvSpPr/>
          <p:nvPr/>
        </p:nvSpPr>
        <p:spPr>
          <a:xfrm flipV="1">
            <a:off x="9067800" y="3838575"/>
            <a:ext cx="0" cy="25717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16" name="Connector line-1793177576421-421035199"/>
          <p:cNvSpPr/>
          <p:nvPr/>
        </p:nvSpPr>
        <p:spPr>
          <a:xfrm>
            <a:off x="8667750" y="4095750"/>
            <a:ext cx="400050" cy="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3177576421-457813361"/>
          <p:cNvSpPr/>
          <p:nvPr/>
        </p:nvSpPr>
        <p:spPr>
          <a:xfrm>
            <a:off x="7934325" y="6667500"/>
            <a:ext cx="58102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18" name="Connector line-1793177576421-161625172"/>
          <p:cNvSpPr/>
          <p:nvPr/>
        </p:nvSpPr>
        <p:spPr>
          <a:xfrm>
            <a:off x="8515350" y="6362700"/>
            <a:ext cx="0" cy="60960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9" name="Connector line-1793177576422-283705959"/>
          <p:cNvSpPr/>
          <p:nvPr/>
        </p:nvSpPr>
        <p:spPr>
          <a:xfrm>
            <a:off x="8667750" y="6324600"/>
            <a:ext cx="0" cy="1714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0" name="Connector line-1793177576422-402279857"/>
          <p:cNvSpPr/>
          <p:nvPr/>
        </p:nvSpPr>
        <p:spPr>
          <a:xfrm>
            <a:off x="8667750" y="6581775"/>
            <a:ext cx="0" cy="1714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1" name="Connector line-1793177576422-428848417"/>
          <p:cNvSpPr/>
          <p:nvPr/>
        </p:nvSpPr>
        <p:spPr>
          <a:xfrm>
            <a:off x="8667750" y="6838950"/>
            <a:ext cx="0" cy="171450"/>
          </a:xfrm>
          <a:prstGeom prst="line">
            <a:avLst/>
          </a:prstGeom>
          <a:noFill/>
          <a:ln w="857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8667750" y="5905500"/>
            <a:ext cx="400050" cy="504825"/>
          </a:xfrm>
          <a:custGeom>
            <a:avLst/>
            <a:gdLst/>
            <a:ahLst/>
            <a:cxnLst/>
            <a:rect l="l" t="t" r="r" b="b"/>
            <a:pathLst>
              <a:path w="400050" h="504825">
                <a:moveTo>
                  <a:pt x="0" y="504825"/>
                </a:moveTo>
                <a:lnTo>
                  <a:pt x="400050" y="504825"/>
                </a:lnTo>
                <a:lnTo>
                  <a:pt x="400050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67750" y="6924675"/>
            <a:ext cx="400050" cy="504825"/>
          </a:xfrm>
          <a:custGeom>
            <a:avLst/>
            <a:gdLst/>
            <a:ahLst/>
            <a:cxnLst/>
            <a:rect l="l" t="t" r="r" b="b"/>
            <a:pathLst>
              <a:path w="400050" h="504825">
                <a:moveTo>
                  <a:pt x="0" y="0"/>
                </a:moveTo>
                <a:lnTo>
                  <a:pt x="400050" y="0"/>
                </a:lnTo>
                <a:lnTo>
                  <a:pt x="400050" y="504825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24" name="Connector line-1793177576424-813179645"/>
          <p:cNvSpPr/>
          <p:nvPr/>
        </p:nvSpPr>
        <p:spPr>
          <a:xfrm>
            <a:off x="9067800" y="6667500"/>
            <a:ext cx="0" cy="25717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25" name="Connector line-1793177576424-364052088"/>
          <p:cNvSpPr/>
          <p:nvPr/>
        </p:nvSpPr>
        <p:spPr>
          <a:xfrm flipH="1">
            <a:off x="8667750" y="6667500"/>
            <a:ext cx="400050" cy="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26" name="Connector line-1793177576424-830534499"/>
          <p:cNvSpPr/>
          <p:nvPr/>
        </p:nvSpPr>
        <p:spPr>
          <a:xfrm flipV="1">
            <a:off x="9067800" y="3048000"/>
            <a:ext cx="0" cy="2857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7" name="Connector line-1793177576424-904795459"/>
          <p:cNvSpPr/>
          <p:nvPr/>
        </p:nvSpPr>
        <p:spPr>
          <a:xfrm>
            <a:off x="8496300" y="3048000"/>
            <a:ext cx="1143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8" name="Text 25"/>
          <p:cNvSpPr/>
          <p:nvPr/>
        </p:nvSpPr>
        <p:spPr>
          <a:xfrm>
            <a:off x="7639050" y="2838450"/>
            <a:ext cx="76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+V</a:t>
            </a:r>
            <a:endParaRPr lang="en-US" sz="1950" dirty="0"/>
          </a:p>
        </p:txBody>
      </p:sp>
      <p:sp>
        <p:nvSpPr>
          <p:cNvPr id="29" name="Connector line-1793177576426-475804401"/>
          <p:cNvSpPr/>
          <p:nvPr/>
        </p:nvSpPr>
        <p:spPr>
          <a:xfrm>
            <a:off x="9067800" y="7429500"/>
            <a:ext cx="0" cy="2286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0" name="Connector line-1793177576426-289492394"/>
          <p:cNvSpPr/>
          <p:nvPr/>
        </p:nvSpPr>
        <p:spPr>
          <a:xfrm>
            <a:off x="9067800" y="7658100"/>
            <a:ext cx="0" cy="952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1" name="Connector line-1793177576426-439106376"/>
          <p:cNvSpPr/>
          <p:nvPr/>
        </p:nvSpPr>
        <p:spPr>
          <a:xfrm>
            <a:off x="8743950" y="7753350"/>
            <a:ext cx="6477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2" name="Connector line-1793177576426-557309354"/>
          <p:cNvSpPr/>
          <p:nvPr/>
        </p:nvSpPr>
        <p:spPr>
          <a:xfrm>
            <a:off x="8829675" y="7886700"/>
            <a:ext cx="4762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3" name="Connector line-1793177576426-365417318"/>
          <p:cNvSpPr/>
          <p:nvPr/>
        </p:nvSpPr>
        <p:spPr>
          <a:xfrm>
            <a:off x="8915400" y="8020050"/>
            <a:ext cx="3048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4" name="Shape 31"/>
          <p:cNvSpPr/>
          <p:nvPr/>
        </p:nvSpPr>
        <p:spPr>
          <a:xfrm>
            <a:off x="9067800" y="4857750"/>
            <a:ext cx="9144" cy="1047750"/>
          </a:xfrm>
          <a:custGeom>
            <a:avLst/>
            <a:gdLst/>
            <a:ahLst/>
            <a:cxnLst/>
            <a:rect l="l" t="t" r="r" b="b"/>
            <a:pathLst>
              <a:path w="9144" h="1047750">
                <a:moveTo>
                  <a:pt x="0" y="0"/>
                </a:moveTo>
                <a:lnTo>
                  <a:pt x="0" y="1047750"/>
                </a:lnTo>
              </a:path>
            </a:pathLst>
          </a:custGeom>
          <a:ln w="57150">
            <a:solidFill>
              <a:srgbClr val="14161C"/>
            </a:solidFill>
            <a:prstDash val="solid"/>
          </a:ln>
        </p:spPr>
      </p:sp>
      <p:sp>
        <p:nvSpPr>
          <p:cNvPr id="35" name="Connector line-1793177576427-983817442"/>
          <p:cNvSpPr/>
          <p:nvPr/>
        </p:nvSpPr>
        <p:spPr>
          <a:xfrm>
            <a:off x="9067800" y="5381625"/>
            <a:ext cx="762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6" name="Shape 33"/>
          <p:cNvSpPr/>
          <p:nvPr/>
        </p:nvSpPr>
        <p:spPr>
          <a:xfrm>
            <a:off x="8982075" y="5295900"/>
            <a:ext cx="171450" cy="1714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Text 34"/>
          <p:cNvSpPr/>
          <p:nvPr/>
        </p:nvSpPr>
        <p:spPr>
          <a:xfrm>
            <a:off x="9925050" y="5172075"/>
            <a:ext cx="114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Vra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7553325" y="4095750"/>
            <a:ext cx="381000" cy="2571750"/>
          </a:xfrm>
          <a:custGeom>
            <a:avLst/>
            <a:gdLst/>
            <a:ahLst/>
            <a:cxnLst/>
            <a:rect l="l" t="t" r="r" b="b"/>
            <a:pathLst>
              <a:path w="381000" h="2571750">
                <a:moveTo>
                  <a:pt x="381000" y="0"/>
                </a:moveTo>
                <a:lnTo>
                  <a:pt x="0" y="0"/>
                </a:lnTo>
                <a:lnTo>
                  <a:pt x="0" y="2571750"/>
                </a:lnTo>
                <a:lnTo>
                  <a:pt x="381000" y="2571750"/>
                </a:lnTo>
              </a:path>
            </a:pathLst>
          </a:custGeom>
          <a:ln w="57150">
            <a:solidFill>
              <a:srgbClr val="DD4B0E"/>
            </a:solidFill>
            <a:prstDash val="solid"/>
          </a:ln>
        </p:spPr>
      </p:sp>
      <p:sp>
        <p:nvSpPr>
          <p:cNvPr id="39" name="Connector line-1793177576430-936973805"/>
          <p:cNvSpPr/>
          <p:nvPr/>
        </p:nvSpPr>
        <p:spPr>
          <a:xfrm flipH="1">
            <a:off x="6981825" y="5381625"/>
            <a:ext cx="571500" cy="0"/>
          </a:xfrm>
          <a:prstGeom prst="line">
            <a:avLst/>
          </a:prstGeom>
          <a:noFill/>
          <a:ln w="57150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40" name="Shape 37"/>
          <p:cNvSpPr/>
          <p:nvPr/>
        </p:nvSpPr>
        <p:spPr>
          <a:xfrm>
            <a:off x="7467600" y="5295900"/>
            <a:ext cx="171450" cy="171450"/>
          </a:xfrm>
          <a:prstGeom prst="ellipse">
            <a:avLst/>
          </a:prstGeom>
          <a:solidFill>
            <a:srgbClr val="DD4B0E"/>
          </a:solidFill>
          <a:ln/>
        </p:spPr>
      </p:sp>
      <p:sp>
        <p:nvSpPr>
          <p:cNvPr id="41" name="Text 38"/>
          <p:cNvSpPr/>
          <p:nvPr/>
        </p:nvSpPr>
        <p:spPr>
          <a:xfrm>
            <a:off x="6219825" y="5172075"/>
            <a:ext cx="666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dirty="0" spc="-34" kern="0">
                <a:solidFill>
                  <a:srgbClr val="DD4B0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Vào</a:t>
            </a:r>
            <a:endParaRPr lang="en-US" sz="1950" dirty="0"/>
          </a:p>
        </p:txBody>
      </p:sp>
      <p:sp>
        <p:nvSpPr>
          <p:cNvPr id="42" name="Text 39"/>
          <p:cNvSpPr/>
          <p:nvPr/>
        </p:nvSpPr>
        <p:spPr>
          <a:xfrm>
            <a:off x="6572250" y="78676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PMOS</a:t>
            </a:r>
            <a:r>
              <a:rPr lang="en-US" sz="1800" dirty="0" spc="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800" dirty="0" spc="-1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180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</a:t>
            </a:r>
            <a:r>
              <a:rPr lang="en-US" sz="180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NMOS ở</a:t>
            </a:r>
            <a:r>
              <a:rPr lang="en-US" sz="1800" dirty="0" spc="1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10858500" y="2381250"/>
            <a:ext cx="65151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44" name="Shape 41"/>
          <p:cNvSpPr/>
          <p:nvPr/>
        </p:nvSpPr>
        <p:spPr>
          <a:xfrm>
            <a:off x="10858500" y="23812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45" name="Text 42"/>
          <p:cNvSpPr/>
          <p:nvPr/>
        </p:nvSpPr>
        <p:spPr>
          <a:xfrm>
            <a:off x="11201400" y="2476500"/>
            <a:ext cx="59817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7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Công</a:t>
            </a:r>
            <a:r>
              <a:rPr lang="en-US" sz="2187" dirty="0" spc="3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tắc</a:t>
            </a:r>
            <a:endParaRPr lang="en-US" sz="2187" dirty="0"/>
          </a:p>
        </p:txBody>
      </p:sp>
      <p:sp>
        <p:nvSpPr>
          <p:cNvPr id="46" name="Text 43"/>
          <p:cNvSpPr/>
          <p:nvPr/>
        </p:nvSpPr>
        <p:spPr>
          <a:xfrm>
            <a:off x="11201400" y="2714625"/>
            <a:ext cx="5981700" cy="466725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LED,</a:t>
            </a:r>
            <a:r>
              <a:rPr lang="en-US" sz="22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relay,</a:t>
            </a:r>
            <a:r>
              <a:rPr lang="en-US" sz="22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van;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khuếch</a:t>
            </a:r>
            <a:r>
              <a:rPr lang="en-US" sz="22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đại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endParaRPr lang="en-US" sz="2250" dirty="0"/>
          </a:p>
        </p:txBody>
      </p:sp>
      <p:sp>
        <p:nvSpPr>
          <p:cNvPr id="47" name="Shape 44"/>
          <p:cNvSpPr/>
          <p:nvPr/>
        </p:nvSpPr>
        <p:spPr>
          <a:xfrm>
            <a:off x="10858500" y="3352800"/>
            <a:ext cx="65151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48" name="Shape 45"/>
          <p:cNvSpPr/>
          <p:nvPr/>
        </p:nvSpPr>
        <p:spPr>
          <a:xfrm>
            <a:off x="10858500" y="33528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49" name="Text 46"/>
          <p:cNvSpPr/>
          <p:nvPr/>
        </p:nvSpPr>
        <p:spPr>
          <a:xfrm>
            <a:off x="11201400" y="3352800"/>
            <a:ext cx="59817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CMOS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NMOS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PMOS;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endParaRPr lang="en-US" sz="2250" dirty="0"/>
          </a:p>
        </p:txBody>
      </p:sp>
      <p:sp>
        <p:nvSpPr>
          <p:cNvPr id="50" name="Shape 47"/>
          <p:cNvSpPr/>
          <p:nvPr/>
        </p:nvSpPr>
        <p:spPr>
          <a:xfrm>
            <a:off x="10858500" y="4324350"/>
            <a:ext cx="65151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51" name="Shape 48"/>
          <p:cNvSpPr/>
          <p:nvPr/>
        </p:nvSpPr>
        <p:spPr>
          <a:xfrm>
            <a:off x="10858500" y="43243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52" name="Text 49"/>
          <p:cNvSpPr/>
          <p:nvPr/>
        </p:nvSpPr>
        <p:spPr>
          <a:xfrm>
            <a:off x="11201400" y="4419600"/>
            <a:ext cx="59817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6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ECU</a:t>
            </a:r>
            <a:endParaRPr lang="en-US" sz="2187" dirty="0"/>
          </a:p>
        </p:txBody>
      </p:sp>
      <p:sp>
        <p:nvSpPr>
          <p:cNvPr id="53" name="Text 50"/>
          <p:cNvSpPr/>
          <p:nvPr/>
        </p:nvSpPr>
        <p:spPr>
          <a:xfrm>
            <a:off x="11201400" y="4657725"/>
            <a:ext cx="5981700" cy="466725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mạch</a:t>
            </a:r>
            <a:r>
              <a:rPr lang="en-US" sz="22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khiển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kim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phun,</a:t>
            </a:r>
            <a:r>
              <a:rPr lang="en-US" sz="22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relay,</a:t>
            </a:r>
            <a:r>
              <a:rPr lang="en-US" sz="22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van</a:t>
            </a:r>
            <a:endParaRPr lang="en-US" sz="2250" dirty="0"/>
          </a:p>
        </p:txBody>
      </p:sp>
      <p:sp>
        <p:nvSpPr>
          <p:cNvPr id="54" name="Shape 51"/>
          <p:cNvSpPr/>
          <p:nvPr/>
        </p:nvSpPr>
        <p:spPr>
          <a:xfrm>
            <a:off x="10858500" y="5295900"/>
            <a:ext cx="6515100" cy="3086100"/>
          </a:xfrm>
          <a:prstGeom prst="roundRect">
            <a:avLst>
              <a:gd name="adj" fmla="val 6790"/>
            </a:avLst>
          </a:prstGeom>
          <a:solidFill>
            <a:srgbClr val="E8E0CF"/>
          </a:solidFill>
          <a:ln/>
        </p:spPr>
      </p:sp>
      <p:sp>
        <p:nvSpPr>
          <p:cNvPr id="55" name="Text 52"/>
          <p:cNvSpPr/>
          <p:nvPr/>
        </p:nvSpPr>
        <p:spPr>
          <a:xfrm>
            <a:off x="11163300" y="5562600"/>
            <a:ext cx="5905500" cy="2552700"/>
          </a:xfrm>
          <a:prstGeom prst="rect">
            <a:avLst/>
          </a:prstGeom>
          <a:noFill/>
          <a:ln/>
        </p:spPr>
        <p:txBody>
          <a:bodyPr wrap="square" lIns="0" tIns="11002" rIns="0" bIns="-11002" rtlCol="0" anchor="t"/>
          <a:lstStyle/>
          <a:p>
            <a:pPr algn="l" indent="0" marL="0">
              <a:lnSpc>
                <a:spcPts val="2642"/>
              </a:lnSpc>
              <a:buNone/>
            </a:pPr>
            <a:r>
              <a:rPr lang="en-US" sz="2033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Transistor</a:t>
            </a:r>
            <a:r>
              <a:rPr lang="en-US" sz="2033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033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642"/>
              </a:lnSpc>
              <a:buNone/>
            </a:pPr>
            <a:r>
              <a:rPr lang="en-US" sz="2033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033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033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LED,</a:t>
            </a:r>
            <a:r>
              <a:rPr lang="en-US" sz="2033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relay,</a:t>
            </a:r>
            <a:r>
              <a:rPr lang="en-US" sz="2033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van</a:t>
            </a:r>
            <a:r>
              <a:rPr lang="en-US" sz="2033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033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033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642"/>
              </a:lnSpc>
              <a:buNone/>
            </a:pPr>
            <a:r>
              <a:rPr lang="en-US" sz="2033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033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khuếch</a:t>
            </a:r>
            <a:r>
              <a:rPr lang="en-US" sz="2033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033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642"/>
              </a:lnSpc>
              <a:buNone/>
            </a:pPr>
            <a:r>
              <a:rPr lang="en-US" sz="2033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CMOS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033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PMOS</a:t>
            </a:r>
            <a:r>
              <a:rPr lang="en-US" sz="2033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033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NMOS</a:t>
            </a:r>
            <a:r>
              <a:rPr lang="en-US" sz="2033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cổng</a:t>
            </a:r>
            <a:r>
              <a:rPr lang="en-US" sz="2033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</a:t>
            </a:r>
            <a:r>
              <a:rPr lang="en-US" sz="2033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033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642"/>
              </a:lnSpc>
              <a:buNone/>
            </a:pPr>
            <a:r>
              <a:rPr lang="en-US" sz="2033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cầu</a:t>
            </a:r>
            <a:r>
              <a:rPr lang="en-US" sz="2033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033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033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033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033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033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033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033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642"/>
              </a:lnSpc>
              <a:buNone/>
            </a:pPr>
            <a:r>
              <a:rPr lang="en-US" sz="2033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ECU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mạch</a:t>
            </a:r>
            <a:r>
              <a:rPr lang="en-US" sz="2033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033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 kim phun,</a:t>
            </a:r>
            <a:r>
              <a:rPr lang="en-US" sz="2033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relay,</a:t>
            </a:r>
            <a:r>
              <a:rPr lang="en-US" sz="2033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van</a:t>
            </a:r>
            <a:r>
              <a:rPr lang="en-US" sz="2033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033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</a:t>
            </a:r>
            <a:r>
              <a:rPr lang="en-US" sz="2033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Renault</a:t>
            </a:r>
            <a:r>
              <a:rPr lang="en-US" sz="2033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033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033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033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NPN</a:t>
            </a:r>
            <a:r>
              <a:rPr lang="en-US" sz="2033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BCP56-16</a:t>
            </a:r>
            <a:r>
              <a:rPr lang="en-US" sz="2033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 SOT-223</a:t>
            </a:r>
            <a:r>
              <a:rPr lang="en-US" sz="2033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[S17]</a:t>
            </a:r>
            <a:pPr algn="l" indent="0" marL="0">
              <a:lnSpc>
                <a:spcPts val="2642"/>
              </a:lnSpc>
              <a:buNone/>
            </a:pPr>
            <a:r>
              <a:rPr lang="en-US" sz="2033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033" dirty="0"/>
          </a:p>
        </p:txBody>
      </p:sp>
      <p:sp>
        <p:nvSpPr>
          <p:cNvPr id="56" name="Text 53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Raimond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Spekking,</a:t>
            </a:r>
            <a:r>
              <a:rPr lang="en-US" sz="16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4.0,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 Commons [S17]</a:t>
            </a:r>
            <a:endParaRPr lang="en-US" sz="1650" dirty="0"/>
          </a:p>
        </p:txBody>
      </p:sp>
      <p:sp>
        <p:nvSpPr>
          <p:cNvPr id="57" name="Text 5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[S5] [S6]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[S7]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[S17]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4352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74" name="Shape 7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3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16/18</a:t>
            </a:r>
            <a:endParaRPr lang="en-US" sz="1800" dirty="0"/>
          </a:p>
        </p:txBody>
      </p:sp>
      <p:sp>
        <p:nvSpPr>
          <p:cNvPr id="77" name="Shape 7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c8142fb7-a001-4e98-a925-65688e79c3c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Cheat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sheet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 hỏi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57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8382000" cy="6096000"/>
          </a:xfrm>
          <a:prstGeom prst="roundRect">
            <a:avLst>
              <a:gd name="adj" fmla="val 437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00150" y="2495550"/>
            <a:ext cx="781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Cheat</a:t>
            </a:r>
            <a:r>
              <a:rPr lang="en-US" sz="27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sheet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3067050"/>
            <a:ext cx="79248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6" name="Connector line-1793181639965-347385752"/>
          <p:cNvSpPr/>
          <p:nvPr/>
        </p:nvSpPr>
        <p:spPr>
          <a:xfrm>
            <a:off x="1790700" y="3381375"/>
            <a:ext cx="0" cy="323850"/>
          </a:xfrm>
          <a:prstGeom prst="line">
            <a:avLst/>
          </a:prstGeom>
          <a:noFill/>
          <a:ln w="952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7" name="Connector line-1793181639966-320951586"/>
          <p:cNvSpPr/>
          <p:nvPr/>
        </p:nvSpPr>
        <p:spPr>
          <a:xfrm>
            <a:off x="1419225" y="3543300"/>
            <a:ext cx="37147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790700" y="3143250"/>
            <a:ext cx="209550" cy="333375"/>
          </a:xfrm>
          <a:custGeom>
            <a:avLst/>
            <a:gdLst/>
            <a:ahLst/>
            <a:cxnLst/>
            <a:rect l="l" t="t" r="r" b="b"/>
            <a:pathLst>
              <a:path w="209550" h="333375">
                <a:moveTo>
                  <a:pt x="0" y="333375"/>
                </a:moveTo>
                <a:lnTo>
                  <a:pt x="209550" y="171450"/>
                </a:lnTo>
                <a:lnTo>
                  <a:pt x="209550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9" name="Connector line-1793181639975-843000627"/>
          <p:cNvSpPr/>
          <p:nvPr/>
        </p:nvSpPr>
        <p:spPr>
          <a:xfrm>
            <a:off x="2000250" y="3771900"/>
            <a:ext cx="0" cy="17145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10" name="Connector line-1793181639976-77491588"/>
          <p:cNvSpPr/>
          <p:nvPr/>
        </p:nvSpPr>
        <p:spPr>
          <a:xfrm>
            <a:off x="1790700" y="3609975"/>
            <a:ext cx="209550" cy="16192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533650" y="3067050"/>
            <a:ext cx="6381750" cy="95250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ctr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NPN: IB vào, VBE ≈ 0,6 V, IC = β·IB, dòng C → 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4133850"/>
            <a:ext cx="79248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3" name="Connector line-1793181639980-486584332"/>
          <p:cNvSpPr/>
          <p:nvPr/>
        </p:nvSpPr>
        <p:spPr>
          <a:xfrm flipV="1">
            <a:off x="1790700" y="4448175"/>
            <a:ext cx="0" cy="323850"/>
          </a:xfrm>
          <a:prstGeom prst="line">
            <a:avLst/>
          </a:prstGeom>
          <a:noFill/>
          <a:ln w="952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4" name="Connector line-1793181639980-253534517"/>
          <p:cNvSpPr/>
          <p:nvPr/>
        </p:nvSpPr>
        <p:spPr>
          <a:xfrm>
            <a:off x="1419225" y="4610100"/>
            <a:ext cx="37147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790700" y="4676775"/>
            <a:ext cx="209550" cy="333375"/>
          </a:xfrm>
          <a:custGeom>
            <a:avLst/>
            <a:gdLst/>
            <a:ahLst/>
            <a:cxnLst/>
            <a:rect l="l" t="t" r="r" b="b"/>
            <a:pathLst>
              <a:path w="209550" h="333375">
                <a:moveTo>
                  <a:pt x="0" y="0"/>
                </a:moveTo>
                <a:lnTo>
                  <a:pt x="209550" y="161925"/>
                </a:lnTo>
                <a:lnTo>
                  <a:pt x="209550" y="333375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16" name="Connector line-1793181639982-330684223"/>
          <p:cNvSpPr/>
          <p:nvPr/>
        </p:nvSpPr>
        <p:spPr>
          <a:xfrm flipV="1">
            <a:off x="2000250" y="4210050"/>
            <a:ext cx="0" cy="17145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17" name="Connector line-1793181639982-425901234"/>
          <p:cNvSpPr/>
          <p:nvPr/>
        </p:nvSpPr>
        <p:spPr>
          <a:xfrm flipH="1">
            <a:off x="1790700" y="4381500"/>
            <a:ext cx="209550" cy="161925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533650" y="4133850"/>
            <a:ext cx="6381750" cy="95250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ctr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PNP: IB ra, Base thấp hơn Emitter, dòng E → C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43000" y="5200650"/>
            <a:ext cx="79248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20" name="Connector line-1793181639985-703117007"/>
          <p:cNvSpPr/>
          <p:nvPr/>
        </p:nvSpPr>
        <p:spPr>
          <a:xfrm>
            <a:off x="1400175" y="5676900"/>
            <a:ext cx="31432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21" name="Connector line-1793181639985-523724809"/>
          <p:cNvSpPr/>
          <p:nvPr/>
        </p:nvSpPr>
        <p:spPr>
          <a:xfrm>
            <a:off x="1714500" y="5514975"/>
            <a:ext cx="0" cy="323850"/>
          </a:xfrm>
          <a:prstGeom prst="line">
            <a:avLst/>
          </a:prstGeom>
          <a:noFill/>
          <a:ln w="857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2" name="Connector line-1793181639986-243534332"/>
          <p:cNvSpPr/>
          <p:nvPr/>
        </p:nvSpPr>
        <p:spPr>
          <a:xfrm>
            <a:off x="1790700" y="5495925"/>
            <a:ext cx="0" cy="85725"/>
          </a:xfrm>
          <a:prstGeom prst="line">
            <a:avLst/>
          </a:prstGeom>
          <a:noFill/>
          <a:ln w="857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3" name="Connector line-1793181639986-578731795"/>
          <p:cNvSpPr/>
          <p:nvPr/>
        </p:nvSpPr>
        <p:spPr>
          <a:xfrm>
            <a:off x="1790700" y="5629275"/>
            <a:ext cx="0" cy="95250"/>
          </a:xfrm>
          <a:prstGeom prst="line">
            <a:avLst/>
          </a:prstGeom>
          <a:noFill/>
          <a:ln w="857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4" name="Connector line-1793181639986-307911144"/>
          <p:cNvSpPr/>
          <p:nvPr/>
        </p:nvSpPr>
        <p:spPr>
          <a:xfrm>
            <a:off x="1790700" y="5772150"/>
            <a:ext cx="0" cy="85725"/>
          </a:xfrm>
          <a:prstGeom prst="line">
            <a:avLst/>
          </a:prstGeom>
          <a:noFill/>
          <a:ln w="857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790700" y="5276850"/>
            <a:ext cx="209550" cy="266700"/>
          </a:xfrm>
          <a:custGeom>
            <a:avLst/>
            <a:gdLst/>
            <a:ahLst/>
            <a:cxnLst/>
            <a:rect l="l" t="t" r="r" b="b"/>
            <a:pathLst>
              <a:path w="209550" h="266700">
                <a:moveTo>
                  <a:pt x="0" y="266700"/>
                </a:moveTo>
                <a:lnTo>
                  <a:pt x="209550" y="266700"/>
                </a:lnTo>
                <a:lnTo>
                  <a:pt x="209550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90700" y="5810250"/>
            <a:ext cx="209550" cy="266700"/>
          </a:xfrm>
          <a:custGeom>
            <a:avLst/>
            <a:gdLst/>
            <a:ahLst/>
            <a:cxnLst/>
            <a:rect l="l" t="t" r="r" b="b"/>
            <a:pathLst>
              <a:path w="209550" h="266700">
                <a:moveTo>
                  <a:pt x="0" y="0"/>
                </a:moveTo>
                <a:lnTo>
                  <a:pt x="209550" y="0"/>
                </a:lnTo>
                <a:lnTo>
                  <a:pt x="209550" y="266700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27" name="Connector line-1793181639989-585402563"/>
          <p:cNvSpPr/>
          <p:nvPr/>
        </p:nvSpPr>
        <p:spPr>
          <a:xfrm>
            <a:off x="2000250" y="5676900"/>
            <a:ext cx="0" cy="13335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28" name="Connector line-1793181639989-421000866"/>
          <p:cNvSpPr/>
          <p:nvPr/>
        </p:nvSpPr>
        <p:spPr>
          <a:xfrm flipH="1">
            <a:off x="1790700" y="5676900"/>
            <a:ext cx="209550" cy="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2533650" y="5200650"/>
            <a:ext cx="6381750" cy="95250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ctr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N-MOS: bật khi VGS &gt; Vth, gần như không có IG, dòng D → S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143000" y="6267450"/>
            <a:ext cx="79248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31" name="Connector line-1793181639992-549033747"/>
          <p:cNvSpPr/>
          <p:nvPr/>
        </p:nvSpPr>
        <p:spPr>
          <a:xfrm>
            <a:off x="1400175" y="6743700"/>
            <a:ext cx="31432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none"/>
          </a:ln>
        </p:spPr>
      </p:sp>
      <p:sp>
        <p:nvSpPr>
          <p:cNvPr id="32" name="Connector line-1793181639993-682685213"/>
          <p:cNvSpPr/>
          <p:nvPr/>
        </p:nvSpPr>
        <p:spPr>
          <a:xfrm flipV="1">
            <a:off x="1714500" y="6581775"/>
            <a:ext cx="0" cy="323850"/>
          </a:xfrm>
          <a:prstGeom prst="line">
            <a:avLst/>
          </a:prstGeom>
          <a:noFill/>
          <a:ln w="857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33" name="Connector line-1793181639993-440844812"/>
          <p:cNvSpPr/>
          <p:nvPr/>
        </p:nvSpPr>
        <p:spPr>
          <a:xfrm flipV="1">
            <a:off x="1790700" y="6838950"/>
            <a:ext cx="0" cy="85725"/>
          </a:xfrm>
          <a:prstGeom prst="line">
            <a:avLst/>
          </a:prstGeom>
          <a:noFill/>
          <a:ln w="857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34" name="Connector line-1793181639993-292165587"/>
          <p:cNvSpPr/>
          <p:nvPr/>
        </p:nvSpPr>
        <p:spPr>
          <a:xfrm flipV="1">
            <a:off x="1790700" y="6696075"/>
            <a:ext cx="0" cy="95250"/>
          </a:xfrm>
          <a:prstGeom prst="line">
            <a:avLst/>
          </a:prstGeom>
          <a:noFill/>
          <a:ln w="857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35" name="Connector line-1793181639993-107778564"/>
          <p:cNvSpPr/>
          <p:nvPr/>
        </p:nvSpPr>
        <p:spPr>
          <a:xfrm flipV="1">
            <a:off x="1790700" y="6562725"/>
            <a:ext cx="0" cy="85725"/>
          </a:xfrm>
          <a:prstGeom prst="line">
            <a:avLst/>
          </a:prstGeom>
          <a:noFill/>
          <a:ln w="857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790700" y="6877050"/>
            <a:ext cx="209550" cy="266700"/>
          </a:xfrm>
          <a:custGeom>
            <a:avLst/>
            <a:gdLst/>
            <a:ahLst/>
            <a:cxnLst/>
            <a:rect l="l" t="t" r="r" b="b"/>
            <a:pathLst>
              <a:path w="209550" h="266700">
                <a:moveTo>
                  <a:pt x="0" y="0"/>
                </a:moveTo>
                <a:lnTo>
                  <a:pt x="209550" y="0"/>
                </a:lnTo>
                <a:lnTo>
                  <a:pt x="209550" y="26670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90700" y="6343650"/>
            <a:ext cx="209550" cy="266700"/>
          </a:xfrm>
          <a:custGeom>
            <a:avLst/>
            <a:gdLst/>
            <a:ahLst/>
            <a:cxnLst/>
            <a:rect l="l" t="t" r="r" b="b"/>
            <a:pathLst>
              <a:path w="209550" h="266700">
                <a:moveTo>
                  <a:pt x="0" y="266700"/>
                </a:moveTo>
                <a:lnTo>
                  <a:pt x="209550" y="266700"/>
                </a:lnTo>
                <a:lnTo>
                  <a:pt x="209550" y="0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38" name="Connector line-1793181639995-114115164"/>
          <p:cNvSpPr/>
          <p:nvPr/>
        </p:nvSpPr>
        <p:spPr>
          <a:xfrm flipV="1">
            <a:off x="2000250" y="6610350"/>
            <a:ext cx="0" cy="13335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none"/>
          </a:ln>
        </p:spPr>
      </p:sp>
      <p:sp>
        <p:nvSpPr>
          <p:cNvPr id="39" name="Connector line-1793181639995-428441219"/>
          <p:cNvSpPr/>
          <p:nvPr/>
        </p:nvSpPr>
        <p:spPr>
          <a:xfrm>
            <a:off x="1790700" y="6743700"/>
            <a:ext cx="209550" cy="0"/>
          </a:xfrm>
          <a:prstGeom prst="line">
            <a:avLst/>
          </a:prstGeom>
          <a:noFill/>
          <a:ln w="66675">
            <a:solidFill>
              <a:srgbClr val="0B8A5F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2533650" y="6267450"/>
            <a:ext cx="6381750" cy="95250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ctr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P-MOS: bật khi VGS âm, dòng S → D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1143000" y="7334250"/>
            <a:ext cx="79248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42" name="Connector line-1793181639997-548748709"/>
          <p:cNvSpPr/>
          <p:nvPr/>
        </p:nvSpPr>
        <p:spPr>
          <a:xfrm>
            <a:off x="1790700" y="7610475"/>
            <a:ext cx="0" cy="400050"/>
          </a:xfrm>
          <a:prstGeom prst="line">
            <a:avLst/>
          </a:prstGeom>
          <a:noFill/>
          <a:ln w="952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1790700" y="7410450"/>
            <a:ext cx="180975" cy="266700"/>
          </a:xfrm>
          <a:custGeom>
            <a:avLst/>
            <a:gdLst/>
            <a:ahLst/>
            <a:cxnLst/>
            <a:rect l="l" t="t" r="r" b="b"/>
            <a:pathLst>
              <a:path w="180975" h="266700">
                <a:moveTo>
                  <a:pt x="0" y="266700"/>
                </a:moveTo>
                <a:lnTo>
                  <a:pt x="180975" y="266700"/>
                </a:lnTo>
                <a:lnTo>
                  <a:pt x="180975" y="0"/>
                </a:lnTo>
              </a:path>
            </a:pathLst>
          </a:custGeom>
          <a:ln w="66675">
            <a:solidFill>
              <a:srgbClr val="2F6B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90700" y="7943850"/>
            <a:ext cx="180975" cy="266700"/>
          </a:xfrm>
          <a:custGeom>
            <a:avLst/>
            <a:gdLst/>
            <a:ahLst/>
            <a:cxnLst/>
            <a:rect l="l" t="t" r="r" b="b"/>
            <a:pathLst>
              <a:path w="180975" h="266700">
                <a:moveTo>
                  <a:pt x="0" y="0"/>
                </a:moveTo>
                <a:lnTo>
                  <a:pt x="180975" y="0"/>
                </a:lnTo>
                <a:lnTo>
                  <a:pt x="180975" y="266700"/>
                </a:lnTo>
              </a:path>
            </a:pathLst>
          </a:custGeom>
          <a:ln w="66675">
            <a:solidFill>
              <a:srgbClr val="0B8A5F"/>
            </a:solidFill>
            <a:prstDash val="solid"/>
          </a:ln>
        </p:spPr>
      </p:sp>
      <p:sp>
        <p:nvSpPr>
          <p:cNvPr id="45" name="Connector line-1793181639999-178840294"/>
          <p:cNvSpPr/>
          <p:nvPr/>
        </p:nvSpPr>
        <p:spPr>
          <a:xfrm>
            <a:off x="1419225" y="7810500"/>
            <a:ext cx="371475" cy="0"/>
          </a:xfrm>
          <a:prstGeom prst="line">
            <a:avLst/>
          </a:prstGeom>
          <a:noFill/>
          <a:ln w="66675">
            <a:solidFill>
              <a:srgbClr val="DD4B0E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2533650" y="7334250"/>
            <a:ext cx="6381750" cy="95250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ctr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JFET:</a:t>
            </a:r>
            <a:r>
              <a:rPr lang="en-US" sz="21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1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VGS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 0,</a:t>
            </a:r>
            <a:r>
              <a:rPr lang="en-US" sz="21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VGS</a:t>
            </a:r>
            <a:r>
              <a:rPr lang="en-US" sz="21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ngược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bóp</a:t>
            </a:r>
            <a:r>
              <a:rPr lang="en-US" sz="21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kênh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9715500" y="2495550"/>
            <a:ext cx="7658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27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2700" dirty="0" spc="-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2700" dirty="0"/>
          </a:p>
        </p:txBody>
      </p:sp>
      <p:sp>
        <p:nvSpPr>
          <p:cNvPr id="48" name="Shape 46"/>
          <p:cNvSpPr/>
          <p:nvPr/>
        </p:nvSpPr>
        <p:spPr>
          <a:xfrm>
            <a:off x="9715500" y="3067050"/>
            <a:ext cx="76581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906000" y="3067050"/>
            <a:ext cx="666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900" dirty="0"/>
          </a:p>
        </p:txBody>
      </p:sp>
      <p:sp>
        <p:nvSpPr>
          <p:cNvPr id="50" name="Text 48"/>
          <p:cNvSpPr/>
          <p:nvPr/>
        </p:nvSpPr>
        <p:spPr>
          <a:xfrm>
            <a:off x="10668000" y="3067050"/>
            <a:ext cx="6477000" cy="95250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ctr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Điều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r>
              <a:rPr lang="en-US" sz="21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Base</a:t>
            </a:r>
            <a:r>
              <a:rPr lang="en-US" sz="21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Emitter</a:t>
            </a:r>
            <a:r>
              <a:rPr lang="en-US" sz="21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NPN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silicon</a:t>
            </a:r>
            <a:r>
              <a:rPr lang="en-US" sz="21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21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9715500" y="4133850"/>
            <a:ext cx="76581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9906000" y="4133850"/>
            <a:ext cx="666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900" dirty="0"/>
          </a:p>
        </p:txBody>
      </p:sp>
      <p:sp>
        <p:nvSpPr>
          <p:cNvPr id="53" name="Text 51"/>
          <p:cNvSpPr/>
          <p:nvPr/>
        </p:nvSpPr>
        <p:spPr>
          <a:xfrm>
            <a:off x="10668000" y="4133850"/>
            <a:ext cx="6477000" cy="95250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ctr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NPN có β = 200, IB = 0,5 mA: IC và IE bằng bao nhiêu?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9715500" y="5200650"/>
            <a:ext cx="76581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9906000" y="5200650"/>
            <a:ext cx="666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900" dirty="0"/>
          </a:p>
        </p:txBody>
      </p:sp>
      <p:sp>
        <p:nvSpPr>
          <p:cNvPr id="56" name="Text 54"/>
          <p:cNvSpPr/>
          <p:nvPr/>
        </p:nvSpPr>
        <p:spPr>
          <a:xfrm>
            <a:off x="10668000" y="5200650"/>
            <a:ext cx="6477000" cy="95250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ctr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N-MOSFET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 tắc</a:t>
            </a:r>
            <a:r>
              <a:rPr lang="en-US" sz="21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low-side:</a:t>
            </a:r>
            <a:r>
              <a:rPr lang="en-US" sz="21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tải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1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đâu,</a:t>
            </a:r>
            <a:r>
              <a:rPr lang="en-US" sz="21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1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9715500" y="6267450"/>
            <a:ext cx="76581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58" name="Text 56"/>
          <p:cNvSpPr/>
          <p:nvPr/>
        </p:nvSpPr>
        <p:spPr>
          <a:xfrm>
            <a:off x="9906000" y="6267450"/>
            <a:ext cx="666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900" dirty="0"/>
          </a:p>
        </p:txBody>
      </p:sp>
      <p:sp>
        <p:nvSpPr>
          <p:cNvPr id="59" name="Text 57"/>
          <p:cNvSpPr/>
          <p:nvPr/>
        </p:nvSpPr>
        <p:spPr>
          <a:xfrm>
            <a:off x="10668000" y="6267450"/>
            <a:ext cx="6477000" cy="95250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ctr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Muốn</a:t>
            </a:r>
            <a:r>
              <a:rPr lang="en-US" sz="21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bật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P-MOSFET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high-side,</a:t>
            </a:r>
            <a:r>
              <a:rPr lang="en-US" sz="21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1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1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1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 Source?</a:t>
            </a:r>
            <a:endParaRPr lang="en-US" sz="2100" dirty="0"/>
          </a:p>
        </p:txBody>
      </p:sp>
      <p:sp>
        <p:nvSpPr>
          <p:cNvPr id="60" name="Shape 58"/>
          <p:cNvSpPr/>
          <p:nvPr/>
        </p:nvSpPr>
        <p:spPr>
          <a:xfrm>
            <a:off x="9715500" y="7334250"/>
            <a:ext cx="76581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61" name="Text 59"/>
          <p:cNvSpPr/>
          <p:nvPr/>
        </p:nvSpPr>
        <p:spPr>
          <a:xfrm>
            <a:off x="9906000" y="7334250"/>
            <a:ext cx="666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900" dirty="0"/>
          </a:p>
        </p:txBody>
      </p:sp>
      <p:sp>
        <p:nvSpPr>
          <p:cNvPr id="62" name="Text 60"/>
          <p:cNvSpPr/>
          <p:nvPr/>
        </p:nvSpPr>
        <p:spPr>
          <a:xfrm>
            <a:off x="10668000" y="7334250"/>
            <a:ext cx="6477000" cy="952500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ctr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 spc="4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Vì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1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VGS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0,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JFET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MOSFET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21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cường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không?</a:t>
            </a:r>
            <a:endParaRPr lang="en-US" sz="2100" dirty="0"/>
          </a:p>
        </p:txBody>
      </p:sp>
      <p:sp>
        <p:nvSpPr>
          <p:cNvPr id="63" name="Text 6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[S2]</a:t>
            </a:r>
            <a:r>
              <a:rPr lang="en-US" sz="1800" dirty="0" spc="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 [S4] [S5]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4581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1" name="Shape 7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17/18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4" name="Moda image moda-export-watermark-79e6c03f-34d9-477d-8022-6111483938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Wikipedia,</a:t>
            </a:r>
            <a:r>
              <a:rPr lang="en-US" sz="21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Transistor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Wikipedia,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Bipolar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junction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transistor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Wikipedia,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MOSFET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Wikipedia,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JFET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SparkFun,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Transistors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(tutorial)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Wikipedia,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CMOS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44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Wikipedia,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Electronic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Wikipedia,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Small-outline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transistor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144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0574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Wikipedia,</a:t>
            </a: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TO-220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3345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4775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Wikipedia,</a:t>
            </a:r>
            <a:r>
              <a:rPr lang="en-US" sz="21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Power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MOSFET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93345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95631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4775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Suyash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Dwivedi,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BC547,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4.0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93345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631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Mister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 4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transistor,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3345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95631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4775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CyrilB,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1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D2PAK,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GFDL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93345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95631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Retired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electrician,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IRFI9540,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CC0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93345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95631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4775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Retired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electrician,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IRFIBC30,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CC0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93345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5631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4775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Euler666,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1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JFET,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93345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95631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S17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04775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Raimond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Spekking,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Renault,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4.0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93345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95631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04775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Axel</a:t>
            </a:r>
            <a:r>
              <a:rPr lang="en-US" sz="18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Richter,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MOSFET</a:t>
            </a:r>
            <a:r>
              <a:rPr lang="en-US" sz="18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TO-220,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810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5" name="Text 73"/>
          <p:cNvSpPr/>
          <p:nvPr/>
        </p:nvSpPr>
        <p:spPr>
          <a:xfrm>
            <a:off x="52578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18/18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7" name="Moda image moda-export-watermark-82d033eb-1069-47dc-97d8-62bb3e7e8d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2026-10-28T10:01:11Z</dcterms:created>
  <dcterms:modified xsi:type="dcterms:W3CDTF">2026-10-28T10:01:11Z</dcterms:modified>
</cp:coreProperties>
</file>