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8288000" cy="10287000"/>
  <p:notesSz cx="10287000" cy="18288000"/>
  <p:embeddedFontLst>
    <p:embeddedFont>
      <p:font typeface="Be Vietnam Pro"/>
      <p:regular r:id="rId55"/>
      <p:bold r:id="rId52"/>
    </p:embeddedFont>
    <p:embeddedFont>
      <p:font typeface="Bricolage Grotesque ExtraBold"/>
      <p:regular r:id="rId53"/>
    </p:embeddedFont>
    <p:embeddedFont>
      <p:font typeface="Be Vietnam Pro SemiBold"/>
      <p:regular r:id="rId54"/>
    </p:embeddedFont>
    <p:embeddedFont>
      <p:font typeface="Be Vietnam Pro ExtraBold"/>
      <p:regular r:id="rId56"/>
    </p:embeddedFont>
    <p:embeddedFont>
      <p:font typeface="Be Vietnam Pro Medium"/>
      <p:regular r:id="rId5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font" Target="fonts/font1.fntdata"/><Relationship Id="rId53" Type="http://schemas.openxmlformats.org/officeDocument/2006/relationships/font" Target="fonts/font2.fntdata"/><Relationship Id="rId54" Type="http://schemas.openxmlformats.org/officeDocument/2006/relationships/font" Target="fonts/font3.fntdata"/><Relationship Id="rId55" Type="http://schemas.openxmlformats.org/officeDocument/2006/relationships/font" Target="fonts/font4.fntdata"/><Relationship Id="rId56" Type="http://schemas.openxmlformats.org/officeDocument/2006/relationships/font" Target="fonts/font5.fntdata"/><Relationship Id="rId5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nector line-1792597666110-470619204"/>
          <p:cNvSpPr/>
          <p:nvPr/>
        </p:nvSpPr>
        <p:spPr>
          <a:xfrm>
            <a:off x="172402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3" name="Connector line-1792597666112-776246377"/>
          <p:cNvSpPr/>
          <p:nvPr/>
        </p:nvSpPr>
        <p:spPr>
          <a:xfrm>
            <a:off x="161925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4" name="Connector line-1792597666113-692952044"/>
          <p:cNvSpPr/>
          <p:nvPr/>
        </p:nvSpPr>
        <p:spPr>
          <a:xfrm>
            <a:off x="151447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5" name="Connector line-1792597666113-361701985"/>
          <p:cNvSpPr/>
          <p:nvPr/>
        </p:nvSpPr>
        <p:spPr>
          <a:xfrm>
            <a:off x="140970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6" name="Connector line-1792597666113-857816959"/>
          <p:cNvSpPr/>
          <p:nvPr/>
        </p:nvSpPr>
        <p:spPr>
          <a:xfrm>
            <a:off x="130492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7" name="Connector line-1792597666113-699524188"/>
          <p:cNvSpPr/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8" name="Connector line-1792597666114-330657033"/>
          <p:cNvSpPr/>
          <p:nvPr/>
        </p:nvSpPr>
        <p:spPr>
          <a:xfrm>
            <a:off x="10953750" y="0"/>
            <a:ext cx="0" cy="1028700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9" name="Connector line-1792597666114-272213534"/>
          <p:cNvSpPr/>
          <p:nvPr/>
        </p:nvSpPr>
        <p:spPr>
          <a:xfrm>
            <a:off x="8572500" y="1714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0" name="Connector line-1792597666114-82527639"/>
          <p:cNvSpPr/>
          <p:nvPr/>
        </p:nvSpPr>
        <p:spPr>
          <a:xfrm>
            <a:off x="8572500" y="34290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1" name="Connector line-1792597666115-98061357"/>
          <p:cNvSpPr/>
          <p:nvPr/>
        </p:nvSpPr>
        <p:spPr>
          <a:xfrm>
            <a:off x="8572500" y="5143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2" name="Connector line-1792597666115-612387605"/>
          <p:cNvSpPr/>
          <p:nvPr/>
        </p:nvSpPr>
        <p:spPr>
          <a:xfrm>
            <a:off x="8572500" y="68580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3" name="Connector line-1792597666115-572148930"/>
          <p:cNvSpPr/>
          <p:nvPr/>
        </p:nvSpPr>
        <p:spPr>
          <a:xfrm>
            <a:off x="8572500" y="8572500"/>
            <a:ext cx="9715500" cy="0"/>
          </a:xfrm>
          <a:prstGeom prst="line">
            <a:avLst/>
          </a:prstGeom>
          <a:noFill/>
          <a:ln w="28575">
            <a:solidFill>
              <a:srgbClr val="1E212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100" b="1" spc="44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81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 bộ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phận</a:t>
            </a:r>
            <a:r>
              <a:rPr lang="en-US" sz="81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8100" dirty="0"/>
          </a:p>
        </p:txBody>
      </p:sp>
      <p:sp>
        <p:nvSpPr>
          <p:cNvPr id="16" name="Text 14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Phần</a:t>
            </a:r>
            <a:r>
              <a:rPr lang="en-US" sz="33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 của não</a:t>
            </a:r>
            <a:r>
              <a:rPr lang="en-US" sz="3300" dirty="0" spc="-2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3300" dirty="0" spc="1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3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33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3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3300" dirty="0" spc="-2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</a:t>
            </a:r>
            <a:r>
              <a:rPr lang="en-US" sz="33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lúc</a:t>
            </a:r>
            <a:r>
              <a:rPr lang="en-US" sz="3300" dirty="0" spc="-1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này?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não: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Tiểu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não: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viền: cảm xúc,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não: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fdab2dc5-57e3-49cd-ae3a-7650abafdf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não quyết</a:t>
            </a:r>
            <a:r>
              <a:rPr lang="en-US" sz="57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lẻ,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 là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69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6900" dirty="0" spc="-7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lưới</a:t>
            </a:r>
            <a:r>
              <a:rPr lang="en-US" sz="6900" dirty="0" spc="-4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nơron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70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7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 nam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trưởng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thành: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86</a:t>
            </a:r>
            <a:r>
              <a:rPr lang="en-US" sz="27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7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phận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 không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559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02/45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fc87a982-680f-4fe5-9249-565b8668d8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7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076325"/>
          </a:xfrm>
          <a:prstGeom prst="roundRect">
            <a:avLst>
              <a:gd name="adj" fmla="val 19469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8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não: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8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8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(L04,</a:t>
            </a:r>
            <a:r>
              <a:rPr lang="en-US" sz="28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L08)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086225"/>
            <a:ext cx="15125700" cy="1076325"/>
          </a:xfrm>
          <a:prstGeom prst="roundRect">
            <a:avLst>
              <a:gd name="adj" fmla="val 19469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086225"/>
            <a:ext cx="14363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hạch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nền,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(L07)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314950"/>
            <a:ext cx="13792200" cy="1076325"/>
          </a:xfrm>
          <a:prstGeom prst="roundRect">
            <a:avLst>
              <a:gd name="adj" fmla="val 19469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314950"/>
            <a:ext cx="13030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Tiểu não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(phía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não):</a:t>
            </a:r>
            <a:r>
              <a:rPr lang="en-US" sz="285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6543675"/>
            <a:ext cx="12458700" cy="1076325"/>
          </a:xfrm>
          <a:prstGeom prst="roundRect">
            <a:avLst>
              <a:gd name="adj" fmla="val 19469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6543675"/>
            <a:ext cx="116967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não: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3581400" y="7772400"/>
            <a:ext cx="11125200" cy="1076325"/>
          </a:xfrm>
          <a:prstGeom prst="roundRect">
            <a:avLst>
              <a:gd name="adj" fmla="val 19469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2400" y="7772400"/>
            <a:ext cx="10363200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Tủy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8791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03/45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2734ff0d-afe0-4994-b8b9-c0e20f9424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phôi thai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7670949-8253312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77294" y="2438400"/>
            <a:ext cx="7570712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Steven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Forebrain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não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 (đại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não)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Midbrain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não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Hindbrain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não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(cầu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 tiểu não)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4199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04/45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49fbf837-3296-4d23-a1f8-1dccececcab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Trung</a:t>
            </a:r>
            <a:r>
              <a:rPr lang="en-US" sz="570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ương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ngoại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ương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(central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nervous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system)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tủy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sống.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8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ngoại</a:t>
            </a:r>
            <a:r>
              <a:rPr lang="en-US" sz="28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(peripheral nervous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system)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 nằm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tủy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ương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Purves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ương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phần: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tủy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 cầu não,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 não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giữa,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não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não;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 não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là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</a:t>
            </a:r>
            <a:r>
              <a:rPr lang="en-US" sz="28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Trung</a:t>
            </a:r>
            <a:r>
              <a:rPr lang="en-US" sz="195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ương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não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tủy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Ngoại</a:t>
            </a: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biên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dây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 kinh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sọ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dây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 kinh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cách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45190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142c0532-c1e8-45de-9616-bed5c6bdc3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thần kinh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7714103-311917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91402" y="2438400"/>
            <a:ext cx="5142496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Wikipedia,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CC0;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(chương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2.3)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Brainstem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thân não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Spinal</a:t>
            </a:r>
            <a:r>
              <a:rPr lang="en-US" sz="2250" dirty="0" spc="-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cord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tủy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Cranial</a:t>
            </a:r>
            <a:r>
              <a:rPr lang="en-US" sz="225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nerves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dây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sọ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48390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06/45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1e6dbf59-0907-4433-8c56-ab7db84c339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Tủy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sống: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 sơ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Từ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thân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dọc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cột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sống;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đốt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tủy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bảo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vệ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21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hướng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tâm</a:t>
            </a:r>
            <a:r>
              <a:rPr lang="en-US" sz="2550" dirty="0" spc="-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(afferent)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lệnh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ly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tâm</a:t>
            </a:r>
            <a:r>
              <a:rPr lang="en-US" sz="2550" dirty="0" spc="-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(efferent)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xuống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cơ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Tự</a:t>
            </a:r>
            <a:r>
              <a:rPr lang="en-US" sz="210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xử</a:t>
            </a:r>
            <a:r>
              <a:rPr lang="en-US" sz="21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lý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Phản</a:t>
            </a:r>
            <a:r>
              <a:rPr lang="en-US" sz="2550" dirty="0" spc="-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xạ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rụt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tay,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55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xạ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gối: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</a:t>
            </a:r>
            <a:r>
              <a:rPr lang="en-US" sz="2100" dirty="0" spc="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tạo</a:t>
            </a:r>
            <a:r>
              <a:rPr lang="en-US" sz="21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nhịp</a:t>
            </a:r>
            <a:r>
              <a:rPr lang="en-US" sz="21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(ở</a:t>
            </a:r>
            <a:r>
              <a:rPr lang="en-US" sz="210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động</a:t>
            </a:r>
            <a:r>
              <a:rPr lang="en-US" sz="2100" dirty="0" spc="-1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vật)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Mèo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cắt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ngang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tủy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550" dirty="0" spc="3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bình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 chạy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liệt;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tùy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vị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tủy</a:t>
            </a:r>
            <a:r>
              <a:rPr lang="en-US" sz="2550" dirty="0" spc="3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đứt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hoàn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toàn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[S6]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Tủy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chỉ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dây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cáp: nó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 làm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55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xạ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nhịp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51590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155b1dc2-b7ee-45b1-b642-bdbb4a8699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ngoại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 từ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da, cơ,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về;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xương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tim,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phổi,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trơn,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tuyến;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lớn không cần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sọ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giác,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5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pha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31</a:t>
            </a: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cả</a:t>
            </a:r>
            <a:r>
              <a:rPr lang="en-US" sz="25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giác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5478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08/45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4049785f-980d-48aa-9113-9c14ee49a2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dây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thần kinh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sọ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7753094-1726774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9769" y="2438400"/>
            <a:ext cx="8265763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OpenStax,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2.4)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Optic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dây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Trigeminal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dây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Vagus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dây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phế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557989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09/45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f4c73492-091c-41dd-a444-1446d25d047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42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chiến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chạy;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phế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giãn,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kìm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Đối</a:t>
            </a:r>
            <a:r>
              <a:rPr lang="en-US" sz="42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42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nghỉ</a:t>
            </a:r>
            <a:r>
              <a:rPr lang="en-US" sz="31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hóa;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co,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31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Thường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quan,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kiểu đẩy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kéo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6118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10/45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03315961-2f33-4457-b5db-cdf86d83c4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hệ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7755501-4890072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00623" y="2438400"/>
            <a:ext cx="5581055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OpenStax,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2.4)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Parasympathetic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đối</a:t>
            </a:r>
            <a:r>
              <a:rPr lang="en-US" sz="25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Sympathetic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Slows</a:t>
            </a:r>
            <a:r>
              <a:rPr lang="en-US" sz="2187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heart</a:t>
            </a:r>
            <a:r>
              <a:rPr lang="en-US" sz="2187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rate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tim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4A2A24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 cơ quan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1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mồ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hôi, tủy</a:t>
            </a: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thượng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lông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tủy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sống,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lưng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phế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964389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11/45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6131b100-cdc8-4ab7-ac2f-7ebf5ff10b4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cặp từ chỉ</a:t>
            </a:r>
            <a:r>
              <a:rPr lang="en-US" sz="57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Anterior</a:t>
            </a:r>
            <a:r>
              <a:rPr lang="en-US" sz="30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/</a:t>
            </a:r>
            <a:r>
              <a:rPr lang="en-US" sz="30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posterior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Rostral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/</a:t>
            </a:r>
            <a:r>
              <a:rPr lang="en-US" sz="30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caudal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(mỏ)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đuôi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Dorsal</a:t>
            </a:r>
            <a:r>
              <a:rPr lang="en-US" sz="30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/</a:t>
            </a:r>
            <a:r>
              <a:rPr lang="en-US" sz="3000" dirty="0" spc="-2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ventral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lưng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 bụng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Medial</a:t>
            </a:r>
            <a:r>
              <a:rPr lang="en-US" sz="300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/</a:t>
            </a:r>
            <a:r>
              <a:rPr lang="en-US" sz="300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lateral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Contralateral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/</a:t>
            </a:r>
            <a:r>
              <a:rPr lang="en-US" sz="30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ipsilateral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nửa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 /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nửa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67588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12/45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ede8713a-db4d-46d9-9460-1c6727a4ba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mặt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7798019-4230318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3575" y="2438400"/>
            <a:ext cx="8035149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Wikimedia,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2.2)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Frontal</a:t>
            </a:r>
            <a:r>
              <a:rPr lang="en-US" sz="2187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plane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đứng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ngang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Sagittal</a:t>
            </a:r>
            <a:r>
              <a:rPr lang="en-US" sz="2187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plane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đứng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dọc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Transverse</a:t>
            </a:r>
            <a:r>
              <a:rPr lang="en-US" sz="2187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plane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nằm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ngang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4A3A22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khối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chiều,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lát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chiều.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Mặt</a:t>
            </a: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(coronal)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sau;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dọc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(sagittal)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phải; nằm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(axial)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Lát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dọc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7078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1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13/45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143d7f96-1621-47cb-9db0-13dacbb311c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"lưng"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thẳng.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 của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b="1" dirty="0" spc="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ương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gập: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Purves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mô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120°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não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loài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quả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tủy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sống,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"lưng"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(dorsal) chỉ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gáy,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"lưng"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thân</a:t>
            </a:r>
            <a:r>
              <a:rPr lang="en-US" sz="19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gáy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r>
              <a:rPr lang="en-US" sz="1950" dirty="0" spc="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4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đỉnh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 hướng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 phần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4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xét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73988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4abfe57b-1666-4c69-9ada-acd795fc2b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chụp cho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5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CT,</a:t>
            </a:r>
            <a:r>
              <a:rPr lang="en-US" sz="30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MRI</a:t>
            </a:r>
            <a:r>
              <a:rPr lang="en-US" sz="30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cấu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trúc,</a:t>
            </a:r>
            <a:r>
              <a:rPr lang="en-US" sz="3000" dirty="0" spc="-2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DTI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dạng, kích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thước,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trắng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PET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hoạt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tiếp;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 thể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fMRI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BOLD;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milimét</a:t>
            </a:r>
            <a:r>
              <a:rPr lang="en-US" sz="27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2–3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EEG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mili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MEG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EEG,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77187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15/45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0359adb1-db21-442e-afa8-aba5fda308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Bằng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bệnh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tổn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thương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chụp,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</a:t>
            </a:r>
            <a:r>
              <a:rPr lang="en-US" sz="28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Phineas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Gage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thùy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trái;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ông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nói,</a:t>
            </a:r>
            <a:r>
              <a:rPr lang="en-US" sz="28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bình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Broca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Wernicke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 lời;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ly</a:t>
            </a:r>
            <a:r>
              <a:rPr lang="en-US" sz="2850" b="1" dirty="0" spc="-3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hạn: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hiếm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Mạnh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cho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 cho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Yếu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thương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gọn,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 khái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Chi</a:t>
            </a:r>
            <a:r>
              <a:rPr lang="en-US" sz="195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tiết</a:t>
            </a:r>
            <a:r>
              <a:rPr lang="en-US" sz="1950" dirty="0" spc="-2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19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tranh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cãi</a:t>
            </a:r>
            <a:r>
              <a:rPr lang="en-US" sz="1950" dirty="0" spc="-2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về</a:t>
            </a:r>
            <a:r>
              <a:rPr lang="en-US" sz="195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Gage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24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80387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ddd06db5-2bf2-4173-995d-01c075897a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fMRI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nồng</a:t>
            </a:r>
            <a:r>
              <a:rPr lang="en-US" sz="69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hemoglobin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oxy,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1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-5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trực</a:t>
            </a:r>
            <a:r>
              <a:rPr lang="en-US" sz="69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r>
              <a:rPr lang="en-US" sz="69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xung</a:t>
            </a:r>
            <a:r>
              <a:rPr lang="en-US" sz="6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thần</a:t>
            </a:r>
            <a:r>
              <a:rPr lang="en-US" sz="69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kinh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quan: cần ghép</a:t>
            </a:r>
            <a:r>
              <a:rPr lang="en-US" sz="25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Logothetis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(2008): nhiều</a:t>
            </a:r>
            <a:r>
              <a:rPr lang="en-US" sz="2700" dirty="0" spc="-3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7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của</a:t>
            </a:r>
            <a:r>
              <a:rPr lang="en-US" sz="27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83587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17/45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d22a6002-760a-49ea-a63e-b2b019c074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Thân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thân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cây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(brainstem)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lên,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(medulla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oblongata)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liền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tủy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cầu não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(pons)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850" b="1" dirty="0" spc="1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(midbrain)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trắng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xuống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tủy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sống,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sọ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não,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thở, nhịp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tim, tiêu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sọ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 nhân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8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đáy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tủy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thở,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nhịp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tim,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dây</a:t>
            </a:r>
            <a:r>
              <a:rPr lang="en-US" sz="240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[S10]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386786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e7463690-ca1d-4281-bdd9-d674091d84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Thân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cạnh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7844609-505715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5150" y="2438400"/>
            <a:ext cx="57150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BruceBlaus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(Blausen.com)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Wikimedia;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Wikimedia: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3.0);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Midbrain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não</a:t>
            </a:r>
            <a:r>
              <a:rPr lang="en-US" sz="255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Pons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cầu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Medulla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589986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8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19/45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8bc31609-a964-4721-b931-a55925d7da1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(medulla)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Phần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thấp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thân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 nối liền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tủy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Đường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dây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 não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tủy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dây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thần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kinh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sọ,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dây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phế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vị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[S8]</a:t>
            </a: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[S10]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Vai</a:t>
            </a:r>
            <a:r>
              <a:rPr lang="en-US" sz="21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trò</a:t>
            </a:r>
            <a:r>
              <a:rPr lang="en-US" sz="2100" dirty="0" spc="-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1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Thở,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tiêu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hóa,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tim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mạch,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nuốt,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hắt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[S4]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 bằng</a:t>
            </a:r>
            <a:r>
              <a:rPr lang="en-US" sz="25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</a:t>
            </a:r>
            <a:r>
              <a:rPr lang="en-US" sz="2550" dirty="0" spc="-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yếu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lâm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sàng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Xuống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tủy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sống;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dây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phế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vị</a:t>
            </a:r>
            <a:r>
              <a:rPr lang="en-US" sz="25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tim,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phổi, ruột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[S8]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chính;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chứa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adrenaline,</a:t>
            </a:r>
            <a:r>
              <a:rPr lang="en-US" sz="2550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-2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riêng;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thân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nặng</a:t>
            </a:r>
            <a:r>
              <a:rPr lang="en-US" sz="25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dọa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tính mạng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 [S13]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793186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9f0bccad-da79-477c-9862-55fd89dea3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Cầu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não: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tiểu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Gần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700" dirty="0"/>
          </a:p>
        </p:txBody>
      </p:sp>
      <p:sp>
        <p:nvSpPr>
          <p:cNvPr id="7" name="Connector line-1792597890454-950887242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Nhân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700" dirty="0"/>
          </a:p>
        </p:txBody>
      </p:sp>
      <p:sp>
        <p:nvSpPr>
          <p:cNvPr id="12" name="Connector line-1792597890457-396258503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Cuống tiểu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triệu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trục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endParaRPr lang="en-US" sz="2700" dirty="0"/>
          </a:p>
        </p:txBody>
      </p:sp>
      <p:sp>
        <p:nvSpPr>
          <p:cNvPr id="17" name="Connector line-1792597890460-979612808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Tiểu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996385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4" name="Shape 42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21/45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c4c043d8-89e4-429b-ae5e-395146de17d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Cầu não</a:t>
            </a:r>
            <a:r>
              <a:rPr lang="en-US" sz="57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(pons)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Giữa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giữa;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 nối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Nhân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5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lưới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[S15]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raphe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chứa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serotonin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Vai</a:t>
            </a:r>
            <a:r>
              <a:rPr lang="en-US" sz="21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trò</a:t>
            </a:r>
            <a:r>
              <a:rPr lang="en-US" sz="2100" dirty="0" spc="-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1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Chuyển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tiếp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 giác,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ảnh</a:t>
            </a:r>
            <a:r>
              <a:rPr lang="en-US" sz="25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hưởng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thở,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thế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mắt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ngủ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REM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[S15]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6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Vỏ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tiểu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cuống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tiểu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Serotonin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raphe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 acetylcholine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chỗ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[S15]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55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riêng;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thân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nặng</a:t>
            </a:r>
            <a:r>
              <a:rPr lang="en-US" sz="25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dọa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tính mạng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 [S15]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199585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032194b9-5c41-4623-899b-8a552a6c566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Não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57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5700" dirty="0"/>
          </a:p>
        </p:txBody>
      </p:sp>
      <p:sp>
        <p:nvSpPr>
          <p:cNvPr id="3" name="Connector line-1792597892491-170814442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4" name="Connector line-1792597892491-731243769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5" name="Connector line-1792597892491-365728593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6" name="Connector line-1792597892491-620390113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Não</a:t>
            </a:r>
            <a:r>
              <a:rPr lang="en-US" sz="33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đen: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VTA: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Gò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trên,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gò</a:t>
            </a:r>
            <a:r>
              <a:rPr lang="en-US" sz="25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dưới: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Edinger-Westphal: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02785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a683ceb0-6979-456e-ae76-543d6851db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Não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57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(midbrain)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Phần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thân não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nằm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Gò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trên,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gò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đen,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bụng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Edinger-Westphal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[S8]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Vai</a:t>
            </a:r>
            <a:r>
              <a:rPr lang="en-US" sz="21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trò</a:t>
            </a:r>
            <a:r>
              <a:rPr lang="en-US" sz="2100" dirty="0" spc="-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1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Tế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bào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sản</a:t>
            </a:r>
            <a:r>
              <a:rPr lang="en-US" sz="255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xuất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dopamine,</a:t>
            </a:r>
            <a:r>
              <a:rPr lang="en-US" sz="2550" dirty="0" spc="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hòa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 phản</a:t>
            </a:r>
            <a:r>
              <a:rPr lang="en-US" sz="255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xạ,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mắt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Chất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đen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vân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5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VTA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accumbens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Dopamine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[S13]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55" rIns="0" bIns="-17755" rtlCol="0" anchor="t"/>
          <a:lstStyle/>
          <a:p>
            <a:pPr algn="l" indent="0" marL="0">
              <a:lnSpc>
                <a:spcPts val="3179"/>
              </a:lnSpc>
              <a:buNone/>
            </a:pPr>
            <a:r>
              <a:rPr lang="en-US" sz="2543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Bệnh</a:t>
            </a:r>
            <a:r>
              <a:rPr lang="en-US" sz="2543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Parkinson:</a:t>
            </a:r>
            <a:r>
              <a:rPr lang="en-US" sz="2543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543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</a:t>
            </a:r>
            <a:r>
              <a:rPr lang="en-US" sz="2543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43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43" dirty="0" spc="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đen</a:t>
            </a:r>
            <a:r>
              <a:rPr lang="en-US" sz="2543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thoái hóa,</a:t>
            </a:r>
            <a:r>
              <a:rPr lang="en-US" sz="2543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543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rối</a:t>
            </a:r>
            <a:r>
              <a:rPr lang="en-US" sz="2543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loạn</a:t>
            </a:r>
            <a:r>
              <a:rPr lang="en-US" sz="2543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543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43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79"/>
              </a:lnSpc>
              <a:buNone/>
            </a:pPr>
            <a:r>
              <a:rPr lang="en-US" sz="2543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43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05984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2604c7d3-72d6-4772-a32c-e8d4b4ef17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r>
              <a:rPr lang="en-US" sz="57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thân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Hành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nơi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thở: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 não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hưởng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Cầu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dây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nối: có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giấc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ngủ,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tỉnh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Tên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"não</a:t>
            </a:r>
            <a:r>
              <a:rPr lang="en-US" sz="30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giữa"</a:t>
            </a: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túi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phôi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thai;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"chất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phúc"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 [S14]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09184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8" name="Shape 36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25/45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0a039c61-3e7e-4831-b01c-3b6c0a21b8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 nhân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thân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57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sợi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tỏa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Nhân</a:t>
            </a:r>
            <a:r>
              <a:rPr lang="en-US" sz="3000" dirty="0" spc="-1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raphe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serotonin;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não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Locus</a:t>
            </a:r>
            <a:r>
              <a:rPr lang="en-US" sz="30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coeruleus</a:t>
            </a:r>
            <a:r>
              <a:rPr lang="en-US" sz="30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(vùng</a:t>
            </a:r>
            <a:r>
              <a:rPr lang="en-US" sz="30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cầu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noradrenaline;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não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30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đen</a:t>
            </a:r>
            <a:r>
              <a:rPr lang="en-US" sz="3000" dirty="0" spc="-2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000" dirty="0" spc="-7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VTA</a:t>
            </a:r>
            <a:r>
              <a:rPr lang="en-US" sz="300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(não</a:t>
            </a:r>
            <a:r>
              <a:rPr lang="en-US" sz="3000" dirty="0" spc="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giữa)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dopamine; thể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Nhân</a:t>
            </a:r>
            <a:r>
              <a:rPr lang="en-US" sz="300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cholinergic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acetylcholine;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7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12384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26/45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5ccfcf40-ecd6-420b-98c3-5f2b7d2fcf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Locus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coeruleus: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thân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não;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 6.12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Purves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vẽ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Noradrenaline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(norepinephrine);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cũng là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hậu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hạch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7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Tỏa</a:t>
            </a:r>
            <a:r>
              <a:rPr lang="en-US" sz="2100" dirty="0" spc="1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</a:t>
            </a:r>
            <a:r>
              <a:rPr lang="en-US" sz="2100" dirty="0" spc="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Lan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tỏa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đích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trước;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vẽ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tiểu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tủy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Liên</a:t>
            </a:r>
            <a:r>
              <a:rPr lang="en-US" sz="21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r>
              <a:rPr lang="en-US" sz="21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Ngủ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chú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ý,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ăn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vai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trò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chất: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4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Liên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chú ý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nghĩa nó "là" sự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chú ý;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4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L05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15583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27/45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e812f81b-58a1-48bb-847f-7d53f74f69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lưới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tỉnh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1949,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Magoun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Moruzzi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cholinergic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cầu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mèo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dậy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(bằng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vật);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1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lưới</a:t>
            </a:r>
            <a:r>
              <a:rPr lang="en-US" sz="2850" b="1" dirty="0" spc="-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(reticular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activating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system)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nhân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 nhanh khi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im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REM.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thức: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locus</a:t>
            </a:r>
            <a:r>
              <a:rPr lang="en-US" sz="28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coeruleus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raphe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tham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chỗ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góp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 giữ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24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18783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847d5bdd-5c8d-42f8-ae5d-a02bbf3b70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thái,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Thức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cholinergic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noradrenaline,</a:t>
            </a: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Ngủ</a:t>
            </a:r>
            <a:r>
              <a:rPr lang="en-US" sz="3000" dirty="0" spc="-1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Ngủ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cholinergic tăng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thức;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noradrenaline,</a:t>
            </a:r>
            <a:r>
              <a:rPr lang="en-US" sz="27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70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21983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29/45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3" name="Moda image moda-export-watermark-28c6e9a2-260f-4734-a097-bb0681db9d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phải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giữ</a:t>
            </a:r>
            <a:r>
              <a:rPr lang="en-US" sz="57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thức</a:t>
            </a:r>
            <a:r>
              <a:rPr lang="en-US" sz="57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thân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Thức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cholinergic,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noradrenaline,</a:t>
            </a:r>
            <a:r>
              <a:rPr lang="en-US" sz="25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Histamine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31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góp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phần,</a:t>
            </a:r>
            <a:r>
              <a:rPr lang="en-US" sz="31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1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31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31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696450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Đồi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góp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1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31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ngủ</a:t>
            </a:r>
            <a:r>
              <a:rPr lang="en-US" sz="31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endParaRPr lang="en-US" sz="3150" dirty="0"/>
          </a:p>
        </p:txBody>
      </p:sp>
      <p:sp>
        <p:nvSpPr>
          <p:cNvPr id="16" name="Shape 14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270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động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kích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[S13]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25182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30/45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372cc52d-03ea-48ee-a1e8-2d2695086e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Tiểu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cây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7974842-9173818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33650" y="2438400"/>
            <a:ext cx="57150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Wikipedia,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BY-SA,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Phần</a:t>
            </a:r>
            <a:r>
              <a:rPr lang="en-US" sz="22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trắng</a:t>
            </a:r>
            <a:r>
              <a:rPr lang="en-US" sz="22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22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nhánh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591800" y="2647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cây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486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Khối</a:t>
            </a:r>
            <a:r>
              <a:rPr lang="en-US" sz="225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phía</a:t>
            </a:r>
            <a:r>
              <a:rPr lang="en-US" sz="2250" dirty="0" spc="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sau,</a:t>
            </a:r>
            <a:r>
              <a:rPr lang="en-US" sz="2250" dirty="0" spc="1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dưới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591800" y="3790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tiểu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4A2A24"/>
          </a:solidFill>
          <a:ln/>
        </p:spPr>
      </p:sp>
      <p:sp>
        <p:nvSpPr>
          <p:cNvPr id="15" name="Text 12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Tiểu não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(cerebellum,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Latin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"não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nhỏ")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não.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nếp</a:t>
            </a:r>
            <a:r>
              <a:rPr lang="en-US" sz="25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dày;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trắng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cành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cây,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cây</a:t>
            </a:r>
            <a:r>
              <a:rPr lang="en-US" sz="25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(arbor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vitae)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cuống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[S14]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[S14]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028382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Shape 4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31/45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fb87e66b-a302-42eb-b9cb-aca1c87735b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Tiểu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2100" dirty="0" spc="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Phía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đại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thân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 qua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cuống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tiểu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Gồm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Hai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cầu,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tiểu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sâu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 [S14]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;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phần: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tiền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đình,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tủy,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đại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Vai</a:t>
            </a:r>
            <a:r>
              <a:rPr lang="en-US" sz="21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trò</a:t>
            </a:r>
            <a:r>
              <a:rPr lang="en-US" sz="2100" dirty="0" spc="-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1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khởi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phát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lệnh;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xác,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đúng lúc,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[S1]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[S14]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Kết</a:t>
            </a:r>
            <a:r>
              <a:rPr lang="en-US" sz="21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Nhận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tiền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đình,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tủy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sống;</a:t>
            </a:r>
            <a:r>
              <a:rPr lang="en-US" sz="2550" dirty="0" spc="4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sâu</a:t>
            </a:r>
            <a:r>
              <a:rPr lang="en-US" sz="255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nơron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210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tên;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tế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bào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Purkinje</a:t>
            </a:r>
            <a:r>
              <a:rPr lang="en-US" sz="2550" dirty="0" spc="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chế, nhân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sâu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tổn</a:t>
            </a:r>
            <a:r>
              <a:rPr lang="en-US" sz="21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thương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Cử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giật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cục,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thiếu chính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(thất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điều),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[S14]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 [S14]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31582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232d6f76-04d1-4c8f-85e5-65fcb5a63c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Hơn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nửa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7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nơron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tiểu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&gt;</a:t>
            </a:r>
            <a:r>
              <a:rPr lang="en-US" sz="22500" dirty="0" spc="-1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50%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Hơn</a:t>
            </a:r>
            <a:r>
              <a:rPr lang="en-US" sz="33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3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nửa</a:t>
            </a:r>
            <a:r>
              <a:rPr lang="en-US" sz="33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(Brain</a:t>
            </a:r>
            <a:r>
              <a:rPr lang="en-US" sz="33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Facts)</a:t>
            </a:r>
            <a:r>
              <a:rPr lang="en-US" sz="33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80%</a:t>
            </a:r>
            <a:r>
              <a:rPr lang="en-US" sz="33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(giáo</a:t>
            </a:r>
            <a:r>
              <a:rPr lang="en-US" sz="33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trình):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33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8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33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đại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não: 82% khối</a:t>
            </a:r>
            <a:r>
              <a:rPr lang="en-US" sz="33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lượng</a:t>
            </a:r>
            <a:r>
              <a:rPr lang="en-US" sz="330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19%</a:t>
            </a:r>
            <a:r>
              <a:rPr lang="en-US" sz="33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33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</a:t>
            </a:r>
            <a:r>
              <a:rPr lang="en-US" sz="33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(Azevedo)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434782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0" name="Shape 38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33/45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4" name="Moda image moda-export-watermark-c8a7c961-3bba-4626-ae17-3971ab8c23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57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lỗi của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tiểu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7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cử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</a:t>
            </a:r>
            <a:r>
              <a:rPr lang="en-US" sz="27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2700" dirty="0"/>
          </a:p>
        </p:txBody>
      </p:sp>
      <p:sp>
        <p:nvSpPr>
          <p:cNvPr id="7" name="Connector line-1792598014644-588166090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Giác</a:t>
            </a:r>
            <a:r>
              <a:rPr lang="en-US" sz="27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báo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cử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tế</a:t>
            </a:r>
            <a:endParaRPr lang="en-US" sz="2700" dirty="0"/>
          </a:p>
        </p:txBody>
      </p:sp>
      <p:sp>
        <p:nvSpPr>
          <p:cNvPr id="12" name="Connector line-1792598014647-88147594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Tiểu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bên,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700" dirty="0"/>
          </a:p>
        </p:txBody>
      </p:sp>
      <p:sp>
        <p:nvSpPr>
          <p:cNvPr id="17" name="Connector line-1792598014649-698279046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Nhân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2700" dirty="0" spc="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 hiệu</a:t>
            </a: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7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nơron vận</a:t>
            </a: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3798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7" name="Shape 55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34/45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f7c94ec4-4ea9-4ec4-845e-4f60f02bec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Tổn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thương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đâu,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vụng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Tiền</a:t>
            </a:r>
            <a:r>
              <a:rPr lang="en-US" sz="3000" dirty="0" spc="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đình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nhìn, rung</a:t>
            </a: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giật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6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Tủy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dáng</a:t>
            </a:r>
            <a:r>
              <a:rPr lang="en-US" sz="270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7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rộng,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Đại</a:t>
            </a:r>
            <a:r>
              <a:rPr lang="en-US" sz="300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khéo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Chung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[S14]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41181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35/45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e1fd4365-1cd7-40f1-9a3a-e577a620b4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Ngoài</a:t>
            </a:r>
            <a:r>
              <a:rPr lang="en-US" sz="57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r>
              <a:rPr lang="en-US" sz="57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động: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57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tiểu</a:t>
            </a:r>
            <a:r>
              <a:rPr lang="en-US" sz="28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Buckner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(2013)</a:t>
            </a:r>
            <a:r>
              <a:rPr lang="en-US" sz="28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tiểu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cãi; các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[S16]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Schmahmann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Sherman (1998)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khám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hội</a:t>
            </a:r>
            <a:r>
              <a:rPr lang="en-US" sz="2850" b="1" dirty="0" spc="2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 tiểu</a:t>
            </a:r>
            <a:r>
              <a:rPr lang="en-US" sz="28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chứng,</a:t>
            </a:r>
            <a:r>
              <a:rPr lang="en-US" sz="240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cãi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1950" dirty="0" spc="1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ảnh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chụp,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phẫu,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bệnh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Suy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luận</a:t>
            </a:r>
            <a:r>
              <a:rPr lang="en-US" sz="195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1950" dirty="0" spc="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r>
              <a:rPr lang="en-US" sz="195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viết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ngôn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4438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3bb058ae-fca6-46b6-99c3-2b2815f1f1f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 nằm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sâu: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57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57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L07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 mã, hạnh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5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đai;</a:t>
            </a:r>
            <a:r>
              <a:rPr lang="en-US" sz="25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xúc,</a:t>
            </a:r>
            <a:r>
              <a:rPr lang="en-US" sz="25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Hạch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mọi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 trừ</a:t>
            </a:r>
            <a:r>
              <a:rPr lang="en-US" sz="2550" dirty="0" spc="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khứu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7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55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yên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47580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1" name="Shape 5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37/45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c673308d-1e98-411d-a542-b15fba9fd3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Hệ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viền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10096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8057898-7855362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9442" y="2438400"/>
            <a:ext cx="8626415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Wikimedia,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391900" y="22479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1391900" y="22479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8" name="Text 5"/>
          <p:cNvSpPr/>
          <p:nvPr/>
        </p:nvSpPr>
        <p:spPr>
          <a:xfrm>
            <a:off x="11734800" y="23431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Amygdala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34800" y="28194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 nhân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1391900" y="390525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1391900" y="3905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9"/>
          <p:cNvSpPr/>
          <p:nvPr/>
        </p:nvSpPr>
        <p:spPr>
          <a:xfrm>
            <a:off x="11734800" y="400050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Hippocampus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34800" y="447675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hải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1391900" y="5562600"/>
            <a:ext cx="59817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91900" y="5562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6" name="Text 13"/>
          <p:cNvSpPr/>
          <p:nvPr/>
        </p:nvSpPr>
        <p:spPr>
          <a:xfrm>
            <a:off x="11734800" y="5657850"/>
            <a:ext cx="5448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Cingulate</a:t>
            </a:r>
            <a:r>
              <a:rPr lang="en-US" sz="22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gyrus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34800" y="6134100"/>
            <a:ext cx="5448300" cy="8001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hồi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đai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(thuộc</a:t>
            </a:r>
            <a:r>
              <a:rPr lang="en-US" sz="25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đai)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450780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7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38/45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0c2aa201-5482-452e-9da6-5cb1bd2faa3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não: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thùy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8059523-9652384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18288" y="2438400"/>
            <a:ext cx="6745725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Anatomy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Physiology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2e,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Frontal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thùy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(L04)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Parietal,</a:t>
            </a:r>
            <a:r>
              <a:rPr lang="en-US" sz="2187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temporal,</a:t>
            </a:r>
            <a:r>
              <a:rPr lang="en-US" sz="2187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occipital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4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L08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Insula</a:t>
            </a:r>
            <a:r>
              <a:rPr lang="en-US" sz="2187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(không</a:t>
            </a:r>
            <a:r>
              <a:rPr lang="en-US" sz="2187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thấy</a:t>
            </a:r>
            <a:r>
              <a:rPr lang="en-US" sz="2187" dirty="0" spc="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2187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đây)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5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L07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4A2A24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b="1" dirty="0" spc="-6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tấm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mỏng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2–4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mm,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1.800 cm²,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nếp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hộp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sọ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rãnh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trán,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đỉnh,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chẩm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thùy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rãnh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 chiếm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82% khối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653980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0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39/45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9b691bae-23c2-4a99-939b-bc3ce2186d1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57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chức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thật, nhưng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Broca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Wernicke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khiếm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b="1" dirty="0" spc="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(localization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function)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hiếm khi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chồng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lấn, dự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nhau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tin từ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"đầu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ra"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Giáo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chuyên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Nhưng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não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vòng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 [S11]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5717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c5532377-4aec-4afd-82aa-4a0c0ee7da1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 của</a:t>
            </a:r>
            <a:r>
              <a:rPr lang="en-US" sz="5700" dirty="0" spc="-5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viết: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nghe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mình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lưới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 giữ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tỉnh</a:t>
            </a:r>
            <a:endParaRPr lang="en-US" sz="2700" dirty="0"/>
          </a:p>
        </p:txBody>
      </p:sp>
      <p:sp>
        <p:nvSpPr>
          <p:cNvPr id="7" name="Connector line-1792598117614-836146095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Đồi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thính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endParaRPr lang="en-US" sz="2700" dirty="0"/>
          </a:p>
        </p:txBody>
      </p:sp>
      <p:sp>
        <p:nvSpPr>
          <p:cNvPr id="12" name="Connector line-1792598117619-135720884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Thùy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cân nhắc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2700" dirty="0"/>
          </a:p>
        </p:txBody>
      </p:sp>
      <p:sp>
        <p:nvSpPr>
          <p:cNvPr id="17" name="Connector line-1792598117622-602869659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Vùng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lệnh,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tiểu não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chỉnh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cú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quay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[S15]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60379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4" name="Shape 62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41/45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35e902a0-9098-469d-9121-a4b71e5f69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"vùng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 làm</a:t>
            </a:r>
            <a:r>
              <a:rPr lang="en-US" sz="57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Y"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Dễ</a:t>
            </a: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 X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sáng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lên,</a:t>
            </a:r>
            <a:r>
              <a:rPr lang="en-US" sz="31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31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4200" dirty="0" spc="-2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 X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31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lưới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Poldrack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(2006):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suy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chặt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chẽ,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càng</a:t>
            </a:r>
            <a:r>
              <a:rPr lang="en-US" sz="28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sáng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6357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6" name="Shape 5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42/45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5bc5478e-8cd9-4718-998e-4633e704d0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422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Trung</a:t>
            </a:r>
            <a:r>
              <a:rPr lang="en-US" sz="22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ương</a:t>
            </a:r>
            <a:r>
              <a:rPr lang="en-US" sz="22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ngoại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biên (thân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thể,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 chủ); ba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r>
              <a:rPr lang="en-US" sz="225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cặp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14400" y="34766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422" dirty="0"/>
          </a:p>
        </p:txBody>
      </p:sp>
      <p:sp>
        <p:nvSpPr>
          <p:cNvPr id="7" name="Shape 5"/>
          <p:cNvSpPr/>
          <p:nvPr/>
        </p:nvSpPr>
        <p:spPr>
          <a:xfrm>
            <a:off x="2724150" y="35718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5718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chụp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điều;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fMRI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422" dirty="0"/>
          </a:p>
        </p:txBody>
      </p:sp>
      <p:sp>
        <p:nvSpPr>
          <p:cNvPr id="10" name="Shape 8"/>
          <p:cNvSpPr/>
          <p:nvPr/>
        </p:nvSpPr>
        <p:spPr>
          <a:xfrm>
            <a:off x="2724150" y="466725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466725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Thân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não: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 cầu não,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giữa;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7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66737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422" dirty="0"/>
          </a:p>
        </p:txBody>
      </p:sp>
      <p:sp>
        <p:nvSpPr>
          <p:cNvPr id="13" name="Shape 11"/>
          <p:cNvSpPr/>
          <p:nvPr/>
        </p:nvSpPr>
        <p:spPr>
          <a:xfrm>
            <a:off x="2724150" y="576262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576262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tỏa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5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khắp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</a:t>
            </a:r>
            <a:r>
              <a:rPr lang="en-US" sz="25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góp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6762750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6422" dirty="0"/>
          </a:p>
        </p:txBody>
      </p:sp>
      <p:sp>
        <p:nvSpPr>
          <p:cNvPr id="16" name="Shape 14"/>
          <p:cNvSpPr/>
          <p:nvPr/>
        </p:nvSpPr>
        <p:spPr>
          <a:xfrm>
            <a:off x="2724150" y="6858000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6858000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Tiểu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động;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trò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7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4400" y="7858125"/>
            <a:ext cx="1619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22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6422" dirty="0"/>
          </a:p>
        </p:txBody>
      </p:sp>
      <p:sp>
        <p:nvSpPr>
          <p:cNvPr id="19" name="Shape 17"/>
          <p:cNvSpPr/>
          <p:nvPr/>
        </p:nvSpPr>
        <p:spPr>
          <a:xfrm>
            <a:off x="2724150" y="7953375"/>
            <a:ext cx="14649450" cy="790575"/>
          </a:xfrm>
          <a:prstGeom prst="roundRect">
            <a:avLst>
              <a:gd name="adj" fmla="val 24096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3105150" y="7953375"/>
            <a:ext cx="140017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Định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năng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thật,</a:t>
            </a:r>
            <a:r>
              <a:rPr lang="en-US" sz="27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 [S9]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46677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5" name="Shape 6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43/45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78c7077f-2d3a-47f8-80b7-2421cb2a95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Hình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giấy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Hình</a:t>
            </a:r>
            <a:r>
              <a:rPr lang="en-US" sz="30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</a:t>
            </a:r>
            <a:r>
              <a:rPr lang="en-US" sz="30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(2.3)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Hình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</a:t>
            </a:r>
            <a:r>
              <a:rPr lang="en-US" sz="30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(2.2),</a:t>
            </a:r>
            <a:r>
              <a:rPr lang="en-US" sz="300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</a:t>
            </a:r>
            <a:r>
              <a:rPr lang="en-US" sz="3000" dirty="0" spc="-2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00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5</a:t>
            </a:r>
            <a:r>
              <a:rPr lang="en-US" sz="30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(2.4)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Wikimedia,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OpenStax;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Hình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9,</a:t>
            </a:r>
            <a:r>
              <a:rPr lang="en-US" sz="30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12,</a:t>
            </a:r>
            <a:r>
              <a:rPr lang="en-US" sz="300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19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(2.6)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Martinez,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Wikimedia;</a:t>
            </a:r>
            <a:r>
              <a:rPr lang="en-US" sz="27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Hình</a:t>
            </a:r>
            <a:r>
              <a:rPr lang="en-US" sz="30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23</a:t>
            </a:r>
            <a:r>
              <a:rPr lang="en-US" sz="300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(2.6)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Wikipedia,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27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BY-SA;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tĩnh từ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Hình</a:t>
            </a:r>
            <a:r>
              <a:rPr lang="en-US" sz="3000" dirty="0" spc="-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24</a:t>
            </a:r>
            <a:r>
              <a:rPr lang="en-US" sz="300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(2.6)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Blausen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Wikimedia;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</a:t>
            </a:r>
            <a:endParaRPr lang="en-US" sz="2700" dirty="0"/>
          </a:p>
        </p:txBody>
      </p:sp>
      <p:sp>
        <p:nvSpPr>
          <p:cNvPr id="23" name="Shape 21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6997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7" name="Shape 65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44/45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c591316c-15e0-45ec-897c-12c4c05184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Biological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Azevedo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2009,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Comp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Neurol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NINDS,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Basics: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Know</a:t>
            </a:r>
            <a:r>
              <a:rPr lang="en-US" sz="210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Your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Society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Neuroscience,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Facts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2018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 2.3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Nervous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2.5 The</a:t>
            </a: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Central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Nervous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2.4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Peripheral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Nervous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Purves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2e,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Ch21: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Visceral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Motor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 2.2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Visualizing and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Navigating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Human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Purves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2e,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Ch1: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Anatomical</a:t>
            </a:r>
            <a:r>
              <a:rPr lang="en-US" sz="16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Terminology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4.2, 4.4, 4.5:</a:t>
            </a:r>
            <a:r>
              <a:rPr lang="en-US" sz="16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16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Logothetis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2008,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Nature: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What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what</a:t>
            </a:r>
            <a:r>
              <a:rPr lang="en-US" sz="16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</a:t>
            </a:r>
            <a:r>
              <a:rPr lang="en-US" sz="16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cannot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with fMRI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Purves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2e,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Ch6: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Biogenic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Amines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Purves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2e,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Ch19: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Cerebellum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Purves</a:t>
            </a:r>
            <a:r>
              <a:rPr lang="en-US" sz="16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</a:t>
            </a:r>
            <a:r>
              <a:rPr lang="en-US" sz="16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2e,</a:t>
            </a:r>
            <a:r>
              <a:rPr lang="en-US" sz="16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Ch28: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Neural</a:t>
            </a:r>
            <a:r>
              <a:rPr lang="en-US" sz="16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Circuits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Governing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Sleep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Buckner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2013,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Neuron: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cerebellum</a:t>
            </a:r>
            <a:r>
              <a:rPr lang="en-US" sz="16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cognitive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6053" rIns="0" bIns="-6053" rtlCol="0" anchor="ctr"/>
          <a:lstStyle/>
          <a:p>
            <a:pPr algn="l" indent="0" marL="0">
              <a:lnSpc>
                <a:spcPts val="1947"/>
              </a:lnSpc>
              <a:buNone/>
            </a:pP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Schmahmann</a:t>
            </a:r>
            <a:r>
              <a:rPr lang="en-US" sz="16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Sherman</a:t>
            </a:r>
            <a:r>
              <a:rPr lang="en-US" sz="16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1998,</a:t>
            </a:r>
            <a:r>
              <a:rPr lang="en-US" sz="16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Brain:</a:t>
            </a:r>
            <a:r>
              <a:rPr lang="en-US" sz="16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cerebellar</a:t>
            </a:r>
            <a:r>
              <a:rPr lang="en-US" sz="16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cognitive</a:t>
            </a:r>
            <a:r>
              <a:rPr lang="en-US" sz="16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affective</a:t>
            </a:r>
            <a:r>
              <a:rPr lang="en-US" sz="16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syndrome</a:t>
            </a:r>
            <a:endParaRPr lang="en-US" sz="165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Poldrack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2006,</a:t>
            </a:r>
            <a:r>
              <a:rPr lang="en-US" sz="18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Trends</a:t>
            </a:r>
            <a:r>
              <a:rPr lang="en-US" sz="18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Cogn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Sci:</a:t>
            </a:r>
            <a:r>
              <a:rPr lang="en-US" sz="18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reverse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inference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987317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45/45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4" name="Moda image moda-export-watermark-28ea75dd-805a-4d35-b310-f1daf29b6b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2026-10-21T15:56:43Z</dcterms:created>
  <dcterms:modified xsi:type="dcterms:W3CDTF">2026-10-21T15:56:43Z</dcterms:modified>
</cp:coreProperties>
</file>