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8288000" cy="10287000"/>
  <p:notesSz cx="10287000" cy="18288000"/>
  <p:embeddedFontLst>
    <p:embeddedFont>
      <p:font typeface="Be Vietnam Pro"/>
      <p:regular r:id="rId66"/>
      <p:bold r:id="rId63"/>
    </p:embeddedFont>
    <p:embeddedFont>
      <p:font typeface="Bricolage Grotesque ExtraBold"/>
      <p:regular r:id="rId64"/>
    </p:embeddedFont>
    <p:embeddedFont>
      <p:font typeface="Be Vietnam Pro SemiBold"/>
      <p:regular r:id="rId65"/>
    </p:embeddedFont>
    <p:embeddedFont>
      <p:font typeface="Be Vietnam Pro ExtraBold"/>
      <p:regular r:id="rId67"/>
    </p:embeddedFont>
    <p:embeddedFont>
      <p:font typeface="Be Vietnam Pro Medium"/>
      <p:regular r:id="rId6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openxmlformats.org/officeDocument/2006/relationships/font" Target="fonts/font1.fntdata"/><Relationship Id="rId64" Type="http://schemas.openxmlformats.org/officeDocument/2006/relationships/font" Target="fonts/font2.fntdata"/><Relationship Id="rId65" Type="http://schemas.openxmlformats.org/officeDocument/2006/relationships/font" Target="fonts/font3.fntdata"/><Relationship Id="rId66" Type="http://schemas.openxmlformats.org/officeDocument/2006/relationships/font" Target="fonts/font4.fntdata"/><Relationship Id="rId67" Type="http://schemas.openxmlformats.org/officeDocument/2006/relationships/font" Target="fonts/font5.fntdata"/><Relationship Id="rId6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77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252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47775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6207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668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10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297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822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5730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52550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6685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5716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6687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29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775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573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620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57325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162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764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3345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477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247775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6207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668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56210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67640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4297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3822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525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25730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352550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46685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5716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66687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429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4775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143000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2573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3620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457325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57162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6764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THẦN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8100" dirty="0"/>
          </a:p>
        </p:txBody>
      </p:sp>
      <p:sp>
        <p:nvSpPr>
          <p:cNvPr id="52" name="Text 50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330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 cảm xúc</a:t>
            </a:r>
            <a:r>
              <a:rPr lang="en-US" sz="3300" dirty="0" spc="-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 chất</a:t>
            </a:r>
            <a:r>
              <a:rPr lang="en-US" sz="3300" dirty="0" spc="-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3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3300" dirty="0" spc="-2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3300" dirty="0" spc="1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định?</a:t>
            </a:r>
            <a:endParaRPr lang="en-US" sz="3300" dirty="0"/>
          </a:p>
        </p:txBody>
      </p:sp>
      <p:sp>
        <p:nvSpPr>
          <p:cNvPr id="53" name="Shape 51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endParaRPr lang="en-US" sz="2550" dirty="0"/>
          </a:p>
        </p:txBody>
      </p:sp>
      <p:sp>
        <p:nvSpPr>
          <p:cNvPr id="55" name="Shape 53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Dopamine,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endParaRPr lang="en-US" sz="2550" dirty="0"/>
          </a:p>
        </p:txBody>
      </p:sp>
      <p:sp>
        <p:nvSpPr>
          <p:cNvPr id="57" name="Shape 55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Noradrenaline,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</a:t>
            </a:r>
            <a:endParaRPr lang="en-US" sz="2550" dirty="0"/>
          </a:p>
        </p:txBody>
      </p:sp>
      <p:sp>
        <p:nvSpPr>
          <p:cNvPr id="59" name="Shape 57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Serotonin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5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99c6cfcb-5479-4ac7-b397-9b89216e06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Không: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 làm</a:t>
            </a:r>
            <a:r>
              <a:rPr lang="en-US" sz="6900" dirty="0" spc="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91" dirty="0" spc="-5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9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9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9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9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truyền;</a:t>
            </a:r>
            <a:r>
              <a:rPr lang="en-US" sz="259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thành</a:t>
            </a:r>
            <a:r>
              <a:rPr lang="en-US" sz="259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9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59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9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(nhanh)</a:t>
            </a:r>
            <a:r>
              <a:rPr lang="en-US" sz="259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9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</a:t>
            </a:r>
            <a:r>
              <a:rPr lang="en-US" sz="259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(chậm)</a:t>
            </a:r>
            <a:endParaRPr lang="en-US" sz="2591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08983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02/56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5c62396a-5c88-4333-b629-0ffedb3c4e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suốt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xúc,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mạch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CRF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72269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Text 7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03/56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7" name="Moda image moda-export-watermark-e565eeb6-538f-4159-8873-439d428358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Hormone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truyền: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giản: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hormone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xa;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tác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cạnh.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thụ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nhiều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Hormone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vào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máu,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Chất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dẫn</a:t>
            </a:r>
            <a:r>
              <a:rPr lang="en-US" sz="195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vào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khe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synapse,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ranh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24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35555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38f0dd02-5786-4e22-8dfa-b92d0de65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cách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</a:t>
            </a:r>
            <a:r>
              <a:rPr lang="en-US" sz="42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</a:t>
            </a:r>
            <a:r>
              <a:rPr lang="en-US" sz="4200" dirty="0" spc="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gần,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tràn</a:t>
            </a:r>
            <a:r>
              <a:rPr lang="en-US" sz="31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Neuropeptide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r>
              <a:rPr lang="en-US" sz="31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 chậm,</a:t>
            </a:r>
            <a:r>
              <a:rPr lang="en-US" sz="31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peptide</a:t>
            </a:r>
            <a:r>
              <a:rPr lang="en-US" sz="28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hormone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598841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05/56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32a52dc2-1529-4e56-9da7-a20ab23f30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noradrenaline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tủy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thượng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của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Hormone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oxytocin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phóng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 [S17]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7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Text 7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06/56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7" name="Moda image moda-export-watermark-27a51193-e5fe-441a-95cd-ca4b4d403b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57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(và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acetylcholine)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Amino</a:t>
            </a:r>
            <a:r>
              <a:rPr lang="en-US" sz="3000" dirty="0" spc="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acid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glutamate,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GABA,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glycine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Amin</a:t>
            </a:r>
            <a:r>
              <a:rPr lang="en-US" sz="30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30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dopamine,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noradrenaline,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adrenaline,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serotonin,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histamine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Acetylcholine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tử nhỏ,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Neuropeptide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 như endorphin,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oxytocin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25413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07/56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8" name="Moda image moda-export-watermark-2274d0a8-b689-4b0f-87a6-6e8701cac6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57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Acetylcholine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2814" rIns="0" bIns="-12814" rtlCol="0" anchor="t"/>
          <a:lstStyle/>
          <a:p>
            <a:pPr algn="l" indent="0" marL="0">
              <a:lnSpc>
                <a:spcPts val="3095"/>
              </a:lnSpc>
              <a:buNone/>
            </a:pPr>
            <a:r>
              <a:rPr lang="en-US" sz="238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enzyme</a:t>
            </a:r>
            <a:r>
              <a:rPr lang="en-US" sz="238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acetylcholinesterase</a:t>
            </a:r>
            <a:r>
              <a:rPr lang="en-US" sz="238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38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38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38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Amin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nhờ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GABA,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Neuropeptide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khuếch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protease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088699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08/56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2" name="Moda image moda-export-watermark-01b4019a-e781-46ae-9ba9-ec8362e5da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20981920-5746128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6828" y="2438400"/>
            <a:ext cx="8611644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Vesicle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túi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chứa</a:t>
            </a: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Synaptic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gap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Receptor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gai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251985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09/56</a:t>
            </a:r>
            <a:endParaRPr lang="en-US" sz="1800" dirty="0"/>
          </a:p>
        </p:txBody>
      </p:sp>
      <p:sp>
        <p:nvSpPr>
          <p:cNvPr id="76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7" name="Moda image moda-export-watermark-e1bdfd4b-e10d-4ee2-8e1b-24f59998fe9d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thụ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thể: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42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200" dirty="0" spc="-1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42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kênh;</a:t>
            </a:r>
            <a:r>
              <a:rPr lang="en-US" sz="31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315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375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750" dirty="0" spc="-1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375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3750" dirty="0" spc="-1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protein</a:t>
            </a:r>
            <a:r>
              <a:rPr lang="en-US" sz="375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kênh;</a:t>
            </a:r>
            <a:r>
              <a:rPr lang="en-US" sz="31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315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hơn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 thích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ion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415271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10/56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4ccf0c83-8516-41df-8096-96ca01a561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r>
              <a:rPr lang="en-US" sz="57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20984256-1016678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80177" y="2438400"/>
            <a:ext cx="6621946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Action</a:t>
            </a:r>
            <a:r>
              <a:rPr lang="en-US" sz="2187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potential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 có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Release</a:t>
            </a:r>
            <a:r>
              <a:rPr lang="en-US" sz="2187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of</a:t>
            </a:r>
            <a:r>
              <a:rPr lang="en-US" sz="2187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neurotransmitter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EPSPs</a:t>
            </a:r>
            <a:r>
              <a:rPr lang="en-US" sz="2187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and IPSPs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thích,</a:t>
            </a:r>
            <a:r>
              <a:rPr lang="en-US" sz="25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4A3A22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 gắn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EPSP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(kích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thích,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ngưỡng)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IPSP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(ức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ngưỡng).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2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L02.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578558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11/56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9" name="Moda image moda-export-watermark-7b265315-4044-4fc7-9f65-f131eced440a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 của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 sơ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Tên,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học,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270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 nhân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7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7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Vai</a:t>
            </a:r>
            <a:r>
              <a:rPr lang="en-US" sz="27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trò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Liên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 vi,</a:t>
            </a:r>
            <a:r>
              <a:rPr lang="en-US" sz="270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kèm</a:t>
            </a:r>
            <a:r>
              <a:rPr lang="en-US" sz="27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7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Thuốc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7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rối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quan,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hiểu nhầm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41844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12/56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9" name="Moda image moda-export-watermark-cb9de31d-62e6-411c-bb2d-8743e49626b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Glutamate: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 kích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não: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 trung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ương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glutamate;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 thần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dư,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glutamine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kích thích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 thể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khắp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 thích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nhanh,</a:t>
            </a:r>
            <a:r>
              <a:rPr lang="en-US" sz="2400" dirty="0" spc="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 thích</a:t>
            </a:r>
            <a:r>
              <a:rPr lang="en-US" sz="24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phấn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[S11]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30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470aa33c-7fd5-457c-93ba-67cb740ac5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Glutamate: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Amino acid,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riêng;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khắp não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AMPA/kainate,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NMDA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(kênh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ion,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thích); thụ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(chậm)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Vai</a:t>
            </a:r>
            <a:r>
              <a:rPr lang="en-US" sz="21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trò</a:t>
            </a:r>
            <a:r>
              <a:rPr lang="en-US" sz="210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1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vùng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NMDA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 hai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cùng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hoạt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động: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sở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dạng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ghi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nhớ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Rượu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glutamate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NMDA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Rối</a:t>
            </a:r>
            <a:r>
              <a:rPr lang="en-US" sz="21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Độc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đột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quỵ,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chấn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thương: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Ca2+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NMDA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[S11]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68416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2fd38292-d680-4d23-9306-f01dfeca7e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thụ thể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glutamate</a:t>
            </a:r>
            <a:endParaRPr lang="en-US" sz="5700" dirty="0"/>
          </a:p>
        </p:txBody>
      </p:sp>
      <p:sp>
        <p:nvSpPr>
          <p:cNvPr id="3" name="Connector line-1792621065813-171791171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" name="Connector line-1792621065813-110432930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Connector line-1792621065813-109471341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glutamate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AMPA/kainate: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ion, phần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EPSP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NMDA: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Ca2+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glycine,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Mg2+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 thể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G: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31702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15/56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3" name="Moda image moda-export-watermark-5be2d6dc-89ce-41a2-b92b-1d842fa0e6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GABA: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khắp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GABA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 trung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ương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 enzyme GAD,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amino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 nó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(axodendritic)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10–50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(axosomatic),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 hãm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gần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bào,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khắp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ức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chế,</a:t>
            </a:r>
            <a:r>
              <a:rPr lang="en-US" sz="24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nhịp,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lọc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buồn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394988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5772d20f-8269-4ddf-88f2-aef0a9292b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GABA: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Amino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acid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glutamate,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 chính; không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riêng;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enzyme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GAD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GABA từ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glutamate,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 có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GABA-A:</a:t>
            </a:r>
            <a:r>
              <a:rPr lang="en-US" sz="2550" dirty="0" spc="-2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kênh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Cl-,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nhanh;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GABA-B: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G, chậm; cả hai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GABA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đủ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hạnh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quá</a:t>
            </a:r>
            <a:r>
              <a:rPr lang="en-US" sz="255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hoạt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 âu: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thuyết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[S7]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Nhóm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benzodiazepine,</a:t>
            </a:r>
            <a:r>
              <a:rPr lang="en-US" sz="255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barbiturate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rượu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 tác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GABA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Rối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Động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kinh ổ: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giải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 là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GABA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chỗ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[S11]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58274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c43387b3-8ff5-4845-b7df-5f11f15e39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GABA-A,</a:t>
            </a: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GABA-B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</a:t>
            </a:r>
            <a:r>
              <a:rPr lang="en-US" sz="57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GABA-A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Cl-,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GABA-B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G,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Benzodiazepine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 hơn,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Rượu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lẽ giữ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 mở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Cl-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21560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18/56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8" name="Moda image moda-export-watermark-e8561aa3-dca0-4548-8c80-064c3df30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nơron,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catecholamine,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tyrosine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não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giữa: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(substantia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nigra)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mái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(VTA),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ở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850" dirty="0" spc="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viền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vỏ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 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10.2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ham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muốn,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hào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đen,</a:t>
            </a:r>
            <a:r>
              <a:rPr lang="en-US" sz="2400" dirty="0" spc="-5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VTA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 não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vận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cơ,</a:t>
            </a:r>
            <a:r>
              <a:rPr lang="en-US" sz="24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hòa hormone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khoái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84847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5cea4167-f987-4b32-9c15-aab35db02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Catecholamine,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tyrosine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-3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DOPA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Chất</a:t>
            </a:r>
            <a:r>
              <a:rPr lang="en-US" sz="25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đen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phần</a:t>
            </a:r>
            <a:r>
              <a:rPr lang="en-US" sz="25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đặc,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</a:t>
            </a:r>
            <a:r>
              <a:rPr lang="en-US" sz="2550" dirty="0" spc="-3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(VTA);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dưới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đồi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Họ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D1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cAMP,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dễ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thích; họ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D2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 cAMP,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khó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Sai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dự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đoán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phần</a:t>
            </a:r>
            <a:r>
              <a:rPr lang="en-US" sz="25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thưởng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[S16]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;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muốn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 thích:</a:t>
            </a:r>
            <a:r>
              <a:rPr lang="en-US" sz="2550" dirty="0" spc="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đang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tranh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luận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[S15]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Rối</a:t>
            </a:r>
            <a:r>
              <a:rPr lang="en-US" sz="21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Parkinson:</a:t>
            </a:r>
            <a:r>
              <a:rPr lang="en-US" sz="2550" dirty="0" spc="-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dopamine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đen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thoái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hóa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(giáo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khoa)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khoái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cảm;</a:t>
            </a:r>
            <a:r>
              <a:rPr lang="en-US" sz="2550" dirty="0" spc="-5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Roy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Wise</a:t>
            </a:r>
            <a:r>
              <a:rPr lang="en-US" sz="2550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rút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thuyết</a:t>
            </a:r>
            <a:r>
              <a:rPr lang="en-US" sz="255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đó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[S15]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[S15]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48133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662d0959-cca5-4231-a6bd-1bf966a6fe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endParaRPr lang="en-US" sz="5700" dirty="0"/>
          </a:p>
        </p:txBody>
      </p:sp>
      <p:sp>
        <p:nvSpPr>
          <p:cNvPr id="3" name="Connector line-1792621161987-684156800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" name="Connector line-1792621161987-537599487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Connector line-1792621161987-14688389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Connector line-1792621161987-202871409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Mesostriatal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đen,</a:t>
            </a: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VTA):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Mesolimbocortical: não giữa → cấu trúc viền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Quanh não thất: vùng dưới đồi → đồi thị, tủy sống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Tuberohypophyseal: vùng dưới đồi → tuyến yên, hãm prolactin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11419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404ca077-9e3e-42d8-bded-8b376f4be4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Serotonin: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raphe</a:t>
            </a:r>
            <a:r>
              <a:rPr lang="en-US" sz="57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khắp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Serotonin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(5-HT)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indolamine,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tryptophan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85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raphe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hành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tủy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não,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nền, hệ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ngủ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hung hăng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loại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nhân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raphe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ngủ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khẩu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hăng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bình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4705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22/56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d77236fa-92d8-4dd3-9983-6b667e422e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Serotonin: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Các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raphe: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cụm đuôi ở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não,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cụm</a:t>
            </a:r>
            <a:r>
              <a:rPr lang="en-US" sz="2550" dirty="0" spc="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đầu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Đường</a:t>
            </a:r>
            <a:r>
              <a:rPr lang="en-US" sz="2100" dirty="0" spc="1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Cụm</a:t>
            </a:r>
            <a:r>
              <a:rPr lang="en-US" sz="2550" dirty="0" spc="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cấp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80%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sợi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serotonin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 não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trước;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cụm đuôi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xuống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tủy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Rất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nhiều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loại,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đều</a:t>
            </a:r>
            <a:r>
              <a:rPr lang="en-US" sz="2550" dirty="0" spc="-3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cặp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trừ 5-HT3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-2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kênh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ion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Động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vật: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serotonin</a:t>
            </a:r>
            <a:r>
              <a:rPr lang="en-US" sz="2550" dirty="0" spc="3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</a:t>
            </a:r>
            <a:r>
              <a:rPr lang="en-US" sz="2550" dirty="0" spc="-2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kèm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hung hăng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;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trầm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cảm: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đang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tranh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luận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[S13]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Nhóm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SSRI,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vòng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chặn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 hồi;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MAOI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chặn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enzyme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phân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hủy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Rối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Trầm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cảm;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ám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ảnh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cưỡng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chế;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hướng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 cho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âu</a:t>
            </a:r>
            <a:r>
              <a:rPr lang="en-US" sz="2550" dirty="0" spc="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đề</a:t>
            </a:r>
            <a:r>
              <a:rPr lang="en-US" sz="2550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xuất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SSRI,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SNRI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r>
              <a:rPr lang="en-US" sz="255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[S7]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[S13]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37991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564aac3e-179e-498c-886b-c616c1d81b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thụ thể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serotonin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5-HT1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 tính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5-HT1B,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5-HT1D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5-HT2,</a:t>
            </a:r>
            <a:r>
              <a:rPr lang="en-US" sz="3000" dirty="0" spc="-4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5-HT4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5-HT3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ion,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01277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24/56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8" name="Moda image moda-export-watermark-1e54bf61-cdd4-457e-ae20-9407a0606c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Noradrenaline:</a:t>
            </a: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Noradrenaline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(norepinephrine)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catecholamine,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túi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locus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coeruleus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bào,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phủ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não,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tiểu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tủy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im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ngủ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kích thích mạnh; nhìn chung nó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locus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coeruleus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cảnh giác,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ngủ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khác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adrenaline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64563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a1a96c2e-8387-4579-8631-56a58ffbfa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Noradrenaline: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Catecholamine, tạo từ dopamine nhờ dopamine β-hydroxylase trong túi chứa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Locus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coeruleus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(nhân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lam)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não: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đến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2.000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mỗi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(chuột)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Tất cả kết cặp protein G; có các họ α1, α2 và β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Vai</a:t>
            </a:r>
            <a:r>
              <a:rPr lang="en-US" sz="21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trò</a:t>
            </a:r>
            <a:r>
              <a:rPr lang="en-US" sz="210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1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vùng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Mức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cảnh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giác: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lọc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yếu,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550" dirty="0" spc="-2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rõ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vừa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Hưng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cảm: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serotonin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thấp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cùng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noradrenaline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cao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 chế: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thuyết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Adrenaline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chủ</a:t>
            </a:r>
            <a:r>
              <a:rPr lang="en-US" sz="2550" dirty="0" spc="-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yếu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 hormone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tủy</a:t>
            </a:r>
            <a:r>
              <a:rPr lang="en-US" sz="25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thượng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thận,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noradrenaline</a:t>
            </a:r>
            <a:r>
              <a:rPr lang="en-US" sz="25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[S10]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[S7]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27849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26/56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82125854-b28d-4e1b-8303-d364a15580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Locus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coeruleus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Connector line-1792621227606-753733846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" name="Connector line-1792621227606-450403425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Connector line-1792621227606-745140081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Connector line-1792621227607-882187148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Locus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coeruleus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não: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Tiểu não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Tủy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191136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4f3f3ba6-8026-4c7d-9652-96e4ae0123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Acetylcholine: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bắp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Acetylcholine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(ACh)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 enzyme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thần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kinh–cơ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dài;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8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Meynert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cấu trúc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enzyme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acetylcholinesterase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muscarinic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nhân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Meynert,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vách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cơ,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ăn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choline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54422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da72fecd-bd6f-44d6-b41c-0af08ee165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Acetylcholine: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Phân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tử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nhỏ,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thuộc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amino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acid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amin;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nhờ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enzyme</a:t>
            </a:r>
            <a:r>
              <a:rPr lang="en-US" sz="2550" dirty="0" spc="-5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ChAT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Nhân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Meynert,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vách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dải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chéo,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não–não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giữa;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trung gian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Nicotinic: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kênh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ion,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nhanh,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muscarinic: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G,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Vai</a:t>
            </a:r>
            <a:r>
              <a:rPr lang="en-US" sz="21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trò</a:t>
            </a:r>
            <a:r>
              <a:rPr lang="en-US" sz="21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10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vùng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Co cơ;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chỉnh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mạch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hạch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nền; học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nhớ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Chất</a:t>
            </a:r>
            <a:r>
              <a:rPr lang="en-US" sz="240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4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AChE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 hồi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phục</a:t>
            </a:r>
            <a:r>
              <a:rPr lang="en-US" sz="240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gây</a:t>
            </a:r>
            <a:r>
              <a:rPr lang="en-US" sz="240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liệt;</a:t>
            </a:r>
            <a:r>
              <a:rPr lang="en-US" sz="24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hồi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phục dùng</a:t>
            </a:r>
            <a:r>
              <a:rPr lang="en-US" sz="240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nhược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cơ;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rượu</a:t>
            </a:r>
            <a:r>
              <a:rPr lang="en-US" sz="240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gắn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40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ACh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[S1]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Rối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loạn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Alzheimer: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đường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ACh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thoái hóa;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nhược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cơ: kháng thể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phá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[S9]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17708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29/56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d271ebec-b53e-426e-83e3-8084fab7e3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Nicotinic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muscarinic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Nicotinic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ion;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</a:t>
            </a:r>
            <a:r>
              <a:rPr lang="en-US" sz="31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ngắn;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thích;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chỗ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thần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kinh–cơ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Muscarinic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protein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G;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31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dài;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hạch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nền,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nicotine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muscarine,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chước</a:t>
            </a:r>
            <a:r>
              <a:rPr lang="en-US" sz="28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ACh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80994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30/56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808e35ce-2624-4e36-b621-40f6566cc1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Endorphin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opioid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Opioid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phiện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Endorphin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enkephalin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dynorphin;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hơn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opioid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(mu,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delta,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kappa)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Opioid nội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 phản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đau,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khát,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hồi mà bị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enzyme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opioid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khắp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đau,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đói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khát,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sắc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niềm vui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44280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783284c1-feee-4bb4-977d-632af854ee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Endorphin</a:t>
            </a:r>
            <a:r>
              <a:rPr lang="en-US" sz="57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opioid: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Neuropeptide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cắt</a:t>
            </a:r>
            <a:r>
              <a:rPr lang="en-US" sz="2550" dirty="0" spc="-2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protein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tiền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dài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hơn;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beta-endorphin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cùng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tiền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5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ACTH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[S12]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Mu,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delta,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kappa;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phấn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opiate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mu</a:t>
            </a:r>
            <a:r>
              <a:rPr lang="en-US" sz="2550" dirty="0" spc="-2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delta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Vai</a:t>
            </a:r>
            <a:r>
              <a:rPr lang="en-US" sz="210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trò</a:t>
            </a:r>
            <a:r>
              <a:rPr lang="en-US" sz="21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1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vùng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Đau,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đói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khát,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khí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sắc,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miễn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Điểm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nóng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opioid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gấp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đôi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phản</a:t>
            </a:r>
            <a:r>
              <a:rPr lang="en-US" sz="2550" dirty="0" spc="2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vị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ngọt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chuột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(động</a:t>
            </a:r>
            <a:r>
              <a:rPr lang="en-US" sz="2550" dirty="0" spc="-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vật)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[S15]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Heroin,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morphin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đúng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 opioid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nội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sinh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Ngay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cạnh</a:t>
            </a:r>
            <a:r>
              <a:rPr lang="en-US" sz="2550" dirty="0" spc="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điểm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nóng,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cùng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opioid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 giảm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phản</a:t>
            </a:r>
            <a:r>
              <a:rPr lang="en-US" sz="2550" dirty="0" spc="2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[S15]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[S12] [S15]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07566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aed43d25-7218-4130-907d-ddb7c98627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Opiate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hãm cái hãm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Heroin,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morphin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6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VTA</a:t>
            </a:r>
            <a:endParaRPr lang="en-US" sz="2700" dirty="0"/>
          </a:p>
        </p:txBody>
      </p:sp>
      <p:sp>
        <p:nvSpPr>
          <p:cNvPr id="7" name="Connector line-1792621304197-392816519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 hơn</a:t>
            </a:r>
            <a:endParaRPr lang="en-US" sz="2700" dirty="0"/>
          </a:p>
        </p:txBody>
      </p:sp>
      <p:sp>
        <p:nvSpPr>
          <p:cNvPr id="12" name="Connector line-1792621304199-540582531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bớt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hãm</a:t>
            </a:r>
            <a:endParaRPr lang="en-US" sz="2700" dirty="0"/>
          </a:p>
        </p:txBody>
      </p:sp>
      <p:sp>
        <p:nvSpPr>
          <p:cNvPr id="17" name="Connector line-1792621304201-582718715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 hơn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 accumbens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170852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33/56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612e7034-e8ba-4883-900d-33fad33b06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Oxytocin</a:t>
            </a:r>
            <a:r>
              <a:rPr lang="en-US" sz="57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vasopressin: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hormone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Oxytocin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peptide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amino acid,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nhân cạnh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(PVN)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(SON)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yên,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cung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sinh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sữa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bú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nhánh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 thể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Vasopressin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peptide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PVN,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hormone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máu,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hòa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thân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34138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c403c373-0114-40f5-8de3-d0c23fa6df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Oxytocin</a:t>
            </a:r>
            <a:r>
              <a:rPr lang="en-US" sz="57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vasopressin: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Tên,</a:t>
            </a:r>
            <a:r>
              <a:rPr lang="en-US" sz="21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loại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10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Peptide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vòng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 amino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acid;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họ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vasopressin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[S17]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r>
              <a:rPr lang="en-US" sz="21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21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1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PVN,</a:t>
            </a:r>
            <a:r>
              <a:rPr lang="en-US" sz="255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SON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phụ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dưới</a:t>
            </a:r>
            <a:r>
              <a:rPr lang="en-US" sz="2550" dirty="0" spc="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đồi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[S17]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Đường</a:t>
            </a:r>
            <a:r>
              <a:rPr lang="en-US" sz="2100" dirty="0" spc="1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Vào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máu qua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thùy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tuyến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yên;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nhánh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 tới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hạnh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nhân,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vân,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hải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mã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[S17]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Thụ</a:t>
            </a:r>
            <a:r>
              <a:rPr lang="en-US" sz="21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Protein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G,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chủ</a:t>
            </a:r>
            <a:r>
              <a:rPr lang="en-US" sz="2550" dirty="0" spc="-2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yếu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Gq;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nằm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nhiều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[S17]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Cảm</a:t>
            </a:r>
            <a:r>
              <a:rPr lang="en-US" sz="21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xúc,</a:t>
            </a:r>
            <a:r>
              <a:rPr lang="en-US" sz="2100" dirty="0" spc="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210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Chuột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đồng: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chặn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 giảm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gắn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đôi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(nhân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quả,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vật);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người:</a:t>
            </a:r>
            <a:r>
              <a:rPr lang="en-US" sz="25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tương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Thuốc,</a:t>
            </a:r>
            <a:r>
              <a:rPr lang="en-US" sz="21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21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21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Chưa</a:t>
            </a:r>
            <a:r>
              <a:rPr lang="en-US" sz="2550" dirty="0" spc="-2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rõ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đọc;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vasopressin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liên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giận: giả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thuyết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497425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35/56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6" name="Moda image moda-export-watermark-39662806-6bba-43ed-a184-0ef466b395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Chuột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thảo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21307708-558511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8952" y="2438400"/>
            <a:ext cx="7527396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Todd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Ahern,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 (chương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Prairie</a:t>
            </a:r>
            <a:r>
              <a:rPr lang="en-US" sz="2250" dirty="0" spc="-1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vole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chuột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thảo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05250"/>
            <a:ext cx="5448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Loài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Pair</a:t>
            </a:r>
            <a:r>
              <a:rPr lang="en-US" sz="22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bonding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gắn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đôi;</a:t>
            </a:r>
            <a:r>
              <a:rPr lang="en-US" sz="25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L09,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L10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660711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36/56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0597d4e1-5340-40f8-b644-8fb060f5b09c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Nhân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Dopamine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 đen, VTA → thể vân, nhân accumbens, hệ viền, vỏ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Noradrenaline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locus coeruleus → gần như toàn bộ não, tiểu não, tủy sống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Serotonin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raphe → não trước; cụm đuôi xuống tủy sống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Acetylcholine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nền Meynert → vỏ não; vách giữa → cấu trúc viền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Histamine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 dưới đồi sau → phóng chiếu rộng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823997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37/56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2" name="Moda image moda-export-watermark-82901f0b-674d-4768-bb27-312087b3e3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Dẫn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57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điển.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nhiều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lân cận: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850" b="1" dirty="0" spc="-1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ít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phủ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 chỉnh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nhau: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noradrenaline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nhau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amin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neuropeptide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chỉnh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 không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 chất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87283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fa7b9bc7-6cdb-4397-abd7-bd8e6f012f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57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bào,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phủ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locus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coeruleus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 (ở chuột)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viền nhận dopamine,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noradrenaline,</a:t>
            </a:r>
            <a:r>
              <a:rPr lang="en-US" sz="25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serotonin,</a:t>
            </a:r>
            <a:r>
              <a:rPr lang="en-US" sz="25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tỉnh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histamine,</a:t>
            </a:r>
            <a:r>
              <a:rPr lang="en-US" sz="25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ACh,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noradrenaline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50569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8" name="Shape 56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Text 7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39/56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7" name="Moda image moda-export-watermark-a34ae6fd-dd48-4300-b585-d5afb1422c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 5.5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Rượu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NMDA,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Caffeine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adenosine, chiếm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phanh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0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CB1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anandamide,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hãm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Opiate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heroin,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morphin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của opioid nội sinh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13855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40/56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8" name="Moda image moda-export-watermark-2a105bc6-a84c-46d8-986f-d820734905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57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vận,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57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kháng,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biến,</a:t>
            </a:r>
            <a:r>
              <a:rPr lang="en-US" sz="57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giúp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thuốc.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(agonist)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 thể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(antagonist)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nhiên;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caffeine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adenosine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tự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nhiên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 như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benzodiazepine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GABA-A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2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enzyme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hơn ở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Chủ</a:t>
            </a:r>
            <a:r>
              <a:rPr lang="en-US" sz="195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vận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chước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nhiên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19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chiếm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Ức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chặn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enzyme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77141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cb328bd1-fde0-4884-b6e3-d665381fbb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thuốc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SSRI,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vòng,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SNRI: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serotonin,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noradrenaline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MAOI: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enzyme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 các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amin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benzodiazepine,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barbiturate: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 của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GABA-A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dopamine: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7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acetylcholinesterase: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ổn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sắc: thuốc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lực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giảm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 thích,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25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640427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4" name="Shape 62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42/56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0" name="Moda image moda-export-watermark-baa8df75-f795-4eb6-ae41-da869b098e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21533603-7265232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56892" y="2438400"/>
            <a:ext cx="5268516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OpenStax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2e,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Reuptake</a:t>
            </a:r>
            <a:r>
              <a:rPr lang="en-US" sz="2187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inhibitor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255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Reuptake</a:t>
            </a:r>
            <a:r>
              <a:rPr lang="en-US" sz="2187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receptor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chỗ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 hồi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Attached to</a:t>
            </a:r>
            <a:r>
              <a:rPr lang="en-US" sz="2187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receptor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đã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4A3A22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Bình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SSRI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serotonin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lâu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synapse.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giờ,</a:t>
            </a:r>
            <a:r>
              <a:rPr lang="en-US" sz="21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thiện;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chính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7803714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4" name="Shape 61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2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3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Text 7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43/56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9" name="Moda image moda-export-watermark-0d6b5cc7-1ef3-40b3-8318-68d0c50274b5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lâu: não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Uống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rượu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700" dirty="0"/>
          </a:p>
        </p:txBody>
      </p:sp>
      <p:sp>
        <p:nvSpPr>
          <p:cNvPr id="7" name="Connector line-1792621534769-734562079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NMDA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hơn,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GABA</a:t>
            </a:r>
            <a:r>
              <a:rPr lang="en-US" sz="270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kém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27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2700" dirty="0"/>
          </a:p>
        </p:txBody>
      </p:sp>
      <p:sp>
        <p:nvSpPr>
          <p:cNvPr id="12" name="Connector line-1792621534772-229699989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Ngừng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rượu: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mất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2700" dirty="0"/>
          </a:p>
        </p:txBody>
      </p:sp>
      <p:sp>
        <p:nvSpPr>
          <p:cNvPr id="17" name="Connector line-1792621534777-135677696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Trạng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cai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rượu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967000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44/56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2e81f1da-4761-4857-8f56-112435159c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90%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90%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33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trưởng</a:t>
            </a:r>
            <a:r>
              <a:rPr lang="en-US" sz="33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Mỹ</a:t>
            </a:r>
            <a:r>
              <a:rPr lang="en-US" sz="33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3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caffeine</a:t>
            </a: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hằng</a:t>
            </a:r>
            <a:r>
              <a:rPr lang="en-US" sz="33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ngày,</a:t>
            </a:r>
            <a:r>
              <a:rPr lang="en-US" sz="33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3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giáo</a:t>
            </a:r>
            <a:r>
              <a:rPr lang="en-US" sz="33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33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5.5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Triệu</a:t>
            </a:r>
            <a:r>
              <a:rPr lang="en-US" sz="330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cai</a:t>
            </a:r>
            <a:r>
              <a:rPr lang="en-US" sz="33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(đau</a:t>
            </a:r>
            <a:r>
              <a:rPr lang="en-US" sz="33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đầu,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buồn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nôn,</a:t>
            </a: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buồn</a:t>
            </a:r>
            <a:r>
              <a:rPr lang="en-US" sz="33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ngủ)</a:t>
            </a:r>
            <a:r>
              <a:rPr lang="en-US" sz="33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3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3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1–2</a:t>
            </a:r>
            <a:r>
              <a:rPr lang="en-US" sz="33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ngày,</a:t>
            </a:r>
            <a:r>
              <a:rPr lang="en-US" sz="33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3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3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nửa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3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130286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45/56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e2b110d2-e620-4507-8034-b5d01aeb3b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chống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7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chất,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chất,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 thụ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ngược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nhau: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D1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D2,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5-HT1</a:t>
            </a:r>
            <a:r>
              <a:rPr lang="en-US" sz="30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5-HT2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chất,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dẫn: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thưởng,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prolactin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xúc,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chất: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 với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glutamate,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CRF,</a:t>
            </a:r>
            <a:r>
              <a:rPr lang="en-US" sz="3000" dirty="0" spc="-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ACTH,</a:t>
            </a:r>
            <a:r>
              <a:rPr lang="en-US" sz="30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neuropeptide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thích: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opioid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khuếch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đại,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cảnh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nghĩa: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oxytocin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 tự thân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293572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Text 7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46/56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7" name="Moda image moda-export-watermark-750d4968-2ce8-4957-a6a3-4a738a10b3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Nỗi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sợ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2850" dirty="0" spc="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trung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giữa;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corticotropin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(CRF),</a:t>
            </a:r>
            <a:r>
              <a:rPr lang="en-US" sz="285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ACTH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5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GABA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endocannabinoid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oxytocin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hormone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Mạch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 → chất xám quanh cống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Chất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glutamate,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CRF,</a:t>
            </a:r>
            <a:r>
              <a:rPr lang="en-US" sz="2400" dirty="0" spc="-3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ACTH,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GABA,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serotonin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56858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5c6731a0-243c-41bf-858c-09efeb7c29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chữ,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tùy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thụ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</a:t>
            </a:r>
            <a:r>
              <a:rPr lang="en-US" sz="27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620144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4" name="Shape 52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48/56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aef35123-7d1e-42b2-a1a6-a8085a2fa3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Thuyết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serotonin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5700" dirty="0"/>
          </a:p>
        </p:txBody>
      </p:sp>
      <p:sp>
        <p:nvSpPr>
          <p:cNvPr id="3" name="Connector line-1792621570460-923752460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" name="Connector line-1792621570460-254763932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1950s: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r>
              <a:rPr lang="en-US" sz="27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MAO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bệnh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lao,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Connector line-1792621570464-715455949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Sau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đó: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serotonin,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noradrenaline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thấp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coi là</a:t>
            </a:r>
            <a:r>
              <a:rPr lang="en-US" sz="27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góp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Connector line-1792621570469-770468452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2022: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Moncrieff</a:t>
            </a:r>
            <a:r>
              <a:rPr lang="en-US" sz="27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bố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umbrella</a:t>
            </a:r>
            <a:r>
              <a:rPr lang="en-US" sz="2700" dirty="0" spc="-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4" name="Connector line-1792621570472-275840720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2023: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Jauhar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7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783430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Shape 64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49/56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29f2bc6e-1beb-4efd-a90b-cfd1c0937a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3300" dirty="0" spc="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3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3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umbrella</a:t>
            </a:r>
            <a:r>
              <a:rPr lang="en-US" sz="3300" dirty="0" spc="-3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3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Moncrieff</a:t>
            </a:r>
            <a:r>
              <a:rPr lang="en-US" sz="33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3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12</a:t>
            </a:r>
            <a:r>
              <a:rPr lang="en-US" sz="33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3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3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3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46716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7" name="Shape 5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50/56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9acb62d7-f66a-4aa5-a992-f6b4e92a2d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cuộc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Moncrieff 2022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31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trầm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 do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Jauhar</a:t>
            </a: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sai,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1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1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trầm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110003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51/56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0535bae3-be5e-474f-bc9b-d1905e3dd1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7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57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Moncrieff hỏi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 trầm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không;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 khác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phe phản biện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 còn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Câu</a:t>
            </a:r>
            <a:r>
              <a:rPr lang="en-US" sz="19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nguyên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nhân,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 quả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5000625"/>
            <a:ext cx="4438650" cy="124777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có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trò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273289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9" name="Shape 67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52/56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c04b002b-03a6-4a5e-8251-e86d52d83c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bệnh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thuốc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thuốc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</a:t>
            </a:r>
            <a:r>
              <a:rPr lang="en-US" sz="25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 nghĩa</a:t>
            </a:r>
            <a:r>
              <a:rPr lang="en-US" sz="25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5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thuyết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lao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31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SSRI</a:t>
            </a: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31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15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rõ,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giáo</a:t>
            </a:r>
            <a:r>
              <a:rPr lang="en-US" sz="31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12.3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36575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1" name="Shape 69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53/56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6" name="Moda image moda-export-watermark-09af5bef-81bd-40e0-a3f1-d8df7d9e90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Rất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(nhanh)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neuropeptide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(chậm)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Hormone</a:t>
            </a:r>
            <a:r>
              <a:rPr lang="en-US" sz="27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truyền: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mờ,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noradrenaline, oxytocin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ion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 thích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chế;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glutamate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thích,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</a:t>
            </a: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Amin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7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phủ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rộng;</a:t>
            </a:r>
            <a:r>
              <a:rPr lang="en-US" sz="27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chồng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Dopamine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khoái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cảm;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xúc,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Trầm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 do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serotonin: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quán,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 [S6]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 [S13] [S14] [S15]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599861" y="9565821"/>
            <a:ext cx="108857" cy="10885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6" name="Shape 74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54/56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0" name="Moda image moda-export-watermark-a663850f-856a-4390-841a-3a5ef1d2fa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Rượu</a:t>
            </a:r>
            <a:r>
              <a:rPr lang="en-US" sz="19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benzodiazepine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Nêu</a:t>
            </a:r>
            <a:r>
              <a:rPr lang="en-US" sz="31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rượu,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sa,</a:t>
            </a:r>
            <a:r>
              <a:rPr lang="en-US" sz="31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opiate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chế,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1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khích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0" name="Text 18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Buồn</a:t>
            </a:r>
            <a:r>
              <a:rPr lang="en-US" sz="21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hại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763147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8" name="Shape 76"/>
          <p:cNvSpPr/>
          <p:nvPr/>
        </p:nvSpPr>
        <p:spPr>
          <a:xfrm>
            <a:off x="99400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55/56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da3b503f-b46f-44c5-b4f8-fdccda2d48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5.5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How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Drugs</a:t>
            </a:r>
            <a:r>
              <a:rPr lang="en-US" sz="16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Affect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Neurotransmitters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12.3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Mood</a:t>
            </a:r>
            <a:r>
              <a:rPr lang="en-US" sz="18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Disorders</a:t>
            </a:r>
            <a:r>
              <a:rPr lang="en-US" sz="18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(kèm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</a:t>
            </a:r>
            <a:r>
              <a:rPr lang="en-US" sz="16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Communication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Within and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Between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Neurons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(Hình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144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 3.2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Neuron,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6.4</a:t>
            </a:r>
            <a:r>
              <a:rPr lang="en-US" sz="16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Aggression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Parental</a:t>
            </a: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Behaviors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(Hình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10)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144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10.2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Basic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Emotions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20574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 mục 12.4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Anxiety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0574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Purves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2nd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ed.,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2001,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(chỉ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glutamate)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20574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Waymire,</a:t>
            </a:r>
            <a:r>
              <a:rPr lang="en-US" sz="18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18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11</a:t>
            </a:r>
            <a:r>
              <a:rPr lang="en-US" sz="18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3345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Waymire,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Biogenic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Amines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93345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4" name="Text 32"/>
          <p:cNvSpPr/>
          <p:nvPr/>
        </p:nvSpPr>
        <p:spPr>
          <a:xfrm>
            <a:off x="95631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S11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4775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Waxham,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Amino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Neurotransmitters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93345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S12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Waxham,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6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Neuropeptides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6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Nitric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Oxide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3345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95631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S13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4775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Moncrieff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Molecular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Psychiatry,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93345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3" name="Text 41"/>
          <p:cNvSpPr/>
          <p:nvPr/>
        </p:nvSpPr>
        <p:spPr>
          <a:xfrm>
            <a:off x="95631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S14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4775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Jauhar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Molecular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Psychiatry,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2023</a:t>
            </a:r>
            <a:endParaRPr lang="en-US" sz="2100" dirty="0"/>
          </a:p>
        </p:txBody>
      </p:sp>
      <p:sp>
        <p:nvSpPr>
          <p:cNvPr id="45" name="Shape 43"/>
          <p:cNvSpPr/>
          <p:nvPr/>
        </p:nvSpPr>
        <p:spPr>
          <a:xfrm>
            <a:off x="93345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6" name="Text 44"/>
          <p:cNvSpPr/>
          <p:nvPr/>
        </p:nvSpPr>
        <p:spPr>
          <a:xfrm>
            <a:off x="95631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S15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04775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Kringelbach,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Neuron,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93345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95631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S16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104775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Schultz,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Dayan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Montague,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Science,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endParaRPr lang="en-US" sz="2100" dirty="0"/>
          </a:p>
        </p:txBody>
      </p:sp>
      <p:sp>
        <p:nvSpPr>
          <p:cNvPr id="51" name="Shape 49"/>
          <p:cNvSpPr/>
          <p:nvPr/>
        </p:nvSpPr>
        <p:spPr>
          <a:xfrm>
            <a:off x="93345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2" name="Text 50"/>
          <p:cNvSpPr/>
          <p:nvPr/>
        </p:nvSpPr>
        <p:spPr>
          <a:xfrm>
            <a:off x="95631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S17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04775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Froemke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8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Young,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Annual</a:t>
            </a:r>
            <a:r>
              <a:rPr lang="en-US" sz="18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8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2021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593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1225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2858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4491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61244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77573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93902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210230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2655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24288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25921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27554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29187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08202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324530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340859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5718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7351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38984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06174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22502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438831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455159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471488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487817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504145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20474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36802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53131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69460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85788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602117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618446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634774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651103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667431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683760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700089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716417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732746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749074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765403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781732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98060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8143893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8307179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8470465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633751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797037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96032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9123610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86896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9450182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9613468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9776754" y="9579429"/>
            <a:ext cx="81643" cy="81643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9926433" y="9565821"/>
            <a:ext cx="108857" cy="10885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56/56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12" name="Moda image moda-export-watermark-f148e5fa-2452-437c-855a-41e7c08947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2026-10-22T02:46:53Z</dcterms:created>
  <dcterms:modified xsi:type="dcterms:W3CDTF">2026-10-22T02:46:53Z</dcterms:modified>
</cp:coreProperties>
</file>