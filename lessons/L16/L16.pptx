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8288000" cy="10287000"/>
  <p:notesSz cx="10287000" cy="18288000"/>
  <p:embeddedFontLst>
    <p:embeddedFont>
      <p:font typeface="Be Vietnam Pro"/>
      <p:regular r:id="rId46"/>
      <p:bold r:id="rId43"/>
    </p:embeddedFont>
    <p:embeddedFont>
      <p:font typeface="Bricolage Grotesque ExtraBold"/>
      <p:regular r:id="rId44"/>
    </p:embeddedFont>
    <p:embeddedFont>
      <p:font typeface="Be Vietnam Pro SemiBold"/>
      <p:regular r:id="rId45"/>
    </p:embeddedFont>
    <p:embeddedFont>
      <p:font typeface="Be Vietnam Pro ExtraBold"/>
      <p:regular r:id="rId47"/>
    </p:embeddedFont>
    <p:embeddedFont>
      <p:font typeface="Be Vietnam Pro Medium"/>
      <p:regular r:id="rId4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font" Target="fonts/font1.fntdata"/><Relationship Id="rId44" Type="http://schemas.openxmlformats.org/officeDocument/2006/relationships/font" Target="fonts/font2.fntdata"/><Relationship Id="rId45" Type="http://schemas.openxmlformats.org/officeDocument/2006/relationships/font" Target="fonts/font3.fntdata"/><Relationship Id="rId46" Type="http://schemas.openxmlformats.org/officeDocument/2006/relationships/font" Target="fonts/font4.fntdata"/><Relationship Id="rId47" Type="http://schemas.openxmlformats.org/officeDocument/2006/relationships/font" Target="fonts/font5.fntdata"/><Relationship Id="rId4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430250" y="3714750"/>
            <a:ext cx="1714500" cy="17145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620625" y="2905125"/>
            <a:ext cx="3333750" cy="33337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11000" y="2095500"/>
            <a:ext cx="4953000" cy="49530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01375" y="1285875"/>
            <a:ext cx="6572250" cy="65722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91750" y="476250"/>
            <a:ext cx="8191500" cy="81915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82125" y="-333375"/>
            <a:ext cx="9810750" cy="98107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39850" y="4324350"/>
            <a:ext cx="495300" cy="495300"/>
          </a:xfrm>
          <a:prstGeom prst="ellipse">
            <a:avLst/>
          </a:prstGeom>
          <a:solidFill>
            <a:srgbClr val="FF6A4D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100" b="1" spc="4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b="1" spc="4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Grok</a:t>
            </a: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Bot:</a:t>
            </a:r>
            <a:r>
              <a:rPr lang="en-US" sz="81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đội</a:t>
            </a: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81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81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đám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</a:t>
            </a:r>
            <a:endParaRPr lang="en-US" sz="8100" dirty="0"/>
          </a:p>
        </p:txBody>
      </p:sp>
      <p:sp>
        <p:nvSpPr>
          <p:cNvPr id="11" name="Text 9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Agent</a:t>
            </a:r>
            <a:r>
              <a:rPr lang="en-US" sz="330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330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300" dirty="0" spc="-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3300" dirty="0" spc="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300" dirty="0" spc="-4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3300" dirty="0" spc="1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3300" dirty="0" spc="-2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3300" dirty="0" spc="-1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máy:</a:t>
            </a:r>
            <a:r>
              <a:rPr lang="en-US" sz="3300" dirty="0" spc="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đáng</a:t>
            </a:r>
            <a:r>
              <a:rPr lang="en-US" sz="3300" dirty="0" spc="-4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tiền</a:t>
            </a:r>
            <a:r>
              <a:rPr lang="en-US" sz="3300" dirty="0" spc="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3300" dirty="0" spc="1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đâu?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Routine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connector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16551bb-2628-472f-a2bd-4b74e3a11ad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 hỏi của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Grok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đáng</a:t>
            </a:r>
            <a:r>
              <a:rPr lang="en-US" sz="69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không,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rủi</a:t>
            </a:r>
            <a:r>
              <a:rPr lang="en-US" sz="69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đâu,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nó?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[S9]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02/36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9f5d3897-ecf9-4336-9b44-ed916ec12c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bài: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 khối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5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Bot,</a:t>
            </a:r>
            <a:r>
              <a:rPr lang="en-US" sz="25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routine,</a:t>
            </a:r>
            <a:r>
              <a:rPr lang="en-US" sz="25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connector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 nhiêu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nằm</a:t>
            </a:r>
            <a:r>
              <a:rPr lang="en-US" sz="25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ký, giá còn</a:t>
            </a:r>
            <a:r>
              <a:rPr lang="en-US" sz="25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</a:t>
            </a: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27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 lại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81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03/36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173ccae3-d117-441c-aa12-6944252b2a9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Bot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30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việc,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đám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mây,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Bot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máy;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lệch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Đừng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0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0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[S9]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09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04/36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65123664-c203-4a43-9f55-e1bd415ca8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Grok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Bot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2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Grok</a:t>
            </a:r>
            <a:r>
              <a:rPr lang="en-US" sz="285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 của xAI,</a:t>
            </a:r>
            <a:r>
              <a:rPr lang="en-US" sz="28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nghiệm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early</a:t>
            </a:r>
            <a:r>
              <a:rPr lang="en-US" sz="285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beta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)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11/08/2026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[S8]</a:t>
            </a: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b="1" dirty="0" spc="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85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laptop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[S8]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8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4.6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Alarcon: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[S9]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4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đám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mây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4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duyệt,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file,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terminal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nhận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việc,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thao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tác,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chatbot</a:t>
            </a:r>
            <a:r>
              <a:rPr lang="en-US" sz="24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[S9]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38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05/36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a94065de-d8e2-4b55-b8e5-5873a9c68e0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Chatbot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Bot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 nào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DDE3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Chatbot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1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1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dừng,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Bot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1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file,</a:t>
            </a:r>
            <a:r>
              <a:rPr lang="en-US" sz="31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vắng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Hợp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Bot: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lại,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file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laptop,</a:t>
            </a:r>
            <a:r>
              <a:rPr lang="en-US" sz="28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850" dirty="0" spc="-3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8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66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06/36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0dc743ca-92ad-4ca0-8a94-71aa7f9c98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Mốc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 từ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r>
              <a:rPr lang="en-US" sz="57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mắt</a:t>
            </a:r>
            <a:endParaRPr lang="en-US" sz="5700" dirty="0"/>
          </a:p>
        </p:txBody>
      </p:sp>
      <p:sp>
        <p:nvSpPr>
          <p:cNvPr id="3" name="Connector line-1792595860840-273173011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724150" y="55626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5" name="Connector line-1792595860841-874833433"/>
          <p:cNvSpPr/>
          <p:nvPr/>
        </p:nvSpPr>
        <p:spPr>
          <a:xfrm flipV="1">
            <a:off x="2971800" y="5238750"/>
            <a:ext cx="0" cy="3238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11/08/2026:</a:t>
            </a:r>
            <a:r>
              <a:rPr lang="en-US" sz="270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mắt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beta,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ban</a:t>
            </a:r>
            <a:r>
              <a:rPr lang="en-US" sz="27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38950" y="55626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Connector line-1792595860845-103125983"/>
          <p:cNvSpPr/>
          <p:nvPr/>
        </p:nvSpPr>
        <p:spPr>
          <a:xfrm>
            <a:off x="7086600" y="6057900"/>
            <a:ext cx="0" cy="3238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219700" y="638175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12/08/2026: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Gigazine</a:t>
            </a:r>
            <a:r>
              <a:rPr lang="en-US" sz="27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đưa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7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mắt</a:t>
            </a:r>
            <a:r>
              <a:rPr lang="en-US" sz="27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SpaceXAI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953750" y="556260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1" name="Connector line-1792595860849-759354975"/>
          <p:cNvSpPr/>
          <p:nvPr/>
        </p:nvSpPr>
        <p:spPr>
          <a:xfrm flipV="1">
            <a:off x="11201400" y="5238750"/>
            <a:ext cx="0" cy="323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9334500" y="342900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26/08/2026: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SuperGrok,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Cursor</a:t>
            </a:r>
            <a:r>
              <a:rPr lang="en-US" sz="27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Cursor</a:t>
            </a:r>
            <a:r>
              <a:rPr lang="en-US" sz="2700" dirty="0" spc="-4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Teams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5068550" y="556260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Connector line-1792595860852-798846787"/>
          <p:cNvSpPr/>
          <p:nvPr/>
        </p:nvSpPr>
        <p:spPr>
          <a:xfrm>
            <a:off x="15316200" y="6057900"/>
            <a:ext cx="0" cy="3238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3449300" y="638175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17/10/2026: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cập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nhật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lớn,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chợ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connector</a:t>
            </a:r>
            <a:r>
              <a:rPr lang="en-US" sz="27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Chat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 [S14]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295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07/36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30359fc1-2f3a-4d8b-8c1a-c062d09a69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đám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xuống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381125"/>
          </a:xfrm>
          <a:prstGeom prst="roundRect">
            <a:avLst>
              <a:gd name="adj" fmla="val 15172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Bạn: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qua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chat,</a:t>
            </a:r>
            <a:r>
              <a:rPr lang="en-US" sz="28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391025"/>
            <a:ext cx="15125700" cy="1381125"/>
          </a:xfrm>
          <a:prstGeom prst="roundRect">
            <a:avLst>
              <a:gd name="adj" fmla="val 15172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391025"/>
            <a:ext cx="143637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Bot: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5924550"/>
            <a:ext cx="13792200" cy="1381125"/>
          </a:xfrm>
          <a:prstGeom prst="roundRect">
            <a:avLst>
              <a:gd name="adj" fmla="val 15172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5924550"/>
            <a:ext cx="130302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chung: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file,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terminal,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2914650" y="7458075"/>
            <a:ext cx="12458700" cy="1381125"/>
          </a:xfrm>
          <a:prstGeom prst="roundRect">
            <a:avLst>
              <a:gd name="adj" fmla="val 15172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5650" y="7458075"/>
            <a:ext cx="116967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Firecracker</a:t>
            </a:r>
            <a:r>
              <a:rPr lang="en-US" sz="28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microVM: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24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08/36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c2cbd8d5-b747-40e9-884b-eacd4f1703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Bot một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máy,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máy?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262C4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42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 mô</a:t>
            </a:r>
            <a:r>
              <a:rPr lang="en-US" sz="42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31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31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Gigazine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1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1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31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PC</a:t>
            </a:r>
            <a:r>
              <a:rPr lang="en-US" sz="31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31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31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riêng;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Mem0</a:t>
            </a:r>
            <a:r>
              <a:rPr lang="en-US" sz="31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1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31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1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31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file,</a:t>
            </a:r>
            <a:r>
              <a:rPr lang="en-US" sz="31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3A22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9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Tài</a:t>
            </a:r>
            <a:r>
              <a:rPr lang="en-US" sz="42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42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42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31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1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chung</a:t>
            </a:r>
            <a:r>
              <a:rPr lang="en-US" sz="31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 hình</a:t>
            </a:r>
            <a:r>
              <a:rPr lang="en-US" sz="31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là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</a:t>
            </a:r>
            <a:r>
              <a:rPr lang="en-US" sz="31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5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luận: khi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lệch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 thì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28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Cursor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52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09/36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988f0f02-61fe-4548-baef-59c6a8717b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đám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Nơi</a:t>
            </a:r>
            <a:r>
              <a:rPr lang="en-US" sz="2100" dirty="0" spc="-1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chạy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Máy</a:t>
            </a:r>
            <a:r>
              <a:rPr lang="en-US" sz="25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đám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mây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Cursor</a:t>
            </a:r>
            <a:r>
              <a:rPr lang="en-US" sz="2550" dirty="0" spc="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lưu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trữ;</a:t>
            </a: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on-premises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mang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image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[S5]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Cô</a:t>
            </a:r>
            <a:r>
              <a:rPr lang="en-US" sz="21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lập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Firecracker microVM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riêng;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Bot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 chung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[S5]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Phiên</a:t>
            </a:r>
            <a:r>
              <a:rPr lang="en-US" sz="210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đăng</a:t>
            </a:r>
            <a:r>
              <a:rPr lang="en-US" sz="21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nhập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rơi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5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cập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nhật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image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</a:t>
            </a:r>
            <a:r>
              <a:rPr lang="en-US" sz="255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sách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[S5]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Quản</a:t>
            </a:r>
            <a:r>
              <a:rPr lang="en-US" sz="2100" dirty="0" spc="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trị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6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Team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Setup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Enterprise;</a:t>
            </a: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EDR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khách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[S5]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Hạn</a:t>
            </a:r>
            <a:r>
              <a:rPr lang="en-US" sz="2100" dirty="0" spc="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mức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</a:t>
            </a:r>
            <a:r>
              <a:rPr lang="en-US" sz="25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hằng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tuần</a:t>
            </a:r>
            <a:r>
              <a:rPr lang="en-US" sz="255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nhưng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 bố</a:t>
            </a:r>
            <a:r>
              <a:rPr lang="en-US" sz="25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[S6]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981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10/36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2f4eb2ee-df7a-4185-8592-bb7d4a0820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57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việc: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@Bot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chat</a:t>
            </a:r>
            <a:endParaRPr lang="en-US" sz="2700" dirty="0"/>
          </a:p>
        </p:txBody>
      </p:sp>
      <p:sp>
        <p:nvSpPr>
          <p:cNvPr id="7" name="Connector line-1792595918973-707892087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Bot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làm: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đám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mây</a:t>
            </a:r>
            <a:endParaRPr lang="en-US" sz="2700" dirty="0"/>
          </a:p>
        </p:txBody>
      </p:sp>
      <p:sp>
        <p:nvSpPr>
          <p:cNvPr id="12" name="Connector line-1792595918979-456071062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3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Dừng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hỏi: việc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nhạy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 cần</a:t>
            </a:r>
            <a:r>
              <a:rPr lang="en-US" sz="27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endParaRPr lang="en-US" sz="2700" dirty="0"/>
          </a:p>
        </p:txBody>
      </p:sp>
      <p:sp>
        <p:nvSpPr>
          <p:cNvPr id="17" name="Connector line-1792595918984-549816496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Bạn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quyết: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lần,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chối,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luôn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endParaRPr lang="en-US" sz="2700" dirty="0"/>
          </a:p>
        </p:txBody>
      </p:sp>
      <p:sp>
        <p:nvSpPr>
          <p:cNvPr id="22" name="Connector line-1792595918992-497096776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5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quả: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file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 ghi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09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11/36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5019477e-55de-4553-8124-48429bd72eb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 cách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nhắc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@Bot,</a:t>
            </a:r>
            <a:r>
              <a:rPr lang="en-US" sz="25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lưu,</a:t>
            </a:r>
            <a:r>
              <a:rPr lang="en-US" sz="2550" dirty="0" spc="4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 mới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quả,</a:t>
            </a: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@everyone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Routine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 lại,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có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5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alias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email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38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12/36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3c474ba1-571f-43d0-91a3-2352033b15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Chat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nhóm:</a:t>
            </a:r>
            <a:r>
              <a:rPr lang="en-US" sz="57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57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khiển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chat,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@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nhóm,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routine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connector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 có thể</a:t>
            </a:r>
            <a:r>
              <a:rPr lang="en-US" sz="2850" dirty="0" spc="4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 mới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làm;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Stop now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cụ,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tính,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phê</a:t>
            </a:r>
            <a:r>
              <a:rPr lang="en-US" sz="2850" b="1" dirty="0" spc="-1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</a:t>
            </a:r>
            <a:r>
              <a:rPr lang="en-US" sz="285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iOS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vắng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khung</a:t>
            </a: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chat</a:t>
            </a:r>
            <a:r>
              <a:rPr lang="en-US" sz="24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sáu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Bot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nhắc,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giao,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dẫn,</a:t>
            </a:r>
            <a:r>
              <a:rPr lang="en-US" sz="2400" dirty="0" spc="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dừng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Stop</a:t>
            </a:r>
            <a:r>
              <a:rPr lang="en-US" sz="24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now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hoàn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67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13/36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6c5715c9-ed4c-417a-b060-1be0752767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Phê</a:t>
            </a: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duyệt: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57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lựa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Allow</a:t>
            </a:r>
            <a:r>
              <a:rPr lang="en-US" sz="3000" dirty="0" spc="-1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once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lần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9814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9814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Deny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9814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2006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2006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2006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Always</a:t>
            </a:r>
            <a:r>
              <a:rPr lang="en-US" sz="3000" dirty="0" spc="-1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allow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2006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luôn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64198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64198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4198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Auto</a:t>
            </a:r>
            <a:r>
              <a:rPr lang="en-US" sz="3000" dirty="0" spc="-4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Review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64198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thỏa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76390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76390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6390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Nên</a:t>
            </a:r>
            <a:r>
              <a:rPr lang="en-US" sz="3000" dirty="0" spc="-2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duyệt</a:t>
            </a:r>
            <a:r>
              <a:rPr lang="en-US" sz="30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thủ</a:t>
            </a:r>
            <a:r>
              <a:rPr lang="en-US" sz="3000" dirty="0" spc="-1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công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76390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gửi,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mua,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xóa,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quyền,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[S16]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895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14/36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31185e67-cb50-4e23-88ef-955ceb0491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Connector: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Bot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57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5700" dirty="0"/>
          </a:p>
        </p:txBody>
      </p:sp>
      <p:sp>
        <p:nvSpPr>
          <p:cNvPr id="3" name="Connector line-1792595923792-522310735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4" name="Connector line-1792595923792-885152102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5" name="Connector line-1792595923792-2509999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6" name="Connector line-1792595923792-179455019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Grok</a:t>
            </a:r>
            <a:r>
              <a:rPr lang="en-US" sz="33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Bot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</a:t>
            </a:r>
            <a:r>
              <a:rPr lang="en-US" sz="2550" b="1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Teams: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tìm,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550" b="1" dirty="0" spc="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Salesforce</a:t>
            </a:r>
            <a:r>
              <a:rPr lang="en-US" sz="25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SharePoint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connector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6A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Email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alias: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 routine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[S14]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24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15/36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cdf0f74f-25f5-4066-805c-400f286b9b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riêng: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2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Grok</a:t>
            </a:r>
            <a:r>
              <a:rPr lang="en-US" sz="285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riêng: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nằm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 nên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SuperGrok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Cursor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[S11]</a:t>
            </a: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9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dùng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đổi: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8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các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26/08/2026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SuperGrok,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Cursor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Cursor</a:t>
            </a:r>
            <a:r>
              <a:rPr lang="en-US" sz="285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Teams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[S11]</a:t>
            </a: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 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thời,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 hành.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SuperGrok,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Cursor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Pro,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Cursor</a:t>
            </a:r>
            <a:r>
              <a:rPr lang="en-US" sz="2400" dirty="0" spc="-3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Teams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mở</a:t>
            </a: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Bot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nay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 [S15]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52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16/36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2d9af0ac-9550-4afc-b3bf-55c5e5a57b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5700" dirty="0" spc="-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SuperGrok</a:t>
            </a:r>
            <a:r>
              <a:rPr lang="en-US" sz="300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cơ</a:t>
            </a:r>
            <a:r>
              <a:rPr lang="en-US" sz="30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$30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tháng,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khớp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9814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9814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SuperGrok</a:t>
            </a:r>
            <a:r>
              <a:rPr lang="en-US" sz="30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Plus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9814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$100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tháng,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nguồn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2006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2006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2006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SuperGrok</a:t>
            </a:r>
            <a:r>
              <a:rPr lang="en-US" sz="3000" dirty="0" spc="-1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Heavy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2006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 $300;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Alarcon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64198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64198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4198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Cursor</a:t>
            </a:r>
            <a:r>
              <a:rPr lang="en-US" sz="3000" dirty="0" spc="-1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Pro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64198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$20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tháng,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76390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76390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6390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Cursor</a:t>
            </a:r>
            <a:r>
              <a:rPr lang="en-US" sz="3000" dirty="0" spc="-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Ultra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76390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$200;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 [S11]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581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17/36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3d9f65d5-8baf-4f27-8e9b-c3f781a1c07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Gói</a:t>
            </a: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cập</a:t>
            </a:r>
            <a:r>
              <a:rPr lang="en-US" sz="57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 nào</a:t>
            </a:r>
            <a:endParaRPr lang="en-US" sz="5700" dirty="0"/>
          </a:p>
        </p:txBody>
      </p:sp>
      <p:sp>
        <p:nvSpPr>
          <p:cNvPr id="3" name="Connector line-1792595990909-782140874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3409950" y="5562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5" name="Connector line-1792595990910-875822238"/>
          <p:cNvSpPr/>
          <p:nvPr/>
        </p:nvSpPr>
        <p:spPr>
          <a:xfrm flipV="1">
            <a:off x="3657600" y="5238750"/>
            <a:ext cx="0" cy="323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51054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7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Ra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mắt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11/08: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cao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896350" y="556260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Connector line-1792595990912-895699788"/>
          <p:cNvSpPr/>
          <p:nvPr/>
        </p:nvSpPr>
        <p:spPr>
          <a:xfrm>
            <a:off x="9144000" y="6057900"/>
            <a:ext cx="0" cy="3238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6591300" y="6381750"/>
            <a:ext cx="51054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26/08: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 SuperGrok,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Cursor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Pro,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Cursor</a:t>
            </a:r>
            <a:r>
              <a:rPr lang="en-US" sz="2700" dirty="0" spc="-4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Teams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4382750" y="556260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Connector line-1792595990914-571899779"/>
          <p:cNvSpPr/>
          <p:nvPr/>
        </p:nvSpPr>
        <p:spPr>
          <a:xfrm flipV="1">
            <a:off x="14630400" y="5238750"/>
            <a:ext cx="0" cy="3238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2077700" y="3429000"/>
            <a:ext cx="51054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Dùng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thử: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bảy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7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mười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bốn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ngày,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lệch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10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18/36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f3c624d3-f6bf-409c-9c27-1c427315dd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Mâu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thuẫn</a:t>
            </a:r>
            <a:r>
              <a:rPr lang="en-US" sz="57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57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262C4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42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bảy</a:t>
            </a:r>
            <a:r>
              <a:rPr lang="en-US" sz="30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30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[S10],</a:t>
            </a:r>
            <a:r>
              <a:rPr lang="en-US" sz="30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30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[S11];</a:t>
            </a: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Cursor</a:t>
            </a:r>
            <a:r>
              <a:rPr lang="en-US" sz="30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30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30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30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</a:t>
            </a:r>
            <a:r>
              <a:rPr lang="en-US" sz="30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không</a:t>
            </a: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3A22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Hạn</a:t>
            </a:r>
            <a:r>
              <a:rPr lang="en-US" sz="4200" dirty="0" spc="-4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hằng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</a:t>
            </a:r>
            <a:r>
              <a:rPr lang="en-US" sz="27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mức;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trần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Bot,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Hệ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quả: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</a:t>
            </a:r>
            <a:r>
              <a:rPr lang="en-US" sz="285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ước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Bot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tục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 [S11]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38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19/36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85333477-b780-4bf6-83e2-9f77631a96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ưu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422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Làm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nền,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laptop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34766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422" dirty="0"/>
          </a:p>
        </p:txBody>
      </p:sp>
      <p:sp>
        <p:nvSpPr>
          <p:cNvPr id="7" name="Shape 5"/>
          <p:cNvSpPr/>
          <p:nvPr/>
        </p:nvSpPr>
        <p:spPr>
          <a:xfrm>
            <a:off x="2724150" y="35718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5718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Dùng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thật:</a:t>
            </a:r>
            <a:r>
              <a:rPr lang="en-US" sz="27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duyệt,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file,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terminal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422" dirty="0"/>
          </a:p>
        </p:txBody>
      </p:sp>
      <p:sp>
        <p:nvSpPr>
          <p:cNvPr id="10" name="Shape 8"/>
          <p:cNvSpPr/>
          <p:nvPr/>
        </p:nvSpPr>
        <p:spPr>
          <a:xfrm>
            <a:off x="2724150" y="466725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466725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Chạy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song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song,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sáu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Bot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66737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422" dirty="0"/>
          </a:p>
        </p:txBody>
      </p:sp>
      <p:sp>
        <p:nvSpPr>
          <p:cNvPr id="13" name="Shape 11"/>
          <p:cNvSpPr/>
          <p:nvPr/>
        </p:nvSpPr>
        <p:spPr>
          <a:xfrm>
            <a:off x="2724150" y="576262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576262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soát: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phê</a:t>
            </a:r>
            <a:r>
              <a:rPr lang="en-US" sz="27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r>
              <a:rPr lang="en-US" sz="27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Auto</a:t>
            </a:r>
            <a:r>
              <a:rPr lang="en-US" sz="2700" dirty="0" spc="-4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Review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67627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6422" dirty="0"/>
          </a:p>
        </p:txBody>
      </p:sp>
      <p:sp>
        <p:nvSpPr>
          <p:cNvPr id="16" name="Shape 14"/>
          <p:cNvSpPr/>
          <p:nvPr/>
        </p:nvSpPr>
        <p:spPr>
          <a:xfrm>
            <a:off x="2724150" y="68580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68580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Cô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70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microVM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14400" y="78581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6422" dirty="0"/>
          </a:p>
        </p:txBody>
      </p:sp>
      <p:sp>
        <p:nvSpPr>
          <p:cNvPr id="19" name="Shape 17"/>
          <p:cNvSpPr/>
          <p:nvPr/>
        </p:nvSpPr>
        <p:spPr>
          <a:xfrm>
            <a:off x="2724150" y="79533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20" name="Text 18"/>
          <p:cNvSpPr/>
          <p:nvPr/>
        </p:nvSpPr>
        <p:spPr>
          <a:xfrm>
            <a:off x="3105150" y="79533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700" dirty="0" spc="-4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Teams,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Salesforce,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SharePoint,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MCP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[S5]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267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20/36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4b904a72-c81d-49bf-918a-a3f1dc0c3e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Giá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</a:t>
            </a:r>
            <a:r>
              <a:rPr lang="en-US" sz="57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nhất: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57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vắng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Việc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lịch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69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r>
              <a:rPr lang="en-US" sz="69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6900" dirty="0" spc="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1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laptop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495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21/36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cf4ae798-2aa2-4300-bad0-7059f71d49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 chung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Cursor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khuyến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b="1" dirty="0" spc="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85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bởi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dùng;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r>
              <a:rPr lang="en-US" sz="28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Vellum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các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 cấp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Bot,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phê</a:t>
            </a:r>
            <a:r>
              <a:rPr lang="en-US" sz="2850" b="1" dirty="0" spc="-1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hẹp.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đám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mây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Hệ</a:t>
            </a:r>
            <a:r>
              <a:rPr lang="en-US" sz="195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quả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file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Bot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màn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 riêng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ranh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 bảo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[S16]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24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22/36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1eb186cf-4526-4704-bbbf-680139e4acd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57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yếu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Phiên</a:t>
            </a:r>
            <a:r>
              <a:rPr lang="en-US" sz="21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đăng</a:t>
            </a:r>
            <a:r>
              <a:rPr lang="en-US" sz="21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nhập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rơi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[S5]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Hạ</a:t>
            </a:r>
            <a:r>
              <a:rPr lang="en-US" sz="21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tầng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Chỉ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đám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mây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Cursor;</a:t>
            </a: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on-premises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[S5]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Quản</a:t>
            </a:r>
            <a:r>
              <a:rPr lang="en-US" sz="2100" dirty="0" spc="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trị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Chưa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 liệu EDR;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hướng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dẫn nói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thiếu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màn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kiểm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toán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đầy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đủ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[S5] [S16]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Còn</a:t>
            </a:r>
            <a:r>
              <a:rPr lang="en-US" sz="2100" dirty="0" spc="-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beta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Giá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nền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tảng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nhanh;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lệch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</a:t>
            </a:r>
            <a:r>
              <a:rPr lang="en-US" sz="2550" dirty="0" spc="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hỗ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trợ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[S7]</a:t>
            </a: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[S10]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Trang</a:t>
            </a:r>
            <a:r>
              <a:rPr lang="en-US" sz="210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cần</a:t>
            </a:r>
            <a:r>
              <a:rPr lang="en-US" sz="21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đăng</a:t>
            </a:r>
            <a:r>
              <a:rPr lang="en-US" sz="21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nhập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Mem0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thấy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chụp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màn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trang</a:t>
            </a:r>
            <a:r>
              <a:rPr lang="en-US" sz="25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đăng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nhập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đòi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đăng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nhập thêm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[S8]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Chi</a:t>
            </a:r>
            <a:r>
              <a:rPr lang="en-US" sz="21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phí</a:t>
            </a:r>
            <a:r>
              <a:rPr lang="en-US" sz="2100" dirty="0" spc="-2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100" dirty="0" spc="-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</a:t>
            </a:r>
            <a:r>
              <a:rPr lang="en-US" sz="21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Hạn</a:t>
            </a:r>
            <a:r>
              <a:rPr lang="en-US" sz="25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bố; không chọn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[S6]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[S10] [S16]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53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23/36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06810a60-1465-4421-9059-49afff41a8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Giảm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rủi</a:t>
            </a:r>
            <a:r>
              <a:rPr lang="en-US" sz="57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ro: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57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Quyền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tối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thiểu: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 cần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thiết</a:t>
            </a:r>
            <a:endParaRPr lang="en-US" sz="2700" dirty="0"/>
          </a:p>
        </p:txBody>
      </p:sp>
      <p:sp>
        <p:nvSpPr>
          <p:cNvPr id="7" name="Connector line-1792596056491-500373212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 thủ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công,</a:t>
            </a:r>
            <a:r>
              <a:rPr lang="en-US" sz="2700" dirty="0" spc="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endParaRPr lang="en-US" sz="2700" dirty="0"/>
          </a:p>
        </p:txBody>
      </p:sp>
      <p:sp>
        <p:nvSpPr>
          <p:cNvPr id="12" name="Connector line-1792596056493-237793081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Luật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phê</a:t>
            </a:r>
            <a:r>
              <a:rPr lang="en-US" sz="27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hẹp,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ít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Always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allow</a:t>
            </a:r>
            <a:endParaRPr lang="en-US" sz="2700" dirty="0"/>
          </a:p>
        </p:txBody>
      </p:sp>
      <p:sp>
        <p:nvSpPr>
          <p:cNvPr id="17" name="Connector line-1792596056496-633026618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 ghi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7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endParaRPr lang="en-US" sz="2700" dirty="0"/>
          </a:p>
        </p:txBody>
      </p:sp>
      <p:sp>
        <p:nvSpPr>
          <p:cNvPr id="22" name="Connector line-1792596056501-246839717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Thu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phía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7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ngừng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[S16]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181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24/36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7d04471a-0718-43df-b44b-bfdd8fe874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 sinh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endParaRPr lang="en-US" sz="5700" dirty="0"/>
          </a:p>
        </p:txBody>
      </p:sp>
      <p:sp>
        <p:nvSpPr>
          <p:cNvPr id="3" name="Connector line-1792596057926-788607476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4" name="Connector line-1792596057926-32607180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5" name="Connector line-1792596057926-384375171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6" name="Connector line-1792596057926-907184542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Grok</a:t>
            </a:r>
            <a:r>
              <a:rPr lang="en-US" sz="33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Bot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xAI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Grok: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Cursor: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550" b="1" dirty="0" spc="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liệu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SuperGrok: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xAI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6A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Connector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dụng:</a:t>
            </a:r>
            <a:r>
              <a:rPr lang="en-US" sz="2550" b="1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Teams,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Salesforce,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iOS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 [S11] [S13]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10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25/36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c1fbef3d-5197-48b9-b338-932ac5188f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57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 sinh thái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xAI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sản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Cursor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mây,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đầu,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mật,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SuperGrok</a:t>
            </a:r>
            <a:r>
              <a:rPr lang="en-US" sz="3000" dirty="0" spc="-2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30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Cursor</a:t>
            </a:r>
            <a:r>
              <a:rPr lang="en-US" sz="300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Pro,</a:t>
            </a:r>
            <a:r>
              <a:rPr lang="en-US" sz="3000" dirty="0" spc="-5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Teams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Mem0,</a:t>
            </a:r>
            <a:r>
              <a:rPr lang="en-US" sz="3000" dirty="0" spc="-2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Vellum,</a:t>
            </a:r>
            <a:r>
              <a:rPr lang="en-US" sz="3000" dirty="0" spc="-4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Toolradar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[S8]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38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26/36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8" name="Moda image moda-export-watermark-ef6e0f4d-ee63-4531-9958-1e7418f68d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 chọn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Bot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Việc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lịch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Chạy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file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laptop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 bạn kiểm</a:t>
            </a:r>
            <a:r>
              <a:rPr lang="en-US" sz="30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67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0" name="Shape 38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27/36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7453a702-a027-4e12-acf3-f17d93e79d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Việc</a:t>
            </a:r>
            <a:r>
              <a:rPr lang="en-US" sz="57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nêu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đánh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Theo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dõi</a:t>
            </a:r>
            <a:r>
              <a:rPr lang="en-US" sz="31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thủ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cạnh</a:t>
            </a:r>
            <a:r>
              <a:rPr lang="en-US" sz="31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495925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31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31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1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tóm</a:t>
            </a:r>
            <a:r>
              <a:rPr lang="en-US" sz="31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9696450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Nghiên</a:t>
            </a:r>
            <a:r>
              <a:rPr lang="en-US" sz="3150" dirty="0" spc="3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cứu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31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song</a:t>
            </a:r>
            <a:r>
              <a:rPr lang="en-US" sz="31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song,</a:t>
            </a:r>
            <a:r>
              <a:rPr lang="en-US" sz="31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minh dữ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endParaRPr lang="en-US" sz="3150" dirty="0"/>
          </a:p>
        </p:txBody>
      </p:sp>
      <p:sp>
        <p:nvSpPr>
          <p:cNvPr id="15" name="Shape 13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55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96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9" name="Shape 47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28/36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f5e269ff-013f-4288-a7c7-517fbdbbbf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Áp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57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huống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9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Tóm</a:t>
            </a:r>
            <a:r>
              <a:rPr lang="en-US" sz="255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tắt</a:t>
            </a:r>
            <a:r>
              <a:rPr lang="en-US" sz="255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thay</a:t>
            </a:r>
            <a:r>
              <a:rPr lang="en-US" sz="255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đổi</a:t>
            </a:r>
            <a:r>
              <a:rPr lang="en-US" sz="25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giá</a:t>
            </a:r>
            <a:r>
              <a:rPr lang="en-US" sz="2550" dirty="0" spc="-2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550" dirty="0" spc="-1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changelog</a:t>
            </a:r>
            <a:r>
              <a:rPr lang="en-US" sz="25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255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đối</a:t>
            </a:r>
            <a:r>
              <a:rPr lang="en-US" sz="25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thủ</a:t>
            </a:r>
            <a:r>
              <a:rPr lang="en-US" sz="255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mỗi</a:t>
            </a:r>
            <a:r>
              <a:rPr lang="en-US" sz="25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sáng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đạt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Quét</a:t>
            </a:r>
            <a:r>
              <a:rPr lang="en-US" sz="300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kho</a:t>
            </a:r>
            <a:r>
              <a:rPr lang="en-US" sz="3000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mã</a:t>
            </a:r>
            <a:r>
              <a:rPr lang="en-US" sz="3000" dirty="0" spc="-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hằng</a:t>
            </a:r>
            <a:r>
              <a:rPr lang="en-US" sz="30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tuần</a:t>
            </a:r>
            <a:r>
              <a:rPr lang="en-US" sz="30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tìm</a:t>
            </a:r>
            <a:r>
              <a:rPr lang="en-US" sz="3000" dirty="0" spc="-2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dependency</a:t>
            </a:r>
            <a:r>
              <a:rPr lang="en-US" sz="3000" dirty="0" spc="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cũ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đạt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cấp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7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Một</a:t>
            </a:r>
            <a:r>
              <a:rPr lang="en-US" sz="300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câu</a:t>
            </a:r>
            <a:r>
              <a:rPr lang="en-US" sz="30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hỏi</a:t>
            </a:r>
            <a:r>
              <a:rPr lang="en-US" sz="3000" dirty="0" spc="-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pháp</a:t>
            </a:r>
            <a:r>
              <a:rPr lang="en-US" sz="30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lý</a:t>
            </a:r>
            <a:r>
              <a:rPr lang="en-US" sz="30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hỏi</a:t>
            </a:r>
            <a:r>
              <a:rPr lang="en-US" sz="300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0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lần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chatbot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324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5" name="Shape 43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29/36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616f0f76-6c1e-4175-a175-b4ffe8aec5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Grok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Bot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OpenClaw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DDE3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Grok</a:t>
            </a:r>
            <a:r>
              <a:rPr lang="en-US" sz="4200" dirty="0" spc="-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 lo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31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ký,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31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OpenClaw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1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dựng,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 được,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chợ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31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chiến dịch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cực: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quản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85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dựng;</a:t>
            </a:r>
            <a:r>
              <a:rPr lang="en-US" sz="28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sánh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Claude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[S12]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53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30/36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33c6ee60-6e89-4767-8a03-542bd070d3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7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cực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Quản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1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69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69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6900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tiện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;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 kiểm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soát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781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31/36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95df9a9a-ea2b-4736-a6a2-7ca01caa1dd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Nên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DDE3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Nên</a:t>
            </a:r>
            <a:r>
              <a:rPr lang="en-US" sz="42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42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1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tắt,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1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31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31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42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4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ly</a:t>
            </a:r>
            <a:r>
              <a:rPr lang="en-US" sz="31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1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 cần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on-premises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tuân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chặt,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31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31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hai:</a:t>
            </a:r>
            <a:r>
              <a:rPr lang="en-US" sz="28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tiền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10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32/36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3cdde7ae-2d5e-4c49-9511-4c12b09a591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57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gợi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Chọn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đạt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endParaRPr lang="en-US" sz="2700" dirty="0"/>
          </a:p>
        </p:txBody>
      </p:sp>
      <p:sp>
        <p:nvSpPr>
          <p:cNvPr id="7" name="Connector line-1792596129015-86844194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Cấp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thiểu</a:t>
            </a:r>
            <a:endParaRPr lang="en-US" sz="2700" dirty="0"/>
          </a:p>
        </p:txBody>
      </p:sp>
      <p:sp>
        <p:nvSpPr>
          <p:cNvPr id="12" name="Connector line-1792596129018-103196770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Đặt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phê</a:t>
            </a:r>
            <a:r>
              <a:rPr lang="en-US" sz="27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</a:t>
            </a:r>
            <a:endParaRPr lang="en-US" sz="2700" dirty="0"/>
          </a:p>
        </p:txBody>
      </p:sp>
      <p:sp>
        <p:nvSpPr>
          <p:cNvPr id="17" name="Connector line-1792596129020-912471963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 ghi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endParaRPr lang="en-US" sz="2700" dirty="0"/>
          </a:p>
        </p:txBody>
      </p:sp>
      <p:sp>
        <p:nvSpPr>
          <p:cNvPr id="22" name="Connector line-1792596129023-749247864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Mở</a:t>
            </a:r>
            <a:r>
              <a:rPr lang="en-US" sz="27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rộng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dần;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700" dirty="0" spc="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ngừng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[S9]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39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33/36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9537aa90-2a88-4f77-841e-48ba4dba9e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Grok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Bot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 nền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đám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mây,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lịch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Bot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máy;</a:t>
            </a:r>
            <a:r>
              <a:rPr lang="en-US" sz="3000" dirty="0" spc="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đừng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coi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 cách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ổn</a:t>
            </a:r>
            <a:r>
              <a:rPr lang="en-US" sz="30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định,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lệch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nhau: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30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2961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00" dirty="0"/>
          </a:p>
        </p:txBody>
      </p:sp>
      <p:sp>
        <p:nvSpPr>
          <p:cNvPr id="13" name="Shape 11"/>
          <p:cNvSpPr/>
          <p:nvPr/>
        </p:nvSpPr>
        <p:spPr>
          <a:xfrm>
            <a:off x="2724150" y="73914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73914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Đặt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phê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 hành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30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tối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thiểu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[S5]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67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0" name="Shape 48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34/36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c1049d7b-8e51-423a-9557-b4e5efe2fd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b="1" dirty="0" spc="-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khuyên</a:t>
            </a:r>
            <a:r>
              <a:rPr lang="en-US" sz="28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b="1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8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r>
              <a:rPr lang="en-US" sz="2850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xAI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Cursor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8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tìm kiếm,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 văn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chi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giá,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early</a:t>
            </a:r>
            <a:r>
              <a:rPr lang="en-US" sz="285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beta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[S9]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4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tóm</a:t>
            </a: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kiếm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cần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4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khuyên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696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35/36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636d958b-49b2-4d55-bc70-c55b741edae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0574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xAI,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100" dirty="0" spc="-6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FAQ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(tài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liệu), 2026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74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xAI,</a:t>
            </a:r>
            <a:r>
              <a:rPr lang="en-US" sz="19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with</a:t>
            </a:r>
            <a:r>
              <a:rPr lang="en-US" sz="19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Bot: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tác,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44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xAI,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9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protect: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Bot,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574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Cursor,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Get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started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with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Cursor,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2100" dirty="0" spc="-5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FAQ,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574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Cursor,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100" dirty="0" spc="-5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FAQs</a:t>
            </a:r>
            <a:r>
              <a:rPr lang="en-US" sz="21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(trợ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giúp),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144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574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Gigazine,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SpaceXAI</a:t>
            </a:r>
            <a:r>
              <a:rPr lang="en-US" sz="16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Bot,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12/08/2026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144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0574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Mem0,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guide,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144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0574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Christopher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Alarcon,</a:t>
            </a:r>
            <a:r>
              <a:rPr lang="en-US" sz="21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 use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cases,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3345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1" name="Text 29"/>
          <p:cNvSpPr/>
          <p:nvPr/>
        </p:nvSpPr>
        <p:spPr>
          <a:xfrm>
            <a:off x="95631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4775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MindStudio,</a:t>
            </a:r>
            <a:r>
              <a:rPr lang="en-US" sz="21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1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pricing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 access,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93345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4" name="Text 32"/>
          <p:cNvSpPr/>
          <p:nvPr/>
        </p:nvSpPr>
        <p:spPr>
          <a:xfrm>
            <a:off x="95631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S11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04775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Builder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Club,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1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pricing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93345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5631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4775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Toolradar,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OpenClaw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vs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Bot,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3345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0" name="Text 38"/>
          <p:cNvSpPr/>
          <p:nvPr/>
        </p:nvSpPr>
        <p:spPr>
          <a:xfrm>
            <a:off x="95631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S13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04775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Tesla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North,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18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8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Teams,</a:t>
            </a:r>
            <a:r>
              <a:rPr lang="en-US" sz="18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11/09/2026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3345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3" name="Text 41"/>
          <p:cNvSpPr/>
          <p:nvPr/>
        </p:nvSpPr>
        <p:spPr>
          <a:xfrm>
            <a:off x="95631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S14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iPhone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Canada,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18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major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update,</a:t>
            </a:r>
            <a:r>
              <a:rPr lang="en-US" sz="18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17/10/2026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3345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6" name="Text 44"/>
          <p:cNvSpPr/>
          <p:nvPr/>
        </p:nvSpPr>
        <p:spPr>
          <a:xfrm>
            <a:off x="95631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S15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04775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ColdICP,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pricing,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93345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95631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S16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04775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Vellum,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Official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breakdown,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93345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2" name="Text 50"/>
          <p:cNvSpPr/>
          <p:nvPr/>
        </p:nvSpPr>
        <p:spPr>
          <a:xfrm>
            <a:off x="95631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S17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04775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Toolradar,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cases,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</a:t>
            </a:r>
            <a:endParaRPr lang="en-US" sz="2100" dirty="0"/>
          </a:p>
        </p:txBody>
      </p:sp>
      <p:sp>
        <p:nvSpPr>
          <p:cNvPr id="54" name="Shape 52"/>
          <p:cNvSpPr/>
          <p:nvPr/>
        </p:nvSpPr>
        <p:spPr>
          <a:xfrm>
            <a:off x="93345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5" name="Text 53"/>
          <p:cNvSpPr/>
          <p:nvPr/>
        </p:nvSpPr>
        <p:spPr>
          <a:xfrm>
            <a:off x="95631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S18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04775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skills.sh,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grok-bot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(hướng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 năng),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</a:t>
            </a:r>
            <a:endParaRPr lang="en-US" sz="2100" dirty="0"/>
          </a:p>
        </p:txBody>
      </p:sp>
      <p:sp>
        <p:nvSpPr>
          <p:cNvPr id="57" name="Shape 5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8924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93" name="Text 91"/>
          <p:cNvSpPr/>
          <p:nvPr/>
        </p:nvSpPr>
        <p:spPr>
          <a:xfrm>
            <a:off x="9372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36/36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5" name="Moda image moda-export-watermark-659d385c-38f1-4a9e-a79b-f5fe497cfd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2026-10-21T15:23:55Z</dcterms:created>
  <dcterms:modified xsi:type="dcterms:W3CDTF">2026-10-21T15:23:55Z</dcterms:modified>
</cp:coreProperties>
</file>