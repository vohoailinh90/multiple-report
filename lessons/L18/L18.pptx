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8288000" cy="10287000"/>
  <p:notesSz cx="10287000" cy="18288000"/>
  <p:embeddedFontLst>
    <p:embeddedFont>
      <p:font typeface="Be Vietnam Pro"/>
      <p:regular r:id="rId68"/>
      <p:bold r:id="rId65"/>
    </p:embeddedFont>
    <p:embeddedFont>
      <p:font typeface="Bricolage Grotesque ExtraBold"/>
      <p:regular r:id="rId66"/>
    </p:embeddedFont>
    <p:embeddedFont>
      <p:font typeface="Be Vietnam Pro SemiBold"/>
      <p:regular r:id="rId67"/>
    </p:embeddedFont>
    <p:embeddedFont>
      <p:font typeface="Be Vietnam Pro ExtraBold"/>
      <p:regular r:id="rId69"/>
    </p:embeddedFont>
    <p:embeddedFont>
      <p:font typeface="Be Vietnam Pro Medium"/>
      <p:regular r:id="rId7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font" Target="fonts/font1.fntdata"/><Relationship Id="rId66" Type="http://schemas.openxmlformats.org/officeDocument/2006/relationships/font" Target="fonts/font2.fntdata"/><Relationship Id="rId67" Type="http://schemas.openxmlformats.org/officeDocument/2006/relationships/font" Target="fonts/font3.fntdata"/><Relationship Id="rId68" Type="http://schemas.openxmlformats.org/officeDocument/2006/relationships/font" Target="fonts/font4.fntdata"/><Relationship Id="rId69" Type="http://schemas.openxmlformats.org/officeDocument/2006/relationships/font" Target="fonts/font5.fntdata"/><Relationship Id="rId7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4500" y="952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2525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477750" y="952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62075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66850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621000" y="952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76400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2975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82250" y="2381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52525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57300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525500" y="2381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66850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71625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668750" y="2381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2975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7750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0" y="38100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57300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62075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573250" y="38100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71625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676400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334500" y="52387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47750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52525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477750" y="52387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2075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66850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5621000" y="52387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676400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42975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382250" y="6667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2525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57300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3525500" y="6667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66850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571625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6668750" y="6667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2975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47750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430000" y="8096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257300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362075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4573250" y="8096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571625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676400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100" b="1" spc="4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b="1" spc="4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AdBlue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lạnh</a:t>
            </a:r>
            <a:r>
              <a:rPr lang="en-US" sz="81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nóng: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pha</a:t>
            </a:r>
            <a:r>
              <a:rPr lang="en-US" sz="81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biến</a:t>
            </a:r>
            <a:r>
              <a:rPr lang="en-US" sz="81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-5°C</a:t>
            </a:r>
            <a:r>
              <a:rPr lang="en-US" sz="81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450°C</a:t>
            </a:r>
            <a:endParaRPr lang="en-US" sz="8100" dirty="0"/>
          </a:p>
        </p:txBody>
      </p:sp>
      <p:sp>
        <p:nvSpPr>
          <p:cNvPr id="52" name="Text 50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7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AdBlue</a:t>
            </a:r>
            <a:r>
              <a:rPr lang="en-US" sz="330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300" dirty="0" spc="26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3300" dirty="0" spc="-6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nhiệt</a:t>
            </a:r>
            <a:r>
              <a:rPr lang="en-US" sz="3300" dirty="0" spc="1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3300" dirty="0" spc="-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30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-5°C</a:t>
            </a:r>
            <a:r>
              <a:rPr lang="en-US" sz="3300" dirty="0" spc="5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3300" dirty="0" spc="-2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330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450°C</a:t>
            </a:r>
            <a:r>
              <a:rPr lang="en-US" sz="3300" dirty="0" spc="-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300" dirty="0" spc="-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gì,</a:t>
            </a:r>
            <a:r>
              <a:rPr lang="en-US" sz="3300" dirty="0" spc="-26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300" dirty="0" spc="-6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300" dirty="0" spc="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lợi</a:t>
            </a:r>
            <a:r>
              <a:rPr lang="en-US" sz="3300" dirty="0" spc="-1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30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hại</a:t>
            </a:r>
            <a:r>
              <a:rPr lang="en-US" sz="3300" dirty="0" spc="-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30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DNOx?</a:t>
            </a:r>
            <a:endParaRPr lang="en-US" sz="3300" dirty="0"/>
          </a:p>
        </p:txBody>
      </p:sp>
      <p:sp>
        <p:nvSpPr>
          <p:cNvPr id="53" name="Shape 51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4F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Urea</a:t>
            </a:r>
            <a:endParaRPr lang="en-US" sz="2550" dirty="0"/>
          </a:p>
        </p:txBody>
      </p:sp>
      <p:sp>
        <p:nvSpPr>
          <p:cNvPr id="55" name="Shape 53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4CD9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Biuret</a:t>
            </a:r>
            <a:endParaRPr lang="en-US" sz="2550" dirty="0"/>
          </a:p>
        </p:txBody>
      </p:sp>
      <p:sp>
        <p:nvSpPr>
          <p:cNvPr id="57" name="Shape 55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5C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Ammelide</a:t>
            </a:r>
            <a:endParaRPr lang="en-US" sz="2550" dirty="0"/>
          </a:p>
        </p:txBody>
      </p:sp>
      <p:sp>
        <p:nvSpPr>
          <p:cNvPr id="59" name="Shape 57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C084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Cyanuric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endParaRPr lang="en-US" sz="255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904cde1d-cccd-4fdb-8174-d0b0490ab8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chính: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AdBlue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nước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32,5%</a:t>
            </a:r>
            <a:r>
              <a:rPr lang="en-US" sz="30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urea;</a:t>
            </a:r>
            <a:r>
              <a:rPr lang="en-US" sz="3000" dirty="0" spc="-3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tinh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 -11,5°C,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nở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300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7%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[S6][S7]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Bảo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quản: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25°C</a:t>
            </a:r>
            <a:r>
              <a:rPr lang="en-US" sz="300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kéo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dài,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-5°C; hạn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36/18/12/6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tháng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Khi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nóng: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nước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bay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20–100°C,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urea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nóng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chảy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132–133°C,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hủy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120–230°C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[S3][S11]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7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Trên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~133°C: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urea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30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NH3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 HNCO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biuret;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190–360°C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cyanuric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acid,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ammelide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[S3][S4]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 [S7]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05228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02/58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6" name="Moda image moda-export-watermark-8cfcd744-0f4d-41d0-84da-6e41ace0f4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 lại: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cặn,</a:t>
            </a:r>
            <a:r>
              <a:rPr lang="en-US" sz="57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DNOx,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Cặn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giọt</a:t>
            </a:r>
            <a:r>
              <a:rPr lang="en-US" sz="22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màng</a:t>
            </a:r>
            <a:r>
              <a:rPr lang="en-US" sz="22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thành;</a:t>
            </a:r>
            <a:r>
              <a:rPr lang="en-US" sz="22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25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Leidenfrost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7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Trên</a:t>
            </a:r>
            <a:r>
              <a:rPr lang="en-US" sz="31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400°C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cặn giảm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</a:t>
            </a:r>
            <a:r>
              <a:rPr lang="en-US" sz="3150" dirty="0" spc="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31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</a:t>
            </a:r>
            <a:r>
              <a:rPr lang="en-US" sz="31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chịu</a:t>
            </a:r>
            <a:r>
              <a:rPr lang="en-US" sz="31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nhiệt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31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700°C</a:t>
            </a:r>
            <a:r>
              <a:rPr lang="en-US" sz="31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DNOx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ngưỡng</a:t>
            </a:r>
            <a:r>
              <a:rPr lang="en-US" sz="22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phun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200–250°C, hệ</a:t>
            </a:r>
            <a:r>
              <a:rPr lang="en-US" sz="22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~180°C;</a:t>
            </a: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giọt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2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mixer,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sưởi,</a:t>
            </a:r>
            <a:r>
              <a:rPr lang="en-US" sz="22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9" name="Text 17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2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(Leidenfrost,</a:t>
            </a:r>
            <a:r>
              <a:rPr lang="en-US" sz="225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NH3</a:t>
            </a:r>
            <a:r>
              <a:rPr lang="en-US" sz="22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450°C,</a:t>
            </a:r>
            <a:r>
              <a:rPr lang="en-US" sz="225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rã</a:t>
            </a:r>
            <a:r>
              <a:rPr lang="en-US" sz="22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đông)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 [S13]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262883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03/58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3" name="Moda image moda-export-watermark-aa68ac9d-9671-4e4d-a6d7-79293c5d83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57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-5°C</a:t>
            </a:r>
            <a:r>
              <a:rPr lang="en-US" sz="57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450°C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3109995884-5438903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438400"/>
            <a:ext cx="97155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5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[S3][S4][S5][S6][S11]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Vùng</a:t>
            </a:r>
            <a:r>
              <a:rPr lang="en-US" sz="22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A–D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lạnh, bảo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quản,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nhẹ,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nước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bay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hơi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Vùng</a:t>
            </a:r>
            <a:r>
              <a:rPr lang="en-US" sz="22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E–G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urea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hủy,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biuret,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cyanuric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acid,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ammelide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Vùng</a:t>
            </a:r>
            <a:r>
              <a:rPr lang="en-US" sz="225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H–I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cặn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hủy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chậm,</a:t>
            </a: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cặn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420538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04/58</a:t>
            </a:r>
            <a:endParaRPr lang="en-US" sz="1800" dirty="0"/>
          </a:p>
        </p:txBody>
      </p:sp>
      <p:sp>
        <p:nvSpPr>
          <p:cNvPr id="78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9" name="Moda image moda-export-watermark-4869cca1-a1a8-4574-94f0-1279daaf203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r>
              <a:rPr lang="en-US" sz="3000" dirty="0" spc="1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(dưới</a:t>
            </a:r>
            <a:r>
              <a:rPr lang="en-US" sz="30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-5°C)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Lỏng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lạnh,</a:t>
            </a:r>
            <a:r>
              <a:rPr lang="en-US" sz="240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-11,5°C; hại: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băng, giãn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nở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r>
              <a:rPr lang="en-US" sz="300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(-5</a:t>
            </a:r>
            <a:r>
              <a:rPr lang="en-US" sz="300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3000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30°C)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định;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lợi: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</a:t>
            </a:r>
            <a:r>
              <a:rPr lang="en-US" sz="300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(30</a:t>
            </a:r>
            <a:r>
              <a:rPr lang="en-US" sz="30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30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70°C)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Thủy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7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NH3;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</a:t>
            </a:r>
            <a:r>
              <a:rPr lang="en-US" sz="3000" dirty="0" spc="-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(70</a:t>
            </a:r>
            <a:r>
              <a:rPr lang="en-US" sz="30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300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130°C)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Nước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hơi,</a:t>
            </a:r>
            <a:r>
              <a:rPr lang="en-US" sz="27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</a:t>
            </a:r>
            <a:r>
              <a:rPr lang="en-US" sz="270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E–F</a:t>
            </a:r>
            <a:r>
              <a:rPr lang="en-US" sz="3000" dirty="0" spc="-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(130</a:t>
            </a:r>
            <a:r>
              <a:rPr lang="en-US" sz="30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30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250°C)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Urea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hủy,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biuret</a:t>
            </a:r>
            <a:r>
              <a:rPr lang="en-US" sz="27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G–I</a:t>
            </a:r>
            <a:r>
              <a:rPr lang="en-US" sz="3000" dirty="0" spc="-1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(trên</a:t>
            </a:r>
            <a:r>
              <a:rPr lang="en-US" sz="30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250°C)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Cặn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27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hủy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578193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05/58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8" name="Moda image moda-export-watermark-d8a1e58f-649f-40d1-9301-f1a922bcc0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 mốc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nhiệt</a:t>
            </a:r>
            <a:r>
              <a:rPr lang="en-US" sz="57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Connector line-1793110011012-846813109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038350" y="55626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Connector line-1793110011013-615256527"/>
          <p:cNvSpPr/>
          <p:nvPr/>
        </p:nvSpPr>
        <p:spPr>
          <a:xfrm flipV="1">
            <a:off x="2286000" y="5238750"/>
            <a:ext cx="0" cy="3238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-11,5°C:</a:t>
            </a:r>
            <a:r>
              <a:rPr lang="en-US" sz="27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urea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27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700" dirty="0" spc="-3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tinh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781550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Connector line-1793110011016-73127499"/>
          <p:cNvSpPr/>
          <p:nvPr/>
        </p:nvSpPr>
        <p:spPr>
          <a:xfrm>
            <a:off x="5029200" y="605790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38481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25°C: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 bảo</a:t>
            </a: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quản</a:t>
            </a:r>
            <a:r>
              <a:rPr lang="en-US" sz="270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kéo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524750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Connector line-1793110011018-619363099"/>
          <p:cNvSpPr/>
          <p:nvPr/>
        </p:nvSpPr>
        <p:spPr>
          <a:xfrm flipV="1">
            <a:off x="7772400" y="523875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5913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132–133°C: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urea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nóng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chảy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[S3]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0267950" y="556260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Connector line-1793110011020-952334922"/>
          <p:cNvSpPr/>
          <p:nvPr/>
        </p:nvSpPr>
        <p:spPr>
          <a:xfrm>
            <a:off x="10515600" y="6057900"/>
            <a:ext cx="0" cy="323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3345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190–193°C:</a:t>
            </a:r>
            <a:r>
              <a:rPr lang="en-US" sz="22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biuret</a:t>
            </a: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chảy</a:t>
            </a:r>
            <a:r>
              <a:rPr lang="en-US" sz="22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đông,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2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biuret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[S3]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011150" y="55626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Connector line-1793110011022-329066438"/>
          <p:cNvSpPr/>
          <p:nvPr/>
        </p:nvSpPr>
        <p:spPr>
          <a:xfrm flipV="1">
            <a:off x="13258800" y="5238750"/>
            <a:ext cx="0" cy="3238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20777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250°C: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cyanuric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acid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hủy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5754350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Connector line-1793110011024-366155339"/>
          <p:cNvSpPr/>
          <p:nvPr/>
        </p:nvSpPr>
        <p:spPr>
          <a:xfrm>
            <a:off x="16002000" y="605790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8209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360°C: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ammelide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27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hủy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35848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06/58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3" name="Moda image moda-export-watermark-cc665804-f1f1-444c-ac4c-bb89aa86c2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AdBlue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NH3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AdBlue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 dịch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0" kern="0">
                <a:solidFill>
                  <a:srgbClr val="FF4F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urea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32,5%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ISO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22241;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AdBlue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VDA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[S6][S7]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khử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NOx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NH3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bước: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CO(NH2)2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NH3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HNCO,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thủy</a:t>
            </a:r>
            <a:r>
              <a:rPr lang="en-US" sz="28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HNCO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NH3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CO2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khiết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nhiệt,</a:t>
            </a:r>
            <a:r>
              <a:rPr lang="en-US" sz="28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SCR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loãng nên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HNCO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kịp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thủy phân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cặn.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AdBlue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phun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ống</a:t>
            </a:r>
            <a:r>
              <a:rPr lang="en-US" sz="24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xả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nóng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SCR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cho</a:t>
            </a:r>
            <a:r>
              <a:rPr lang="en-US" sz="240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NH3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khử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NOx;</a:t>
            </a:r>
            <a:r>
              <a:rPr lang="en-US" sz="24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urea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r>
              <a:rPr lang="en-US" sz="24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chứa</a:t>
            </a:r>
            <a:r>
              <a:rPr lang="en-US" sz="24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NH3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urea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 khử NOx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93503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07/58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021afeb8-40b8-4894-b11b-a4ab69c7e2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cụm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SCR thật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3110172430-9718819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81150" y="2438400"/>
            <a:ext cx="76200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z22,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3.0,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Commons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(Hino</a:t>
            </a:r>
            <a:r>
              <a:rPr lang="en-US" sz="16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Standardized</a:t>
            </a:r>
            <a:r>
              <a:rPr lang="en-US" sz="16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Unit)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Bộ</a:t>
            </a:r>
            <a:r>
              <a:rPr lang="en-US" sz="2187" dirty="0" spc="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SCR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nơi</a:t>
            </a:r>
            <a:r>
              <a:rPr lang="en-US" sz="25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NH3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gặp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NOx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Phun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AdBlue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ống</a:t>
            </a:r>
            <a:r>
              <a:rPr lang="en-US" sz="255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xả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nóng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Cặn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bám</a:t>
            </a:r>
            <a:r>
              <a:rPr lang="en-US" sz="25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mixer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ống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F3DFB8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SCR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AdBlue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phun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22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nóng,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hơi,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13" kern="0">
                <a:solidFill>
                  <a:srgbClr val="E91E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urea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NH3,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NH3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NOx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phun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2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giọt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 thành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cặn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051158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6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9" name="Text 7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08/58</a:t>
            </a:r>
            <a:endParaRPr lang="en-US" sz="1800" dirty="0"/>
          </a:p>
        </p:txBody>
      </p:sp>
      <p:sp>
        <p:nvSpPr>
          <p:cNvPr id="80" name="Shape 7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1" name="Moda image moda-export-watermark-9125ca77-72db-4e22-9a85-ac4d8859cef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chính: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3110185771-6845177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438400"/>
            <a:ext cx="97155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 Commons,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domain: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Urea-2D.png;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Biuret_struct.svg;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Ammelide.png;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Cyanuric_acid.svg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FF4FD8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0" kern="0">
                <a:solidFill>
                  <a:srgbClr val="FF4FD8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Urea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79082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nguyên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liệu, cho</a:t>
            </a:r>
            <a:r>
              <a:rPr lang="en-US" sz="255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NH3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82905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82905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4CD964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392430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4CD96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Biuret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37197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trung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gian,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bột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nhào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bánh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41020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41020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C084FF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5054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C084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Cyanuric</a:t>
            </a:r>
            <a:r>
              <a:rPr lang="en-US" sz="2250" dirty="0" spc="7" kern="0">
                <a:solidFill>
                  <a:srgbClr val="C084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acid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595312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cặn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chính,</a:t>
            </a:r>
            <a:r>
              <a:rPr lang="en-US" sz="25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vữa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1391900" y="699135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9" name="Shape 16"/>
          <p:cNvSpPr/>
          <p:nvPr/>
        </p:nvSpPr>
        <p:spPr>
          <a:xfrm>
            <a:off x="11391900" y="699135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FF5C5C"/>
          </a:solidFill>
          <a:ln/>
        </p:spPr>
      </p:sp>
      <p:sp>
        <p:nvSpPr>
          <p:cNvPr id="20" name="Text 17"/>
          <p:cNvSpPr/>
          <p:nvPr/>
        </p:nvSpPr>
        <p:spPr>
          <a:xfrm>
            <a:off x="11734800" y="708660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F5C5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Ammelide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1734800" y="753427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cặn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bền,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[S18]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208813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2" name="Shape 29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Text 7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09/58</a:t>
            </a:r>
            <a:endParaRPr lang="en-US" sz="1800" dirty="0"/>
          </a:p>
        </p:txBody>
      </p:sp>
      <p:sp>
        <p:nvSpPr>
          <p:cNvPr id="82" name="Shape 7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3" name="Moda image moda-export-watermark-1ac9fb8e-95b4-47fd-98ea-a7781bb01d8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Urea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màu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hồng;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25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~133°C; cho</a:t>
            </a:r>
            <a:r>
              <a:rPr lang="en-US" sz="255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NH3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HNCO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Biuret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màu xanh lá; 2 urea → biuret + NH3 [S3]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Cyanuric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màu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tím; thăng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hoa/phân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250–300°C [S3][S4]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Ammelide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màu</a:t>
            </a:r>
            <a:r>
              <a:rPr lang="en-US" sz="25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đỏ;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bền,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~360°C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366468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10/58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4" name="Moda image moda-export-watermark-f61dee4f-4f34-4521-924a-478e03728e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Chuỗi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urea</a:t>
            </a:r>
            <a:r>
              <a:rPr lang="en-US" sz="57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3110065344-7691129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438400"/>
            <a:ext cx="97155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5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Tischer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2019,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Bernhard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2012, Zhu 2023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[S3][S5][S8]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247900"/>
            <a:ext cx="54483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Urea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55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NH3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HNCO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0" name="Shape 7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8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HNCO + H2O → NH3 + CO2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đường</a:t>
            </a:r>
            <a:r>
              <a:rPr lang="en-US" sz="25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4" name="Shape 11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2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HNCO</a:t>
            </a:r>
            <a:r>
              <a:rPr lang="en-US" sz="2250" dirty="0" spc="-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ghép</a:t>
            </a:r>
            <a:r>
              <a:rPr lang="en-US" sz="22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thành cặn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đường</a:t>
            </a:r>
            <a:r>
              <a:rPr lang="en-US" sz="25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xấu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524123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6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Text 7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11/58</a:t>
            </a:r>
            <a:endParaRPr lang="en-US" sz="1800" dirty="0"/>
          </a:p>
        </p:txBody>
      </p:sp>
      <p:sp>
        <p:nvSpPr>
          <p:cNvPr id="77" name="Shape 7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34ac3b4e-2636-4ecb-997f-78edaf5026b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Vùng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lạnh,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tinh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đông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Trạng</a:t>
            </a:r>
            <a:r>
              <a:rPr lang="en-US" sz="21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thái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Lỏng</a:t>
            </a:r>
            <a:r>
              <a:rPr lang="en-US" sz="25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-11,5°C,</a:t>
            </a:r>
            <a:r>
              <a:rPr lang="en-US" sz="255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rồi</a:t>
            </a:r>
            <a:r>
              <a:rPr lang="en-US" sz="25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đá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tinh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urea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[S6]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có</a:t>
            </a:r>
            <a:r>
              <a:rPr lang="en-US" sz="21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mặt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Nước,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urea,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băng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[S6]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Phản</a:t>
            </a:r>
            <a:r>
              <a:rPr lang="en-US" sz="2100" dirty="0" spc="2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ứng</a:t>
            </a:r>
            <a:r>
              <a:rPr lang="en-US" sz="210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phản</a:t>
            </a:r>
            <a:r>
              <a:rPr lang="en-US" sz="2550" dirty="0" spc="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hóa học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đáng</a:t>
            </a:r>
            <a:r>
              <a:rPr lang="en-US" sz="2550" dirty="0" spc="-2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kể;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pha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Số</a:t>
            </a:r>
            <a:r>
              <a:rPr lang="en-US" sz="21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-11,5°C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[S6]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-11°C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[S13][S15]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-11</a:t>
            </a:r>
            <a:r>
              <a:rPr lang="en-US" sz="25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-15°C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[S7]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nở</a:t>
            </a:r>
            <a:r>
              <a:rPr lang="en-US" sz="2550" dirty="0" spc="-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~7%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[S6]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Ý nghĩa</a:t>
            </a:r>
            <a:r>
              <a:rPr lang="en-US" sz="2100" dirty="0" spc="-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với</a:t>
            </a:r>
            <a:r>
              <a:rPr lang="en-US" sz="21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DNOx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Hại: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phun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được,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giãn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nở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2550" dirty="0" spc="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cứng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81778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12/58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4" name="Moda image moda-export-watermark-c1cd1c70-a8c3-4590-bc29-28a546399b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Thang</a:t>
            </a:r>
            <a:r>
              <a:rPr lang="en-US" sz="57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đóng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băng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AdBlue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3110081675-124102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438400"/>
            <a:ext cx="85725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5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Cefic, OCI,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DieselNet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[S6][S7][S13]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247900"/>
            <a:ext cx="65913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25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-5°C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0" name="Shape 7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8"/>
          <p:cNvSpPr/>
          <p:nvPr/>
        </p:nvSpPr>
        <p:spPr>
          <a:xfrm>
            <a:off x="10591800" y="3219450"/>
            <a:ext cx="65913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tinh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-11,5°C [S6]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3" name="Shape 10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4" name="Text 11"/>
          <p:cNvSpPr/>
          <p:nvPr/>
        </p:nvSpPr>
        <p:spPr>
          <a:xfrm>
            <a:off x="10591800" y="4191000"/>
            <a:ext cx="65913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Nở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~7%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5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đông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2550" dirty="0"/>
          </a:p>
        </p:txBody>
      </p:sp>
      <p:sp>
        <p:nvSpPr>
          <p:cNvPr id="15" name="Shape 12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1C4236"/>
          </a:solidFill>
          <a:ln/>
        </p:spPr>
      </p:sp>
      <p:sp>
        <p:nvSpPr>
          <p:cNvPr id="16" name="Text 13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eutectic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2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rõ.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-5°C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2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tinh,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2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 -11,5°C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-11°C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khoảng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-11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-15°C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[S7][S13]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25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7%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bình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băng.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839433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Shape 28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Text 7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13/58</a:t>
            </a:r>
            <a:endParaRPr lang="en-US" sz="1800" dirty="0"/>
          </a:p>
        </p:txBody>
      </p:sp>
      <p:sp>
        <p:nvSpPr>
          <p:cNvPr id="77" name="Shape 7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771831a8-fb2b-4f52-bdf4-408b126a77a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Rã</a:t>
            </a:r>
            <a:r>
              <a:rPr lang="en-US" sz="57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đông: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biện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pháp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số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42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Bình,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ống, bơm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sưởi;</a:t>
            </a:r>
            <a:r>
              <a:rPr lang="en-US" sz="30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băng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[S13];</a:t>
            </a:r>
            <a:r>
              <a:rPr lang="en-US" sz="30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30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cuộn</a:t>
            </a:r>
            <a:r>
              <a:rPr lang="en-US" sz="30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sưởi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[S6];</a:t>
            </a:r>
            <a:r>
              <a:rPr lang="en-US" sz="30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Bosch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băng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8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42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42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315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rã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(EU</a:t>
            </a:r>
            <a:r>
              <a:rPr lang="en-US" sz="31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lượng,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phỏng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CFD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[S15]);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-11,5°C;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1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r>
              <a:rPr lang="en-US" sz="31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sưởi: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1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Quan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hệ: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đề;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kỹ sư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 hệ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 [S13]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97088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14/58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032113b7-8b37-497e-a3a8-a2b8adfe55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Vùng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B: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lỏng</a:t>
            </a:r>
            <a:r>
              <a:rPr lang="en-US" sz="57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bình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8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-5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30°C.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lỏng,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suốt,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nhớt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1,4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mPa·s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25°C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Cefic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25°C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-5°C;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trời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cách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nhiệt,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nắng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Thép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carbon,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nhôm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kẽm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dùng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NH3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thép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gỉ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nhựa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bình,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can,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kho;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-5°C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30°C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lượng,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 theo nhiệt</a:t>
            </a:r>
            <a:r>
              <a:rPr lang="en-US" sz="24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240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đáng</a:t>
            </a:r>
            <a:r>
              <a:rPr lang="en-US" sz="24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kể,</a:t>
            </a:r>
            <a:r>
              <a:rPr lang="en-US" sz="240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154742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15/58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5315c121-e9de-44ae-b0e8-a21af80961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giảm khi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3110207079-3195528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438400"/>
            <a:ext cx="85725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5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Cefic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OCI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[S6][S7]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≤10°C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36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≤25°C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18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≤35°C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6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F3DFB8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AdBlue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2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tăng: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36, 18,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≤10,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≤25,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≤30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≤35°C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Cefic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OCI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tiếp;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312397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4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9" name="Text 7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16/58</a:t>
            </a:r>
            <a:endParaRPr lang="en-US" sz="1800" dirty="0"/>
          </a:p>
        </p:txBody>
      </p:sp>
      <p:sp>
        <p:nvSpPr>
          <p:cNvPr id="80" name="Shape 7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1" name="Moda image moda-export-watermark-138014fd-94d7-4aa9-933c-602b7ba07f3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Đặc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57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nhà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cung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Urea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31,8</a:t>
            </a:r>
            <a:r>
              <a:rPr lang="en-US" sz="27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33,2%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Biuret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</a:t>
            </a:r>
            <a:r>
              <a:rPr lang="en-US" sz="27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0,3%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Độ</a:t>
            </a:r>
            <a:r>
              <a:rPr lang="en-US" sz="30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kiềm</a:t>
            </a:r>
            <a:r>
              <a:rPr lang="en-US" sz="300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(NH3)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</a:t>
            </a:r>
            <a:r>
              <a:rPr lang="en-US" sz="27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0,2%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Aldehyde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</a:t>
            </a:r>
            <a:r>
              <a:rPr lang="en-US" sz="27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7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mg/kg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3000" dirty="0" spc="-1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30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tan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</a:t>
            </a:r>
            <a:r>
              <a:rPr lang="en-US" sz="27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27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mg/kg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Nhiệt</a:t>
            </a:r>
            <a:r>
              <a:rPr lang="en-US" sz="3000" dirty="0" spc="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</a:t>
            </a:r>
            <a:r>
              <a:rPr lang="en-US" sz="300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phân</a:t>
            </a:r>
            <a:r>
              <a:rPr lang="en-US" sz="300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hủy</a:t>
            </a:r>
            <a:r>
              <a:rPr lang="en-US" sz="30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ghi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100°C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(không</a:t>
            </a:r>
            <a:r>
              <a:rPr lang="en-US" sz="270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7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pháp)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470052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17/58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8" name="Moda image moda-export-watermark-5a330d16-c331-46c2-be8d-e9073ff5fe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Vùng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C: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nóng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nhẹ,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thủy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8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25°C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0" kern="0">
                <a:solidFill>
                  <a:srgbClr val="E91E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urea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thủy phân thành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NH3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CO2,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thùng kín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chậm: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 bình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30–35°C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6–12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Thùng có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hơi,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nồng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Cuộn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sưởi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NH3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bình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nắng,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cạnh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nóng,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cuộn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sưởi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urea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thủy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chậm,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24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NH3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8992" rIns="0" bIns="-18992" rtlCol="0" anchor="t"/>
          <a:lstStyle/>
          <a:p>
            <a:pPr algn="l" indent="0" marL="0">
              <a:lnSpc>
                <a:spcPts val="2921"/>
              </a:lnSpc>
              <a:buNone/>
            </a:pPr>
            <a:r>
              <a:rPr lang="en-US" sz="2394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chậm</a:t>
            </a:r>
            <a:r>
              <a:rPr lang="en-US" sz="2394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có</a:t>
            </a:r>
            <a:r>
              <a:rPr lang="en-US" sz="2394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 là</a:t>
            </a:r>
            <a:r>
              <a:rPr lang="en-US" sz="2394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 0</a:t>
            </a:r>
            <a:endParaRPr lang="en-US" sz="2394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27707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18/58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466bbc08-8c0e-467f-9126-22dc94a56d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nóng</a:t>
            </a:r>
            <a:r>
              <a:rPr lang="en-US" sz="57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bình</a:t>
            </a:r>
            <a:r>
              <a:rPr lang="en-US" sz="57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áp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suất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Bình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25°C</a:t>
            </a:r>
            <a:r>
              <a:rPr lang="en-US" sz="270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kéo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endParaRPr lang="en-US" sz="2700" dirty="0"/>
          </a:p>
        </p:txBody>
      </p:sp>
      <p:sp>
        <p:nvSpPr>
          <p:cNvPr id="7" name="Connector line-1793110230938-226072878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Urea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thủy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endParaRPr lang="en-US" sz="2700" dirty="0"/>
          </a:p>
        </p:txBody>
      </p:sp>
      <p:sp>
        <p:nvSpPr>
          <p:cNvPr id="12" name="Connector line-1793110230941-604396525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Sinh</a:t>
            </a:r>
            <a:r>
              <a:rPr lang="en-US" sz="27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NH3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CO2</a:t>
            </a:r>
            <a:endParaRPr lang="en-US" sz="2700" dirty="0"/>
          </a:p>
        </p:txBody>
      </p:sp>
      <p:sp>
        <p:nvSpPr>
          <p:cNvPr id="17" name="Connector line-1793110230943-849421241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Thùng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kín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áp,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ngắn</a:t>
            </a:r>
            <a:r>
              <a:rPr lang="en-US" sz="270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785362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2" name="Shape 40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19/58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3" name="Moda image moda-export-watermark-eb7e11e4-4f66-427d-830a-e54e1af6adf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Nơi</a:t>
            </a: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9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Bình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</a:t>
            </a:r>
            <a:r>
              <a:rPr lang="en-US" sz="255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đậu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nắng, bình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nóng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(suy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luận)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Ống</a:t>
            </a:r>
            <a:r>
              <a:rPr lang="en-US" sz="27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sưởi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nhiệt</a:t>
            </a:r>
            <a:r>
              <a:rPr lang="en-US" sz="255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 cục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sưởi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(suy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luận)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Cuộn</a:t>
            </a:r>
            <a:r>
              <a:rPr lang="en-US" sz="27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sưởi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tránh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[S6]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943017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20/58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9" name="Moda image moda-export-watermark-359e6453-c30f-407a-86ec-8893608cc8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Vùng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D:</a:t>
            </a:r>
            <a:r>
              <a:rPr lang="en-US" sz="57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nước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bay</a:t>
            </a:r>
            <a:r>
              <a:rPr lang="en-US" sz="57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hơi,</a:t>
            </a: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urea</a:t>
            </a:r>
            <a:r>
              <a:rPr lang="en-US" sz="57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Trạng</a:t>
            </a: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thái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Nước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bay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hơi,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urea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đặc,</a:t>
            </a:r>
            <a:r>
              <a:rPr lang="en-US" sz="2550" dirty="0" spc="-3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tinh,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rồi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nóng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chảy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[S11]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có</a:t>
            </a:r>
            <a:r>
              <a:rPr lang="en-US" sz="2100" dirty="0" spc="-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mặt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Hơi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nước,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urea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tinh thể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lỏng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[S11]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Phản</a:t>
            </a:r>
            <a:r>
              <a:rPr lang="en-US" sz="2100" dirty="0" spc="2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ứng</a:t>
            </a:r>
            <a:r>
              <a:rPr lang="en-US" sz="21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Chủ</a:t>
            </a:r>
            <a:r>
              <a:rPr lang="en-US" sz="255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yếu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pha;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phản</a:t>
            </a:r>
            <a:r>
              <a:rPr lang="en-US" sz="2550" dirty="0" spc="2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hóa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đáng</a:t>
            </a:r>
            <a:r>
              <a:rPr lang="en-US" sz="2550" dirty="0" spc="-3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kể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Số</a:t>
            </a:r>
            <a:r>
              <a:rPr lang="en-US" sz="21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Nước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20–100°C;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urea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phân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hủy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120–230°C;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nóng</a:t>
            </a: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chảy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132–133°C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[S3][S5][S11]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Ý nghĩa</a:t>
            </a:r>
            <a:r>
              <a:rPr lang="en-US" sz="2100" dirty="0" spc="-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với</a:t>
            </a:r>
            <a:r>
              <a:rPr lang="en-US" sz="21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DNOx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Hại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nếu</a:t>
            </a:r>
            <a:r>
              <a:rPr lang="en-US" sz="2550" dirty="0" spc="-2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xảy</a:t>
            </a:r>
            <a:r>
              <a:rPr lang="en-US" sz="2550" dirty="0" spc="-2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thành: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cặn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urea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khí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~150°C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100672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21/58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4" name="Moda image moda-export-watermark-f39d0c01-f9cd-437b-ac67-d17e2751d90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7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xảy</a:t>
            </a:r>
            <a:r>
              <a:rPr lang="en-US" sz="57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Nước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bay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hơi:</a:t>
            </a:r>
            <a:r>
              <a:rPr lang="en-US" sz="3000" dirty="0" spc="-4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TGA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20–100°C [S11]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Urea</a:t>
            </a:r>
            <a:r>
              <a:rPr lang="en-US" sz="3000" dirty="0" spc="-3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tinh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dung dịch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 bão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hòa;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400°C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urea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dồn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lõi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giọt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[S11]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Urea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nóng chảy: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132°C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(Tischer)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133°C</a:t>
            </a:r>
            <a:r>
              <a:rPr lang="en-US" sz="30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(DSC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Bernhard)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[S3][S5]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Hơi</a:t>
            </a:r>
            <a:r>
              <a:rPr lang="en-US" sz="30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urea: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~120°C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thăng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hoa</a:t>
            </a:r>
            <a:r>
              <a:rPr lang="en-US" sz="30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 cho</a:t>
            </a:r>
            <a:r>
              <a:rPr lang="en-US" sz="30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SCR,</a:t>
            </a:r>
            <a:r>
              <a:rPr lang="en-US" sz="30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SCR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120°C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khả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[S5]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258327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22/58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6" name="Moda image moda-export-watermark-757b0bd3-4bf6-4e0c-b8fa-b77517af23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Cặn</a:t>
            </a: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urea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khí</a:t>
            </a:r>
            <a:r>
              <a:rPr lang="en-US" sz="57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~150°C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16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96,6%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urea</a:t>
            </a:r>
            <a:r>
              <a:rPr lang="en-US" sz="33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cặn</a:t>
            </a:r>
            <a:r>
              <a:rPr lang="en-US" sz="33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33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</a:t>
            </a:r>
            <a:r>
              <a:rPr lang="en-US" sz="33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FVV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 khí</a:t>
            </a: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~150°C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AdBlue</a:t>
            </a:r>
            <a:r>
              <a:rPr lang="en-US" sz="33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33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phun</a:t>
            </a:r>
            <a:r>
              <a:rPr lang="en-US" sz="33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180°C;</a:t>
            </a:r>
            <a:r>
              <a:rPr lang="en-US" sz="3300" dirty="0" spc="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33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khởi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3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3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33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33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33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rủi</a:t>
            </a:r>
            <a:r>
              <a:rPr lang="en-US" sz="330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415982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0" name="Shape 28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23/58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d0702968-f3c6-42ee-8ea5-489eb629ab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Vùng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E:</a:t>
            </a: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urea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chảy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hủy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Tischer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sự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0" kern="0">
                <a:solidFill>
                  <a:srgbClr val="E91E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urea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132°C;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140–180°C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NH3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HNCO,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 thành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4" kern="0">
                <a:solidFill>
                  <a:srgbClr val="1B8A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biuret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850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NH3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Cefic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thủy phân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</a:t>
            </a: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 180°C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 ở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190°C cho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~46%,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biuret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~28%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~77%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ống</a:t>
            </a:r>
            <a:r>
              <a:rPr lang="en-US" sz="24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xả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130–190°C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urea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4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NH3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HNCO,</a:t>
            </a:r>
            <a:r>
              <a:rPr lang="en-US" sz="24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biuret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NH3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tất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cả;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rắn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[S6]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573637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24/58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89d49ece-760b-4ea6-ae0e-dd66f50929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Biểu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vẽ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130–190°C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3110285061-6581456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438400"/>
            <a:ext cx="85725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5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biểu</a:t>
            </a:r>
            <a:r>
              <a:rPr lang="en-US" sz="165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(±2%),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L17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247900"/>
            <a:ext cx="65913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Urea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0" name="Shape 7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8"/>
          <p:cNvSpPr/>
          <p:nvPr/>
        </p:nvSpPr>
        <p:spPr>
          <a:xfrm>
            <a:off x="10591800" y="3219450"/>
            <a:ext cx="65913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Biuret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55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đỉnh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~28%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190°C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3" name="Shape 10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4" name="Text 11"/>
          <p:cNvSpPr/>
          <p:nvPr/>
        </p:nvSpPr>
        <p:spPr>
          <a:xfrm>
            <a:off x="10591800" y="4191000"/>
            <a:ext cx="65913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6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Tổng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 hồi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tụt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khí</a:t>
            </a:r>
            <a:endParaRPr lang="en-US" sz="2550" dirty="0"/>
          </a:p>
        </p:txBody>
      </p:sp>
      <p:sp>
        <p:nvSpPr>
          <p:cNvPr id="15" name="Shape 12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1C4236"/>
          </a:solidFill>
          <a:ln/>
        </p:spPr>
      </p:sp>
      <p:sp>
        <p:nvSpPr>
          <p:cNvPr id="16" name="Text 13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Biểu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1" kern="0">
                <a:solidFill>
                  <a:srgbClr val="FF4F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</a:t>
            </a:r>
            <a:r>
              <a:rPr lang="en-US" sz="2250" b="1" dirty="0" spc="-2" kern="0">
                <a:solidFill>
                  <a:srgbClr val="FF4F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250" b="1" dirty="0" spc="-9" kern="0">
                <a:solidFill>
                  <a:srgbClr val="FF4F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(đọc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mắt,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±2%):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190°C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~46%,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11" kern="0">
                <a:solidFill>
                  <a:srgbClr val="4CD96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biuret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~28%,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~77%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chiếu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FVV: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cặn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200°C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urea,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phỏng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185°C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biuret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cyanuric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731292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Shape 40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Text 7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25/58</a:t>
            </a:r>
            <a:endParaRPr lang="en-US" sz="1800" dirty="0"/>
          </a:p>
        </p:txBody>
      </p:sp>
      <p:sp>
        <p:nvSpPr>
          <p:cNvPr id="77" name="Shape 7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03c3e417-757c-44cd-8628-7147da62e1e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Mốc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nhiệt</a:t>
            </a:r>
            <a:r>
              <a:rPr lang="en-US" sz="57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</a:t>
            </a:r>
            <a:endParaRPr lang="en-US" sz="5700" dirty="0"/>
          </a:p>
        </p:txBody>
      </p:sp>
      <p:sp>
        <p:nvSpPr>
          <p:cNvPr id="3" name="Connector line-1793110290690-504806956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314575" y="55626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Connector line-1793110290690-76468128"/>
          <p:cNvSpPr/>
          <p:nvPr/>
        </p:nvSpPr>
        <p:spPr>
          <a:xfrm flipV="1">
            <a:off x="2562225" y="5238750"/>
            <a:ext cx="0" cy="3238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132–133°C: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nóng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chảy,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27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hủy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[S3]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00700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Connector line-1793110290692-71169341"/>
          <p:cNvSpPr/>
          <p:nvPr/>
        </p:nvSpPr>
        <p:spPr>
          <a:xfrm>
            <a:off x="5848350" y="605790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4400550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140–180°C: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tốc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tuyến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[S3]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896350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Connector line-1793110290693-651484599"/>
          <p:cNvSpPr/>
          <p:nvPr/>
        </p:nvSpPr>
        <p:spPr>
          <a:xfrm flipV="1">
            <a:off x="9144000" y="523875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86675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~180°C: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ngưỡng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thủy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ống</a:t>
            </a:r>
            <a:r>
              <a:rPr lang="en-US" sz="2700" dirty="0" spc="-3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xả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2192000" y="556260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Connector line-1793110290695-341016973"/>
          <p:cNvSpPr/>
          <p:nvPr/>
        </p:nvSpPr>
        <p:spPr>
          <a:xfrm>
            <a:off x="12439650" y="6057900"/>
            <a:ext cx="0" cy="323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982325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185°C:</a:t>
            </a:r>
            <a:r>
              <a:rPr lang="en-US" sz="24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urea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biuret</a:t>
            </a:r>
            <a:r>
              <a:rPr lang="en-US" sz="24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cyanuric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acid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(mô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phỏng)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5478125" y="55626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Connector line-1793110290697-240702259"/>
          <p:cNvSpPr/>
          <p:nvPr/>
        </p:nvSpPr>
        <p:spPr>
          <a:xfrm flipV="1">
            <a:off x="15725775" y="5238750"/>
            <a:ext cx="0" cy="3238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426845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dưới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200°C: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cặn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7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urea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88947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26/58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0" name="Moda image moda-export-watermark-c42937d7-5027-445b-a060-15ca77cc8b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Vùng</a:t>
            </a:r>
            <a:r>
              <a:rPr lang="en-US" sz="570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F: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biuret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192,5°C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hỗn hợp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eutectic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biuret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lỏng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</a:t>
            </a:r>
            <a:r>
              <a:rPr lang="en-US" sz="28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thuận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4" kern="0">
                <a:solidFill>
                  <a:srgbClr val="4CD96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biuret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225°C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Schaber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rắn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dính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Triuret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230°C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250°C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1" kern="0">
                <a:solidFill>
                  <a:srgbClr val="C084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cyanuric</a:t>
            </a:r>
            <a:r>
              <a:rPr lang="en-US" sz="2850" b="1" dirty="0" spc="7" kern="0">
                <a:solidFill>
                  <a:srgbClr val="C084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 chính,</a:t>
            </a:r>
            <a:r>
              <a:rPr lang="en-US" sz="28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ammelide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biuret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triuret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hủy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cyanuric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ammelide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ống</a:t>
            </a:r>
            <a:r>
              <a:rPr lang="en-US" sz="24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xả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190–250°C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biuret → cyanuric acid, ammelide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6669" rIns="0" bIns="-16669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sz="21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biuret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'nóng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chảy'</a:t>
            </a:r>
            <a:r>
              <a:rPr lang="en-US" sz="21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thật,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</a:t>
            </a:r>
            <a:r>
              <a:rPr lang="en-US" sz="21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eutectic</a:t>
            </a:r>
            <a:r>
              <a:rPr lang="en-US" sz="21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1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urea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46602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27/58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b9f7651d-71a6-4e1f-b111-28325e4787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Biuret: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chảy thật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57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eutectic?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4200" dirty="0" spc="-4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tưởng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Biuret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193°C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khiết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8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42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42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192,5°C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1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eutectic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1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urea;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r>
              <a:rPr lang="en-US" sz="31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193–230°C;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1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~170°C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khí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Hệ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quả: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Mốc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r>
              <a:rPr lang="en-US" sz="285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kiện:</a:t>
            </a:r>
            <a:r>
              <a:rPr lang="en-US" sz="28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loãng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HNCO,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chén,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tốc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nhiệt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[S3]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204257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28/58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3383de72-9d54-4d62-b504-50c8d9ce4b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Cặn</a:t>
            </a:r>
            <a:r>
              <a:rPr lang="en-US" sz="57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57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tế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200–250°C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3110323909-5545432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438400"/>
            <a:ext cx="85725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5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16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FVV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Weeks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[S4][S10]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1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Dưới</a:t>
            </a:r>
            <a:r>
              <a:rPr lang="en-US" sz="2187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200°C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chủ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5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urea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200–250°C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biuret,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cyanuric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acid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335–425°C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chủ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cyanuric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acid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[S10]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1C4236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Cặn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thử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theo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19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độ.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FVV: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200°C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535"/>
              </a:lnSpc>
              <a:buNone/>
            </a:pPr>
            <a:r>
              <a:rPr lang="en-US" sz="1950" b="1" dirty="0" spc="-14" kern="0">
                <a:solidFill>
                  <a:srgbClr val="FF4F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urea</a:t>
            </a:r>
            <a:pPr algn="l" indent="0" marL="0">
              <a:lnSpc>
                <a:spcPts val="2535"/>
              </a:lnSpc>
              <a:buNone/>
            </a:pP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200–250°C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535"/>
              </a:lnSpc>
              <a:buNone/>
            </a:pPr>
            <a:r>
              <a:rPr lang="en-US" sz="1950" b="1" dirty="0" spc="-9" kern="0">
                <a:solidFill>
                  <a:srgbClr val="4CD96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biuret</a:t>
            </a:r>
            <a:pPr algn="l" indent="0" marL="0">
              <a:lnSpc>
                <a:spcPts val="2535"/>
              </a:lnSpc>
              <a:buNone/>
            </a:pP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cyanuric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acid;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cyanuric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ammelide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535"/>
              </a:lnSpc>
              <a:buNone/>
            </a:pP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2535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Weeks: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200–250°C</a:t>
            </a:r>
            <a:r>
              <a:rPr lang="en-US" sz="19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urea,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biuret,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cyanuric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acid,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nhiều;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335–425°C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535"/>
              </a:lnSpc>
              <a:buNone/>
            </a:pPr>
            <a:r>
              <a:rPr lang="en-US" sz="1950" b="1" dirty="0" spc="-9" kern="0">
                <a:solidFill>
                  <a:srgbClr val="C084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cyanuric</a:t>
            </a:r>
            <a:r>
              <a:rPr lang="en-US" sz="1950" b="1" dirty="0" spc="2" kern="0">
                <a:solidFill>
                  <a:srgbClr val="C084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2535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tính.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 [S10]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5361912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0" name="Shape 47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Text 7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29/58</a:t>
            </a:r>
            <a:endParaRPr lang="en-US" sz="1800" dirty="0"/>
          </a:p>
        </p:txBody>
      </p:sp>
      <p:sp>
        <p:nvSpPr>
          <p:cNvPr id="80" name="Shape 7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1" name="Moda image moda-export-watermark-2c2fefa7-10b2-4458-8a6f-08d8667fd88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Vùng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G: cặn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bền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Trạng</a:t>
            </a:r>
            <a:r>
              <a:rPr lang="en-US" sz="21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thái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Chất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rắn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bền, một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 thăng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hoa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300°C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có</a:t>
            </a:r>
            <a:r>
              <a:rPr lang="en-US" sz="21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mặt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Cyanuric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acid, ammelide,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ít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melamine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[S1][S4]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Phản</a:t>
            </a:r>
            <a:r>
              <a:rPr lang="en-US" sz="2100" dirty="0" spc="2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ứng</a:t>
            </a:r>
            <a:r>
              <a:rPr lang="en-US" sz="210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Cyanuric acid (rắn) ⇌ 3 HNCO (khí)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Số</a:t>
            </a:r>
            <a:r>
              <a:rPr lang="en-US" sz="21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Phân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hủy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~250–260°C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thăng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hoa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300°C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 S1:</a:t>
            </a: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~24%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275°C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Ý nghĩa</a:t>
            </a:r>
            <a:r>
              <a:rPr lang="en-US" sz="2100" dirty="0" spc="-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với</a:t>
            </a:r>
            <a:r>
              <a:rPr lang="en-US" sz="21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DNOx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Hại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vì</a:t>
            </a:r>
            <a:r>
              <a:rPr lang="en-US" sz="240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24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bền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cặn,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vì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khối</a:t>
            </a:r>
            <a:r>
              <a:rPr lang="en-US" sz="24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lượng</a:t>
            </a: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r>
              <a:rPr lang="en-US" sz="24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</a:t>
            </a:r>
            <a:r>
              <a:rPr lang="en-US" sz="24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(tổng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~30%</a:t>
            </a:r>
            <a:r>
              <a:rPr lang="en-US" sz="24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rồi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~8%</a:t>
            </a:r>
            <a:r>
              <a:rPr lang="en-US" sz="24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S1);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 màng</a:t>
            </a: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lỏng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cặn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519567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4" name="Shape 52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30/58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4" name="Moda image moda-export-watermark-6ff7774d-0f83-4840-af5e-a3aebdae9c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Biểu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275–350°C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275°C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cyanuric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~24%,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ammelide ~5,5%,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~30%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325°C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cyanuric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~15%,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ammelide ~5,5%,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~20%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350°C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cyanuric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~2%,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ammelide ~5,5%,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~8%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Sai</a:t>
            </a:r>
            <a:r>
              <a:rPr lang="en-US" sz="30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số</a:t>
            </a:r>
            <a:r>
              <a:rPr lang="en-US" sz="300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đọc</a:t>
            </a:r>
            <a:r>
              <a:rPr lang="en-US" sz="30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±2%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677222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1" name="Shape 49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31/58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0" name="Moda image moda-export-watermark-7f181121-6a4c-4723-87e8-746b779e16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Nhiệt</a:t>
            </a:r>
            <a:r>
              <a:rPr lang="en-US" sz="57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cặn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'bay</a:t>
            </a:r>
            <a:r>
              <a:rPr lang="en-US" sz="57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đi'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 hằng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Cyanuric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acid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thăng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lệch</a:t>
            </a:r>
            <a:r>
              <a:rPr lang="en-US" sz="69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khoảng</a:t>
            </a:r>
            <a:r>
              <a:rPr lang="en-US" sz="6900" dirty="0" spc="-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40</a:t>
            </a:r>
            <a:r>
              <a:rPr lang="en-US" sz="69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tùy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chén</a:t>
            </a:r>
            <a:r>
              <a:rPr lang="en-US" sz="69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[S3]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6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7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cơ,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335–425°C</a:t>
            </a:r>
            <a:r>
              <a:rPr lang="en-US" sz="27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cyanuric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Biểu</a:t>
            </a:r>
            <a:r>
              <a:rPr lang="en-US" sz="270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hở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cyanuric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r>
              <a:rPr lang="en-US" sz="27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7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350°C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834877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32/58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fc1d8acd-1a75-4441-9cb7-da8626b75f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Vùng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H: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biện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'trên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400°C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sạch'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Schaber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4" kern="0">
                <a:solidFill>
                  <a:srgbClr val="FF5C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ammelide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ammeline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melamine phân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360°C,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ammelide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600°C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FVV: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ammelide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360°C,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biuret,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triuret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ammelide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 chịu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700°C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FVV: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 thêm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140°C,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8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64%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ammelide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30%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ammeline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400°C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cặn,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4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cặn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[S4][S9]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ống</a:t>
            </a:r>
            <a:r>
              <a:rPr lang="en-US" sz="24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xả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nóng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350–450°C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ammelide, ammeline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 hủy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dần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400°C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cặn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92531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1" name="Shape 4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33/58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4f0fd94e-1045-474f-895b-1c37ce3c9d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Khối</a:t>
            </a:r>
            <a:r>
              <a:rPr lang="en-US" sz="57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400°C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Biểu</a:t>
            </a:r>
            <a:r>
              <a:rPr lang="en-US" sz="3000" dirty="0" spc="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đồ</a:t>
            </a:r>
            <a:r>
              <a:rPr lang="en-US" sz="3000" dirty="0" spc="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~2,5%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(gia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urea,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±2%)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Mazari</a:t>
            </a:r>
            <a:r>
              <a:rPr lang="en-US" sz="30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2025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1,67%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lại</a:t>
            </a:r>
            <a:r>
              <a:rPr lang="en-US" sz="27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(TGA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dịch,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98,33%)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Dong</a:t>
            </a:r>
            <a:r>
              <a:rPr lang="en-US" sz="30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(qua</a:t>
            </a:r>
            <a:r>
              <a:rPr lang="en-US" sz="30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Zhu</a:t>
            </a:r>
            <a:r>
              <a:rPr lang="en-US" sz="300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2023)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9,2%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(nhiệt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urea)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FVV</a:t>
            </a:r>
            <a:r>
              <a:rPr lang="en-US" sz="30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2019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tới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10%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cặn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thử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150186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4" name="Shape 52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34/58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0" name="Moda image moda-export-watermark-e5eb9e20-96c9-4572-b2e3-d6d9256a805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64%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ammelide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+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30%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ammeline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33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64%</a:t>
            </a:r>
            <a:r>
              <a:rPr lang="en-US" sz="225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+</a:t>
            </a:r>
            <a:r>
              <a:rPr lang="en-US" sz="22500" dirty="0" spc="1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30%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Cặn</a:t>
            </a:r>
            <a:r>
              <a:rPr lang="en-US" sz="33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33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3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tấm</a:t>
            </a:r>
            <a:r>
              <a:rPr lang="en-US" sz="33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nóng</a:t>
            </a:r>
            <a:r>
              <a:rPr lang="en-US" sz="33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~140°C</a:t>
            </a:r>
            <a:r>
              <a:rPr lang="en-US" sz="33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khí</a:t>
            </a:r>
            <a:r>
              <a:rPr lang="en-US" sz="3300" dirty="0" spc="-3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xả</a:t>
            </a:r>
            <a:r>
              <a:rPr lang="en-US" sz="33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 [S4]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Cặn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chịu</a:t>
            </a:r>
            <a:r>
              <a:rPr lang="en-US" sz="33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nhiệt: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rủi</a:t>
            </a:r>
            <a:r>
              <a:rPr lang="en-US" sz="330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lũy</a:t>
            </a:r>
            <a:r>
              <a:rPr lang="en-US" sz="33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3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tái</a:t>
            </a:r>
            <a:r>
              <a:rPr lang="en-US" sz="33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33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3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nhiệt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307841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2" name="Shape 40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35/58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49ea86e4-b950-4439-9f54-f7e48c39f7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Vùng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I: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450°C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Biểu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 hồi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~1%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450°C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Schaber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4" kern="0">
                <a:solidFill>
                  <a:srgbClr val="E600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ammelide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600°C,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ammeline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700°C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FVV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700°C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 Phản ứng phụ 4 NH3 + 5 O2 → 4 NO + 6 H2O biến chất khử thành NO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oxy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450°C: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850" b="1" dirty="0" spc="-2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ống</a:t>
            </a:r>
            <a:r>
              <a:rPr lang="en-US" sz="24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xả</a:t>
            </a:r>
            <a:r>
              <a:rPr lang="en-US" sz="24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rất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nóng,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tải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cao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vết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cặn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chịu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nhiệt;</a:t>
            </a:r>
            <a:r>
              <a:rPr lang="en-US" sz="24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NH3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oxy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'gần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cặn'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'không còn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gì'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 [S14]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65496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4" name="Shape 5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36/58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061cfa9d-1258-4dd2-aa44-f614849a0d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chuyện</a:t>
            </a:r>
            <a:r>
              <a:rPr lang="en-US" sz="57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nhiệt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NH3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oxy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 NH3 + 5 O2 → 4 NO + 6 H2O; nhiệt độ: CHƯA XÁC NHẬN [S14]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lạnh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amoni</a:t>
            </a:r>
            <a:r>
              <a:rPr lang="en-US" sz="255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nitrat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~100–200°C;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amoni</a:t>
            </a:r>
            <a:r>
              <a:rPr lang="en-US" sz="25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sunfat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~250°C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ASC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oxy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NH3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5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SCR;</a:t>
            </a:r>
            <a:r>
              <a:rPr lang="en-US" sz="2550" dirty="0" spc="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NH3</a:t>
            </a:r>
            <a:r>
              <a:rPr lang="en-US" sz="25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ppm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623151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6" name="Shape 54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37/58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9" name="Moda image moda-export-watermark-96250a25-857c-4f8b-9d29-d8227c5d33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Trên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450°C: biết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57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57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Đã</a:t>
            </a:r>
            <a:r>
              <a:rPr lang="en-US" sz="4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Cặn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31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(~1%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450°C) [S1];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ammelide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600°C,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ammeline</a:t>
            </a:r>
            <a:r>
              <a:rPr lang="en-US" sz="31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700°C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[S3]; phần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31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1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700°C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8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42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Nhiệt</a:t>
            </a:r>
            <a:r>
              <a:rPr lang="en-US" sz="31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1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NH3</a:t>
            </a:r>
            <a:r>
              <a:rPr lang="en-US" sz="31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oxy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mạnh;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31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tác;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31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31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31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suất: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1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lý:</a:t>
            </a: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ASC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dùng,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 [S14]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780806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2" name="Shape 50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38/58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46cb60f8-59ab-43f6-aae4-bb5fa4624c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Giọt</a:t>
            </a:r>
            <a:r>
              <a:rPr lang="en-US" sz="57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AdBlue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chạm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ống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Nước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hơi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trước;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400°C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giọt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</a:t>
            </a:r>
            <a:r>
              <a:rPr lang="en-US" sz="28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Cặn có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thành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Leidenfrost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phun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chỗ cặn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DieselNet: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giọt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cần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cặn,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phun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giọt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µm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Cặn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mép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màng,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24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vòi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phun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mixer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ống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nước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bay,</a:t>
            </a:r>
            <a:r>
              <a:rPr lang="en-US" sz="24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urea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đặc,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giọt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dính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nảy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cặn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khí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938461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7" name="Shape 5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39/58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b04fedb9-015a-4efb-996a-83203e23e3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chế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độ:</a:t>
            </a:r>
            <a:r>
              <a:rPr lang="en-US" sz="57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Leidenfrost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3138067293-4717015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438400"/>
            <a:ext cx="97155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5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vẽ,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Smith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2014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FVV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[S12][S4]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Dưới</a:t>
            </a:r>
            <a:r>
              <a:rPr lang="en-US" sz="2250" dirty="0" spc="-1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Leidenfrost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giọt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dính,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màng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lỏng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Mép</a:t>
            </a:r>
            <a:r>
              <a:rPr lang="en-US" sz="22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màng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cặn</a:t>
            </a:r>
            <a:r>
              <a:rPr lang="en-US" sz="255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tinh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Trên</a:t>
            </a:r>
            <a:r>
              <a:rPr lang="en-US" sz="2250" dirty="0" spc="-1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Leidenfrost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giọt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nảy</a:t>
            </a: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lớp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hơi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7096116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9" name="Shape 5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40/58</a:t>
            </a:r>
            <a:endParaRPr lang="en-US" sz="1800" dirty="0"/>
          </a:p>
        </p:txBody>
      </p:sp>
      <p:sp>
        <p:nvSpPr>
          <p:cNvPr id="78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9" name="Moda image moda-export-watermark-3f82aa1b-217a-4eef-a05a-38103a1ca2d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57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FVV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Màng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lỏng</a:t>
            </a:r>
            <a:r>
              <a:rPr lang="en-US" sz="3000" dirty="0" spc="-3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tinh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30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mép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phía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</a:t>
            </a:r>
            <a:r>
              <a:rPr lang="en-US" sz="3000" dirty="0" spc="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lưu,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nơi</a:t>
            </a: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bay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hơi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nhất;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cặn</a:t>
            </a:r>
            <a:r>
              <a:rPr lang="en-US" sz="30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rắn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tia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phun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9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Tấm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~360°C: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màng</a:t>
            </a:r>
            <a:r>
              <a:rPr lang="en-US" sz="30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tiên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120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phun, cặn</a:t>
            </a:r>
            <a:r>
              <a:rPr lang="en-US" sz="30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tiên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190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Điểm</a:t>
            </a:r>
            <a:r>
              <a:rPr lang="en-US" sz="30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vận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200–350°C: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ngưỡng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phun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30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30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Leidenfrost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phỏng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cặn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30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30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biuret;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cặn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30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30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cyanuric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acid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253771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7" name="Shape 55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41/58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6" name="Moda image moda-export-watermark-8d0ebcc7-b493-441d-9a92-99e17bdd85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mốc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nhiệt</a:t>
            </a:r>
            <a:r>
              <a:rPr lang="en-US" sz="57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3138084852-6034787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438400"/>
            <a:ext cx="97155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5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[S3][S4][S5][S6][S10][S11][S13]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Thanh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khoảng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nhiệt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Kim</a:t>
            </a:r>
            <a:r>
              <a:rPr lang="en-US" sz="2250" dirty="0" spc="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cương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mốc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562600"/>
            <a:ext cx="54483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2550" dirty="0" spc="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 bảng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7411426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0" name="Shape 57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42/58</a:t>
            </a:r>
            <a:endParaRPr lang="en-US" sz="1800" dirty="0"/>
          </a:p>
        </p:txBody>
      </p:sp>
      <p:sp>
        <p:nvSpPr>
          <p:cNvPr id="77" name="Shape 7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97d85f9c-0c5c-4455-809b-cf79bb8e0ae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 mốc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chính, nguồn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Đóng</a:t>
            </a:r>
            <a:r>
              <a:rPr lang="en-US" sz="3000" dirty="0" spc="-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băng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-11,5°C</a:t>
            </a:r>
            <a:r>
              <a:rPr lang="en-US" sz="27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(Cefic)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-11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-15°C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(OCI)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Nóng</a:t>
            </a:r>
            <a:r>
              <a:rPr lang="en-US" sz="300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chảy</a:t>
            </a:r>
            <a:r>
              <a:rPr lang="en-US" sz="3000" dirty="0" spc="-1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urea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132°C</a:t>
            </a:r>
            <a:r>
              <a:rPr lang="en-US" sz="270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(TG)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133°C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(DSC)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[S3][S5]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Biuret</a:t>
            </a:r>
            <a:r>
              <a:rPr lang="en-US" sz="3000" dirty="0" spc="-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chảy/đông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192,5°C;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193–230°C (eutectic)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Cyanuric</a:t>
            </a:r>
            <a:r>
              <a:rPr lang="en-US" sz="3000" dirty="0" spc="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acid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~250–260°C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[S4];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thăng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hoa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300°C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Ammelide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7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~360°C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[S4];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600°C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(Schaber)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15621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Nước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20–100°C;</a:t>
            </a: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120–230°C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(TGA)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569081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0" name="Shape 68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43/58</a:t>
            </a:r>
            <a:endParaRPr lang="en-US" sz="1800" dirty="0"/>
          </a:p>
        </p:txBody>
      </p:sp>
      <p:sp>
        <p:nvSpPr>
          <p:cNvPr id="86" name="Shape 8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7" name="Moda image moda-export-watermark-2e4cb47b-6089-41e9-b81d-25d2630661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lệch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8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Tốc</a:t>
            </a: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5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chén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loãng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HNCO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biuret,</a:t>
            </a:r>
            <a:r>
              <a:rPr lang="en-US" sz="25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cyanuric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nước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thủy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HNCO nên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5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[S3][S5]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urea</a:t>
            </a:r>
            <a:r>
              <a:rPr lang="en-US" sz="22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chất,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cặn;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lỏng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[S4][S10][S11]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 [S11]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726736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8" name="Shape 66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44/58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4" name="Moda image moda-export-watermark-606812d9-aad4-479f-b601-ebf6a766ad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57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DNOx: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nhiệt</a:t>
            </a:r>
            <a:r>
              <a:rPr lang="en-US" sz="57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phận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3138116882-7933185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438400"/>
            <a:ext cx="97155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5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[S4][S6][S13][S14][S16]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Bình</a:t>
            </a:r>
            <a:r>
              <a:rPr lang="en-US" sz="2250" dirty="0" spc="-1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250" dirty="0" spc="-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ống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A–C,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sưởi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chống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nhiệt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Ống</a:t>
            </a:r>
            <a:r>
              <a:rPr lang="en-US" sz="2250" dirty="0" spc="-2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xả</a:t>
            </a:r>
            <a:r>
              <a:rPr lang="en-US" sz="2250" dirty="0" spc="-1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250" dirty="0" spc="-1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mixer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D–H,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nơi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cặn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Mô-đun</a:t>
            </a:r>
            <a:r>
              <a:rPr lang="en-US" sz="225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phun,</a:t>
            </a:r>
            <a:r>
              <a:rPr lang="en-US" sz="2250" dirty="0" spc="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SCR,</a:t>
            </a:r>
            <a:r>
              <a:rPr lang="en-US" sz="2250" dirty="0" spc="-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ASC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ô</a:t>
            </a:r>
            <a:r>
              <a:rPr lang="en-US" sz="25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7884391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4" name="Shape 6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45/58</a:t>
            </a:r>
            <a:endParaRPr lang="en-US" sz="1800" dirty="0"/>
          </a:p>
        </p:txBody>
      </p:sp>
      <p:sp>
        <p:nvSpPr>
          <p:cNvPr id="78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9" name="Moda image moda-export-watermark-70cd028f-73b1-4d13-8cea-a265070820e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Khởi</a:t>
            </a:r>
            <a:r>
              <a:rPr lang="en-US" sz="57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lạnh: chuỗi sự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Bình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đông;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sưởi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endParaRPr lang="en-US" sz="2700" dirty="0"/>
          </a:p>
        </p:txBody>
      </p:sp>
      <p:sp>
        <p:nvSpPr>
          <p:cNvPr id="7" name="Connector line-1793138124438-119120549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Khí</a:t>
            </a:r>
            <a:r>
              <a:rPr lang="en-US" sz="2700" dirty="0" spc="-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xả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thấp:</a:t>
            </a:r>
            <a:r>
              <a:rPr lang="en-US" sz="27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phun</a:t>
            </a:r>
            <a:endParaRPr lang="en-US" sz="2700" dirty="0"/>
          </a:p>
        </p:txBody>
      </p:sp>
      <p:sp>
        <p:nvSpPr>
          <p:cNvPr id="12" name="Connector line-1793138124440-231294543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Qua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ngưỡng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~180–250°C: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phun</a:t>
            </a:r>
            <a:endParaRPr lang="en-US" sz="2700" dirty="0"/>
          </a:p>
        </p:txBody>
      </p:sp>
      <p:sp>
        <p:nvSpPr>
          <p:cNvPr id="17" name="Connector line-1793138124443-956634050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0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Tắt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máy:</a:t>
            </a:r>
            <a:r>
              <a:rPr lang="en-US" sz="2700" dirty="0" spc="-3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xả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chống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băng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042046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9" name="Shape 67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46/58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3" name="Moda image moda-export-watermark-686c4075-6ef3-4216-8e11-62fefe5874a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 dosing: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381125"/>
          </a:xfrm>
          <a:prstGeom prst="roundRect">
            <a:avLst>
              <a:gd name="adj" fmla="val 15172"/>
            </a:avLst>
          </a:prstGeom>
          <a:solidFill>
            <a:srgbClr val="1C4236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Nhiệt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độ: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phun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200–250°C,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~180°C [S13]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391025"/>
            <a:ext cx="15125700" cy="1381125"/>
          </a:xfrm>
          <a:prstGeom prst="roundRect">
            <a:avLst>
              <a:gd name="adj" fmla="val 15172"/>
            </a:avLst>
          </a:prstGeom>
          <a:solidFill>
            <a:srgbClr val="4A2A24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391025"/>
            <a:ext cx="143637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Giọt: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 có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µm;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bắn</a:t>
            </a: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lạnh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5924550"/>
            <a:ext cx="13792200" cy="1381125"/>
          </a:xfrm>
          <a:prstGeom prst="roundRect">
            <a:avLst>
              <a:gd name="adj" fmla="val 15172"/>
            </a:avLst>
          </a:prstGeom>
          <a:solidFill>
            <a:srgbClr val="262C4A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5924550"/>
            <a:ext cx="130302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Màng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mixer: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màng</a:t>
            </a:r>
            <a:r>
              <a:rPr lang="en-US" sz="2850" b="1" dirty="0" spc="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85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(suy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[S4][S12])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914650" y="7458075"/>
            <a:ext cx="12458700" cy="1381125"/>
          </a:xfrm>
          <a:prstGeom prst="roundRect">
            <a:avLst>
              <a:gd name="adj" fmla="val 15172"/>
            </a:avLst>
          </a:prstGeom>
          <a:solidFill>
            <a:srgbClr val="4A3A22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5650" y="7458075"/>
            <a:ext cx="116967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sạch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nhiệt: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cặn,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 [S13]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199701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9" name="Shape 57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47/58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2" name="Moda image moda-export-watermark-d8adf1f0-49a1-429a-8ca5-a5ace6afee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Kiến</a:t>
            </a:r>
            <a:r>
              <a:rPr lang="en-US" sz="57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hãng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Kiến</a:t>
            </a:r>
            <a:r>
              <a:rPr lang="en-US" sz="3750" dirty="0" spc="-3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375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375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750" dirty="0" spc="-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ngành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Ngưỡng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phun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200–250°C,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~180°C [S13];</a:t>
            </a:r>
            <a:r>
              <a:rPr lang="en-US" sz="31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sưởi,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xả,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[S13];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cặn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mép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màng,</a:t>
            </a:r>
            <a:r>
              <a:rPr lang="en-US" sz="31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Leidenfrost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8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Đặc</a:t>
            </a:r>
            <a:r>
              <a:rPr lang="en-US" sz="42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</a:t>
            </a:r>
            <a:r>
              <a:rPr lang="en-US" sz="420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hãng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Ngưỡng</a:t>
            </a:r>
            <a:r>
              <a:rPr lang="en-US" sz="30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30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xác,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chiến</a:t>
            </a:r>
            <a:r>
              <a:rPr lang="en-US" sz="30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30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nhiệt,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vòi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phun: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bố;</a:t>
            </a:r>
            <a:r>
              <a:rPr lang="en-US" sz="30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brochure</a:t>
            </a: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Bosch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sưởi</a:t>
            </a:r>
            <a:r>
              <a:rPr lang="en-US" sz="30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mát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Quy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bài: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suy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nội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Bosch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hãng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357356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2" name="Shape 60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48/58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9e406bf4-5ac9-4fbd-a534-71260f4e04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 lỗi</a:t>
            </a:r>
            <a:r>
              <a:rPr lang="en-US" sz="57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57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tế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nhiệt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phun</a:t>
            </a: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được;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 phần</a:t>
            </a:r>
            <a:r>
              <a:rPr lang="en-US" sz="255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chống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băng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Cặn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urea,</a:t>
            </a:r>
            <a:r>
              <a:rPr lang="en-US" sz="22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biuret,</a:t>
            </a:r>
            <a:r>
              <a:rPr lang="en-US" sz="22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cyanuric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acid,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ammelide</a:t>
            </a:r>
            <a:r>
              <a:rPr lang="en-US" sz="22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mixer,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ống,</a:t>
            </a:r>
            <a:r>
              <a:rPr lang="en-US" sz="22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vòi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NH3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 hạn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ppm;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NH3/NOx</a:t>
            </a:r>
            <a:r>
              <a:rPr lang="en-US" sz="25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0,9–1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Bình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áp, hạn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550" dirty="0" spc="3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[S14]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515011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3" name="Shape 71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49/58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4" name="Moda image moda-export-watermark-73a8d10d-5cbf-462d-ad21-00ac53efa0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57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chắn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422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Tiêu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chuẩn: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ISO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22241</a:t>
            </a: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DIN</a:t>
            </a:r>
            <a:r>
              <a:rPr lang="en-US" sz="22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70070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2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phí;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Cefic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2011</a:t>
            </a:r>
            <a:r>
              <a:rPr lang="en-US" sz="22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dựa</a:t>
            </a:r>
            <a:r>
              <a:rPr lang="en-US" sz="22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ISO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22241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[S6][S7]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34766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422" dirty="0"/>
          </a:p>
        </p:txBody>
      </p:sp>
      <p:sp>
        <p:nvSpPr>
          <p:cNvPr id="7" name="Shape 5"/>
          <p:cNvSpPr/>
          <p:nvPr/>
        </p:nvSpPr>
        <p:spPr>
          <a:xfrm>
            <a:off x="2724150" y="35718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5718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Biểu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S1: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2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giả, năm;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2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±2%;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khớp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bốn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Schaber</a:t>
            </a:r>
            <a:r>
              <a:rPr lang="en-US" sz="22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2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[S1][S3]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422" dirty="0"/>
          </a:p>
        </p:txBody>
      </p:sp>
      <p:sp>
        <p:nvSpPr>
          <p:cNvPr id="10" name="Shape 8"/>
          <p:cNvSpPr/>
          <p:nvPr/>
        </p:nvSpPr>
        <p:spPr>
          <a:xfrm>
            <a:off x="2724150" y="466725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466725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Điều kiện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(bình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hở,</a:t>
            </a:r>
            <a:r>
              <a:rPr lang="en-US" sz="22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TGA,</a:t>
            </a:r>
            <a:r>
              <a:rPr lang="en-US" sz="22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DSC,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băng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thử,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cơ)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 không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2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trực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[S3][S4]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566737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422" dirty="0"/>
          </a:p>
        </p:txBody>
      </p:sp>
      <p:sp>
        <p:nvSpPr>
          <p:cNvPr id="13" name="Shape 11"/>
          <p:cNvSpPr/>
          <p:nvPr/>
        </p:nvSpPr>
        <p:spPr>
          <a:xfrm>
            <a:off x="2724150" y="576262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576262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Chưa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2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2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được:</a:t>
            </a:r>
            <a:r>
              <a:rPr lang="en-US" sz="22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Leidenfrost,</a:t>
            </a:r>
            <a:r>
              <a:rPr lang="en-US" sz="22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NH3</a:t>
            </a:r>
            <a:r>
              <a:rPr lang="en-US" sz="22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oxy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mạnh,</a:t>
            </a:r>
            <a:r>
              <a:rPr lang="en-US" sz="22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rã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đông,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mốc</a:t>
            </a:r>
            <a:r>
              <a:rPr lang="en-US" sz="22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70°C,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giản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pha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urea–nước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67627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6422" dirty="0"/>
          </a:p>
        </p:txBody>
      </p:sp>
      <p:sp>
        <p:nvSpPr>
          <p:cNvPr id="16" name="Shape 14"/>
          <p:cNvSpPr/>
          <p:nvPr/>
        </p:nvSpPr>
        <p:spPr>
          <a:xfrm>
            <a:off x="2724150" y="68580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68580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Cefic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giãn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nở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đông</a:t>
            </a:r>
            <a:r>
              <a:rPr lang="en-US" sz="27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(7%</a:t>
            </a:r>
            <a:r>
              <a:rPr lang="en-US" sz="27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1,05)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14400" y="78581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6422" dirty="0"/>
          </a:p>
        </p:txBody>
      </p:sp>
      <p:sp>
        <p:nvSpPr>
          <p:cNvPr id="19" name="Shape 17"/>
          <p:cNvSpPr/>
          <p:nvPr/>
        </p:nvSpPr>
        <p:spPr>
          <a:xfrm>
            <a:off x="2724150" y="79533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3105150" y="79533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7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xấu</a:t>
            </a:r>
            <a:r>
              <a:rPr lang="en-US" sz="27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rủi</a:t>
            </a:r>
            <a:r>
              <a:rPr lang="en-US" sz="27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suy</a:t>
            </a: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 [S7]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672665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72" name="Shape 70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50/58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2" name="Moda image moda-export-watermark-e97f111a-dd48-4187-8405-fa14612606d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 chỉ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57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tóm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Kuntz</a:t>
            </a:r>
            <a:r>
              <a:rPr lang="en-US" sz="30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2021,</a:t>
            </a:r>
            <a:r>
              <a:rPr lang="en-US" sz="3000" dirty="0" spc="-5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Weeks</a:t>
            </a:r>
            <a:r>
              <a:rPr lang="en-US" sz="30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2015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[S9][S10]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Mazari</a:t>
            </a:r>
            <a:r>
              <a:rPr lang="en-US" sz="30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2025,</a:t>
            </a:r>
            <a:r>
              <a:rPr lang="en-US" sz="300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Smith</a:t>
            </a:r>
            <a:r>
              <a:rPr lang="en-US" sz="30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2014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[S11][S12]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Govindarajan</a:t>
            </a:r>
            <a:r>
              <a:rPr lang="en-US" sz="300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2024,</a:t>
            </a:r>
            <a:r>
              <a:rPr lang="en-US" sz="30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Obuchi</a:t>
            </a:r>
            <a:r>
              <a:rPr lang="en-US" sz="30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2021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[S15][S17]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DieselNet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[S13][S14]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 [S11]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 [S17]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830320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1" name="Shape 69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51/58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0" name="Moda image moda-export-watermark-598616c2-63ed-4a67-91bc-ec9fbe0093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'chưa</a:t>
            </a:r>
            <a:r>
              <a:rPr lang="en-US" sz="57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57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nhận'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Chỗ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được,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5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6900" dirty="0" spc="-6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69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Nhãn:</a:t>
            </a:r>
            <a:r>
              <a:rPr lang="en-US" sz="27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70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LUẬN,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987975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0" name="Shape 5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52/58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7b8489b8-4fa6-42c6-8794-28c3f4c37e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57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422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AdBlue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eutectic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32,5%:</a:t>
            </a:r>
            <a:r>
              <a:rPr lang="en-US" sz="255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tinh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-11,5°C,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nở</a:t>
            </a:r>
            <a:r>
              <a:rPr lang="en-US" sz="25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~7%;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-5</a:t>
            </a:r>
            <a:r>
              <a:rPr lang="en-US" sz="25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25°C [S6]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766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422" dirty="0"/>
          </a:p>
        </p:txBody>
      </p:sp>
      <p:sp>
        <p:nvSpPr>
          <p:cNvPr id="7" name="Shape 5"/>
          <p:cNvSpPr/>
          <p:nvPr/>
        </p:nvSpPr>
        <p:spPr>
          <a:xfrm>
            <a:off x="2724150" y="35718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5718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36/18/12/6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tháng ở</a:t>
            </a:r>
            <a:r>
              <a:rPr lang="en-US" sz="27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≤10/25/30/35°C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422" dirty="0"/>
          </a:p>
        </p:txBody>
      </p:sp>
      <p:sp>
        <p:nvSpPr>
          <p:cNvPr id="10" name="Shape 8"/>
          <p:cNvSpPr/>
          <p:nvPr/>
        </p:nvSpPr>
        <p:spPr>
          <a:xfrm>
            <a:off x="2724150" y="466725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466725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Nước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20–100°C;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urea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nóng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chảy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132–133°C,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hủy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120–230°C [S3][S11]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66737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422" dirty="0"/>
          </a:p>
        </p:txBody>
      </p:sp>
      <p:sp>
        <p:nvSpPr>
          <p:cNvPr id="13" name="Shape 11"/>
          <p:cNvSpPr/>
          <p:nvPr/>
        </p:nvSpPr>
        <p:spPr>
          <a:xfrm>
            <a:off x="2724150" y="576262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576262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Biuret</a:t>
            </a:r>
            <a:r>
              <a:rPr lang="en-US" sz="225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đỉnh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~190°C;</a:t>
            </a:r>
            <a:r>
              <a:rPr lang="en-US" sz="22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cyanuric</a:t>
            </a: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acid</a:t>
            </a:r>
            <a:r>
              <a:rPr lang="en-US" sz="22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trội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225–325°C;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ammelide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bền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 ~360°C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[S3][S4]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67627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6422" dirty="0"/>
          </a:p>
        </p:txBody>
      </p:sp>
      <p:sp>
        <p:nvSpPr>
          <p:cNvPr id="16" name="Shape 14"/>
          <p:cNvSpPr/>
          <p:nvPr/>
        </p:nvSpPr>
        <p:spPr>
          <a:xfrm>
            <a:off x="2724150" y="68580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68580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Cặn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chuyện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màng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lỏng</a:t>
            </a:r>
            <a:r>
              <a:rPr lang="en-US" sz="22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thành,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nhiệt</a:t>
            </a:r>
            <a:r>
              <a:rPr lang="en-US" sz="22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2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Leidenfrost; trên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400°C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 phần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 tới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700°C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[S12][S4]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14400" y="78581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6422" dirty="0"/>
          </a:p>
        </p:txBody>
      </p:sp>
      <p:sp>
        <p:nvSpPr>
          <p:cNvPr id="19" name="Shape 17"/>
          <p:cNvSpPr/>
          <p:nvPr/>
        </p:nvSpPr>
        <p:spPr>
          <a:xfrm>
            <a:off x="2724150" y="79533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3105150" y="79533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Ngưỡng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cắt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phun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200–250°C,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7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~180°C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[S13]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 [S13]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145630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5" name="Shape 73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53/58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2" name="Moda image moda-export-watermark-85e87a88-bedf-46cb-a7ac-120bf7219d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Đây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tổng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-5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6900" dirty="0" spc="-4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chữa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 an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Luôn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5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xuất;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55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NH3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phiếu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 cấp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7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7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303285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2" name="Shape 6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54/58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29a5c0cd-5e04-487e-a77b-9ac867a7eb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57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ngữ:</a:t>
            </a: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urea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urea; 尿素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biuret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biuret; ビウレット [S17]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axit</a:t>
            </a:r>
            <a:r>
              <a:rPr lang="en-US" sz="3000" dirty="0" spc="-1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cyanuric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cyanuric acid; シアヌル酸 [S17]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ammelide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ammelide; アンメリド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ammeline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ammeline; アンメリン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melamin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melamine; メラミン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9460940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3" name="Shape 8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55/58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8" name="Moda image moda-export-watermark-41f3bdcf-18df-4619-ab62-a10440a4b9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ngữ:</a:t>
            </a: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57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r>
              <a:rPr lang="en-US" sz="57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nhiệt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thermolysis; 熱分解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thủy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hydrolysis; 加水分解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eutectic; 共晶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thăng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hoa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sublimation; 昇華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618595" y="9567698"/>
            <a:ext cx="105103" cy="105103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0" name="Shape 78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56/58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4" name="Moda image moda-export-watermark-6f1d3fb3-b183-4ab9-971d-67830b78b3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57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ngữ: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dung</a:t>
            </a:r>
            <a:r>
              <a:rPr lang="en-US" sz="30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dịch</a:t>
            </a:r>
            <a:r>
              <a:rPr lang="en-US" sz="300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urea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urea water solution (UWS), DEF; 尿素水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khử</a:t>
            </a:r>
            <a:r>
              <a:rPr lang="en-US" sz="30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xúc</a:t>
            </a:r>
            <a:r>
              <a:rPr lang="en-US" sz="300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tác</a:t>
            </a:r>
            <a:r>
              <a:rPr lang="en-US" sz="3000" dirty="0" spc="-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chọn</a:t>
            </a:r>
            <a:r>
              <a:rPr lang="en-US" sz="3000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lọc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SCR; 選択的触媒還元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amoniac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ammonia (NH3); アンモニア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axit</a:t>
            </a:r>
            <a:r>
              <a:rPr lang="en-US" sz="3000" dirty="0" spc="-1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isocyanic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isocyanic acid (HNCO); イソシアン酸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cặn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deposit; 堆積物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hiệu</a:t>
            </a:r>
            <a:r>
              <a:rPr lang="en-US" sz="3000" dirty="0" spc="3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ứng</a:t>
            </a:r>
            <a:r>
              <a:rPr lang="en-US" sz="3000" dirty="0" spc="-1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Leidenfrost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Leidenfrost effect; ライデンフロスト効果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9776250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5" name="Shape 83"/>
          <p:cNvSpPr/>
          <p:nvPr/>
        </p:nvSpPr>
        <p:spPr>
          <a:xfrm>
            <a:off x="994704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57/58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8" name="Moda image moda-export-watermark-0cc89e37-3291-40e4-9dce-55a864258dc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Biểu</a:t>
            </a:r>
            <a:r>
              <a:rPr lang="en-US" sz="16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"Source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number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3":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 nhiệt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(tác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16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6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rõ)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Schaber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cs.,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2004,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Thermochimica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Acta</a:t>
            </a:r>
            <a:r>
              <a:rPr lang="en-US" sz="16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424,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131–142,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doi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10.1016/j.tca.2004.05.018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144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Tischer,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Börnhorst,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Amsler,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Schoch,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Deutschmann,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2019,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PCCP,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doi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10.1039/C9CP01529A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144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 cáo</a:t>
            </a: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FVV/KIT/TU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Wien, 2019,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AdBlue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Deposits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(Nr.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1262, IGF</a:t>
            </a:r>
            <a:r>
              <a:rPr lang="en-US" sz="16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177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EN)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Bernhard,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2012,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ETH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Zürich Nr.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20813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(Paul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Scherrer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Institut)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144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574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Cefic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AGU,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2011,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AUS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Quality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Assurance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Guidance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Document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v3.0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144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74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OCI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Nitrogen,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2024,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Product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Specification</a:t>
            </a: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Solution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32,5%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144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0574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Zhu, Hong,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Qian,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2023,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Molecules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28(5),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2340,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doi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10.3390/molecules28052340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144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0574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Kuntz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cs.,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2021,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Chem.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Eng.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Sci.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246,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116876,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doi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10.1016/j.ces.2021.116876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3345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4775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Weeks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cs.,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2015,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SAE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Int.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J.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Engines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8(3), doi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10.4271/2015-01-1037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3345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95631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04775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Mazari,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Ganippa, Megaritis,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2025,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Fuel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402,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135987,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doi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10.1016/j.fuel.2025.135987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93345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631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775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Smith,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Lauer,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Mayer,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Pierson,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2014,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SAE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Int.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J.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Fuels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Lubr.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7(2),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doi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10.4271/2014-01-1563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3345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95631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S13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04775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Majewski,</a:t>
            </a: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Urea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Dosing and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Injection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Systems,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DieselNet,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2025.07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93345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3" name="Text 41"/>
          <p:cNvSpPr/>
          <p:nvPr/>
        </p:nvSpPr>
        <p:spPr>
          <a:xfrm>
            <a:off x="95631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S14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Majewski,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Selective Catalytic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Reduction,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DieselNet,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2026.05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93345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6" name="Text 44"/>
          <p:cNvSpPr/>
          <p:nvPr/>
        </p:nvSpPr>
        <p:spPr>
          <a:xfrm>
            <a:off x="95631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4775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Govindarajan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cs.,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2024, SAE</a:t>
            </a:r>
            <a:r>
              <a:rPr lang="en-US" sz="16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Technical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Paper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2024-26-0263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93345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5631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04775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Bosch,</a:t>
            </a:r>
            <a:r>
              <a:rPr lang="en-US" sz="18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Denoxtronic</a:t>
            </a: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brochure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hậu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mãi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(không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năm)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3345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2" name="Text 50"/>
          <p:cNvSpPr/>
          <p:nvPr/>
        </p:nvSpPr>
        <p:spPr>
          <a:xfrm>
            <a:off x="95631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S17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04775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Obuchi,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Uchisawa,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Suzuki, 2021,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JSAE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paper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122-21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(AIST)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93345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5" name="Text 53"/>
          <p:cNvSpPr/>
          <p:nvPr/>
        </p:nvSpPr>
        <p:spPr>
          <a:xfrm>
            <a:off x="95631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S18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04775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Wikimedia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Commons: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(public domain);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Hino</a:t>
            </a:r>
            <a:r>
              <a:rPr lang="en-US" sz="16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SCR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(CC</a:t>
            </a:r>
            <a:r>
              <a:rPr lang="en-US" sz="16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3.0)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96071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1836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27602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43367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59133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74898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90664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6429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22195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37960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253726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2694916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2852571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01022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16788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332553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348319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364084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379850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395615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411381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427146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442912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458677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474443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490208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505974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521739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5375050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5532705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569035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584801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600566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616332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632097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647863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663628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679394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695159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710925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726690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742456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758221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773987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789752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805518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8212839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8370494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852814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868580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884345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900111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915876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931642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947407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9631733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9789388" y="9580836"/>
            <a:ext cx="78828" cy="78828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9933905" y="9567698"/>
            <a:ext cx="105103" cy="105103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15" name="Text 11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58/58</a:t>
            </a:r>
            <a:endParaRPr lang="en-US" sz="1800" dirty="0"/>
          </a:p>
        </p:txBody>
      </p:sp>
      <p:sp>
        <p:nvSpPr>
          <p:cNvPr id="116" name="Shape 1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7" name="Moda image moda-export-watermark-767ca1bc-c09f-44fa-8f7e-35f3e9534f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2026-10-27T23:31:20Z</dcterms:created>
  <dcterms:modified xsi:type="dcterms:W3CDTF">2026-10-27T23:31:20Z</dcterms:modified>
</cp:coreProperties>
</file>