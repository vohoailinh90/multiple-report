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8288000" cy="10287000"/>
  <p:notesSz cx="10287000" cy="18288000"/>
  <p:embeddedFontLst>
    <p:embeddedFont>
      <p:font typeface="Be Vietnam Pro"/>
      <p:regular r:id="rId59"/>
      <p:bold r:id="rId56"/>
    </p:embeddedFont>
    <p:embeddedFont>
      <p:font typeface="Bricolage Grotesque ExtraBold"/>
      <p:regular r:id="rId57"/>
    </p:embeddedFont>
    <p:embeddedFont>
      <p:font typeface="Be Vietnam Pro SemiBold"/>
      <p:regular r:id="rId58"/>
    </p:embeddedFont>
    <p:embeddedFont>
      <p:font typeface="Be Vietnam Pro ExtraBold"/>
      <p:regular r:id="rId60"/>
    </p:embeddedFont>
    <p:embeddedFont>
      <p:font typeface="Be Vietnam Pro Medium"/>
      <p:regular r:id="rId6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font" Target="fonts/font1.fntdata"/><Relationship Id="rId57" Type="http://schemas.openxmlformats.org/officeDocument/2006/relationships/font" Target="fonts/font2.fntdata"/><Relationship Id="rId58" Type="http://schemas.openxmlformats.org/officeDocument/2006/relationships/font" Target="fonts/font3.fntdata"/><Relationship Id="rId59" Type="http://schemas.openxmlformats.org/officeDocument/2006/relationships/font" Target="fonts/font4.fntdata"/><Relationship Id="rId60" Type="http://schemas.openxmlformats.org/officeDocument/2006/relationships/font" Target="fonts/font5.fntdata"/><Relationship Id="rId61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da flattened ellipse-1792617935677-525293651, ellipse-1792617935682-607050168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0" y="1981200"/>
            <a:ext cx="6324600" cy="6324600"/>
          </a:xfrm>
          <a:prstGeom prst="rect">
            <a:avLst/>
          </a:prstGeom>
        </p:spPr>
      </p:pic>
      <p:sp>
        <p:nvSpPr>
          <p:cNvPr id="3" name="Connector line-1792617935683-450794867"/>
          <p:cNvSpPr/>
          <p:nvPr/>
        </p:nvSpPr>
        <p:spPr>
          <a:xfrm>
            <a:off x="13335000" y="1905000"/>
            <a:ext cx="0" cy="6477000"/>
          </a:xfrm>
          <a:prstGeom prst="line">
            <a:avLst/>
          </a:prstGeom>
          <a:noFill/>
          <a:ln w="762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4" name="Text 1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100" b="1" spc="44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Thùy</a:t>
            </a:r>
            <a:r>
              <a:rPr lang="en-US" sz="81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trán,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endParaRPr lang="en-US" sz="8100" dirty="0"/>
          </a:p>
        </p:txBody>
      </p:sp>
      <p:sp>
        <p:nvSpPr>
          <p:cNvPr id="6" name="Text 3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Não</a:t>
            </a:r>
            <a:r>
              <a:rPr lang="en-US" sz="3300" dirty="0" spc="-1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330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logic,</a:t>
            </a:r>
            <a:r>
              <a:rPr lang="en-US" sz="33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30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300" dirty="0" spc="-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 tạo: đúng</a:t>
            </a:r>
            <a:r>
              <a:rPr lang="en-US" sz="330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30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sai?</a:t>
            </a:r>
            <a:endParaRPr lang="en-US" sz="3300" dirty="0"/>
          </a:p>
        </p:txBody>
      </p:sp>
      <p:sp>
        <p:nvSpPr>
          <p:cNvPr id="7" name="Shape 4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Phineas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5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5a685052-018e-4706-84d6-28eadbb59876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 hỏi của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Não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logic,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tạo: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6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7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trán,</a:t>
            </a:r>
            <a:r>
              <a:rPr lang="en-US" sz="27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7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7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7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nhãn: giáo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khoa,</a:t>
            </a:r>
            <a:r>
              <a:rPr lang="en-US" sz="27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24533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02/49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1252076f-6a90-4026-b39a-2614e0c743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bài: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Thùy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cử</a:t>
            </a:r>
            <a:r>
              <a:rPr lang="en-US" sz="25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Broca,</a:t>
            </a:r>
            <a:r>
              <a:rPr lang="en-US" sz="25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Chức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kìm,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Phineas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chuyên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 hóa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11145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03/49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fd9036b1-040c-40a6-bd32-dc8bfa8e6d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chỉnh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[S4]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92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Chức</a:t>
            </a:r>
            <a:r>
              <a:rPr lang="en-US" sz="2992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992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992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992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992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992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992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lực</a:t>
            </a:r>
            <a:r>
              <a:rPr lang="en-US" sz="2992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992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992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nhau;</a:t>
            </a:r>
            <a:r>
              <a:rPr lang="en-US" sz="2992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chuyện</a:t>
            </a:r>
            <a:r>
              <a:rPr lang="en-US" sz="2992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992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992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992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992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992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r>
              <a:rPr lang="en-US" sz="2992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992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[S5]</a:t>
            </a:r>
            <a:r>
              <a:rPr lang="en-US" sz="2992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r>
              <a:rPr lang="en-US" sz="2992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[S7]</a:t>
            </a:r>
            <a:endParaRPr lang="en-US" sz="2992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Chuyên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thật,</a:t>
            </a:r>
            <a:r>
              <a:rPr lang="en-US" sz="300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theo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 [S10]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[S7]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97757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04/49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646da43d-2ecf-4d3f-a0d5-7b25dfc98a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Thùy</a:t>
            </a:r>
            <a:r>
              <a:rPr lang="en-US" sz="57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</a:t>
            </a:r>
            <a:r>
              <a:rPr lang="en-US" sz="57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Thùy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frontal</a:t>
            </a:r>
            <a:r>
              <a:rPr lang="en-US" sz="28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lobe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)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rãnh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8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quá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luận,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8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nhìn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trán,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8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</a:t>
            </a:r>
            <a:r>
              <a:rPr lang="en-US" sz="28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 hành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phía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rãnh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cử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ý,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ngôn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ngữ,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thùy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4369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2d241f9c-d6b3-4a40-b77f-c89465008d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617941265-4665094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9048" y="2438400"/>
            <a:ext cx="9087205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Wikipedia,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BY-SA,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(mục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2.6)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Dorsolateral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7908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bên,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9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46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243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Ventrolateral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3719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bụng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bên,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Broca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(44,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45)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5054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Orbitofrontal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59531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ổ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mắt,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11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0" name="Text 17"/>
          <p:cNvSpPr/>
          <p:nvPr/>
        </p:nvSpPr>
        <p:spPr>
          <a:xfrm>
            <a:off x="11734800" y="7086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Motor</a:t>
            </a:r>
            <a:r>
              <a:rPr lang="en-US" sz="225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cortex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734800" y="75342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động,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</a:t>
            </a:r>
            <a:endParaRPr lang="en-US" sz="25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1870980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7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8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Text 6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06/49</a:t>
            </a:r>
            <a:endParaRPr lang="en-US" sz="1800" dirty="0"/>
          </a:p>
        </p:txBody>
      </p:sp>
      <p:sp>
        <p:nvSpPr>
          <p:cNvPr id="73" name="Shape 7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4" name="Moda image moda-export-watermark-dbd4955a-1293-4f80-92b5-992f5297e9cb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trán: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 hồ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2100" dirty="0" spc="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Phần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</a:t>
            </a:r>
            <a:r>
              <a:rPr lang="en-US" sz="2550" dirty="0" spc="-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nhất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thùy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trán,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phía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vận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-2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tiền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vận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động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Gồm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Vùng</a:t>
            </a:r>
            <a:r>
              <a:rPr lang="en-US" sz="2550" dirty="0" spc="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lưng</a:t>
            </a:r>
            <a:r>
              <a:rPr lang="en-US" sz="2550" dirty="0" spc="-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(9,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46),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ổ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mắt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(10,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11), phần</a:t>
            </a:r>
            <a:r>
              <a:rPr lang="en-US" sz="2550" dirty="0" spc="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dưới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-1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Broca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(44,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45)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Vai</a:t>
            </a:r>
            <a:r>
              <a:rPr lang="en-US" sz="21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trò</a:t>
            </a:r>
            <a:r>
              <a:rPr lang="en-US" sz="210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Chức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năng</a:t>
            </a:r>
            <a:r>
              <a:rPr lang="en-US" sz="2550" dirty="0" spc="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điều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hành,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nhận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bậc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cao;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lý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thuyết: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kiểm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soát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nhận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r>
              <a:rPr lang="en-US" sz="2550" dirty="0" spc="-2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[S4]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21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Đường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dopamine</a:t>
            </a:r>
            <a:r>
              <a:rPr lang="en-US" sz="255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từ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mái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bụng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lên</a:t>
            </a:r>
            <a:r>
              <a:rPr lang="en-US" sz="2550" dirty="0" spc="-1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vỏ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não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trước</a:t>
            </a:r>
            <a:r>
              <a:rPr lang="en-US" sz="2550" dirty="0" spc="-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trán: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xem</a:t>
            </a:r>
            <a:r>
              <a:rPr lang="en-US" sz="2550" dirty="0" spc="-4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L00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4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L03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Khi</a:t>
            </a:r>
            <a:r>
              <a:rPr lang="en-US" sz="21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tổn</a:t>
            </a:r>
            <a:r>
              <a:rPr lang="en-US" sz="21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thương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Đổi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cách,</a:t>
            </a:r>
            <a:r>
              <a:rPr lang="en-US" sz="2550" dirty="0" spc="-2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ra</a:t>
            </a:r>
            <a:r>
              <a:rPr lang="en-US" sz="2550" dirty="0" spc="-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quyết</a:t>
            </a:r>
            <a:r>
              <a:rPr lang="en-US" sz="2550" dirty="0" spc="1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định,</a:t>
            </a:r>
            <a:r>
              <a:rPr lang="en-US" sz="2550" dirty="0" spc="1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chế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vi,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chức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năng</a:t>
            </a:r>
            <a:r>
              <a:rPr lang="en-US" sz="2550" dirty="0" spc="-2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xã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hội,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tùy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vị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trí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[S1]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21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1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Không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phải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bộ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huy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duy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nhất: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làm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việc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qua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vùng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[S4]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057592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07/49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9" name="Moda image moda-export-watermark-cc7eddd8-c948-41b9-8b6b-c9bb11bcde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Thùy</a:t>
            </a: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khái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Thùy</a:t>
            </a:r>
            <a:r>
              <a:rPr lang="en-US" sz="4200" dirty="0" spc="-1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gồm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31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31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nhìn</a:t>
            </a:r>
            <a:r>
              <a:rPr lang="en-US" sz="31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42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4200" dirty="0" spc="-4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4200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nhất;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31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1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1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Đừng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một: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thùy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soát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28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44204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08/49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ddc80f9a-5096-4da7-906d-ac70f28ad9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57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7996253-607080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884884"/>
            <a:ext cx="8572500" cy="48220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(mục 2.6)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Digit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ngón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tay,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5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Lips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môi,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550" dirty="0" spc="-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rất</a:t>
            </a:r>
            <a:r>
              <a:rPr lang="en-US" sz="25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1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Trunk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thân,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hẹp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262C4A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tâm,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rãnh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tâm,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 tủy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xương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cơ.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phận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 như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ngón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lưỡi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 nhiều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430816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7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Text 6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09/49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2" name="Moda image moda-export-watermark-79e77c43-4708-4e24-932c-d82316e47359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57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</a:t>
            </a:r>
            <a:r>
              <a:rPr lang="en-US" sz="57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7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(sơ</a:t>
            </a:r>
            <a:r>
              <a:rPr lang="en-US" sz="57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viết)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Phía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2700" dirty="0"/>
          </a:p>
        </p:txBody>
      </p:sp>
      <p:sp>
        <p:nvSpPr>
          <p:cNvPr id="7" name="Connector line-1792617997149-660493080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Tiền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động: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</a:t>
            </a:r>
            <a:r>
              <a:rPr lang="en-US" sz="270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hoạch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cử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12" name="Connector line-1792617997153-390821378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(vùng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4):</a:t>
            </a:r>
            <a:r>
              <a:rPr lang="en-US" sz="2700" dirty="0" spc="4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endParaRPr lang="en-US" sz="2700" dirty="0"/>
          </a:p>
        </p:txBody>
      </p:sp>
      <p:sp>
        <p:nvSpPr>
          <p:cNvPr id="17" name="Connector line-1792617997157-561823091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Tủy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sống: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 cơ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xương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617428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Text 7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10/49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4" name="Moda image moda-export-watermark-e96c8dd7-4afa-4fac-b778-dc70110e23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Vùng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Broca: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r>
              <a:rPr lang="en-US" sz="57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8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1861,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sĩ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Paul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 nhân</a:t>
            </a:r>
            <a:r>
              <a:rPr lang="en-US" sz="285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"tan";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mất,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 ở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trái;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khác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trôi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8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khu trú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4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4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trán,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thường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tạo</a:t>
            </a:r>
            <a:r>
              <a:rPr lang="en-US" sz="24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7859" rIns="0" bIns="-17859" rtlCol="0" anchor="t"/>
          <a:lstStyle/>
          <a:p>
            <a:pPr algn="l" indent="0" marL="0">
              <a:lnSpc>
                <a:spcPts val="274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hiểu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2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(Wernicke)</a:t>
            </a: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dương,</a:t>
            </a:r>
            <a:r>
              <a:rPr lang="en-US" sz="22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250" dirty="0" spc="-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L08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04040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83131f7b-76e3-42b9-90c0-95545486fa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bệnh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-10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617999212-3685396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75160" y="2438400"/>
            <a:ext cx="457498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Sorbonne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Université,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Selbymay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 Commons,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4.0;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(mục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4.2)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Left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inferior</a:t>
            </a: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frontal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thùy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trái,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r>
              <a:rPr lang="en-US" sz="25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thương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Tan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biệt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bệnh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 của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Broca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8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Lọ</a:t>
            </a:r>
            <a:r>
              <a:rPr lang="en-US" sz="2250" dirty="0" spc="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bảo</a:t>
            </a:r>
            <a:r>
              <a:rPr lang="en-US" sz="2250" dirty="0" spc="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quản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tàng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Paris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990652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12/49</a:t>
            </a:r>
            <a:endParaRPr lang="en-US" sz="1800" dirty="0"/>
          </a:p>
        </p:txBody>
      </p:sp>
      <p:sp>
        <p:nvSpPr>
          <p:cNvPr id="69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0" name="Moda image moda-export-watermark-d64ef6c9-45a2-4cf0-a1f9-6f36266bb3ce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Broca,</a:t>
            </a:r>
            <a:r>
              <a:rPr lang="en-US" sz="57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Wernicke</a:t>
            </a:r>
            <a:r>
              <a:rPr lang="en-US" sz="57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bó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8048257-363023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48379" y="2438400"/>
            <a:ext cx="6885542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 (mục 2.6)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Broca's area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Broca,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Wernicke's</a:t>
            </a:r>
            <a:r>
              <a:rPr lang="en-US" sz="2187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area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55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Wernicke,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hiểu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Arcuate</a:t>
            </a:r>
            <a:r>
              <a:rPr lang="en-US" sz="2187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fasciculus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bó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cung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262C4A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nói;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Wernicke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nói;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 cung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Mẹo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PROduction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FROntal,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WERnicke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perception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Wernicke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2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L08.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177264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1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5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6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Text 67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13/49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2" name="Moda image moda-export-watermark-ad2a4b43-80f5-4501-842e-599a6e9db5fe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Sách</a:t>
            </a:r>
            <a:r>
              <a:rPr lang="en-US" sz="42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</a:t>
            </a:r>
            <a:r>
              <a:rPr lang="en-US" sz="31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31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bệnh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Suy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r>
              <a:rPr lang="en-US" sz="4200" dirty="0" spc="-4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1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 trú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31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ra;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31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hiếm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0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Tổn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thương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7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bệnh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 ·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 hiện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tán,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nghiêng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63876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14/49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05c80f45-7013-46ff-bbdb-3eb8131ab8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57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Miller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Cohen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Miller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Cohen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(2001)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8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(cognitive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control),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suy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trong,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việc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cực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 diễn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 mục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thiên</a:t>
            </a:r>
            <a:r>
              <a:rPr lang="en-US" sz="28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(bias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signals)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cấu trúc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 dẫn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lý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lý</a:t>
            </a: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thuyết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4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huy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19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rõ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tóm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tách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4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50487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18aea0e2-681d-442f-a95d-040c390dd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thiên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lệch</a:t>
            </a:r>
            <a:endParaRPr lang="en-US" sz="5700" dirty="0"/>
          </a:p>
        </p:txBody>
      </p:sp>
      <p:sp>
        <p:nvSpPr>
          <p:cNvPr id="3" name="Connector line-1792618051051-435785606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4" name="Connector line-1792618051051-345480877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Connector line-1792618051051-867786277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6" name="Connector line-1792618051052-105782939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0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Vỏ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33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3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tiện: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thiên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lệch:</a:t>
            </a:r>
            <a:r>
              <a:rPr lang="en-US" sz="255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 vụ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37099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1129c843-cb0f-4172-9971-e621d6b29d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 của</a:t>
            </a:r>
            <a:r>
              <a:rPr lang="en-US" sz="57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2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Lưng</a:t>
            </a:r>
            <a:r>
              <a:rPr lang="en-US" sz="3000" dirty="0" spc="-1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bên</a:t>
            </a:r>
            <a:r>
              <a:rPr lang="en-US" sz="30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(vùng</a:t>
            </a:r>
            <a:r>
              <a:rPr lang="en-US" sz="30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9,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46)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hoạch,</a:t>
            </a:r>
            <a:r>
              <a:rPr lang="en-US" sz="27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linh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9814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9814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9814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Ổ</a:t>
            </a:r>
            <a:r>
              <a:rPr lang="en-US" sz="300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mắt</a:t>
            </a:r>
            <a:r>
              <a:rPr lang="en-US" sz="30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(vùng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10,</a:t>
            </a:r>
            <a:r>
              <a:rPr lang="en-US" sz="30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11)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9814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trị,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 xúc,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2006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2006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2006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Phần</a:t>
            </a:r>
            <a:r>
              <a:rPr lang="en-US" sz="3000" dirty="0" spc="2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dưới</a:t>
            </a:r>
            <a:r>
              <a:rPr lang="en-US" sz="30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(vùng 44,</a:t>
            </a:r>
            <a:r>
              <a:rPr lang="en-US" sz="30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45)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2006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Broca,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64198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4198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4198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Đại</a:t>
            </a:r>
            <a:r>
              <a:rPr lang="en-US" sz="30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thể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64198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6390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76390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6390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300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76390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 không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923711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17/49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fa06f889-a1bc-4091-b4bf-7512201710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57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(ví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von)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việc, mà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hưởng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 làm</a:t>
            </a:r>
            <a:r>
              <a:rPr lang="en-US" sz="6900" dirty="0" spc="-2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69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viết:</a:t>
            </a:r>
            <a:r>
              <a:rPr lang="en-US" sz="27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rung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 ví</a:t>
            </a:r>
            <a:r>
              <a:rPr lang="en-US" sz="27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von;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nghiên</a:t>
            </a:r>
            <a:r>
              <a:rPr lang="en-US" sz="27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110323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18/49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c5c4a7bc-5117-4915-a367-b7ea54a1de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Diamond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Chức</a:t>
            </a:r>
            <a:r>
              <a:rPr lang="en-US" sz="28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b="1" dirty="0" spc="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(executive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functions) giúp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"chơi"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làm,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cưỡng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cám dỗ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Diamond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nòng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cốt: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ức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(gồm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nhiễu),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8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lưng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8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hoạch,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linh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24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 là</a:t>
            </a:r>
            <a:r>
              <a:rPr lang="en-US" sz="24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viên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(giáo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ức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linh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4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lực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296935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0d12a150-7d4c-4ac5-8321-65b495133b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nòng</a:t>
            </a: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kìm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bốc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đồng,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nhiễu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làm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 khi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83547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20/49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0" name="Moda image moda-export-watermark-4cd31647-3321-440a-885b-092cf19615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 của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 cho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Ức</a:t>
            </a:r>
            <a:r>
              <a:rPr lang="en-US" sz="30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chế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mở mạng</a:t>
            </a: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30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0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làm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việc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Linh</a:t>
            </a:r>
            <a:r>
              <a:rPr lang="en-US" sz="30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hoạt</a:t>
            </a:r>
            <a:r>
              <a:rPr lang="en-US" sz="300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3000" dirty="0" spc="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thức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bế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70159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21/49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730ee287-43fb-454e-ae82-3216f17010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năng: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Miyake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(2000) cho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các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"thùy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trán"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8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b="1" dirty="0" spc="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8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Wisconsin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hệ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tập,</a:t>
            </a:r>
            <a:r>
              <a:rPr lang="en-US" sz="285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Tower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Hanoi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chế,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operation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195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hành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viên,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4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vừa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phải, tách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24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 nào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56771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dc64e9b8-c4f0-4300-ab19-5b33ecd02e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việc?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</a:t>
            </a:r>
            <a:r>
              <a:rPr lang="en-US" sz="42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ức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1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bên,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Đề</a:t>
            </a:r>
            <a:r>
              <a:rPr lang="en-US" sz="345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r>
              <a:rPr lang="en-US" sz="34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45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Aron</a:t>
            </a:r>
            <a:r>
              <a:rPr lang="en-US" sz="3450" dirty="0" spc="-3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4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34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1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31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[S7]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Nhãn: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</a:t>
            </a: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thuyết,</a:t>
            </a: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8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tham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r>
              <a:rPr lang="en-US" sz="28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[S7]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43383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23/49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db7acdd5-3cae-404a-a27d-c57ebb4ca1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Phineas</a:t>
            </a:r>
            <a:r>
              <a:rPr lang="en-US" sz="57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Gage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r>
              <a:rPr lang="en-US" sz="57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(theo</a:t>
            </a:r>
            <a:r>
              <a:rPr lang="en-US" sz="57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Macmillan)</a:t>
            </a:r>
            <a:endParaRPr lang="en-US" sz="5700" dirty="0"/>
          </a:p>
        </p:txBody>
      </p:sp>
      <p:sp>
        <p:nvSpPr>
          <p:cNvPr id="3" name="Connector line-1792618105701-922358994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038350" y="5562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Connector line-1792618105702-34331698"/>
          <p:cNvSpPr/>
          <p:nvPr/>
        </p:nvSpPr>
        <p:spPr>
          <a:xfrm flipV="1">
            <a:off x="2286000" y="5238750"/>
            <a:ext cx="0" cy="3238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2362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92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13/9/1848:</a:t>
            </a:r>
            <a:r>
              <a:rPr lang="en-US" sz="2692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tai</a:t>
            </a:r>
            <a:r>
              <a:rPr lang="en-US" sz="2692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nạn,</a:t>
            </a:r>
            <a:r>
              <a:rPr lang="en-US" sz="2692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thanh</a:t>
            </a:r>
            <a:r>
              <a:rPr lang="en-US" sz="2692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sắt</a:t>
            </a:r>
            <a:r>
              <a:rPr lang="en-US" sz="2692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xuyên</a:t>
            </a:r>
            <a:r>
              <a:rPr lang="en-US" sz="2692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2692" dirty="0"/>
          </a:p>
        </p:txBody>
      </p:sp>
      <p:sp>
        <p:nvSpPr>
          <p:cNvPr id="7" name="Shape 5"/>
          <p:cNvSpPr/>
          <p:nvPr/>
        </p:nvSpPr>
        <p:spPr>
          <a:xfrm>
            <a:off x="4781550" y="556260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Connector line-1792618105705-806848003"/>
          <p:cNvSpPr/>
          <p:nvPr/>
        </p:nvSpPr>
        <p:spPr>
          <a:xfrm>
            <a:off x="5029200" y="6057900"/>
            <a:ext cx="0" cy="323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3848100" y="6381750"/>
            <a:ext cx="2362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1848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1850:</a:t>
            </a:r>
            <a:r>
              <a:rPr lang="en-US" sz="22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Harlow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Bigelow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nêu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tâm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7524750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Connector line-1792618105708-635167724"/>
          <p:cNvSpPr/>
          <p:nvPr/>
        </p:nvSpPr>
        <p:spPr>
          <a:xfrm flipV="1">
            <a:off x="7772400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6591300" y="3429000"/>
            <a:ext cx="2362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1851: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tạp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cốt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tướng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tiết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267950" y="556260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Connector line-1792618105710-917614865"/>
          <p:cNvSpPr/>
          <p:nvPr/>
        </p:nvSpPr>
        <p:spPr>
          <a:xfrm>
            <a:off x="10515600" y="6057900"/>
            <a:ext cx="0" cy="3238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334500" y="6381750"/>
            <a:ext cx="2362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86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21/5/1860:</a:t>
            </a:r>
            <a:r>
              <a:rPr lang="en-US" sz="2686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Gage</a:t>
            </a:r>
            <a:r>
              <a:rPr lang="en-US" sz="2686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mất</a:t>
            </a:r>
            <a:r>
              <a:rPr lang="en-US" sz="2686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 các</a:t>
            </a:r>
            <a:r>
              <a:rPr lang="en-US" sz="2686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cơn</a:t>
            </a:r>
            <a:r>
              <a:rPr lang="en-US" sz="2686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</a:t>
            </a:r>
            <a:r>
              <a:rPr lang="en-US" sz="2686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giật</a:t>
            </a:r>
            <a:endParaRPr lang="en-US" sz="2686" dirty="0"/>
          </a:p>
        </p:txBody>
      </p:sp>
      <p:sp>
        <p:nvSpPr>
          <p:cNvPr id="16" name="Shape 14"/>
          <p:cNvSpPr/>
          <p:nvPr/>
        </p:nvSpPr>
        <p:spPr>
          <a:xfrm>
            <a:off x="13011150" y="5562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7" name="Connector line-1792618105712-278725389"/>
          <p:cNvSpPr/>
          <p:nvPr/>
        </p:nvSpPr>
        <p:spPr>
          <a:xfrm flipV="1">
            <a:off x="13258800" y="5238750"/>
            <a:ext cx="0" cy="3238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2077700" y="3429000"/>
            <a:ext cx="2362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Cuối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1867</a:t>
            </a: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1868: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quật,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sọ</a:t>
            </a: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r>
              <a:rPr lang="en-US" sz="22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Harlow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5754350" y="556260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0" name="Connector line-1792618105714-215028145"/>
          <p:cNvSpPr/>
          <p:nvPr/>
        </p:nvSpPr>
        <p:spPr>
          <a:xfrm>
            <a:off x="16002000" y="6057900"/>
            <a:ext cx="0" cy="323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4820900" y="6381750"/>
            <a:ext cx="2362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1868: báo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cáo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Harlow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tâm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229995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Text 7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24/49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4" name="Moda image moda-export-watermark-b4311450-bfe1-4a7d-bbf3-13bc1de80c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57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618154150-2963328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07633" y="2438400"/>
            <a:ext cx="7910035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Horn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(2012),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2.5,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 Commons;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(mục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4.2)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Tamping</a:t>
            </a:r>
            <a:r>
              <a:rPr lang="en-US" sz="225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iron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8194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thanh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sắt</a:t>
            </a:r>
            <a:r>
              <a:rPr lang="en-US" sz="25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đầm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 nổ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400050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White</a:t>
            </a:r>
            <a:r>
              <a:rPr lang="en-US" sz="22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matter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47675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chất</a:t>
            </a:r>
            <a:r>
              <a:rPr lang="en-US" sz="25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trắng;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màu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5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bó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 bị</a:t>
            </a:r>
            <a:r>
              <a:rPr lang="en-US" sz="25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cắt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657850"/>
            <a:ext cx="5448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</a:t>
            </a:r>
            <a:r>
              <a:rPr lang="en-US" sz="22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6134100"/>
            <a:ext cx="5448300" cy="8001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tái</a:t>
            </a:r>
            <a:r>
              <a:rPr lang="en-US" sz="2550" dirty="0" spc="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255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ước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đoán,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phải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chụp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endParaRPr lang="en-US" sz="25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5416606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4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25/49</a:t>
            </a:r>
            <a:endParaRPr lang="en-US" sz="1800" dirty="0"/>
          </a:p>
        </p:txBody>
      </p:sp>
      <p:sp>
        <p:nvSpPr>
          <p:cNvPr id="69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0" name="Moda image moda-export-watermark-41fdeb80-ebc3-4467-b26b-53b87a4ee4de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7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Macmillan,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Phineas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Gage: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Harlow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(1848),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Bigelow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(1850),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Harlow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(1868)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Jackson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(1870);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chắn: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13/9/1848,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gò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sọ,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 co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giật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21/5/1860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cũng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sót: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Harlow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1861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Chắc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tai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nạn,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sót,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mất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năm 1860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chắc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mức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thương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4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sách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40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kể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03218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8750fb6d-6583-4331-ad03-ab67b0bec7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57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kể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7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4200" dirty="0" spc="-3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kể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nảy,</a:t>
            </a:r>
            <a:r>
              <a:rPr lang="en-US" sz="31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nát</a:t>
            </a:r>
            <a:r>
              <a:rPr lang="en-US" sz="31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rượu,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hung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bạo,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bốc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r>
              <a:rPr lang="en-US" sz="31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đời,</a:t>
            </a: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nghèo [S3]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42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Macmillan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1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31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1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đó;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18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 cho</a:t>
            </a:r>
            <a:r>
              <a:rPr lang="en-US" sz="31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Currier</a:t>
            </a:r>
            <a:r>
              <a:rPr lang="en-US" sz="31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lái</a:t>
            </a:r>
            <a:r>
              <a:rPr lang="en-US" sz="31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ngựa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Rối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tình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dục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8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Harlow</a:t>
            </a: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1848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Bigelow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1850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nêu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8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789830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27/49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ea5c3808-ddd0-4231-b35e-d16012a72a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Tổn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 Không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 tử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có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chiếc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sọ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xương,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nhiễm trùng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 hủy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Damasio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(1994)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thiên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hơn,</a:t>
            </a:r>
            <a:r>
              <a:rPr lang="en-US" sz="28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Ratiu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(2004)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thùy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Harlow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[S3]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thùy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Có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chiếc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sọ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Gage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195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não, khám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hình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phỏng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ước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76442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f4ddd04c-61d0-406d-9221-09366ed2fb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Mức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chuyện</a:t>
            </a:r>
            <a:r>
              <a:rPr lang="en-US" sz="57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Gage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16459200" cy="1076325"/>
          </a:xfrm>
          <a:prstGeom prst="roundRect">
            <a:avLst>
              <a:gd name="adj" fmla="val 19469"/>
            </a:avLst>
          </a:prstGeom>
          <a:solidFill>
            <a:srgbClr val="262C4A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857500"/>
            <a:ext cx="156972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Chắc: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 năm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1848,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21/5/1860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581150" y="4086225"/>
            <a:ext cx="15125700" cy="1076325"/>
          </a:xfrm>
          <a:prstGeom prst="roundRect">
            <a:avLst>
              <a:gd name="adj" fmla="val 19469"/>
            </a:avLst>
          </a:prstGeom>
          <a:solidFill>
            <a:srgbClr val="4A3A22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2150" y="4086225"/>
            <a:ext cx="143637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8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 năm: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Harlow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1868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2247900" y="5314950"/>
            <a:ext cx="13792200" cy="1076325"/>
          </a:xfrm>
          <a:prstGeom prst="roundRect">
            <a:avLst>
              <a:gd name="adj" fmla="val 19469"/>
            </a:avLst>
          </a:prstGeom>
          <a:solidFill>
            <a:srgbClr val="1C4236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28900" y="5314950"/>
            <a:ext cx="130302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chắc:</a:t>
            </a:r>
            <a:r>
              <a:rPr lang="en-US" sz="285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xác,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[S3]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2914650" y="6543675"/>
            <a:ext cx="12458700" cy="1076325"/>
          </a:xfrm>
          <a:prstGeom prst="roundRect">
            <a:avLst>
              <a:gd name="adj" fmla="val 19469"/>
            </a:avLst>
          </a:prstGeom>
          <a:solidFill>
            <a:srgbClr val="4A2A24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5650" y="6543675"/>
            <a:ext cx="116967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Phỏng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Macmillan: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3581400" y="7772400"/>
            <a:ext cx="11125200" cy="1076325"/>
          </a:xfrm>
          <a:prstGeom prst="roundRect">
            <a:avLst>
              <a:gd name="adj" fmla="val 19469"/>
            </a:avLst>
          </a:prstGeom>
          <a:solidFill>
            <a:srgbClr val="262C4A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62400" y="7772400"/>
            <a:ext cx="10363200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Hậu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vào: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nát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rượu,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bạo,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nghèo,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163054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29/49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d5528bed-a26e-4003-bb47-355265a50b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Chuỗi minh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phanh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Cám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dỗ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hiện:</a:t>
            </a:r>
            <a:r>
              <a:rPr lang="en-US" sz="27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thoại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rung</a:t>
            </a:r>
            <a:endParaRPr lang="en-US" sz="2700" dirty="0"/>
          </a:p>
        </p:txBody>
      </p:sp>
      <p:sp>
        <p:nvSpPr>
          <p:cNvPr id="7" name="Connector line-1792618159030-293586119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endParaRPr lang="en-US" sz="2700" dirty="0"/>
          </a:p>
        </p:txBody>
      </p:sp>
      <p:sp>
        <p:nvSpPr>
          <p:cNvPr id="12" name="Connector line-1792618159033-185156863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Kìm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700" dirty="0"/>
          </a:p>
        </p:txBody>
      </p:sp>
      <p:sp>
        <p:nvSpPr>
          <p:cNvPr id="17" name="Connector line-1792618159035-49407453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Hoặc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349666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3" name="Shape 51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Text 7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30/49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4" name="Moda image moda-export-watermark-f4e97869-2a07-4079-8620-78054a0759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phanh: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 thuyết</a:t>
            </a:r>
            <a:r>
              <a:rPr lang="en-US" sz="57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r>
              <a:rPr lang="en-US" sz="57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Aron,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Robbins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Poldrack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3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ức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 phía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thần kinh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 trú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8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kiểm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thuyết,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1950" dirty="0" spc="-1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rõ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8992" rIns="0" bIns="-18992" rtlCol="0" anchor="t"/>
          <a:lstStyle/>
          <a:p>
            <a:pPr algn="l" indent="0" marL="0">
              <a:lnSpc>
                <a:spcPts val="2921"/>
              </a:lnSpc>
              <a:buNone/>
            </a:pPr>
            <a:r>
              <a:rPr lang="en-US" sz="2394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394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394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394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 loại</a:t>
            </a:r>
            <a:r>
              <a:rPr lang="en-US" sz="2394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nhiệm</a:t>
            </a:r>
            <a:r>
              <a:rPr lang="en-US" sz="2394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394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2394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phanh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ví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36278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96f8cfc1-1008-4198-a6fd-b5f6839cc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57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(Diamond)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hành;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ngủ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là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giảm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nêu;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722890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6" name="Shape 5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32/49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3d1f0221-500c-44e1-b01b-f235c7561e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Căng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vỏ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trán</a:t>
            </a:r>
            <a:r>
              <a:rPr lang="en-US" sz="57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(Arnsten)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Arnsten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trán,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 của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tính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rệt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đây;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 các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6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vật; xem</a:t>
            </a:r>
            <a:r>
              <a:rPr lang="en-US" sz="28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tổng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quan,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1950" dirty="0" spc="-1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rõ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người,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từ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khuyên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09502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53d9762c-440c-4ca5-a3c8-4fa22e6055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Thể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chai nối hai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5700" dirty="0"/>
          </a:p>
        </p:txBody>
      </p:sp>
      <p:sp>
        <p:nvSpPr>
          <p:cNvPr id="3" name="Connector line-1792618209642-206781240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4" name="Connector line-1792618209642-459122154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Connector line-1792618209642-770822944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6" name="Connector line-1792618209642-85375028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Thể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chai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trái: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nghiêng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[S1]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 nghiêng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chai: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trắng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bên: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[S1]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096113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8ac3ad1b-bcf3-49c3-86e2-d02b4731af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chuyên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rãnh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(corpus callosum),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trắng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chồng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lấn,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thừa,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chuyên</a:t>
            </a:r>
            <a:r>
              <a:rPr lang="en-US" sz="28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(lateralization):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r>
              <a:rPr lang="en-US" sz="28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nghiêng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ngăn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bởi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rãnh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dọc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thể chai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 không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tách</a:t>
            </a: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rời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82725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8d1a7e09-4a7d-45d9-bad9-4170e4258b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chéo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khiển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6900" dirty="0" spc="1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Xúc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7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7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(contralateral)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809625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Mức: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giáo</a:t>
            </a:r>
            <a:r>
              <a:rPr lang="en-US" sz="27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469337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36/49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8ad8ed3e-cc7d-4a85-8a6b-87daac8bb9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Não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tách: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chuyên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57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Michael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Gazzaniga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 cùng</a:t>
            </a:r>
            <a:r>
              <a:rPr lang="en-US" sz="28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Roger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Sperry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Joseph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Bogen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8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(split-brain)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báo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2005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lăm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ông, các nghiên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phần lớn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hợp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tính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hợp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 giác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195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nêu</a:t>
            </a:r>
            <a:r>
              <a:rPr lang="en-US" sz="19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19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tiết</a:t>
            </a:r>
            <a:r>
              <a:rPr lang="en-US" sz="24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tóm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4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55949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68fd577d-15cd-40c4-b7c9-9ba3cd9ea3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1.011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2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1.011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7</a:t>
            </a:r>
            <a:r>
              <a:rPr lang="en-US" sz="33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29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tuổi,</a:t>
            </a:r>
            <a:r>
              <a:rPr lang="en-US" sz="33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fMRI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nghỉ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8392" rIns="0" bIns="-18392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nghiêng</a:t>
            </a:r>
            <a:r>
              <a:rPr lang="en-US" sz="33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trái,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11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nghiêng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42561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5" name="Shape 43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38/49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635ba905-f02a-4c20-8725-d7a2052229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Nielsen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(2013):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Nielsen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(2013)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fMRI</a:t>
            </a:r>
            <a:r>
              <a:rPr lang="en-US" sz="28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1.011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tuổi,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các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4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(mức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nhau)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7.266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xám,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 ảnh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xám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nghiêng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nghiêng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 vùng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lúc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Chưa</a:t>
            </a:r>
            <a:r>
              <a:rPr lang="en-US" sz="19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hành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nhiệm vụ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4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 kiểm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29173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b81be393-98cf-401f-8e1d-366273a7ec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nghiêng</a:t>
            </a:r>
            <a:r>
              <a:rPr lang="en-US" sz="57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nghiêng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Nghiêng</a:t>
            </a:r>
            <a:r>
              <a:rPr lang="en-US" sz="4200" dirty="0" spc="-1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Broca,</a:t>
            </a:r>
            <a:r>
              <a:rPr lang="en-US" sz="31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Wernicke;</a:t>
            </a: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giữa,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cingulate</a:t>
            </a:r>
            <a:r>
              <a:rPr lang="en-US" sz="31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</a:t>
            </a:r>
            <a:r>
              <a:rPr lang="en-US" sz="31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(mạng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31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31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Nghiêng</a:t>
            </a: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rãnh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1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đỉnh,</a:t>
            </a:r>
            <a:r>
              <a:rPr lang="en-US" sz="31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đảo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150" dirty="0" spc="-7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MT,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nhìn</a:t>
            </a:r>
            <a:r>
              <a:rPr lang="en-US" sz="31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trán,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31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(mạng chú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ý)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 mạng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15785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4" name="Shape 5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40/49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aabfeeed-5212-4f6c-8d64-7e24713b56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Chuyên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năng: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57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Ngôn</a:t>
            </a:r>
            <a:r>
              <a:rPr lang="en-US" sz="30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ngữ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nghiêng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[S10]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9814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9814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9814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Chú ý</a:t>
            </a:r>
            <a:r>
              <a:rPr lang="en-US" sz="3000" dirty="0" spc="-1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bên</a:t>
            </a:r>
            <a:r>
              <a:rPr lang="en-US" sz="30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9814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2006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2006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2006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Xúc</a:t>
            </a:r>
            <a:r>
              <a:rPr lang="en-US" sz="3000" dirty="0" spc="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giác</a:t>
            </a:r>
            <a:r>
              <a:rPr lang="en-US" sz="3000" dirty="0" spc="-2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000" dirty="0" spc="-1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vận</a:t>
            </a:r>
            <a:r>
              <a:rPr lang="en-US" sz="30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2006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chéo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64198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4198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4198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Mạng</a:t>
            </a:r>
            <a:r>
              <a:rPr lang="en-US" sz="30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chế</a:t>
            </a:r>
            <a:r>
              <a:rPr lang="en-US" sz="3000" dirty="0" spc="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300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mặc</a:t>
            </a:r>
            <a:r>
              <a:rPr lang="en-US" sz="3000" dirty="0" spc="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64198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nghiêng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6390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76390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6390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Ức</a:t>
            </a:r>
            <a:r>
              <a:rPr lang="en-US" sz="30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chế</a:t>
            </a:r>
            <a:r>
              <a:rPr lang="en-US" sz="30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phản</a:t>
            </a:r>
            <a:r>
              <a:rPr lang="en-US" sz="3000" dirty="0" spc="3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ứng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76390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vỏ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02397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Shape 6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41/49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acc1654e-74f4-48f9-96db-c458f5059a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Nghiêng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57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8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nút;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cục</a:t>
            </a:r>
            <a:r>
              <a:rPr lang="en-US" sz="28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hình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"nghiêng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hơn"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"nghiêng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nhiều hơn"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cá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tuổi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tuổi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tuổi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cần nghiên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Mức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240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Giới</a:t>
            </a:r>
            <a:r>
              <a:rPr lang="en-US" sz="19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tham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7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29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tuổi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bỏ mọi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589009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d59bf300-2f4f-4682-8b42-c6c050c987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trái,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lầm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Chuyên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 mạng,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</a:t>
            </a:r>
            <a:r>
              <a:rPr lang="en-US" sz="30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Cái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ngôn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ý,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30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trong,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logic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 tạo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hợp:</a:t>
            </a:r>
            <a:r>
              <a:rPr lang="en-US" sz="30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chồng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lấn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 hợp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[S9]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75621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43/49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4" name="Moda image moda-export-watermark-c994517b-5db2-40c7-9efd-5e1c8a470f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phổ biến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biến: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"não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trái"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logic, tuần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tự;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"não phải"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trôi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chảy,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tìm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nhìn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trong,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liên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 thích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"não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trái"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"não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phải"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[S10]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Phổ</a:t>
            </a:r>
            <a:r>
              <a:rPr lang="en-US" sz="19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não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logic,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Tác</a:t>
            </a:r>
            <a:r>
              <a:rPr lang="en-US" sz="19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giả</a:t>
            </a:r>
            <a:r>
              <a:rPr lang="en-US" sz="19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gợi</a:t>
            </a:r>
            <a:r>
              <a:rPr lang="en-US" sz="19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7859" rIns="0" bIns="-17859" rtlCol="0" anchor="t"/>
          <a:lstStyle/>
          <a:p>
            <a:pPr algn="l" indent="0" marL="0">
              <a:lnSpc>
                <a:spcPts val="2745"/>
              </a:lnSpc>
              <a:buNone/>
            </a:pP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trái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ngôn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ngữ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trong,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luận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962232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2" name="Shape 60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44/49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9" name="Moda image moda-export-watermark-979339d9-3904-4dfa-8fc2-22b8788e4f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bằng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4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nghiêng</a:t>
            </a:r>
            <a:r>
              <a:rPr lang="en-US" sz="31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1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phải,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hình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31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2850" dirty="0" spc="3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lớn,</a:t>
            </a:r>
            <a:r>
              <a:rPr lang="en-US" sz="28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 cuối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8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2850" dirty="0" spc="3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28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[S10]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48844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45/49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8f49da80-a8c3-4801-9662-d316aa8bdf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 hỏi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7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trái,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(người</a:t>
            </a:r>
            <a:r>
              <a:rPr lang="en-US" sz="57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viết)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người?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nghiên</a:t>
            </a:r>
            <a:r>
              <a:rPr lang="en-US" sz="25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Nielsen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335456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5" name="Shape 63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46/49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0" name="Moda image moda-export-watermark-632afa4c-def0-4d0d-b734-25e656f349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Thùy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gồm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7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động,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tiền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[S1]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250" dirty="0" spc="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 xuống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tủy</a:t>
            </a: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sống;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Broca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22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 [S1]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[S2]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Chức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2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hành:</a:t>
            </a:r>
            <a:r>
              <a:rPr lang="en-US" sz="22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chế, bộ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 việc,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linh</a:t>
            </a:r>
            <a:r>
              <a:rPr lang="en-US" sz="22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hoạt;</a:t>
            </a:r>
            <a:r>
              <a:rPr lang="en-US" sz="22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gán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vùng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[S5]</a:t>
            </a: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[S7]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Gage: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kiểm,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hậu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[S3]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Phanh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 não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 thuộc</a:t>
            </a:r>
            <a:r>
              <a:rPr lang="en-US" sz="22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kiện: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 thẳng,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ngủ,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</a:t>
            </a:r>
            <a:r>
              <a:rPr lang="en-US" sz="22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đơn,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[S5]</a:t>
            </a: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[S8]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Chuyên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biệt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2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năng;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22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2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trái,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phù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 dữ liệu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[S10]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[S10]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522068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9" name="Shape 67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4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47/49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3" name="Moda image moda-export-watermark-99f99745-688e-4622-b8f7-f7a2008fd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57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57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L04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L05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 thẳng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L07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hạnh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hải mã, hạch nền,</a:t>
            </a:r>
            <a:r>
              <a:rPr lang="en-US" sz="25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đồi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L08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thùy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dương,</a:t>
            </a:r>
            <a:r>
              <a:rPr lang="en-US" sz="25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đỉnh,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chẩm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L09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vỏ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</a:t>
            </a:r>
            <a:r>
              <a:rPr lang="en-US" sz="25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xúc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9708680" y="9558046"/>
            <a:ext cx="124408" cy="124408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2" name="Shape 70"/>
          <p:cNvSpPr/>
          <p:nvPr/>
        </p:nvSpPr>
        <p:spPr>
          <a:xfrm>
            <a:off x="9910843" y="9573597"/>
            <a:ext cx="93306" cy="93306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48/49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75" name="Moda image moda-export-watermark-093c6635-8adb-4379-b5a9-258f811486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2.6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Brain,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3829050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829050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3829050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4.2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(tổn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não),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5095875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095875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5095875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Macmillan,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Phineas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Gage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Unravelling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myth,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Psychologist,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2008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6353175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6353175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6353175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Miller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Cohen, Annual</a:t>
            </a: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2001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(tóm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tắt)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7620000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7620000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7620000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Diamond,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Executive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functions,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Annual</a:t>
            </a: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2013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(tóm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tắt)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0" y="2571750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9563100" y="2571750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477500" y="2571750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Miyake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Cognitive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(tóm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tắt)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0" y="3829050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9563100" y="3829050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477500" y="3829050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Aron,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Robbins,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Poldrack,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Trends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Cognitive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Sciences, 2004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(tóm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tắt)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0" y="5095875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9563100" y="5095875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0477500" y="5095875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Arnsten,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Nature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Reviews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(tóm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tắt)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334500" y="6353175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9563100" y="6353175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S9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477500" y="6353175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Gazzaniga,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Nature</a:t>
            </a:r>
            <a:r>
              <a:rPr lang="en-US" sz="21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Reviews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2005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(tóm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tắt)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334500" y="7620000"/>
            <a:ext cx="8039100" cy="1143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31" name="Text 29"/>
          <p:cNvSpPr/>
          <p:nvPr/>
        </p:nvSpPr>
        <p:spPr>
          <a:xfrm>
            <a:off x="9563100" y="7620000"/>
            <a:ext cx="8763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S10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477500" y="7620000"/>
            <a:ext cx="6667500" cy="11430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Nielsen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PLOS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ONE, 2013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(tóm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thảo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luận)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9534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4008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32669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1330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69992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8865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07314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25975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44636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63297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81959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300620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19281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337942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56603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75265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393926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412587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31248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449909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468571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487232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05893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524554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543215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561876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580538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599199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17860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636521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655182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73844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692505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11166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729827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48488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67150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85811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8044724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8231336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8417948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8604560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791172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8977783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9164395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9351007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9537619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9724231" y="9573597"/>
            <a:ext cx="93306" cy="93306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9895292" y="9558046"/>
            <a:ext cx="124408" cy="124408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2" name="Text 80"/>
          <p:cNvSpPr/>
          <p:nvPr/>
        </p:nvSpPr>
        <p:spPr>
          <a:xfrm>
            <a:off x="102870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49/49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4" name="Moda image moda-export-watermark-49cf75d1-a568-49d0-a2b4-d55bd8474b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2026-10-21T21:32:47Z</dcterms:created>
  <dcterms:modified xsi:type="dcterms:W3CDTF">2026-10-21T21:32:47Z</dcterms:modified>
</cp:coreProperties>
</file>