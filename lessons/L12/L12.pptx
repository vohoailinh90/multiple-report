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8288000" cy="10287000"/>
  <p:notesSz cx="10287000" cy="18288000"/>
  <p:embeddedFontLst>
    <p:embeddedFont>
      <p:font typeface="Be Vietnam Pro"/>
      <p:regular r:id="rId55"/>
      <p:bold r:id="rId52"/>
    </p:embeddedFont>
    <p:embeddedFont>
      <p:font typeface="Bricolage Grotesque ExtraBold"/>
      <p:regular r:id="rId53"/>
    </p:embeddedFont>
    <p:embeddedFont>
      <p:font typeface="Be Vietnam Pro SemiBold"/>
      <p:regular r:id="rId54"/>
    </p:embeddedFont>
    <p:embeddedFont>
      <p:font typeface="Be Vietnam Pro ExtraBold"/>
      <p:regular r:id="rId56"/>
    </p:embeddedFont>
    <p:embeddedFont>
      <p:font typeface="Be Vietnam Pro Medium"/>
      <p:regular r:id="rId5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openxmlformats.org/officeDocument/2006/relationships/font" Target="fonts/font1.fntdata"/><Relationship Id="rId53" Type="http://schemas.openxmlformats.org/officeDocument/2006/relationships/font" Target="fonts/font2.fntdata"/><Relationship Id="rId54" Type="http://schemas.openxmlformats.org/officeDocument/2006/relationships/font" Target="fonts/font3.fntdata"/><Relationship Id="rId55" Type="http://schemas.openxmlformats.org/officeDocument/2006/relationships/font" Target="fonts/font4.fntdata"/><Relationship Id="rId56" Type="http://schemas.openxmlformats.org/officeDocument/2006/relationships/font" Target="fonts/font5.fntdata"/><Relationship Id="rId5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oda flattened ellipse-1792649525873-815568262, ellipse-1792649525876-38466511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0" y="1981200"/>
            <a:ext cx="6324600" cy="6324600"/>
          </a:xfrm>
          <a:prstGeom prst="rect">
            <a:avLst/>
          </a:prstGeom>
        </p:spPr>
      </p:pic>
      <p:sp>
        <p:nvSpPr>
          <p:cNvPr id="3" name="Connector line-1792649525877-750330739"/>
          <p:cNvSpPr/>
          <p:nvPr/>
        </p:nvSpPr>
        <p:spPr>
          <a:xfrm>
            <a:off x="13335000" y="1905000"/>
            <a:ext cx="0" cy="6477000"/>
          </a:xfrm>
          <a:prstGeom prst="line">
            <a:avLst/>
          </a:prstGeom>
          <a:noFill/>
          <a:ln w="762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4" name="Text 1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2100" b="1" spc="4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Rối</a:t>
            </a: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loạn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trạng,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âu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PTSD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81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8100" dirty="0"/>
          </a:p>
        </p:txBody>
      </p:sp>
      <p:sp>
        <p:nvSpPr>
          <p:cNvPr id="6" name="Text 3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3300" dirty="0" spc="1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30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3300" dirty="0" spc="0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300" dirty="0" spc="-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</a:t>
            </a:r>
            <a:r>
              <a:rPr lang="en-US" sz="3300" dirty="0" spc="-26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300" dirty="0" spc="1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 đo</a:t>
            </a:r>
            <a:r>
              <a:rPr lang="en-US" sz="3300" dirty="0" spc="1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30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3300" dirty="0"/>
          </a:p>
        </p:txBody>
      </p:sp>
      <p:sp>
        <p:nvSpPr>
          <p:cNvPr id="7" name="Shape 4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Trầm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Lưỡng</a:t>
            </a: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PTSD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971d161-5c56-4f36-bc3a-76395fccc55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 hỏi của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trầm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chấn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“khác”,</a:t>
            </a:r>
            <a:r>
              <a:rPr lang="en-US" sz="69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2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6900" dirty="0" spc="-9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2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6900" dirty="0" spc="-7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4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-9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2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3559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e96f9ab5-b9aa-4c60-bbd2-5129b0baef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nhóm,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Trầm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monoamine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Lưỡng</a:t>
            </a:r>
            <a:r>
              <a:rPr lang="en-US" sz="27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mạch cảm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PTSD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 mã, hạnh nhân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8791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2d0f91a1-92fd-478a-932e-9a0f82b78e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nhãn</a:t>
            </a:r>
            <a:r>
              <a:rPr lang="en-US" sz="57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chắn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khoa: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kiến</a:t>
            </a:r>
            <a:r>
              <a:rPr lang="en-US" sz="30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thuận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30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30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luận: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nguồn,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30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Suy luận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viết: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r>
              <a:rPr lang="en-US" sz="3000" dirty="0" spc="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4199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04/45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1344402b-b6c9-48f6-bdbb-35a26a1821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rối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loạn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Hội</a:t>
            </a:r>
            <a:r>
              <a:rPr lang="en-US" sz="2850" dirty="0" spc="-6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Hoa</a:t>
            </a:r>
            <a:r>
              <a:rPr lang="en-US" sz="2850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(APA)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rối</a:t>
            </a:r>
            <a:r>
              <a:rPr lang="en-US" sz="28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(psychological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disorder)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kiện: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85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nghĩ,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vi;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ánh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trục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trặc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triển;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 hoặc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8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kể;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 nhận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tự nó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8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28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850" b="1" dirty="0" spc="-3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định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 của</a:t>
            </a:r>
            <a:r>
              <a:rPr lang="en-US" sz="2400" dirty="0" spc="-4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APA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(2022)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 giáo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cho</a:t>
            </a:r>
            <a:r>
              <a:rPr lang="en-US" sz="24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4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tựa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 rối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buồn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mát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 phản</a:t>
            </a:r>
            <a:r>
              <a:rPr lang="en-US" sz="24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mong</a:t>
            </a:r>
            <a:r>
              <a:rPr lang="en-US" sz="24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đợi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4519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91c58568-bd9f-47d8-b1fa-bae9dbacd4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hệ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8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DSM-5-TR</a:t>
            </a:r>
            <a:r>
              <a:rPr lang="en-US" sz="4200" dirty="0" spc="-7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(APA)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chẩn</a:t>
            </a:r>
            <a:r>
              <a:rPr lang="en-US" sz="31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31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ICD-11</a:t>
            </a:r>
            <a:r>
              <a:rPr lang="en-US" sz="4200" dirty="0" spc="-4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(WHO)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31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1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31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31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tật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 chế: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28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8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rất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 nhận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chẩn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đoán,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ngược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48390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06/45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b4def73f-8a68-4519-897f-f7ccf3508d4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số,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quần thể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Hoa</a:t>
            </a:r>
            <a:r>
              <a:rPr lang="en-US" sz="2700" b="1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Kỳ,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28,8%</a:t>
            </a:r>
            <a:r>
              <a:rPr lang="en-US" sz="24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 âu,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20,8%</a:t>
            </a:r>
            <a:r>
              <a:rPr lang="en-US" sz="24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 khí</a:t>
            </a:r>
            <a:r>
              <a:rPr lang="en-US" sz="24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24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(Kessler</a:t>
            </a:r>
            <a:r>
              <a:rPr lang="en-US" sz="24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00" dirty="0" spc="5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Hoa</a:t>
            </a:r>
            <a:r>
              <a:rPr lang="en-US" sz="24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Kỳ,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 khởi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tuổi, khí</a:t>
            </a:r>
            <a:r>
              <a:rPr lang="en-US" sz="25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ước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5,2%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 trưởng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(WHO)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30480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Đây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15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</a:t>
            </a:r>
            <a:r>
              <a:rPr lang="en-US" sz="31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r>
              <a:rPr lang="en-US" sz="31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1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quần</a:t>
            </a:r>
            <a:r>
              <a:rPr lang="en-US" sz="31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</a:t>
            </a:r>
            <a:r>
              <a:rPr lang="en-US" sz="31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1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1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31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suất</a:t>
            </a:r>
            <a:r>
              <a:rPr lang="en-US" sz="31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1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1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 [S17]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5159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07/45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dcd8cd8f-5bb3-4336-8ebc-94bd06f5fbb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Nhóm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chẩn</a:t>
            </a:r>
            <a:r>
              <a:rPr lang="en-US" sz="27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endParaRPr lang="en-US" sz="2700" dirty="0"/>
          </a:p>
        </p:txBody>
      </p:sp>
      <p:sp>
        <p:nvSpPr>
          <p:cNvPr id="7" name="Connector line-1792649598148-88620522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sánh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bình</a:t>
            </a: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 không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chẩn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endParaRPr lang="en-US" sz="2700" dirty="0"/>
          </a:p>
        </p:txBody>
      </p:sp>
      <p:sp>
        <p:nvSpPr>
          <p:cNvPr id="12" name="Connector line-1792649598153-66512442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Thấy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</a:t>
            </a:r>
            <a:r>
              <a:rPr lang="en-US" sz="27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endParaRPr lang="en-US" sz="2700" dirty="0"/>
          </a:p>
        </p:txBody>
      </p:sp>
      <p:sp>
        <p:nvSpPr>
          <p:cNvPr id="17" name="Connector line-1792649598157-589903298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biết: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nhân,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hậu quả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700" dirty="0" spc="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70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endParaRPr lang="en-US" sz="2700" dirty="0"/>
          </a:p>
        </p:txBody>
      </p:sp>
      <p:sp>
        <p:nvSpPr>
          <p:cNvPr id="22" name="Connector line-1792649598161-434116450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chẩn</a:t>
            </a:r>
            <a:r>
              <a:rPr lang="en-US" sz="27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5478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de88c539-9b0f-470f-b6e2-ad3c59d9d4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Trầm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Rối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loạn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trầm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nặng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(MDD):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khí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sắc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trầm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4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mất</a:t>
            </a:r>
            <a:r>
              <a:rPr lang="en-US" sz="2400" dirty="0" spc="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hứng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thú</a:t>
            </a:r>
            <a:r>
              <a:rPr lang="en-US" sz="240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kéo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dài,</a:t>
            </a:r>
            <a:r>
              <a:rPr lang="en-US" sz="24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40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khổ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suy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4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Vùng/mạch</a:t>
            </a:r>
            <a:r>
              <a:rPr lang="en-US" sz="2100" dirty="0" spc="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555" rIns="0" bIns="-16555" rtlCol="0" anchor="t"/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369" dirty="0" spc="-5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Vỏ</a:t>
            </a:r>
            <a:r>
              <a:rPr lang="en-US" sz="2369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369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</a:t>
            </a:r>
            <a:r>
              <a:rPr lang="en-US" sz="2369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369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369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thấp,</a:t>
            </a:r>
            <a:r>
              <a:rPr lang="en-US" sz="2369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 nhân</a:t>
            </a:r>
            <a:r>
              <a:rPr lang="en-US" sz="2369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369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369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2369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369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369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 có</a:t>
            </a:r>
            <a:r>
              <a:rPr lang="en-US" sz="2369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chẩn</a:t>
            </a:r>
            <a:r>
              <a:rPr lang="en-US" sz="2369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đoán;</a:t>
            </a:r>
            <a:r>
              <a:rPr lang="en-US" sz="2369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369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369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369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369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</a:t>
            </a:r>
            <a:r>
              <a:rPr lang="en-US" sz="2369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369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369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369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sâu</a:t>
            </a:r>
            <a:r>
              <a:rPr lang="en-US" sz="2369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2961"/>
              </a:lnSpc>
              <a:buNone/>
            </a:pPr>
            <a:r>
              <a:rPr lang="en-US" sz="2369" dirty="0" spc="0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369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[S9]</a:t>
            </a:r>
            <a:endParaRPr lang="en-US" sz="2369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19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1950" dirty="0" spc="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nghiên</a:t>
            </a:r>
            <a:r>
              <a:rPr lang="en-US" sz="1950" dirty="0" spc="3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cứu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Serotonin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noradrenaline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(hồ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sơ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3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L03)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Di</a:t>
            </a:r>
            <a:r>
              <a:rPr lang="en-US" sz="21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2100" dirty="0" spc="-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</a:t>
            </a:r>
            <a:r>
              <a:rPr lang="en-US" sz="210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Tính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khoảng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40%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(ước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quần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thể);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vẫn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tác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gen–môi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trường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1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Đo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nhóm: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nhân.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thuyết: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trò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dẫn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Hoạt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thấp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quan,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nguyên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nhân;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phải chẩn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đoán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5798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77f3f1df-7c19-40be-aae7-2fe41c762b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thấp,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57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PET cho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(prefrontal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cortex),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8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phần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mắt và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giữa-dưới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8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 báo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7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phía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thùy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(xem</a:t>
            </a:r>
            <a:r>
              <a:rPr lang="en-US" sz="24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L04)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soát,</a:t>
            </a:r>
            <a:r>
              <a:rPr lang="en-US" sz="240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định,</a:t>
            </a:r>
            <a:r>
              <a:rPr lang="en-US" sz="240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hòa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tương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quan,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6118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562c2dff-d264-4879-9ee3-59bdc5d26e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 khí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sắc:</a:t>
            </a:r>
            <a:r>
              <a:rPr lang="en-US" sz="57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57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endParaRPr lang="en-US" sz="5700" dirty="0"/>
          </a:p>
        </p:txBody>
      </p:sp>
      <p:sp>
        <p:nvSpPr>
          <p:cNvPr id="3" name="Connector line-1792649600824-565689156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4" name="Connector line-1792649600825-465264975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Connector line-1792649600825-568274910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Connector line-1792649600825-639032038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-10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Vỏ</a:t>
            </a:r>
            <a:r>
              <a:rPr lang="en-US" sz="3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3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r>
              <a:rPr lang="en-US" sz="3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giữa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Thể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(ventral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striatum)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Thân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6438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c727dc3f-36dd-446f-bebe-d5a4b0749d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4362450" cy="6096000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49602002-1083013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3800368"/>
            <a:ext cx="3981450" cy="29910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05450" y="2247900"/>
            <a:ext cx="4362450" cy="6096000"/>
          </a:xfrm>
          <a:prstGeom prst="roundRect">
            <a:avLst>
              <a:gd name="adj" fmla="val 6114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6" name="Moda image rect-1792649602273-64422461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95950" y="3977045"/>
            <a:ext cx="3981450" cy="263771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10.1);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Wikimedia,</a:t>
            </a:r>
            <a:r>
              <a:rPr lang="en-US" sz="16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2.6)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9" name="Shape 5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6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</a:t>
            </a:r>
            <a:endParaRPr lang="en-US" sz="2187" dirty="0"/>
          </a:p>
        </p:txBody>
      </p:sp>
      <p:sp>
        <p:nvSpPr>
          <p:cNvPr id="11" name="Text 7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 nhân</a:t>
            </a:r>
            <a:endParaRPr lang="en-US" sz="2550" dirty="0"/>
          </a:p>
        </p:txBody>
      </p:sp>
      <p:sp>
        <p:nvSpPr>
          <p:cNvPr id="12" name="Shape 8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4" name="Text 10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Hippocampus</a:t>
            </a:r>
            <a:endParaRPr lang="en-US" sz="2187" dirty="0"/>
          </a:p>
        </p:txBody>
      </p:sp>
      <p:sp>
        <p:nvSpPr>
          <p:cNvPr id="15" name="Text 11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hải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550" dirty="0"/>
          </a:p>
        </p:txBody>
      </p:sp>
      <p:sp>
        <p:nvSpPr>
          <p:cNvPr id="16" name="Shape 12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7" name="Shape 13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8" name="Text 14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Periaqueductal</a:t>
            </a:r>
            <a:r>
              <a:rPr lang="en-US" sz="2187" dirty="0" spc="-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gray</a:t>
            </a:r>
            <a:endParaRPr lang="en-US" sz="2187" dirty="0"/>
          </a:p>
        </p:txBody>
      </p:sp>
      <p:sp>
        <p:nvSpPr>
          <p:cNvPr id="19" name="Text 15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25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quanh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cống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550" dirty="0"/>
          </a:p>
        </p:txBody>
      </p:sp>
      <p:sp>
        <p:nvSpPr>
          <p:cNvPr id="20" name="Shape 16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F8D9D0"/>
          </a:solidFill>
          <a:ln/>
        </p:spPr>
      </p:sp>
      <p:sp>
        <p:nvSpPr>
          <p:cNvPr id="21" name="Text 17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não,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2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</a:t>
            </a:r>
            <a:r>
              <a:rPr lang="en-US" sz="22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Price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Drevets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22" name="Text 18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3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3167588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1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2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3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4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5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7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8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39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0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1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2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3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4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5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6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7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8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49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0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1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2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3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4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6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7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8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59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0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1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2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3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12/45</a:t>
            </a:r>
            <a:endParaRPr lang="en-US" sz="1800" dirty="0"/>
          </a:p>
        </p:txBody>
      </p:sp>
      <p:sp>
        <p:nvSpPr>
          <p:cNvPr id="69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fd83b365-1e6f-433c-9b53-836d10d19db5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trầm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381125"/>
          </a:xfrm>
          <a:prstGeom prst="roundRect">
            <a:avLst>
              <a:gd name="adj" fmla="val 15172"/>
            </a:avLst>
          </a:prstGeom>
          <a:solidFill>
            <a:srgbClr val="262C4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8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nhóm: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thấp, hạnh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391025"/>
            <a:ext cx="15125700" cy="1381125"/>
          </a:xfrm>
          <a:prstGeom prst="roundRect">
            <a:avLst>
              <a:gd name="adj" fmla="val 15172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391025"/>
            <a:ext cx="14363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85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trị: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b="1" dirty="0" spc="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5924550"/>
            <a:ext cx="13792200" cy="1381125"/>
          </a:xfrm>
          <a:prstGeom prst="roundRect">
            <a:avLst>
              <a:gd name="adj" fmla="val 15172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5924550"/>
            <a:ext cx="130302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nhóm: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</a:t>
            </a:r>
            <a:r>
              <a:rPr lang="en-US" sz="28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2914650" y="7458075"/>
            <a:ext cx="12458700" cy="1381125"/>
          </a:xfrm>
          <a:prstGeom prst="roundRect">
            <a:avLst>
              <a:gd name="adj" fmla="val 15172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5650" y="7458075"/>
            <a:ext cx="116967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rõ: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7078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13/45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335ca5b1-d871-42c8-aff0-121c1f595b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thuyết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monoamine: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mốc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5700" dirty="0"/>
          </a:p>
        </p:txBody>
      </p:sp>
      <p:sp>
        <p:nvSpPr>
          <p:cNvPr id="3" name="Connector line-1792649649078-195801995"/>
          <p:cNvSpPr/>
          <p:nvPr/>
        </p:nvSpPr>
        <p:spPr>
          <a:xfrm>
            <a:off x="914400" y="5810250"/>
            <a:ext cx="16459200" cy="0"/>
          </a:xfrm>
          <a:prstGeom prst="line">
            <a:avLst/>
          </a:prstGeom>
          <a:noFill/>
          <a:ln w="5715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14575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5" name="Connector line-1792649649078-466938632"/>
          <p:cNvSpPr/>
          <p:nvPr/>
        </p:nvSpPr>
        <p:spPr>
          <a:xfrm flipV="1">
            <a:off x="2562225" y="523875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0490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Thập niên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1950: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thuốc</a:t>
            </a:r>
            <a:r>
              <a:rPr lang="en-US" sz="21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MAOI</a:t>
            </a: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bệnh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lao, tâm</a:t>
            </a:r>
            <a:r>
              <a:rPr lang="en-US" sz="21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 trầm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cải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thiện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00700" y="5562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Connector line-1792649649082-341605171"/>
          <p:cNvSpPr/>
          <p:nvPr/>
        </p:nvSpPr>
        <p:spPr>
          <a:xfrm>
            <a:off x="5848350" y="6057900"/>
            <a:ext cx="0" cy="32385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4400550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2012: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Duman</a:t>
            </a: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Aghajanian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2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khớp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</a:t>
            </a: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8896350" y="5562600"/>
            <a:ext cx="495300" cy="4953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Connector line-1792649649086-290406311"/>
          <p:cNvSpPr/>
          <p:nvPr/>
        </p:nvSpPr>
        <p:spPr>
          <a:xfrm flipV="1">
            <a:off x="9144000" y="523875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86675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2017: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Harmer,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Duman,</a:t>
            </a:r>
            <a:r>
              <a:rPr lang="en-US" sz="21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Cowen:</a:t>
            </a:r>
            <a:r>
              <a:rPr lang="en-US" sz="21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1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trễ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thách</a:t>
            </a:r>
            <a:r>
              <a:rPr lang="en-US" sz="21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1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1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1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r>
              <a:rPr lang="en-US" sz="21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[S7]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192000" y="5562600"/>
            <a:ext cx="495300" cy="495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Connector line-1792649649090-576830178"/>
          <p:cNvSpPr/>
          <p:nvPr/>
        </p:nvSpPr>
        <p:spPr>
          <a:xfrm>
            <a:off x="12439650" y="6057900"/>
            <a:ext cx="0" cy="32385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82325" y="638175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2022: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Moncrieff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sự,</a:t>
            </a:r>
            <a:r>
              <a:rPr lang="en-US" sz="22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2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2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serotonin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[S5]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5478125" y="556260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7" name="Connector line-1792649649095-227250678"/>
          <p:cNvSpPr/>
          <p:nvPr/>
        </p:nvSpPr>
        <p:spPr>
          <a:xfrm flipV="1">
            <a:off x="15725775" y="5238750"/>
            <a:ext cx="0" cy="32385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268450" y="3429000"/>
            <a:ext cx="291465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2023: Jauhar,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Cowen,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Browning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573988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14/45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e2974254-3af7-43f3-9cf5-40e3031bf6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</a:t>
            </a: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tuần:</a:t>
            </a:r>
            <a:r>
              <a:rPr lang="en-US" sz="57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SSRI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Harmer,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Duman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Cowen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thách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85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8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lâm</a:t>
            </a:r>
            <a:r>
              <a:rPr lang="en-US" sz="28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hầu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cần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thuyết: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hội,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8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dẻo</a:t>
            </a:r>
            <a:r>
              <a:rPr lang="en-US" sz="28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Duman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Aghajanian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 thần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thuyết,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hướng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 sao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77187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7ab8e470-63e8-4929-a0c1-54abaf7723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Giáo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2022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42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giáo</a:t>
            </a:r>
            <a:r>
              <a:rPr lang="en-US" sz="4200" dirty="0" spc="-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4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serotonin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“từ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nhận”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1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phần; cơ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3900" dirty="0" spc="-1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tổng</a:t>
            </a:r>
            <a:r>
              <a:rPr lang="en-US" sz="39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 2022</a:t>
            </a:r>
            <a:r>
              <a:rPr lang="en-US" sz="39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 cho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nồng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1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Mức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chắn: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8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luận,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[S6]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80387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16/45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05421378-59d0-4a1b-960d-08c6f406dc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Phạm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Moncrieff</a:t>
            </a:r>
            <a:r>
              <a:rPr lang="en-US" sz="57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Moncrieff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nồng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 vận chuyển,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serotonin</a:t>
            </a:r>
            <a:r>
              <a:rPr lang="en-US" sz="28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của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liệu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có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không;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 loại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lưỡng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thang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AMSTAR-2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Molecular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Psychiatry,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2022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đánh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r>
              <a:rPr lang="en-US" sz="24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serotonin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thuốc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183587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731d4340-a787-43c7-b3cd-c41ada593a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57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thuyết</a:t>
            </a:r>
            <a:r>
              <a:rPr lang="en-US" sz="69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serotonin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thấp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đang</a:t>
            </a:r>
            <a:r>
              <a:rPr lang="en-US" sz="69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-1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tranh</a:t>
            </a:r>
            <a:r>
              <a:rPr lang="en-US" sz="6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liệu;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 cần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86786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c7aa06a9-829a-40f3-a2e2-253992a5df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Rối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loạn</a:t>
            </a:r>
            <a:r>
              <a:rPr lang="en-US" sz="57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lưỡng</a:t>
            </a:r>
            <a:r>
              <a:rPr lang="en-US" sz="57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cực: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Hưng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40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đặc trưng;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lưỡng</a:t>
            </a:r>
            <a:r>
              <a:rPr lang="en-US" sz="24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cực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I:</a:t>
            </a:r>
            <a:r>
              <a:rPr lang="en-US" sz="2400" dirty="0" spc="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hưng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40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kéo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dài,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bắt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buộc</a:t>
            </a:r>
            <a:r>
              <a:rPr lang="en-US" sz="24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trầm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 nặng;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lưỡng</a:t>
            </a:r>
            <a:r>
              <a:rPr lang="en-US" sz="24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cực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II:</a:t>
            </a:r>
            <a:r>
              <a:rPr lang="en-US" sz="2400" dirty="0" spc="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hưng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 nhẹ</a:t>
            </a:r>
            <a:r>
              <a:rPr lang="en-US" sz="240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trầm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nặng</a:t>
            </a:r>
            <a:r>
              <a:rPr lang="en-US" sz="24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Vùng/mạch</a:t>
            </a:r>
            <a:r>
              <a:rPr lang="en-US" sz="2100" dirty="0" spc="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Mạch cảm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trán–hải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mã–hạnh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thưởng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(mô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hợp)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[S10]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19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1950" dirty="0" spc="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nghiên</a:t>
            </a:r>
            <a:r>
              <a:rPr lang="en-US" sz="1950" dirty="0" spc="3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cứu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Serotonin,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noradrenaline: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 serotonin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thấp,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noradrenaline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cao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Di</a:t>
            </a:r>
            <a:r>
              <a:rPr lang="en-US" sz="21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2100" dirty="0" spc="-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</a:t>
            </a:r>
            <a:r>
              <a:rPr lang="en-US" sz="210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Tính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cao; sự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kiện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căng thẳng,</a:t>
            </a:r>
            <a:r>
              <a:rPr lang="en-US" sz="2550" dirty="0" spc="-3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kể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tích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cực,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 ảnh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hưởng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diễn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1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fMRI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xúc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quán;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nhạy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thưởng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 [S10]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Di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cao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 sinh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diễn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biến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thay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đổi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589986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dd9f94c3-79a4-4100-aa58-f02114f467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fMRI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lưỡng</a:t>
            </a:r>
            <a:r>
              <a:rPr lang="en-US" sz="57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cực:</a:t>
            </a:r>
            <a:r>
              <a:rPr lang="en-US" sz="57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nhất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fMRI ở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rối</a:t>
            </a:r>
            <a:r>
              <a:rPr lang="en-US" sz="28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b="1" dirty="0" spc="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lưỡng</a:t>
            </a:r>
            <a:r>
              <a:rPr lang="en-US" sz="2850" b="1" dirty="0" spc="1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b="1" dirty="0" spc="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do: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(hưng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cảm,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cảm,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đoạn),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 nghiệm có thể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khoa, ghi đúng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 sao</a:t>
            </a: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giai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bệnh, cỡ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mẫu,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 thích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93186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96b93a11-e157-498e-8c4b-e4ef7f45ba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Phillips</a:t>
            </a:r>
            <a:r>
              <a:rPr lang="en-US" sz="57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Swartz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Mạch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xử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hòa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xúc:</a:t>
            </a:r>
            <a:r>
              <a:rPr lang="en-US" sz="22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2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trán,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mã,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 nhân,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endParaRPr lang="en-US" sz="2250" dirty="0"/>
          </a:p>
        </p:txBody>
      </p:sp>
      <p:sp>
        <p:nvSpPr>
          <p:cNvPr id="7" name="Connector line-1792649717907-74231009"/>
          <p:cNvSpPr/>
          <p:nvPr/>
        </p:nvSpPr>
        <p:spPr>
          <a:xfrm>
            <a:off x="37528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34340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9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4629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464820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Mạch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trái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“quá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động”: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vân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bụng,</a:t>
            </a:r>
            <a:r>
              <a:rPr lang="en-US" sz="25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ổ</a:t>
            </a:r>
            <a:r>
              <a:rPr lang="en-US" sz="25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</a:t>
            </a:r>
            <a:endParaRPr lang="en-US" sz="2550" dirty="0"/>
          </a:p>
        </p:txBody>
      </p:sp>
      <p:sp>
        <p:nvSpPr>
          <p:cNvPr id="12" name="Connector line-1792649717912-852955915"/>
          <p:cNvSpPr/>
          <p:nvPr/>
        </p:nvSpPr>
        <p:spPr>
          <a:xfrm>
            <a:off x="7172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62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86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048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8067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Hành vi: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dễ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đổi,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hòa,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nhạy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endParaRPr lang="en-US" sz="2400" dirty="0"/>
          </a:p>
        </p:txBody>
      </p:sp>
      <p:sp>
        <p:nvSpPr>
          <p:cNvPr id="17" name="Connector line-1792649717926-997588697"/>
          <p:cNvSpPr/>
          <p:nvPr/>
        </p:nvSpPr>
        <p:spPr>
          <a:xfrm>
            <a:off x="106013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91875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776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14776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1496675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Cấu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trúc: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xám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trán,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dương,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 nhân,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400" dirty="0"/>
          </a:p>
        </p:txBody>
      </p:sp>
      <p:sp>
        <p:nvSpPr>
          <p:cNvPr id="22" name="Connector line-1792649717929-161452181"/>
          <p:cNvSpPr/>
          <p:nvPr/>
        </p:nvSpPr>
        <p:spPr>
          <a:xfrm>
            <a:off x="140208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11350" y="3429000"/>
            <a:ext cx="2762250" cy="3810000"/>
          </a:xfrm>
          <a:prstGeom prst="roundRect">
            <a:avLst>
              <a:gd name="adj" fmla="val 9655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9710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5" name="Text 23"/>
          <p:cNvSpPr/>
          <p:nvPr/>
        </p:nvSpPr>
        <p:spPr>
          <a:xfrm>
            <a:off x="148971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916150" y="4572000"/>
            <a:ext cx="215265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Mức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chắn: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tổng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hợp,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996385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9d6fce82-a5e1-4e8e-bbea-58a02cf8f9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Nhạy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7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 thuyết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giáo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29718" rIns="0" bIns="-29718" rtlCol="0" anchor="ctr"/>
          <a:lstStyle/>
          <a:p>
            <a:pPr algn="l" indent="0" marL="0">
              <a:lnSpc>
                <a:spcPts val="6552"/>
              </a:lnSpc>
              <a:buNone/>
            </a:pPr>
            <a:r>
              <a:rPr lang="en-US" sz="58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</a:t>
            </a:r>
            <a:r>
              <a:rPr lang="en-US" sz="5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thuyết</a:t>
            </a:r>
            <a:r>
              <a:rPr lang="en-US" sz="5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giáo</a:t>
            </a:r>
            <a:r>
              <a:rPr lang="en-US" sz="585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8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nêu:</a:t>
            </a:r>
            <a:r>
              <a:rPr lang="en-US" sz="5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5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85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đạt</a:t>
            </a:r>
            <a:r>
              <a:rPr lang="en-US" sz="58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5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tiêu,</a:t>
            </a:r>
            <a:r>
              <a:rPr lang="en-US" sz="585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85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lưỡng</a:t>
            </a:r>
            <a:r>
              <a:rPr lang="en-US" sz="585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cực</a:t>
            </a:r>
            <a:r>
              <a:rPr lang="en-US" sz="5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 có</a:t>
            </a:r>
            <a:r>
              <a:rPr lang="en-US" sz="58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58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r>
              <a:rPr lang="en-US" sz="58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585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hưng</a:t>
            </a:r>
            <a:r>
              <a:rPr lang="en-US" sz="58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cảm,</a:t>
            </a:r>
            <a:r>
              <a:rPr lang="en-US" sz="585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gợi</a:t>
            </a:r>
            <a:r>
              <a:rPr lang="en-US" sz="58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8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6552"/>
              </a:lnSpc>
              <a:buNone/>
            </a:pPr>
            <a:r>
              <a:rPr lang="en-US" sz="585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nhạy</a:t>
            </a:r>
            <a:r>
              <a:rPr lang="en-US" sz="585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8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quá</a:t>
            </a:r>
            <a:r>
              <a:rPr lang="en-US" sz="5850" dirty="0" spc="-5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mức</a:t>
            </a:r>
            <a:r>
              <a:rPr lang="en-US" sz="5850" dirty="0" spc="-7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85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5850" dirty="0" spc="-5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thưởng</a:t>
            </a:r>
            <a:pPr algn="l" indent="0" marL="0">
              <a:lnSpc>
                <a:spcPts val="6552"/>
              </a:lnSpc>
              <a:buNone/>
            </a:pPr>
            <a:r>
              <a:rPr lang="en-US" sz="58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99585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f96f09f7-3868-4bba-ba7f-d07e89ce56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Lo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âu: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Sợ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240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mức,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dai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dẳng,</a:t>
            </a:r>
            <a:r>
              <a:rPr lang="en-US" sz="240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</a:t>
            </a:r>
            <a:r>
              <a:rPr lang="en-US" sz="240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rối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loạn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vi;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40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</a:t>
            </a:r>
            <a:r>
              <a:rPr lang="en-US" sz="240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tượng</a:t>
            </a:r>
            <a:r>
              <a:rPr lang="en-US" sz="24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400" dirty="0" spc="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Vùng/mạch</a:t>
            </a:r>
            <a:r>
              <a:rPr lang="en-US" sz="2100" dirty="0" spc="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Hạnh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(tín hiệu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lên)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(kiểm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soát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xuống)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 [S13]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19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1950" dirty="0" spc="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nghiên</a:t>
            </a:r>
            <a:r>
              <a:rPr lang="en-US" sz="1950" dirty="0" spc="3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cứu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GABA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chính;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serotonin,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endocannabinoid,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oxytocin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(xem</a:t>
            </a:r>
            <a:r>
              <a:rPr lang="en-US" sz="2550" dirty="0" spc="-3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L03)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Di</a:t>
            </a:r>
            <a:r>
              <a:rPr lang="en-US" sz="21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2100" dirty="0" spc="-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</a:t>
            </a:r>
            <a:r>
              <a:rPr lang="en-US" sz="210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Tính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truyền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khoảng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30–40%,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ước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quần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1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Đo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nhóm: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hơn.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GABA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 không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đủ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[S3]</a:t>
            </a: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[S11]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Hạnh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550" dirty="0" spc="-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hậu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5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 từ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[S12]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02785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e1bc52a8-f807-4159-8e02-538a960098b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chiều: hạnh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chiều: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850" b="1" dirty="0" spc="2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báo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kích thích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850" b="1" dirty="0" spc="-1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 [S13]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có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rối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8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 nhân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đâu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báo</a:t>
            </a:r>
            <a:r>
              <a:rPr lang="en-US" sz="24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dọa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soát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nút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âu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05984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80325cf2-0088-400f-bf62-3613449067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5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 thể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nhân: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 trung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endParaRPr lang="en-US" sz="2700" dirty="0"/>
          </a:p>
        </p:txBody>
      </p:sp>
      <p:sp>
        <p:nvSpPr>
          <p:cNvPr id="7" name="Connector line-1792649835856-375198050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Cấu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7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khiển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hô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hấp</a:t>
            </a:r>
            <a:r>
              <a:rPr lang="en-US" sz="270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nhịp tim</a:t>
            </a:r>
            <a:endParaRPr lang="en-US" sz="2700" dirty="0"/>
          </a:p>
        </p:txBody>
      </p:sp>
      <p:sp>
        <p:nvSpPr>
          <p:cNvPr id="12" name="Connector line-1792649835859-619402886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Phản</a:t>
            </a:r>
            <a:r>
              <a:rPr lang="en-US" sz="270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hoảng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</a:t>
            </a:r>
            <a:endParaRPr lang="en-US" sz="2700" dirty="0"/>
          </a:p>
        </p:txBody>
      </p:sp>
      <p:sp>
        <p:nvSpPr>
          <p:cNvPr id="17" name="Connector line-1792649835863-753069351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Bằng</a:t>
            </a:r>
            <a:r>
              <a:rPr lang="en-US" sz="255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chứng: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trung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tâm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55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 liên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hoảng</a:t>
            </a:r>
            <a:r>
              <a:rPr lang="en-US" sz="25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09184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Shape 46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25/45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7e682789-4c7f-468a-a1c1-7c2b3d38c6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 kinh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49837142-4571896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00623" y="2438400"/>
            <a:ext cx="5581055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OpenStax,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(chương 2)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Sympathetic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cảm;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Parasympathetic: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Increases</a:t>
            </a:r>
            <a:r>
              <a:rPr lang="en-US" sz="2187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heart</a:t>
            </a:r>
            <a:r>
              <a:rPr lang="en-US" sz="2187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rate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tăng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nhịp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tim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Slows</a:t>
            </a:r>
            <a:r>
              <a:rPr lang="en-US" sz="2187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heart</a:t>
            </a:r>
            <a:r>
              <a:rPr lang="en-US" sz="2187" dirty="0" spc="-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rate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chậm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nhịp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tim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F3DFB8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cảm,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</a:t>
            </a:r>
            <a:r>
              <a:rPr lang="en-US" sz="21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1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tim,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phổi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cơ quan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hạnh nhân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1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thân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1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hô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hấp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nhịp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tim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 Hình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 hình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1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1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thể;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cơn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hoảng loạn.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012384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7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26/45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a622471e-5c69-45a7-91a7-aac4fa71b19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57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nhóm: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Etkin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Wager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fMRI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PET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PTSD,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ám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thể: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cả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thùy</a:t>
            </a:r>
            <a:r>
              <a:rPr lang="en-US" sz="2850" b="1" dirty="0" spc="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mẫu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ám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Shin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Liberzon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mở: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từ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tổng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</a:t>
            </a:r>
            <a:r>
              <a:rPr lang="en-US" sz="24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hướng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4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15583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c7b47028-ffe0-4189-8e3f-0f6b43dc23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GABA: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 thuyết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cách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diễn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đạt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Giáo</a:t>
            </a:r>
            <a:r>
              <a:rPr lang="en-US" sz="4200" dirty="0" spc="-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đủ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 nhân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30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động;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30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vật,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30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</a:t>
            </a:r>
            <a:r>
              <a:rPr lang="en-US" sz="30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30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Gauthier</a:t>
            </a:r>
            <a:r>
              <a:rPr lang="en-US" sz="4200" dirty="0" spc="-4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Nuss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31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dùng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GABA;</a:t>
            </a:r>
            <a:r>
              <a:rPr lang="en-US" sz="31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GABA-A có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1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Mức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chắc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chắn: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thuyết;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8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8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418783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28/45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1" name="Moda image moda-export-watermark-14db3a95-d81f-431d-907a-cd6b447104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PTSD: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</a:t>
            </a:r>
            <a:r>
              <a:rPr lang="en-US" sz="21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Sau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phơi nhiễm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dọa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tử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vong,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chấn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thương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nặng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bạo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lực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dục;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triệu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-3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kéo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dài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Vùng/mạch</a:t>
            </a:r>
            <a:r>
              <a:rPr lang="en-US" sz="2100" dirty="0" spc="9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Hải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nhân,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trán,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vòng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đai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 [S14]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dẫn</a:t>
            </a:r>
            <a:r>
              <a:rPr lang="en-US" sz="19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1950" dirty="0" spc="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19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nghiên</a:t>
            </a:r>
            <a:r>
              <a:rPr lang="en-US" sz="1950" dirty="0" spc="3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cứu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Noradrenaline,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mức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đề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xuất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(xem</a:t>
            </a:r>
            <a:r>
              <a:rPr lang="en-US" sz="2550" dirty="0" spc="-3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L03)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Di</a:t>
            </a:r>
            <a:r>
              <a:rPr lang="en-US" sz="2100" dirty="0" spc="-1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truyền</a:t>
            </a:r>
            <a:r>
              <a:rPr lang="en-US" sz="2100" dirty="0" spc="-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môi</a:t>
            </a:r>
            <a:r>
              <a:rPr lang="en-US" sz="2100" dirty="0" spc="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trường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 có</a:t>
            </a:r>
            <a:r>
              <a:rPr lang="en-US" sz="240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</a:t>
            </a:r>
            <a:r>
              <a:rPr lang="en-US" sz="240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trò</a:t>
            </a:r>
            <a:r>
              <a:rPr lang="en-US" sz="24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40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sợ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căng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thẳng;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nghịch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cảnh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thời thơ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ấu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khả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mắc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 [S18]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21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10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Đi</a:t>
            </a:r>
            <a:r>
              <a:rPr lang="en-US" sz="25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kèm: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hải mã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hơn,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hải mã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giảm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dọa.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thuyết: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noradrenaline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Hải mã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r>
              <a:rPr lang="en-US" sz="240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chưa</a:t>
            </a:r>
            <a:r>
              <a:rPr lang="en-US" sz="240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40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40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PTSD;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hầu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hết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40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trải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</a:t>
            </a:r>
            <a:r>
              <a:rPr lang="en-US" sz="240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điều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hiểm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</a:t>
            </a:r>
            <a:r>
              <a:rPr lang="en-US" sz="240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triển</a:t>
            </a:r>
            <a:r>
              <a:rPr lang="en-US" sz="240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PTSD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[S4] [S18]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[S14] [S18]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21983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4941c94b-91e7-4dac-958d-62990cc480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Tiêu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chẩn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</a:t>
            </a:r>
            <a:r>
              <a:rPr lang="en-US" sz="57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giáo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PTSD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nhiễm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 hoặc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bạo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dục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 thẳng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 như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dài;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chí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NIMH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nêu: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hầu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 đều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hầu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[S18]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r>
              <a:rPr lang="en-US" sz="2850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6%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 mắc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12.6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NIMH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nói đúng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chẩn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mọi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buồn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[S18]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25182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ac226648-8603-4f61-b956-80c0ec7061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PTSD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Rauch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endParaRPr lang="en-US" sz="5700" dirty="0"/>
          </a:p>
        </p:txBody>
      </p:sp>
      <p:sp>
        <p:nvSpPr>
          <p:cNvPr id="3" name="Connector line-1792649912855-459605399"/>
          <p:cNvSpPr/>
          <p:nvPr/>
        </p:nvSpPr>
        <p:spPr>
          <a:xfrm flipH="1" flipV="1">
            <a:off x="3619500" y="3810000"/>
            <a:ext cx="5524500" cy="18097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4" name="Connector line-1792649912856-81214664"/>
          <p:cNvSpPr/>
          <p:nvPr/>
        </p:nvSpPr>
        <p:spPr>
          <a:xfrm flipV="1">
            <a:off x="9144000" y="3810000"/>
            <a:ext cx="5524500" cy="18097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5" name="Connector line-1792649912856-286562461"/>
          <p:cNvSpPr/>
          <p:nvPr/>
        </p:nvSpPr>
        <p:spPr>
          <a:xfrm>
            <a:off x="9144000" y="5619750"/>
            <a:ext cx="0" cy="247650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PTSD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047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 nhân: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5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96750" y="304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0" y="304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trán:</a:t>
            </a:r>
            <a:r>
              <a:rPr lang="en-US" sz="25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yếu,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572250" y="733425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733425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mã:</a:t>
            </a:r>
            <a:r>
              <a:rPr lang="en-US" sz="255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yếu,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028382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6" name="Shape 44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31/45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27f6db12-92bf-4c80-ac00-a4d10fd22a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PTSD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649914166-5611231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4900" y="2533278"/>
            <a:ext cx="8572500" cy="55252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Wikipedia,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 (chương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12.6)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Prefrontal</a:t>
            </a:r>
            <a:r>
              <a:rPr lang="en-US" sz="2187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cortex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vỏ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Hippocampus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hải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E8E0CF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 nhân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F8D9D0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PTSD: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trán,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</a:t>
            </a:r>
            <a:r>
              <a:rPr lang="en-US" sz="22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đai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 nhân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nhóm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2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 hơn,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tích;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[S14]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[S14]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231582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3" name="Shape 50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32/45</a:t>
            </a:r>
            <a:endParaRPr lang="en-US" sz="1800" dirty="0"/>
          </a:p>
        </p:txBody>
      </p:sp>
      <p:sp>
        <p:nvSpPr>
          <p:cNvPr id="67" name="Shape 6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e3c2b3c7-b738-4813-8302-1c78d3da39a9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thuyết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noradrenaline</a:t>
            </a:r>
            <a:r>
              <a:rPr lang="en-US" sz="57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hải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Đe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dọa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7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giải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phóng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noradrenaline</a:t>
            </a:r>
            <a:endParaRPr lang="en-US" sz="2700" dirty="0"/>
          </a:p>
        </p:txBody>
      </p:sp>
      <p:sp>
        <p:nvSpPr>
          <p:cNvPr id="7" name="Connector line-1792649915332-324060810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Xử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2700" dirty="0"/>
          </a:p>
        </p:txBody>
      </p:sp>
      <p:sp>
        <p:nvSpPr>
          <p:cNvPr id="12" name="Connector line-1792649915335-796238454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 trúc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7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endParaRPr lang="en-US" sz="2700" dirty="0"/>
          </a:p>
        </p:txBody>
      </p:sp>
      <p:sp>
        <p:nvSpPr>
          <p:cNvPr id="17" name="Connector line-1792649915338-180635059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AURORA: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đáp</a:t>
            </a:r>
            <a:r>
              <a:rPr lang="en-US" sz="270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dọa</a:t>
            </a:r>
            <a:r>
              <a:rPr lang="en-US" sz="27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27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nặng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434782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6" name="Shape 54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33/45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417770e1-11d0-47eb-9be9-7b84580ffa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Nghiên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r>
              <a:rPr lang="en-US" sz="57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AURORA:</a:t>
            </a:r>
            <a:r>
              <a:rPr lang="en-US" sz="57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giáo</a:t>
            </a: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7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AURORA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trung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chấn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 cấp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(Tanriverdi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2022),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cho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 mã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phản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xạ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của giải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 ý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gợi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ý,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nối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dọa,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noradrenaline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chưa</a:t>
            </a:r>
            <a:r>
              <a:rPr lang="en-US" sz="24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3798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7cfb366b-c557-4107-9d5e-08c9910ff2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Nhóm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57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động,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đích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mạch,</a:t>
            </a: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rối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loạn</a:t>
            </a:r>
            <a:r>
              <a:rPr lang="en-US" sz="57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nghiên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Ức</a:t>
            </a:r>
            <a:r>
              <a:rPr lang="en-US" sz="255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r>
              <a:rPr lang="en-US" sz="25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</a:t>
            </a:r>
            <a:r>
              <a:rPr lang="en-US" sz="2550" dirty="0" spc="-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hồi</a:t>
            </a:r>
            <a:r>
              <a:rPr lang="en-US" sz="2550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serotonin</a:t>
            </a:r>
            <a:r>
              <a:rPr lang="en-US" sz="2550" dirty="0" spc="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(SSRI)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synapse;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38004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004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8004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Ức</a:t>
            </a:r>
            <a:r>
              <a:rPr lang="en-US" sz="2550" dirty="0" spc="-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r>
              <a:rPr lang="en-US" sz="25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enzyme</a:t>
            </a:r>
            <a:r>
              <a:rPr lang="en-US" sz="255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55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hủy</a:t>
            </a:r>
            <a:r>
              <a:rPr lang="en-US" sz="255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monoamine</a:t>
            </a:r>
            <a:r>
              <a:rPr lang="en-US" sz="2550" dirty="0" spc="-1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(MAOI)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581900" y="38004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serotonin,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dopamine;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483870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83870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83870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7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Tăng</a:t>
            </a:r>
            <a:r>
              <a:rPr lang="en-US" sz="2550" dirty="0" spc="1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ức</a:t>
            </a:r>
            <a:r>
              <a:rPr lang="en-US" sz="255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r>
              <a:rPr lang="en-US" sz="25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GABA-A</a:t>
            </a:r>
            <a:r>
              <a:rPr lang="en-US" sz="25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(benzodiazepine)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581900" y="483870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70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 nhân;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587692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587692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587692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Ổn</a:t>
            </a:r>
            <a:r>
              <a:rPr lang="en-US" sz="3000" dirty="0" spc="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định</a:t>
            </a:r>
            <a:r>
              <a:rPr lang="en-US" sz="30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khí</a:t>
            </a:r>
            <a:r>
              <a:rPr lang="en-US" sz="3000" dirty="0" spc="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sắc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587692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chế;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lưỡng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6915150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6915150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915150"/>
            <a:ext cx="5905500" cy="904875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2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CBT</a:t>
            </a:r>
            <a:r>
              <a:rPr lang="en-US" sz="3000" dirty="0" spc="-27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00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phơi</a:t>
            </a:r>
            <a:r>
              <a:rPr lang="en-US" sz="30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nhiễm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6915150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4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sợ;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âu,</a:t>
            </a:r>
            <a:r>
              <a:rPr lang="en-US" sz="24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4400" y="7953375"/>
            <a:ext cx="16459200" cy="904875"/>
          </a:xfrm>
          <a:prstGeom prst="roundRect">
            <a:avLst>
              <a:gd name="adj" fmla="val 21053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7953375"/>
            <a:ext cx="133350" cy="904875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" y="7953375"/>
            <a:ext cx="5905500" cy="904875"/>
          </a:xfrm>
          <a:prstGeom prst="rect">
            <a:avLst/>
          </a:prstGeom>
          <a:noFill/>
          <a:ln/>
        </p:spPr>
        <p:txBody>
          <a:bodyPr wrap="square" lIns="0" tIns="11704" rIns="0" bIns="-11704" rtlCol="0" anchor="ctr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dirty="0" spc="-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Sốc</a:t>
            </a:r>
            <a:r>
              <a:rPr lang="en-US" sz="2100" dirty="0" spc="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điện</a:t>
            </a:r>
            <a:r>
              <a:rPr lang="en-US" sz="2100" dirty="0" spc="-1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(ECT),</a:t>
            </a: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kích thích</a:t>
            </a:r>
            <a:r>
              <a:rPr lang="en-US" sz="21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r>
              <a:rPr lang="en-US" sz="21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sâu</a:t>
            </a: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(DBS),</a:t>
            </a:r>
            <a:r>
              <a:rPr lang="en-US" sz="210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kích thích</a:t>
            </a:r>
            <a:r>
              <a:rPr lang="en-US" sz="21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</a:t>
            </a:r>
            <a:r>
              <a:rPr lang="en-US" sz="2100" dirty="0" spc="-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xuyên</a:t>
            </a:r>
            <a:r>
              <a:rPr lang="en-US" sz="21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sọ</a:t>
            </a:r>
            <a:r>
              <a:rPr lang="en-US" sz="2100" dirty="0" spc="-1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(rTMS)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581900" y="7953375"/>
            <a:ext cx="95250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mạch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viền–vỏ,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trán;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kháng</a:t>
            </a:r>
            <a:r>
              <a:rPr lang="en-US" sz="24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841181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3" name="Shape 6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35/45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5" name="Moda image moda-export-watermark-2b32913e-1eea-4956-abfc-c666dd0a2a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Thuốc: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hồi,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hủy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7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SSRI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serotonin;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 ba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noradrenaline;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MAOI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 enzyme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monoamine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oxidase vốn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bớt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noradrenaline,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serotonin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dopamine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benzodiazepine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GABA-A,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chloride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 khó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khí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 dẫn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195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thu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hồi, phân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hủy,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(giáo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1950" dirty="0" spc="-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rõ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tuần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195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nêu</a:t>
            </a:r>
            <a:r>
              <a:rPr lang="en-US" sz="195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cơ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sánh,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khuyến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nghị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44381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017d1274-3547-4cbd-88ae-75acade2dd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Liệu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pháp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phơi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nhiễm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CBT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2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thích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nghi;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Phơi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gặp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chấn</a:t>
            </a:r>
            <a:r>
              <a:rPr lang="en-US" sz="2550" dirty="0" spc="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dập</a:t>
            </a:r>
            <a:r>
              <a:rPr lang="en-US" sz="25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3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phơi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nhiễm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ức;</a:t>
            </a: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2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2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(xem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L11)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10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pháp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4758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3f037efd-e9c2-4f2c-bc06-96540945d7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Kích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não: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kháng</a:t>
            </a:r>
            <a:r>
              <a:rPr lang="en-US" sz="28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liệu</a:t>
            </a:r>
            <a:r>
              <a:rPr lang="en-US" sz="28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8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sốc</a:t>
            </a:r>
            <a:r>
              <a:rPr lang="en-US" sz="2850" b="1" dirty="0" spc="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(ECT):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mê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giật;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tích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85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rệt,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“chưa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rõ”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ECT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nồng</a:t>
            </a:r>
            <a:r>
              <a:rPr lang="en-US" sz="28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(như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glutamate)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làm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 thần kinh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DBS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cấy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gián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viền–vỏ;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rTMS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khử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xuất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Còn</a:t>
            </a:r>
            <a:r>
              <a:rPr lang="en-US" sz="1950" dirty="0" spc="1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chưa</a:t>
            </a:r>
            <a:r>
              <a:rPr lang="en-US" sz="1950" dirty="0" spc="-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rõ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3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ECT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“chưa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hiểu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chế,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khuyến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nghị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50780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8b4ade0c-385d-477b-9f89-4f7efd6f6c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</a:t>
            </a:r>
            <a:r>
              <a:rPr lang="en-US" sz="57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dược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29718" rIns="0" bIns="-29718" rtlCol="0" anchor="ctr"/>
          <a:lstStyle/>
          <a:p>
            <a:pPr algn="l" indent="0" marL="0">
              <a:lnSpc>
                <a:spcPts val="6552"/>
              </a:lnSpc>
              <a:buNone/>
            </a:pPr>
            <a:r>
              <a:rPr lang="en-US" sz="58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</a:t>
            </a:r>
            <a:r>
              <a:rPr lang="en-US" sz="5850" dirty="0" spc="-8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dược</a:t>
            </a:r>
            <a:r>
              <a:rPr lang="en-US" sz="5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 làm giảm lo</a:t>
            </a:r>
            <a:r>
              <a:rPr lang="en-US" sz="5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âu</a:t>
            </a:r>
            <a:r>
              <a:rPr lang="en-US" sz="5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8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585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người,</a:t>
            </a:r>
            <a:r>
              <a:rPr lang="en-US" sz="585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85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5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giảm</a:t>
            </a:r>
            <a:r>
              <a:rPr lang="en-US" sz="5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58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5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nhân:</a:t>
            </a:r>
            <a:r>
              <a:rPr lang="en-US" sz="5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 hạnh</a:t>
            </a:r>
            <a:r>
              <a:rPr lang="en-US" sz="5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85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6552"/>
              </a:lnSpc>
              <a:buNone/>
            </a:pPr>
            <a:r>
              <a:rPr lang="en-US" sz="5850" dirty="0" spc="-4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5850" dirty="0" spc="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5850" dirty="0" spc="1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5850" dirty="0" spc="-3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585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585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585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</a:t>
            </a:r>
            <a:pPr algn="l" indent="0" marL="0">
              <a:lnSpc>
                <a:spcPts val="6552"/>
              </a:lnSpc>
              <a:buNone/>
            </a:pPr>
            <a:r>
              <a:rPr lang="en-US" sz="585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(suy</a:t>
            </a:r>
            <a:r>
              <a:rPr lang="en-US" sz="5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</a:t>
            </a:r>
            <a:r>
              <a:rPr lang="en-US" sz="5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85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585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viết).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53980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27b92eb3-40b7-4053-8767-f0f3dc8179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lầm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Ảnh</a:t>
            </a:r>
            <a:r>
              <a:rPr lang="en-US" sz="3000" dirty="0" spc="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chụp</a:t>
            </a:r>
            <a:r>
              <a:rPr lang="en-US" sz="30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r>
              <a:rPr lang="en-US" sz="30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chẩn</a:t>
            </a:r>
            <a:r>
              <a:rPr lang="en-US" sz="30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đoán</a:t>
            </a:r>
            <a:r>
              <a:rPr lang="en-US" sz="3000" dirty="0" spc="1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000" dirty="0" spc="-9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bệnh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nhóm;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fMRI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lưỡng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9814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39814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Trầm</a:t>
            </a:r>
            <a:r>
              <a:rPr lang="en-US" sz="30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r>
              <a:rPr lang="en-US" sz="3000" dirty="0" spc="-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</a:t>
            </a:r>
            <a:r>
              <a:rPr lang="en-US" sz="3000" dirty="0" spc="-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do</a:t>
            </a:r>
            <a:r>
              <a:rPr lang="en-US" sz="30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thiếu</a:t>
            </a:r>
            <a:r>
              <a:rPr lang="en-US" sz="3000" dirty="0" spc="-1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serotonin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39814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 còn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cứu;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 không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quán; có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 [S6]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2006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2006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2006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Hạnh</a:t>
            </a:r>
            <a:r>
              <a:rPr lang="en-US" sz="300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r>
              <a:rPr lang="en-US" sz="30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quá</a:t>
            </a:r>
            <a:r>
              <a:rPr lang="en-US" sz="3000" dirty="0" spc="2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mức</a:t>
            </a:r>
            <a:r>
              <a:rPr lang="en-US" sz="3000" dirty="0" spc="-1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gây</a:t>
            </a:r>
            <a:r>
              <a:rPr lang="en-US" sz="3000" dirty="0" spc="-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</a:t>
            </a:r>
            <a:r>
              <a:rPr lang="en-US" sz="3000" dirty="0" spc="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âu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2006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7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nhóm;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hậu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từ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64198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4198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4198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Hải</a:t>
            </a:r>
            <a:r>
              <a:rPr lang="en-US" sz="300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mã</a:t>
            </a:r>
            <a:r>
              <a:rPr lang="en-US" sz="30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nhỏ</a:t>
            </a:r>
            <a:r>
              <a:rPr lang="en-US" sz="3000" dirty="0" spc="-1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gây</a:t>
            </a:r>
            <a:r>
              <a:rPr lang="en-US" sz="3000" dirty="0" spc="-2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PTSD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64198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kèm;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639050"/>
            <a:ext cx="16459200" cy="1085850"/>
          </a:xfrm>
          <a:prstGeom prst="roundRect">
            <a:avLst>
              <a:gd name="adj" fmla="val 17544"/>
            </a:avLst>
          </a:prstGeom>
          <a:solidFill>
            <a:srgbClr val="E8E0CF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7639050"/>
            <a:ext cx="133350" cy="10858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639050"/>
            <a:ext cx="5905500" cy="10858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Mọi</a:t>
            </a:r>
            <a:r>
              <a:rPr lang="en-US" sz="30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biến cố buồn</a:t>
            </a:r>
            <a:r>
              <a:rPr lang="en-US" sz="300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đều</a:t>
            </a:r>
            <a:r>
              <a:rPr lang="en-US" sz="3000" dirty="0" spc="-1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gây</a:t>
            </a:r>
            <a:r>
              <a:rPr lang="en-US" sz="3000" dirty="0" spc="-2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PTSD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581900" y="7639050"/>
            <a:ext cx="95250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 cần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phơi nhiễm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nghĩa;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hầu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[S18]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[S18]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5717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4" name="Shape 62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40/45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63b295fe-a25f-4454-90f9-df70d0d395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57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nhảy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hiểu lầm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đúng: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ở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hải mã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ở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; phơi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nhiễm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nặng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 ở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lưỡng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 hoặc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nhóm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(suy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viết).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ý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nguồn;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tách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khỏi</a:t>
            </a:r>
            <a:r>
              <a:rPr lang="en-US" sz="24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nhảy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3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</a:t>
            </a:r>
            <a:r>
              <a:rPr lang="en-US" sz="240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gây</a:t>
            </a:r>
            <a:r>
              <a:rPr lang="en-US" sz="24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[S11]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060379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9" name="Shape 57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41/45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5" name="Moda image moda-export-watermark-f6590552-0efe-48eb-a123-8d0d046df9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</a:t>
            </a:r>
            <a:r>
              <a:rPr lang="en-US" sz="57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57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gây</a:t>
            </a:r>
            <a:r>
              <a:rPr lang="en-US" sz="57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nhóm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ấy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nguyên</a:t>
            </a: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nhân,</a:t>
            </a:r>
            <a:r>
              <a:rPr lang="en-US" sz="6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hậu</a:t>
            </a: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 hay chỉ</a:t>
            </a:r>
            <a:r>
              <a:rPr lang="en-US" sz="6900" dirty="0" spc="3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3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263579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42/45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3" name="Moda image moda-export-watermark-e1e2e351-4a9b-4b1e-aa7d-fa35be99f3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Phát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nhóm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chẩn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đoán,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chẩn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nhân;</a:t>
            </a:r>
            <a:r>
              <a:rPr lang="en-US" sz="30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tách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Mẫu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(cách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tóm</a:t>
            </a:r>
            <a:r>
              <a:rPr lang="en-US" sz="30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viết):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mạnh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hơn,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0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30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trán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hơn;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PTSD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 serotonin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thấp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luận;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rõ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Lưỡng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cực: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fMRI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chưa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quán;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GABA</a:t>
            </a:r>
            <a:r>
              <a:rPr lang="en-US" sz="3000" dirty="0" spc="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ức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30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PTSD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phơi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nhiễm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chí;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hải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 nhỏ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3000" dirty="0" spc="3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000" dirty="0" spc="-3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kèm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 [S14] [S18]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46677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2" name="Shape 60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43/45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911ecefc-222a-4345-bfe0-f6b62a95ebb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nhằm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chế,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3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khuyên</a:t>
            </a:r>
            <a:r>
              <a:rPr lang="en-US" sz="6900" dirty="0" spc="-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</a:t>
            </a:r>
            <a:r>
              <a:rPr lang="en-US" sz="6900" dirty="0" spc="-29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 chẩn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đoán.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69978" y="9552517"/>
            <a:ext cx="135467" cy="135467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9" name="Shape 47"/>
          <p:cNvSpPr/>
          <p:nvPr/>
        </p:nvSpPr>
        <p:spPr>
          <a:xfrm>
            <a:off x="9890111" y="9569450"/>
            <a:ext cx="101600" cy="10160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44/45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2" name="Moda image moda-export-watermark-6c0a88cd-8af7-4fbb-842f-f3f64da124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Biological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12.1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9144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12.3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Mood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Disorders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 12.4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Anxiety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 12.6</a:t>
            </a:r>
            <a:r>
              <a:rPr lang="en-US" sz="21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PTSD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144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Moncrieff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Mol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2022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Jauhar,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Cowen, Browning,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Psychopharmacol,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2023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Harmer,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Duman,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Cowen,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Lancet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2017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Duman &amp;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Aghajanian,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44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20574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Price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Drevets,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Neuropsychopharmacology,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334500" y="25717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25717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25717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Phillips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Swartz,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2014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9334500" y="32766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32766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32766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Etkin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21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Wager,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2007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9334500" y="39719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39719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39719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Shin &amp;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Liberzon,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Neuropsychopharmacology,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2010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334500" y="46767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46767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46767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Gauthier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Nuss,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Neuropsychiatr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</a:t>
            </a:r>
            <a:r>
              <a:rPr lang="en-US" sz="19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Treat,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334500" y="537210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537210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5372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Shin,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Rauch,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Pitman,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NY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Acad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</a:t>
            </a:r>
            <a:endParaRPr lang="en-US" sz="2100" dirty="0"/>
          </a:p>
        </p:txBody>
      </p:sp>
      <p:sp>
        <p:nvSpPr>
          <p:cNvPr id="45" name="Shape 43"/>
          <p:cNvSpPr/>
          <p:nvPr/>
        </p:nvSpPr>
        <p:spPr>
          <a:xfrm>
            <a:off x="9334500" y="60769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60769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60769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Rauch,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Shin, Phelps, Biol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2006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9334500" y="677227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677227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677227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Kessler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sự,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Arch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Gen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Psychiatry,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2005</a:t>
            </a:r>
            <a:endParaRPr lang="en-US" sz="2100" dirty="0"/>
          </a:p>
        </p:txBody>
      </p:sp>
      <p:sp>
        <p:nvSpPr>
          <p:cNvPr id="51" name="Shape 49"/>
          <p:cNvSpPr/>
          <p:nvPr/>
        </p:nvSpPr>
        <p:spPr>
          <a:xfrm>
            <a:off x="9334500" y="7477125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2" name="Text 50"/>
          <p:cNvSpPr/>
          <p:nvPr/>
        </p:nvSpPr>
        <p:spPr>
          <a:xfrm>
            <a:off x="9563100" y="7477125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S17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0477500" y="7477125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WHO,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Depressive disorder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(depression)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9334500" y="8172450"/>
            <a:ext cx="8039100" cy="590550"/>
          </a:xfrm>
          <a:prstGeom prst="roundRect">
            <a:avLst>
              <a:gd name="adj" fmla="val 25806"/>
            </a:avLst>
          </a:prstGeom>
          <a:solidFill>
            <a:srgbClr val="1E212B"/>
          </a:solidFill>
          <a:ln/>
        </p:spPr>
      </p:sp>
      <p:sp>
        <p:nvSpPr>
          <p:cNvPr id="55" name="Text 53"/>
          <p:cNvSpPr/>
          <p:nvPr/>
        </p:nvSpPr>
        <p:spPr>
          <a:xfrm>
            <a:off x="9563100" y="8172450"/>
            <a:ext cx="8763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S18</a:t>
            </a:r>
            <a:endParaRPr lang="en-US" sz="1950" dirty="0"/>
          </a:p>
        </p:txBody>
      </p:sp>
      <p:sp>
        <p:nvSpPr>
          <p:cNvPr id="56" name="Text 54"/>
          <p:cNvSpPr/>
          <p:nvPr/>
        </p:nvSpPr>
        <p:spPr>
          <a:xfrm>
            <a:off x="10477500" y="8172450"/>
            <a:ext cx="6667500" cy="590550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NIMH,</a:t>
            </a:r>
            <a:r>
              <a:rPr lang="en-US" sz="21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Post-Traumatic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Stress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Disorder</a:t>
            </a:r>
            <a:endParaRPr lang="en-US" sz="2100" dirty="0"/>
          </a:p>
        </p:txBody>
      </p:sp>
      <p:sp>
        <p:nvSpPr>
          <p:cNvPr id="57" name="Shape 55"/>
          <p:cNvSpPr/>
          <p:nvPr/>
        </p:nvSpPr>
        <p:spPr>
          <a:xfrm>
            <a:off x="9493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15252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3557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589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76212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653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1685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37172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25749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27781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29813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318452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33877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35909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79412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39973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2005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403720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46069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8101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013319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52165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54197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622918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8261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0293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232517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4357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66389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68421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7045316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2485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74517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7654915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78581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0613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264514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84677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86709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8874113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90773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92805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483712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9686911" y="9569450"/>
            <a:ext cx="101600" cy="10160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9873178" y="9552517"/>
            <a:ext cx="135467" cy="135467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L12 ·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45/45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4" name="Moda image moda-export-watermark-93d233fc-170e-4942-b259-170a842ad6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2026-10-22T06:21:52Z</dcterms:created>
  <dcterms:modified xsi:type="dcterms:W3CDTF">2026-10-22T06:21:52Z</dcterms:modified>
</cp:coreProperties>
</file>