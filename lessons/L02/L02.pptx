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8288000" cy="10287000"/>
  <p:notesSz cx="10287000" cy="18288000"/>
  <p:embeddedFontLst>
    <p:embeddedFont>
      <p:font typeface="Be Vietnam Pro"/>
      <p:regular r:id="rId55"/>
      <p:bold r:id="rId52"/>
    </p:embeddedFont>
    <p:embeddedFont>
      <p:font typeface="Bricolage Grotesque ExtraBold"/>
      <p:regular r:id="rId53"/>
    </p:embeddedFont>
    <p:embeddedFont>
      <p:font typeface="Be Vietnam Pro SemiBold"/>
      <p:regular r:id="rId54"/>
    </p:embeddedFont>
    <p:embeddedFont>
      <p:font typeface="Be Vietnam Pro ExtraBold"/>
      <p:regular r:id="rId56"/>
    </p:embeddedFont>
    <p:embeddedFont>
      <p:font typeface="Be Vietnam Pro Medium"/>
      <p:regular r:id="rId5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Relationship Id="rId52" Type="http://schemas.openxmlformats.org/officeDocument/2006/relationships/font" Target="fonts/font1.fntdata"/><Relationship Id="rId53" Type="http://schemas.openxmlformats.org/officeDocument/2006/relationships/font" Target="fonts/font2.fntdata"/><Relationship Id="rId54" Type="http://schemas.openxmlformats.org/officeDocument/2006/relationships/font" Target="fonts/font3.fntdata"/><Relationship Id="rId55" Type="http://schemas.openxmlformats.org/officeDocument/2006/relationships/font" Target="fonts/font4.fntdata"/><Relationship Id="rId56" Type="http://schemas.openxmlformats.org/officeDocument/2006/relationships/font" Target="fonts/font5.fntdata"/><Relationship Id="rId57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39000" y="2857500"/>
            <a:ext cx="11049000" cy="4953000"/>
          </a:xfrm>
          <a:custGeom>
            <a:avLst/>
            <a:gdLst/>
            <a:ahLst/>
            <a:cxnLst/>
            <a:rect l="l" t="t" r="r" b="b"/>
            <a:pathLst>
              <a:path w="11049000" h="4953000">
                <a:moveTo>
                  <a:pt x="0" y="2476500"/>
                </a:moveTo>
                <a:lnTo>
                  <a:pt x="4000500" y="2476500"/>
                </a:lnTo>
                <a:lnTo>
                  <a:pt x="4667250" y="0"/>
                </a:lnTo>
                <a:lnTo>
                  <a:pt x="5619750" y="4953000"/>
                </a:lnTo>
                <a:lnTo>
                  <a:pt x="6572250" y="1143000"/>
                </a:lnTo>
                <a:lnTo>
                  <a:pt x="7239000" y="2476500"/>
                </a:lnTo>
                <a:lnTo>
                  <a:pt x="11049000" y="2476500"/>
                </a:lnTo>
              </a:path>
            </a:pathLst>
          </a:custGeom>
          <a:ln w="66675">
            <a:solidFill>
              <a:srgbClr val="3DD6A0">
                <a:alpha val="16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9144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spc="4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NÃO</a:t>
            </a:r>
            <a:r>
              <a:rPr lang="en-US" sz="2100" b="1" spc="44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100" b="1" spc="4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spc="44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b="1" spc="4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L02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14400" y="1619250"/>
            <a:ext cx="14287500" cy="38100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Nơron</a:t>
            </a:r>
            <a:r>
              <a:rPr lang="en-US" sz="81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synapse: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não</a:t>
            </a:r>
            <a:r>
              <a:rPr lang="en-US" sz="81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truyền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thế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endParaRPr lang="en-US" sz="8100" dirty="0"/>
          </a:p>
        </p:txBody>
      </p:sp>
      <p:sp>
        <p:nvSpPr>
          <p:cNvPr id="5" name="Text 3"/>
          <p:cNvSpPr/>
          <p:nvPr/>
        </p:nvSpPr>
        <p:spPr>
          <a:xfrm>
            <a:off x="914400" y="5619750"/>
            <a:ext cx="13335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30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Làm</a:t>
            </a:r>
            <a:r>
              <a:rPr lang="en-US" sz="3300" dirty="0" spc="-1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sao</a:t>
            </a:r>
            <a:r>
              <a:rPr lang="en-US" sz="3300" dirty="0" spc="-5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hàng</a:t>
            </a:r>
            <a:r>
              <a:rPr lang="en-US" sz="3300" dirty="0" spc="-1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chục</a:t>
            </a:r>
            <a:r>
              <a:rPr lang="en-US" sz="3300" dirty="0" spc="-9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tỷ</a:t>
            </a:r>
            <a:r>
              <a:rPr lang="en-US" sz="3300" dirty="0" spc="-14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tế</a:t>
            </a:r>
            <a:r>
              <a:rPr lang="en-US" sz="3300" dirty="0" spc="-1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bào</a:t>
            </a:r>
            <a:r>
              <a:rPr lang="en-US" sz="3300" dirty="0" spc="-2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thần</a:t>
            </a:r>
            <a:r>
              <a:rPr lang="en-US" sz="3300" dirty="0" spc="0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kinh</a:t>
            </a:r>
            <a:r>
              <a:rPr lang="en-US" sz="3300" dirty="0" spc="-3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nói</a:t>
            </a:r>
            <a:r>
              <a:rPr lang="en-US" sz="3300" dirty="0" spc="-16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chuyện</a:t>
            </a:r>
            <a:r>
              <a:rPr lang="en-US" sz="3300" dirty="0" spc="10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3300" dirty="0" spc="-13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với</a:t>
            </a:r>
            <a:r>
              <a:rPr lang="en-US" sz="3300" dirty="0" spc="0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nhau?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914400" y="7429500"/>
            <a:ext cx="3914775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38100">
            <a:solidFill>
              <a:srgbClr val="3DD6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1100" y="7429500"/>
            <a:ext cx="3381375" cy="16192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Sợi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trục: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xung</a:t>
            </a:r>
            <a:r>
              <a:rPr lang="en-US" sz="25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5095875" y="7429500"/>
            <a:ext cx="3914775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38100">
            <a:solidFill>
              <a:srgbClr val="FF6A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62575" y="7429500"/>
            <a:ext cx="3381375" cy="16192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Synapse: chất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 học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277350" y="7429500"/>
            <a:ext cx="3914775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38100">
            <a:solidFill>
              <a:srgbClr val="7C93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44050" y="7429500"/>
            <a:ext cx="3381375" cy="16192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Thụ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thể: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ổ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chìa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13458825" y="7429500"/>
            <a:ext cx="3914775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38100">
            <a:solidFill>
              <a:srgbClr val="FFB45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725525" y="7429500"/>
            <a:ext cx="3381375" cy="16192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Thuốc can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thiệp ở</a:t>
            </a:r>
            <a:r>
              <a:rPr lang="en-US" sz="25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synapse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5" name="Moda image moda-export-watermark-43fda0a4-d6e5-4cb3-b447-79e26c5b64b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kiểu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tín</a:t>
            </a:r>
            <a:r>
              <a:rPr lang="en-US" sz="57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hiệu</a:t>
            </a:r>
            <a:r>
              <a:rPr lang="en-US" sz="57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não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19400"/>
            <a:ext cx="95250" cy="55054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4" name="Text 2"/>
          <p:cNvSpPr/>
          <p:nvPr/>
        </p:nvSpPr>
        <p:spPr>
          <a:xfrm>
            <a:off x="1295400" y="2762250"/>
            <a:ext cx="10572750" cy="5619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Não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trưởng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 có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86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tỷ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19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nơron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,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nghiên</a:t>
            </a:r>
            <a:r>
              <a:rPr lang="en-US" sz="2850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r>
              <a:rPr lang="en-US" sz="28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đếm</a:t>
            </a: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trực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[S4]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Chúng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lạc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nhau.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Dọc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9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sợi</a:t>
            </a:r>
            <a:r>
              <a:rPr lang="en-US" sz="285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trục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,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xung</a:t>
            </a:r>
            <a:r>
              <a:rPr lang="en-US" sz="285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thần</a:t>
            </a:r>
            <a:r>
              <a:rPr lang="en-US" sz="285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kinh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(điện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động),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8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850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850" dirty="0" spc="-4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rất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nhanh.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nơron,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1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synapse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,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8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1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chất</a:t>
            </a:r>
            <a:r>
              <a:rPr lang="en-US" sz="2850" b="1" dirty="0" spc="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850" b="1" dirty="0" spc="-1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r>
              <a:rPr lang="en-US" sz="285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thần</a:t>
            </a:r>
            <a:r>
              <a:rPr lang="en-US" sz="285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kinh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[S1]</a:t>
            </a:r>
            <a:r>
              <a:rPr lang="en-US" sz="28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r>
              <a:rPr lang="en-US" sz="28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850" dirty="0" spc="4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8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xa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bào; hóa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bắc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bào,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nơi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 loại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thuốc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8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12325350" y="2762250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6" name="Shape 4"/>
          <p:cNvSpPr/>
          <p:nvPr/>
        </p:nvSpPr>
        <p:spPr>
          <a:xfrm>
            <a:off x="12325350" y="2762250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7" name="Text 5"/>
          <p:cNvSpPr/>
          <p:nvPr/>
        </p:nvSpPr>
        <p:spPr>
          <a:xfrm>
            <a:off x="12630150" y="3028950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4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Ở</a:t>
            </a:r>
            <a:r>
              <a:rPr lang="en-US" sz="1950" dirty="0" spc="5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đâu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630150" y="3486150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sợi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trục</a:t>
            </a:r>
            <a:r>
              <a:rPr lang="en-US" sz="240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4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synapse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2325350" y="47148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10" name="Shape 8"/>
          <p:cNvSpPr/>
          <p:nvPr/>
        </p:nvSpPr>
        <p:spPr>
          <a:xfrm>
            <a:off x="12325350" y="47148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1" name="Text 9"/>
          <p:cNvSpPr/>
          <p:nvPr/>
        </p:nvSpPr>
        <p:spPr>
          <a:xfrm>
            <a:off x="12630150" y="49815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Làm</a:t>
            </a:r>
            <a:r>
              <a:rPr lang="en-US" sz="1950" dirty="0" spc="-4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gì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630150" y="54387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điện</a:t>
            </a:r>
            <a:r>
              <a:rPr lang="en-US" sz="2400" dirty="0" spc="2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</a:t>
            </a:r>
            <a:r>
              <a:rPr lang="en-US" sz="240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xa,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hóa</a:t>
            </a:r>
            <a:r>
              <a:rPr lang="en-US" sz="24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chất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bắc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cầu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2325350" y="66579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14" name="Shape 12"/>
          <p:cNvSpPr/>
          <p:nvPr/>
        </p:nvSpPr>
        <p:spPr>
          <a:xfrm>
            <a:off x="12325350" y="66579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15" name="Text 13"/>
          <p:cNvSpPr/>
          <p:nvPr/>
        </p:nvSpPr>
        <p:spPr>
          <a:xfrm>
            <a:off x="12630150" y="69246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23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Đừng</a:t>
            </a:r>
            <a:r>
              <a:rPr lang="en-US" sz="1950" dirty="0" spc="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hiểu</a:t>
            </a:r>
            <a:r>
              <a:rPr lang="en-US" sz="1950" dirty="0" spc="-3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nhầm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630150" y="73818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xung</a:t>
            </a:r>
            <a:r>
              <a:rPr lang="en-US" sz="2400" dirty="0" spc="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điện</a:t>
            </a: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4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nhảy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thẳng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qua khe</a:t>
            </a:r>
            <a:r>
              <a:rPr lang="en-US" sz="24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synapse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[S4]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4932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35591" y="9552517"/>
            <a:ext cx="135467" cy="135467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0" name="Shape 18"/>
          <p:cNvSpPr/>
          <p:nvPr/>
        </p:nvSpPr>
        <p:spPr>
          <a:xfrm>
            <a:off x="135572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55892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76212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96532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16852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37172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5749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7781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9813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1845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38772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59092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79412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997320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200520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403720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606919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810119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013319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216518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419718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622918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5826117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029317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232517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64357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66389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8421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0453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724851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745171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65491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785811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06131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26451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846771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867091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87411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907731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928051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948371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968691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989011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3" name="Text 61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L02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02/45</a:t>
            </a:r>
            <a:endParaRPr lang="en-US" sz="1800" dirty="0"/>
          </a:p>
        </p:txBody>
      </p:sp>
      <p:sp>
        <p:nvSpPr>
          <p:cNvPr id="64" name="Shape 6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5" name="Moda image moda-export-watermark-26a2e1c8-3d63-443d-987c-600b500c163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Hành</a:t>
            </a:r>
            <a:r>
              <a:rPr lang="en-US" sz="57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57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tín</a:t>
            </a:r>
            <a:r>
              <a:rPr lang="en-US" sz="5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hiệu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3429000"/>
            <a:ext cx="2762250" cy="381000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00150" y="3714750"/>
            <a:ext cx="647700" cy="6477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5" name="Text 3"/>
          <p:cNvSpPr/>
          <p:nvPr/>
        </p:nvSpPr>
        <p:spPr>
          <a:xfrm>
            <a:off x="120015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219200" y="4572000"/>
            <a:ext cx="215265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Sợi</a:t>
            </a: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nhánh nhận tín hiệu</a:t>
            </a:r>
            <a:endParaRPr lang="en-US" sz="2700" dirty="0"/>
          </a:p>
        </p:txBody>
      </p:sp>
      <p:sp>
        <p:nvSpPr>
          <p:cNvPr id="7" name="Connector line-1792617458838-188213596"/>
          <p:cNvSpPr/>
          <p:nvPr/>
        </p:nvSpPr>
        <p:spPr>
          <a:xfrm>
            <a:off x="3752850" y="533400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4343400" y="3429000"/>
            <a:ext cx="2762250" cy="381000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29150" y="3714750"/>
            <a:ext cx="647700" cy="6477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0" name="Text 8"/>
          <p:cNvSpPr/>
          <p:nvPr/>
        </p:nvSpPr>
        <p:spPr>
          <a:xfrm>
            <a:off x="462915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4648200" y="4572000"/>
            <a:ext cx="215265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Thân</a:t>
            </a:r>
            <a:r>
              <a:rPr lang="en-US" sz="2700" dirty="0" spc="-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tế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bào</a:t>
            </a:r>
            <a:r>
              <a:rPr lang="en-US" sz="27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cộng</a:t>
            </a:r>
            <a:r>
              <a:rPr lang="en-US" sz="2700" dirty="0" spc="-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gộp</a:t>
            </a:r>
            <a:endParaRPr lang="en-US" sz="2700" dirty="0"/>
          </a:p>
        </p:txBody>
      </p:sp>
      <p:sp>
        <p:nvSpPr>
          <p:cNvPr id="12" name="Connector line-1792617458843-713677019"/>
          <p:cNvSpPr/>
          <p:nvPr/>
        </p:nvSpPr>
        <p:spPr>
          <a:xfrm>
            <a:off x="7172325" y="533400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762875" y="3429000"/>
            <a:ext cx="2762250" cy="381000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8625" y="3714750"/>
            <a:ext cx="647700" cy="6477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15" name="Text 13"/>
          <p:cNvSpPr/>
          <p:nvPr/>
        </p:nvSpPr>
        <p:spPr>
          <a:xfrm>
            <a:off x="8048625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8067675" y="4572000"/>
            <a:ext cx="215265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Sợi</a:t>
            </a: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trục dẫn</a:t>
            </a:r>
            <a:r>
              <a:rPr lang="en-US" sz="27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xung</a:t>
            </a:r>
            <a:endParaRPr lang="en-US" sz="2700" dirty="0"/>
          </a:p>
        </p:txBody>
      </p:sp>
      <p:sp>
        <p:nvSpPr>
          <p:cNvPr id="17" name="Connector line-1792617458847-672870359"/>
          <p:cNvSpPr/>
          <p:nvPr/>
        </p:nvSpPr>
        <p:spPr>
          <a:xfrm>
            <a:off x="10601325" y="533400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11191875" y="3429000"/>
            <a:ext cx="2762250" cy="381000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477625" y="3714750"/>
            <a:ext cx="647700" cy="6477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20" name="Text 18"/>
          <p:cNvSpPr/>
          <p:nvPr/>
        </p:nvSpPr>
        <p:spPr>
          <a:xfrm>
            <a:off x="11477625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4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11496675" y="4572000"/>
            <a:ext cx="215265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Synapse:</a:t>
            </a:r>
            <a:r>
              <a:rPr lang="en-US" sz="270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hóa</a:t>
            </a:r>
            <a:r>
              <a:rPr lang="en-US" sz="2700" dirty="0" spc="-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chất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bắc</a:t>
            </a: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cầu</a:t>
            </a:r>
            <a:endParaRPr lang="en-US" sz="2700" dirty="0"/>
          </a:p>
        </p:txBody>
      </p:sp>
      <p:sp>
        <p:nvSpPr>
          <p:cNvPr id="22" name="Connector line-1792617458852-888824338"/>
          <p:cNvSpPr/>
          <p:nvPr/>
        </p:nvSpPr>
        <p:spPr>
          <a:xfrm>
            <a:off x="14020800" y="533400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14611350" y="3429000"/>
            <a:ext cx="2762250" cy="381000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4897100" y="3714750"/>
            <a:ext cx="647700" cy="6477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25" name="Text 23"/>
          <p:cNvSpPr/>
          <p:nvPr/>
        </p:nvSpPr>
        <p:spPr>
          <a:xfrm>
            <a:off x="1489710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5</a:t>
            </a:r>
            <a:endParaRPr lang="en-US" sz="2550" dirty="0"/>
          </a:p>
        </p:txBody>
      </p:sp>
      <p:sp>
        <p:nvSpPr>
          <p:cNvPr id="26" name="Text 24"/>
          <p:cNvSpPr/>
          <p:nvPr/>
        </p:nvSpPr>
        <p:spPr>
          <a:xfrm>
            <a:off x="14916150" y="4572000"/>
            <a:ext cx="215265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1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Nơron</a:t>
            </a: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sau nhận</a:t>
            </a:r>
            <a:r>
              <a:rPr lang="en-US" sz="2700" dirty="0" spc="-2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7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cộng</a:t>
            </a:r>
            <a:r>
              <a:rPr lang="en-US" sz="27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lại</a:t>
            </a:r>
            <a:endParaRPr lang="en-US" sz="2700" dirty="0"/>
          </a:p>
        </p:txBody>
      </p:sp>
      <p:sp>
        <p:nvSpPr>
          <p:cNvPr id="27" name="Text 2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4932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15252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1338791" y="9552517"/>
            <a:ext cx="135467" cy="135467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1" name="Shape 29"/>
          <p:cNvSpPr/>
          <p:nvPr/>
        </p:nvSpPr>
        <p:spPr>
          <a:xfrm>
            <a:off x="155892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176212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196532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216852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237172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25749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27781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29813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31845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338772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359092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379412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3997320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4200520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4403720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4606919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4810119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5013319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5216518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5419718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5622918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5826117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6029317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6232517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64357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66389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68421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70453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724851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745171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765491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785811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806131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826451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846771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867091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887411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907731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928051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948371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968691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>
            <a:off x="989011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3" name="Text 71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L02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03/45</a:t>
            </a:r>
            <a:endParaRPr lang="en-US" sz="1800" dirty="0"/>
          </a:p>
        </p:txBody>
      </p:sp>
      <p:sp>
        <p:nvSpPr>
          <p:cNvPr id="74" name="Shape 7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75" name="Moda image moda-export-watermark-a73cff9a-aa5a-410c-a028-043614d4417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Cấu</a:t>
            </a:r>
            <a:r>
              <a:rPr lang="en-US" sz="57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tạo</a:t>
            </a:r>
            <a:r>
              <a:rPr lang="en-US" sz="5700" dirty="0" spc="-3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nơron</a:t>
            </a:r>
            <a:r>
              <a:rPr lang="en-US" sz="57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trên</a:t>
            </a:r>
            <a:r>
              <a:rPr lang="en-US" sz="57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 hình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247900"/>
            <a:ext cx="10096500" cy="609600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28575">
            <a:solidFill>
              <a:srgbClr val="DDD5C1"/>
            </a:solidFill>
            <a:prstDash val="solid"/>
          </a:ln>
        </p:spPr>
      </p:sp>
      <p:pic>
        <p:nvPicPr>
          <p:cNvPr id="4" name="Moda image rect-1792617460153-67128169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04900" y="2769870"/>
            <a:ext cx="9715500" cy="50520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8477250"/>
            <a:ext cx="16459200" cy="495300"/>
          </a:xfrm>
          <a:prstGeom prst="rect">
            <a:avLst/>
          </a:prstGeom>
          <a:noFill/>
          <a:ln/>
        </p:spPr>
        <p:txBody>
          <a:bodyPr wrap="square" lIns="0" tIns="14435" rIns="0" bIns="-14435" rtlCol="0" anchor="t"/>
          <a:lstStyle/>
          <a:p>
            <a:pPr algn="l" indent="0" marL="0">
              <a:lnSpc>
                <a:spcPts val="1815"/>
              </a:lnSpc>
              <a:buNone/>
            </a:pPr>
            <a:r>
              <a:rPr lang="en-US" sz="16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Hình: Noba,</a:t>
            </a:r>
            <a:r>
              <a:rPr lang="en-US" sz="16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giấy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6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CC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BY-NC-SA;</a:t>
            </a:r>
            <a:r>
              <a:rPr lang="en-US" sz="165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Hove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&amp; Martinez,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(chương 3)</a:t>
            </a:r>
            <a:endParaRPr lang="en-US" sz="1650" dirty="0"/>
          </a:p>
        </p:txBody>
      </p:sp>
      <p:sp>
        <p:nvSpPr>
          <p:cNvPr id="6" name="Shape 3"/>
          <p:cNvSpPr/>
          <p:nvPr/>
        </p:nvSpPr>
        <p:spPr>
          <a:xfrm>
            <a:off x="11391900" y="2247900"/>
            <a:ext cx="5981700" cy="1352550"/>
          </a:xfrm>
          <a:prstGeom prst="roundRect">
            <a:avLst>
              <a:gd name="adj" fmla="val 14085"/>
            </a:avLst>
          </a:prstGeom>
          <a:solidFill>
            <a:srgbClr val="E8E0CF"/>
          </a:solidFill>
          <a:ln/>
        </p:spPr>
      </p:sp>
      <p:sp>
        <p:nvSpPr>
          <p:cNvPr id="7" name="Shape 4"/>
          <p:cNvSpPr/>
          <p:nvPr/>
        </p:nvSpPr>
        <p:spPr>
          <a:xfrm>
            <a:off x="11391900" y="2247900"/>
            <a:ext cx="114300" cy="135255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8" name="Text 5"/>
          <p:cNvSpPr/>
          <p:nvPr/>
        </p:nvSpPr>
        <p:spPr>
          <a:xfrm>
            <a:off x="11734800" y="2343150"/>
            <a:ext cx="5448300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2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Dendrites</a:t>
            </a:r>
            <a:endParaRPr lang="en-US" sz="2250" dirty="0"/>
          </a:p>
        </p:txBody>
      </p:sp>
      <p:sp>
        <p:nvSpPr>
          <p:cNvPr id="9" name="Text 6"/>
          <p:cNvSpPr/>
          <p:nvPr/>
        </p:nvSpPr>
        <p:spPr>
          <a:xfrm>
            <a:off x="11734800" y="2790825"/>
            <a:ext cx="5448300" cy="762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sợi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nhánh</a:t>
            </a:r>
            <a:endParaRPr lang="en-US" sz="2550" dirty="0"/>
          </a:p>
        </p:txBody>
      </p:sp>
      <p:sp>
        <p:nvSpPr>
          <p:cNvPr id="10" name="Shape 7"/>
          <p:cNvSpPr/>
          <p:nvPr/>
        </p:nvSpPr>
        <p:spPr>
          <a:xfrm>
            <a:off x="11391900" y="3829050"/>
            <a:ext cx="5981700" cy="1352550"/>
          </a:xfrm>
          <a:prstGeom prst="roundRect">
            <a:avLst>
              <a:gd name="adj" fmla="val 14085"/>
            </a:avLst>
          </a:prstGeom>
          <a:solidFill>
            <a:srgbClr val="E8E0CF"/>
          </a:solidFill>
          <a:ln/>
        </p:spPr>
      </p:sp>
      <p:sp>
        <p:nvSpPr>
          <p:cNvPr id="11" name="Shape 8"/>
          <p:cNvSpPr/>
          <p:nvPr/>
        </p:nvSpPr>
        <p:spPr>
          <a:xfrm>
            <a:off x="11391900" y="3829050"/>
            <a:ext cx="114300" cy="13525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2" name="Text 9"/>
          <p:cNvSpPr/>
          <p:nvPr/>
        </p:nvSpPr>
        <p:spPr>
          <a:xfrm>
            <a:off x="11734800" y="3924300"/>
            <a:ext cx="5448300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6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Soma</a:t>
            </a:r>
            <a:endParaRPr lang="en-US" sz="2250" dirty="0"/>
          </a:p>
        </p:txBody>
      </p:sp>
      <p:sp>
        <p:nvSpPr>
          <p:cNvPr id="13" name="Text 10"/>
          <p:cNvSpPr/>
          <p:nvPr/>
        </p:nvSpPr>
        <p:spPr>
          <a:xfrm>
            <a:off x="11734800" y="4371975"/>
            <a:ext cx="5448300" cy="762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thân</a:t>
            </a:r>
            <a:r>
              <a:rPr lang="en-US" sz="255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tế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bào</a:t>
            </a:r>
            <a:endParaRPr lang="en-US" sz="2550" dirty="0"/>
          </a:p>
        </p:txBody>
      </p:sp>
      <p:sp>
        <p:nvSpPr>
          <p:cNvPr id="14" name="Shape 11"/>
          <p:cNvSpPr/>
          <p:nvPr/>
        </p:nvSpPr>
        <p:spPr>
          <a:xfrm>
            <a:off x="11391900" y="5410200"/>
            <a:ext cx="5981700" cy="1352550"/>
          </a:xfrm>
          <a:prstGeom prst="roundRect">
            <a:avLst>
              <a:gd name="adj" fmla="val 14085"/>
            </a:avLst>
          </a:prstGeom>
          <a:solidFill>
            <a:srgbClr val="E8E0CF"/>
          </a:solidFill>
          <a:ln/>
        </p:spPr>
      </p:sp>
      <p:sp>
        <p:nvSpPr>
          <p:cNvPr id="15" name="Shape 12"/>
          <p:cNvSpPr/>
          <p:nvPr/>
        </p:nvSpPr>
        <p:spPr>
          <a:xfrm>
            <a:off x="11391900" y="5410200"/>
            <a:ext cx="114300" cy="13525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6" name="Text 13"/>
          <p:cNvSpPr/>
          <p:nvPr/>
        </p:nvSpPr>
        <p:spPr>
          <a:xfrm>
            <a:off x="11734800" y="5505450"/>
            <a:ext cx="5448300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Axon</a:t>
            </a:r>
            <a:endParaRPr lang="en-US" sz="2250" dirty="0"/>
          </a:p>
        </p:txBody>
      </p:sp>
      <p:sp>
        <p:nvSpPr>
          <p:cNvPr id="17" name="Text 14"/>
          <p:cNvSpPr/>
          <p:nvPr/>
        </p:nvSpPr>
        <p:spPr>
          <a:xfrm>
            <a:off x="11734800" y="5953125"/>
            <a:ext cx="5448300" cy="762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sợi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trục</a:t>
            </a:r>
            <a:endParaRPr lang="en-US" sz="2550" dirty="0"/>
          </a:p>
        </p:txBody>
      </p:sp>
      <p:sp>
        <p:nvSpPr>
          <p:cNvPr id="18" name="Shape 15"/>
          <p:cNvSpPr/>
          <p:nvPr/>
        </p:nvSpPr>
        <p:spPr>
          <a:xfrm>
            <a:off x="11391900" y="6991350"/>
            <a:ext cx="5981700" cy="1352550"/>
          </a:xfrm>
          <a:prstGeom prst="roundRect">
            <a:avLst>
              <a:gd name="adj" fmla="val 14085"/>
            </a:avLst>
          </a:prstGeom>
          <a:solidFill>
            <a:srgbClr val="E8E0CF"/>
          </a:solidFill>
          <a:ln/>
        </p:spPr>
      </p:sp>
      <p:sp>
        <p:nvSpPr>
          <p:cNvPr id="19" name="Shape 16"/>
          <p:cNvSpPr/>
          <p:nvPr/>
        </p:nvSpPr>
        <p:spPr>
          <a:xfrm>
            <a:off x="11391900" y="6991350"/>
            <a:ext cx="114300" cy="13525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20" name="Text 17"/>
          <p:cNvSpPr/>
          <p:nvPr/>
        </p:nvSpPr>
        <p:spPr>
          <a:xfrm>
            <a:off x="11734800" y="7086600"/>
            <a:ext cx="5448300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3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Myelin</a:t>
            </a:r>
            <a:r>
              <a:rPr lang="en-US" sz="2250" dirty="0" spc="-5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sheath</a:t>
            </a:r>
            <a:endParaRPr lang="en-US" sz="2250" dirty="0"/>
          </a:p>
        </p:txBody>
      </p:sp>
      <p:sp>
        <p:nvSpPr>
          <p:cNvPr id="21" name="Text 18"/>
          <p:cNvSpPr/>
          <p:nvPr/>
        </p:nvSpPr>
        <p:spPr>
          <a:xfrm>
            <a:off x="11734800" y="7534275"/>
            <a:ext cx="5448300" cy="762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bao</a:t>
            </a:r>
            <a:r>
              <a:rPr lang="en-US" sz="2550" dirty="0" spc="-2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myelin</a:t>
            </a:r>
            <a:endParaRPr lang="en-US" sz="2550" dirty="0"/>
          </a:p>
        </p:txBody>
      </p:sp>
      <p:sp>
        <p:nvSpPr>
          <p:cNvPr id="22" name="Text 19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94932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1"/>
          <p:cNvSpPr/>
          <p:nvPr/>
        </p:nvSpPr>
        <p:spPr>
          <a:xfrm>
            <a:off x="115252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2"/>
          <p:cNvSpPr/>
          <p:nvPr/>
        </p:nvSpPr>
        <p:spPr>
          <a:xfrm>
            <a:off x="135572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1541991" y="9552517"/>
            <a:ext cx="135467" cy="135467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7" name="Shape 24"/>
          <p:cNvSpPr/>
          <p:nvPr/>
        </p:nvSpPr>
        <p:spPr>
          <a:xfrm>
            <a:off x="176212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5"/>
          <p:cNvSpPr/>
          <p:nvPr/>
        </p:nvSpPr>
        <p:spPr>
          <a:xfrm>
            <a:off x="196532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216852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7"/>
          <p:cNvSpPr/>
          <p:nvPr/>
        </p:nvSpPr>
        <p:spPr>
          <a:xfrm>
            <a:off x="237172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8"/>
          <p:cNvSpPr/>
          <p:nvPr/>
        </p:nvSpPr>
        <p:spPr>
          <a:xfrm>
            <a:off x="25749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27781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0"/>
          <p:cNvSpPr/>
          <p:nvPr/>
        </p:nvSpPr>
        <p:spPr>
          <a:xfrm>
            <a:off x="29813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1"/>
          <p:cNvSpPr/>
          <p:nvPr/>
        </p:nvSpPr>
        <p:spPr>
          <a:xfrm>
            <a:off x="31845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338772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3"/>
          <p:cNvSpPr/>
          <p:nvPr/>
        </p:nvSpPr>
        <p:spPr>
          <a:xfrm>
            <a:off x="359092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4"/>
          <p:cNvSpPr/>
          <p:nvPr/>
        </p:nvSpPr>
        <p:spPr>
          <a:xfrm>
            <a:off x="379412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5"/>
          <p:cNvSpPr/>
          <p:nvPr/>
        </p:nvSpPr>
        <p:spPr>
          <a:xfrm>
            <a:off x="3997320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6"/>
          <p:cNvSpPr/>
          <p:nvPr/>
        </p:nvSpPr>
        <p:spPr>
          <a:xfrm>
            <a:off x="4200520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7"/>
          <p:cNvSpPr/>
          <p:nvPr/>
        </p:nvSpPr>
        <p:spPr>
          <a:xfrm>
            <a:off x="4403720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8"/>
          <p:cNvSpPr/>
          <p:nvPr/>
        </p:nvSpPr>
        <p:spPr>
          <a:xfrm>
            <a:off x="4606919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39"/>
          <p:cNvSpPr/>
          <p:nvPr/>
        </p:nvSpPr>
        <p:spPr>
          <a:xfrm>
            <a:off x="4810119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0"/>
          <p:cNvSpPr/>
          <p:nvPr/>
        </p:nvSpPr>
        <p:spPr>
          <a:xfrm>
            <a:off x="5013319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1"/>
          <p:cNvSpPr/>
          <p:nvPr/>
        </p:nvSpPr>
        <p:spPr>
          <a:xfrm>
            <a:off x="5216518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2"/>
          <p:cNvSpPr/>
          <p:nvPr/>
        </p:nvSpPr>
        <p:spPr>
          <a:xfrm>
            <a:off x="5419718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3"/>
          <p:cNvSpPr/>
          <p:nvPr/>
        </p:nvSpPr>
        <p:spPr>
          <a:xfrm>
            <a:off x="5622918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4"/>
          <p:cNvSpPr/>
          <p:nvPr/>
        </p:nvSpPr>
        <p:spPr>
          <a:xfrm>
            <a:off x="5826117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5"/>
          <p:cNvSpPr/>
          <p:nvPr/>
        </p:nvSpPr>
        <p:spPr>
          <a:xfrm>
            <a:off x="6029317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6"/>
          <p:cNvSpPr/>
          <p:nvPr/>
        </p:nvSpPr>
        <p:spPr>
          <a:xfrm>
            <a:off x="6232517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7"/>
          <p:cNvSpPr/>
          <p:nvPr/>
        </p:nvSpPr>
        <p:spPr>
          <a:xfrm>
            <a:off x="64357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8"/>
          <p:cNvSpPr/>
          <p:nvPr/>
        </p:nvSpPr>
        <p:spPr>
          <a:xfrm>
            <a:off x="66389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49"/>
          <p:cNvSpPr/>
          <p:nvPr/>
        </p:nvSpPr>
        <p:spPr>
          <a:xfrm>
            <a:off x="68421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0"/>
          <p:cNvSpPr/>
          <p:nvPr/>
        </p:nvSpPr>
        <p:spPr>
          <a:xfrm>
            <a:off x="70453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1"/>
          <p:cNvSpPr/>
          <p:nvPr/>
        </p:nvSpPr>
        <p:spPr>
          <a:xfrm>
            <a:off x="724851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2"/>
          <p:cNvSpPr/>
          <p:nvPr/>
        </p:nvSpPr>
        <p:spPr>
          <a:xfrm>
            <a:off x="745171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3"/>
          <p:cNvSpPr/>
          <p:nvPr/>
        </p:nvSpPr>
        <p:spPr>
          <a:xfrm>
            <a:off x="765491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4"/>
          <p:cNvSpPr/>
          <p:nvPr/>
        </p:nvSpPr>
        <p:spPr>
          <a:xfrm>
            <a:off x="785811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5"/>
          <p:cNvSpPr/>
          <p:nvPr/>
        </p:nvSpPr>
        <p:spPr>
          <a:xfrm>
            <a:off x="806131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6"/>
          <p:cNvSpPr/>
          <p:nvPr/>
        </p:nvSpPr>
        <p:spPr>
          <a:xfrm>
            <a:off x="826451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Shape 57"/>
          <p:cNvSpPr/>
          <p:nvPr/>
        </p:nvSpPr>
        <p:spPr>
          <a:xfrm>
            <a:off x="846771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1" name="Shape 58"/>
          <p:cNvSpPr/>
          <p:nvPr/>
        </p:nvSpPr>
        <p:spPr>
          <a:xfrm>
            <a:off x="867091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2" name="Shape 59"/>
          <p:cNvSpPr/>
          <p:nvPr/>
        </p:nvSpPr>
        <p:spPr>
          <a:xfrm>
            <a:off x="887411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3" name="Shape 60"/>
          <p:cNvSpPr/>
          <p:nvPr/>
        </p:nvSpPr>
        <p:spPr>
          <a:xfrm>
            <a:off x="907731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4" name="Shape 61"/>
          <p:cNvSpPr/>
          <p:nvPr/>
        </p:nvSpPr>
        <p:spPr>
          <a:xfrm>
            <a:off x="928051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5" name="Shape 62"/>
          <p:cNvSpPr/>
          <p:nvPr/>
        </p:nvSpPr>
        <p:spPr>
          <a:xfrm>
            <a:off x="948371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6" name="Shape 63"/>
          <p:cNvSpPr/>
          <p:nvPr/>
        </p:nvSpPr>
        <p:spPr>
          <a:xfrm>
            <a:off x="968691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7" name="Shape 64"/>
          <p:cNvSpPr/>
          <p:nvPr/>
        </p:nvSpPr>
        <p:spPr>
          <a:xfrm>
            <a:off x="989011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8" name="Text 65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L02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04/45</a:t>
            </a:r>
            <a:endParaRPr lang="en-US" sz="1800" dirty="0"/>
          </a:p>
        </p:txBody>
      </p:sp>
      <p:sp>
        <p:nvSpPr>
          <p:cNvPr id="69" name="Shape 6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70" name="Moda image moda-export-watermark-88340c95-c65f-4900-ac33-9fe8737eb355" descr="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3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Sợi</a:t>
            </a:r>
            <a:r>
              <a:rPr lang="en-US" sz="5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nhánh,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thân</a:t>
            </a:r>
            <a:r>
              <a:rPr lang="en-US" sz="5700" dirty="0" spc="-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tế</a:t>
            </a:r>
            <a:r>
              <a:rPr lang="en-US" sz="570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bào,</a:t>
            </a:r>
            <a:r>
              <a:rPr lang="en-US" sz="5700" dirty="0" spc="-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sợi</a:t>
            </a:r>
            <a:r>
              <a:rPr lang="en-US" sz="57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trục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19400"/>
            <a:ext cx="95250" cy="55054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4" name="Text 2"/>
          <p:cNvSpPr/>
          <p:nvPr/>
        </p:nvSpPr>
        <p:spPr>
          <a:xfrm>
            <a:off x="1295400" y="2762250"/>
            <a:ext cx="10572750" cy="5619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8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nơron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chính</a:t>
            </a:r>
            <a:r>
              <a:rPr lang="en-US" sz="28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1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Sợi</a:t>
            </a:r>
            <a:r>
              <a:rPr lang="en-US" sz="2850" b="1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(dendrite)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8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 từ hàng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nghìn</a:t>
            </a:r>
            <a:r>
              <a:rPr lang="en-US" sz="28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nơron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khác,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8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8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chính.</a:t>
            </a:r>
            <a:r>
              <a:rPr lang="en-US" sz="28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Thân</a:t>
            </a:r>
            <a:r>
              <a:rPr lang="en-US" sz="2850" b="1" dirty="0" spc="-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r>
              <a:rPr lang="en-US" sz="2850" b="1" dirty="0" spc="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bào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(soma)</a:t>
            </a:r>
            <a:r>
              <a:rPr lang="en-US" sz="28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chứa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nhân,</a:t>
            </a:r>
            <a:r>
              <a:rPr lang="en-US" sz="2850" dirty="0" spc="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khiển việc</a:t>
            </a:r>
            <a:r>
              <a:rPr lang="en-US" sz="28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tổng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850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protein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cung cấp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nơron.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1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Sợi</a:t>
            </a:r>
            <a:r>
              <a:rPr lang="en-US" sz="285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trục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(axon)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8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850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chính,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mang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thần kinh</a:t>
            </a:r>
            <a:r>
              <a:rPr lang="en-US" sz="2850" dirty="0" spc="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đi,</a:t>
            </a:r>
            <a:r>
              <a:rPr lang="en-US" sz="28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8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bọc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</a:t>
            </a:r>
            <a:r>
              <a:rPr lang="en-US" sz="2850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myelin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850" dirty="0" spc="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r>
              <a:rPr lang="en-US" sz="28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r>
              <a:rPr lang="en-US" sz="28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8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8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sợi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trục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</a:t>
            </a:r>
            <a:r>
              <a:rPr lang="en-US" sz="28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tận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cùng,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</a:t>
            </a:r>
            <a:r>
              <a:rPr lang="en-US" sz="28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synapse với</a:t>
            </a:r>
            <a:r>
              <a:rPr lang="en-US" sz="28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nơron</a:t>
            </a:r>
            <a:r>
              <a:rPr lang="en-US" sz="2850" dirty="0" spc="-4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r>
              <a:rPr lang="en-US" sz="28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12325350" y="2762250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6" name="Shape 4"/>
          <p:cNvSpPr/>
          <p:nvPr/>
        </p:nvSpPr>
        <p:spPr>
          <a:xfrm>
            <a:off x="12325350" y="2762250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7" name="Text 5"/>
          <p:cNvSpPr/>
          <p:nvPr/>
        </p:nvSpPr>
        <p:spPr>
          <a:xfrm>
            <a:off x="12630150" y="3028950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4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Ở</a:t>
            </a:r>
            <a:r>
              <a:rPr lang="en-US" sz="1950" dirty="0" spc="5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đâu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630150" y="3486150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sợi</a:t>
            </a:r>
            <a:r>
              <a:rPr lang="en-US" sz="24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nhánh</a:t>
            </a:r>
            <a:r>
              <a:rPr lang="en-US" sz="24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nhận, sợi trục</a:t>
            </a:r>
            <a:r>
              <a:rPr lang="en-US" sz="2400" dirty="0" spc="4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gửi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2325350" y="47148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12325350" y="47148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1" name="Text 9"/>
          <p:cNvSpPr/>
          <p:nvPr/>
        </p:nvSpPr>
        <p:spPr>
          <a:xfrm>
            <a:off x="12630150" y="49815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1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Làm</a:t>
            </a:r>
            <a:r>
              <a:rPr lang="en-US" sz="1950" dirty="0" spc="-4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gì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630150" y="54387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nhận,</a:t>
            </a:r>
            <a:r>
              <a:rPr lang="en-US" sz="24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gom,</a:t>
            </a:r>
            <a:r>
              <a:rPr lang="en-US" sz="2400" dirty="0" spc="4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gửi</a:t>
            </a:r>
            <a:r>
              <a:rPr lang="en-US" sz="240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tín</a:t>
            </a:r>
            <a:r>
              <a:rPr lang="en-US" sz="24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hiệu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2325350" y="66579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14" name="Shape 12"/>
          <p:cNvSpPr/>
          <p:nvPr/>
        </p:nvSpPr>
        <p:spPr>
          <a:xfrm>
            <a:off x="12325350" y="66579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5" name="Text 13"/>
          <p:cNvSpPr/>
          <p:nvPr/>
        </p:nvSpPr>
        <p:spPr>
          <a:xfrm>
            <a:off x="12630150" y="69246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2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Đừng</a:t>
            </a:r>
            <a:r>
              <a:rPr lang="en-US" sz="1950" dirty="0" spc="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hiểu</a:t>
            </a:r>
            <a:r>
              <a:rPr lang="en-US" sz="1950" dirty="0" spc="-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nhầm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630150" y="73818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nơron</a:t>
            </a:r>
            <a:r>
              <a:rPr lang="en-US" sz="24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4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2400" dirty="0" spc="-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dây</a:t>
            </a:r>
            <a:r>
              <a:rPr lang="en-US" sz="2400" dirty="0" spc="-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chuyền</a:t>
            </a: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thẳng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4932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5252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35572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55892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745190" y="9552517"/>
            <a:ext cx="135467" cy="135467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3" name="Shape 21"/>
          <p:cNvSpPr/>
          <p:nvPr/>
        </p:nvSpPr>
        <p:spPr>
          <a:xfrm>
            <a:off x="196532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16852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37172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5749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7781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9813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1845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38772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59092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79412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997320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200520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403720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606919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810119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013319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216518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419718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622918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5826117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029317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232517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64357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66389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8421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0453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724851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745171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65491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785811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06131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26451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846771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867091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87411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907731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928051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948371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968691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989011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Text 61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L02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05/45</a:t>
            </a:r>
            <a:endParaRPr lang="en-US" sz="1800" dirty="0"/>
          </a:p>
        </p:txBody>
      </p:sp>
      <p:sp>
        <p:nvSpPr>
          <p:cNvPr id="64" name="Shape 6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5" name="Moda image moda-export-watermark-4f295892-06ad-4cda-83d3-2c48f2d9039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kiểu</a:t>
            </a:r>
            <a:r>
              <a:rPr lang="en-US" sz="5700" dirty="0" spc="-3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nơron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57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dạng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76225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276225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76225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3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Đơn</a:t>
            </a:r>
            <a:r>
              <a:rPr lang="en-US" sz="3000" dirty="0" spc="21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cực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581900" y="276225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sợi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trục,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sợi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22910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422910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422910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Lưỡng</a:t>
            </a:r>
            <a:r>
              <a:rPr lang="en-US" sz="3000" dirty="0" spc="2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cực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581900" y="422910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sợi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trục,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sợi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nhánh;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võng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mạc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14400" y="569595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569595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569595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Đa</a:t>
            </a:r>
            <a:r>
              <a:rPr lang="en-US" sz="3000" dirty="0" spc="2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cực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7581900" y="569595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sợi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trục,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sợi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nhánh;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phổ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914400" y="716280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716280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716280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21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Nơron</a:t>
            </a:r>
            <a:r>
              <a:rPr lang="en-US" sz="3000" dirty="0" spc="-1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hình</a:t>
            </a:r>
            <a:r>
              <a:rPr lang="en-US" sz="3000" dirty="0" spc="-3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tháp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581900" y="716280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nổi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bật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nhóm</a:t>
            </a:r>
            <a:r>
              <a:rPr lang="en-US" sz="27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7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cực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4932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15252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35572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55892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76212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948390" y="9552517"/>
            <a:ext cx="135467" cy="135467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6" name="Shape 24"/>
          <p:cNvSpPr/>
          <p:nvPr/>
        </p:nvSpPr>
        <p:spPr>
          <a:xfrm>
            <a:off x="216852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37172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5749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7781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9813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1845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38772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59092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79412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997320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200520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403720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606919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810119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013319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216518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5419718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5622918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826117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6029317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6232517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4357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66389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68421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70453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24851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745171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765491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785811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806131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826451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46771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867091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887411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907731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928051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948371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968691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989011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5" name="Text 63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L02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06/45</a:t>
            </a:r>
            <a:endParaRPr lang="en-US" sz="1800" dirty="0"/>
          </a:p>
        </p:txBody>
      </p:sp>
      <p:sp>
        <p:nvSpPr>
          <p:cNvPr id="66" name="Shape 6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7" name="Moda image moda-export-watermark-923c75ed-6d78-48be-b5ee-13a87623ddf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4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Nơron</a:t>
            </a:r>
            <a:r>
              <a:rPr lang="en-US" sz="5700" dirty="0" spc="-6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r>
              <a:rPr lang="en-US" sz="5700" dirty="0" spc="-6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-3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nơron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sau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1C4236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3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Nơron</a:t>
            </a:r>
            <a:r>
              <a:rPr lang="en-US" sz="4200" dirty="0" spc="-4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37160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3150" dirty="0" spc="4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gửi,</a:t>
            </a:r>
            <a:r>
              <a:rPr lang="en-US" sz="31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31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phóng</a:t>
            </a:r>
            <a:r>
              <a:rPr lang="en-US" sz="31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31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r>
              <a:rPr lang="en-US" sz="31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</a:t>
            </a:r>
            <a:r>
              <a:rPr lang="en-US" sz="31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tận</a:t>
            </a:r>
            <a:r>
              <a:rPr lang="en-US" sz="31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931545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4A2A24"/>
          </a:solidFill>
          <a:ln/>
        </p:spPr>
      </p:sp>
      <p:sp>
        <p:nvSpPr>
          <p:cNvPr id="8" name="Shape 6"/>
          <p:cNvSpPr/>
          <p:nvPr/>
        </p:nvSpPr>
        <p:spPr>
          <a:xfrm>
            <a:off x="931545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9" name="Text 7"/>
          <p:cNvSpPr/>
          <p:nvPr/>
        </p:nvSpPr>
        <p:spPr>
          <a:xfrm>
            <a:off x="977265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3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Nơron</a:t>
            </a:r>
            <a:r>
              <a:rPr lang="en-US" sz="420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sau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977265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nhận,</a:t>
            </a:r>
            <a:r>
              <a:rPr lang="en-US" sz="31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thụ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315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31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gai</a:t>
            </a:r>
            <a:r>
              <a:rPr lang="en-US" sz="31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sợi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914400" y="74295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1295400" y="7429500"/>
            <a:ext cx="15697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1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Một</a:t>
            </a:r>
            <a:r>
              <a:rPr lang="en-US" sz="2850" dirty="0" spc="-1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nơron</a:t>
            </a:r>
            <a:r>
              <a:rPr lang="en-US" sz="28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8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thể</a:t>
            </a:r>
            <a:r>
              <a:rPr lang="en-US" sz="28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đóng</a:t>
            </a:r>
            <a:r>
              <a:rPr lang="en-US" sz="28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cả</a:t>
            </a:r>
            <a:r>
              <a:rPr lang="en-US" sz="28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hai</a:t>
            </a:r>
            <a:r>
              <a:rPr lang="en-US" sz="2850" dirty="0" spc="-1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vai</a:t>
            </a:r>
            <a:r>
              <a:rPr lang="en-US" sz="28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28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hai</a:t>
            </a:r>
            <a:r>
              <a:rPr lang="en-US" sz="2850" dirty="0" spc="-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synapse</a:t>
            </a:r>
            <a:r>
              <a:rPr lang="en-US" sz="28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khác</a:t>
            </a:r>
            <a:r>
              <a:rPr lang="en-US" sz="28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nhau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4932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5252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35572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55892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76212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96532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151590" y="9552517"/>
            <a:ext cx="135467" cy="135467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1" name="Shape 19"/>
          <p:cNvSpPr/>
          <p:nvPr/>
        </p:nvSpPr>
        <p:spPr>
          <a:xfrm>
            <a:off x="237172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5749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7781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9813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1845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38772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59092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79412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997320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200520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403720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606919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810119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013319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216518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419718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622918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826117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029317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6232517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4357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6389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8421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70453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724851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745171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65491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85811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06131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826451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46771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67091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87411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907731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928051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948371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968691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989011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Text 57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L02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07/45</a:t>
            </a:r>
            <a:endParaRPr lang="en-US" sz="1800" dirty="0"/>
          </a:p>
        </p:txBody>
      </p:sp>
      <p:sp>
        <p:nvSpPr>
          <p:cNvPr id="60" name="Shape 5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1" name="Moda image moda-export-watermark-b531cf2c-e871-4191-8067-70b554564c7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Glia:</a:t>
            </a:r>
            <a:r>
              <a:rPr lang="en-US" sz="57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tế</a:t>
            </a:r>
            <a:r>
              <a:rPr lang="en-US" sz="57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bào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hỗ</a:t>
            </a:r>
            <a:r>
              <a:rPr lang="en-US" sz="5700" dirty="0" spc="-6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trợ,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phát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xung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19400"/>
            <a:ext cx="95250" cy="55054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4" name="Text 2"/>
          <p:cNvSpPr/>
          <p:nvPr/>
        </p:nvSpPr>
        <p:spPr>
          <a:xfrm>
            <a:off x="1295400" y="2762250"/>
            <a:ext cx="10572750" cy="5619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Não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1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tế</a:t>
            </a:r>
            <a:r>
              <a:rPr lang="en-US" sz="2850" b="1" dirty="0" spc="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bào</a:t>
            </a:r>
            <a:r>
              <a:rPr lang="en-US" sz="285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thần</a:t>
            </a:r>
            <a:r>
              <a:rPr lang="en-US" sz="285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kinh</a:t>
            </a:r>
            <a:r>
              <a:rPr lang="en-US" sz="2850" b="1" dirty="0" spc="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(glia),</a:t>
            </a:r>
            <a:r>
              <a:rPr lang="en-US" sz="28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những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bào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8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nơron</a:t>
            </a:r>
            <a:r>
              <a:rPr lang="en-US" sz="28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hỗ</a:t>
            </a:r>
            <a:r>
              <a:rPr lang="en-US" sz="285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trợ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8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yếu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nơron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Giáo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 nhóm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việc: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</a:t>
            </a:r>
            <a:r>
              <a:rPr lang="en-US" sz="28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myelin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sợi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trục,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mảnh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vỡ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nơron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chết,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dinh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dưỡng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mạch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máu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nơron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 giúp</a:t>
            </a:r>
            <a:r>
              <a:rPr lang="en-US" sz="2850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hòa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 phần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ion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ngoại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bào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môn</a:t>
            </a:r>
            <a:r>
              <a:rPr lang="en-US" sz="28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đó,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glia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dẫn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850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8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bào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8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bào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8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nơron</a:t>
            </a: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12325350" y="2762250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6" name="Shape 4"/>
          <p:cNvSpPr/>
          <p:nvPr/>
        </p:nvSpPr>
        <p:spPr>
          <a:xfrm>
            <a:off x="12325350" y="2762250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7" name="Text 5"/>
          <p:cNvSpPr/>
          <p:nvPr/>
        </p:nvSpPr>
        <p:spPr>
          <a:xfrm>
            <a:off x="12630150" y="3028950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4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Ở</a:t>
            </a:r>
            <a:r>
              <a:rPr lang="en-US" sz="1950" dirty="0" spc="5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đâu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630150" y="3486150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cả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hệ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thần kinh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trung</a:t>
            </a:r>
            <a:r>
              <a:rPr lang="en-US" sz="240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ương</a:t>
            </a:r>
            <a:r>
              <a:rPr lang="en-US" sz="2400" dirty="0" spc="-2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4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ngoại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biên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2325350" y="47148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10" name="Shape 8"/>
          <p:cNvSpPr/>
          <p:nvPr/>
        </p:nvSpPr>
        <p:spPr>
          <a:xfrm>
            <a:off x="12325350" y="47148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1" name="Text 9"/>
          <p:cNvSpPr/>
          <p:nvPr/>
        </p:nvSpPr>
        <p:spPr>
          <a:xfrm>
            <a:off x="12630150" y="49815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Làm</a:t>
            </a:r>
            <a:r>
              <a:rPr lang="en-US" sz="1950" dirty="0" spc="-4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gì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630150" y="54387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cách</a:t>
            </a:r>
            <a:r>
              <a:rPr lang="en-US" sz="240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điện,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dọn</a:t>
            </a: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dẹp,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nuôi</a:t>
            </a:r>
            <a:r>
              <a:rPr lang="en-US" sz="240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dưỡng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2325350" y="66579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14" name="Shape 12"/>
          <p:cNvSpPr/>
          <p:nvPr/>
        </p:nvSpPr>
        <p:spPr>
          <a:xfrm>
            <a:off x="12325350" y="66579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15" name="Text 13"/>
          <p:cNvSpPr/>
          <p:nvPr/>
        </p:nvSpPr>
        <p:spPr>
          <a:xfrm>
            <a:off x="12630150" y="69246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18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Mức</a:t>
            </a:r>
            <a:r>
              <a:rPr lang="en-US" sz="1950" dirty="0" spc="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chắc</a:t>
            </a:r>
            <a:r>
              <a:rPr lang="en-US" sz="1950" dirty="0" spc="-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chắn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630150" y="73818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mô</a:t>
            </a:r>
            <a:r>
              <a:rPr lang="en-US" sz="24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tả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nhập</a:t>
            </a: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môn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 giáo</a:t>
            </a:r>
            <a:r>
              <a:rPr lang="en-US" sz="240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trình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4932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5252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35572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55892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76212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96532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16852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354789" y="9552517"/>
            <a:ext cx="135467" cy="135467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6" name="Shape 24"/>
          <p:cNvSpPr/>
          <p:nvPr/>
        </p:nvSpPr>
        <p:spPr>
          <a:xfrm>
            <a:off x="25749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7781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9813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1845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38772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59092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79412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997320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200520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403720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606919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810119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013319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216518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419718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622918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5826117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029317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232517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64357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66389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8421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0453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724851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745171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65491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785811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06131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26451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846771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867091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87411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907731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928051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948371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968691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989011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3" name="Text 61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L02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08/45</a:t>
            </a:r>
            <a:endParaRPr lang="en-US" sz="1800" dirty="0"/>
          </a:p>
        </p:txBody>
      </p:sp>
      <p:sp>
        <p:nvSpPr>
          <p:cNvPr id="64" name="Shape 6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5" name="Moda image moda-export-watermark-a40e9c40-6ee1-4c95-b968-e0789d4aaba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86</a:t>
            </a: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tỷ</a:t>
            </a:r>
            <a:r>
              <a:rPr lang="en-US" sz="5700" dirty="0" spc="-3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nơron</a:t>
            </a:r>
            <a:endParaRPr lang="en-US" sz="5700" dirty="0"/>
          </a:p>
        </p:txBody>
      </p:sp>
      <p:sp>
        <p:nvSpPr>
          <p:cNvPr id="3" name="Text 1"/>
          <p:cNvSpPr/>
          <p:nvPr/>
        </p:nvSpPr>
        <p:spPr>
          <a:xfrm>
            <a:off x="914400" y="2476500"/>
            <a:ext cx="16459200" cy="3429000"/>
          </a:xfrm>
          <a:prstGeom prst="rect">
            <a:avLst/>
          </a:prstGeom>
          <a:noFill/>
          <a:ln/>
        </p:spPr>
        <p:txBody>
          <a:bodyPr wrap="square" lIns="0" tIns="228600" rIns="0" bIns="-228600" rtlCol="0" anchor="ctr"/>
          <a:lstStyle/>
          <a:p>
            <a:pPr algn="l" indent="0" marL="0">
              <a:lnSpc>
                <a:spcPts val="22500"/>
              </a:lnSpc>
              <a:buNone/>
            </a:pPr>
            <a:r>
              <a:rPr lang="en-US" sz="22500" dirty="0" spc="-3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86</a:t>
            </a:r>
            <a:r>
              <a:rPr lang="en-US" sz="22500" dirty="0" spc="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tỷ</a:t>
            </a:r>
            <a:endParaRPr lang="en-US" sz="22500" dirty="0"/>
          </a:p>
        </p:txBody>
      </p:sp>
      <p:sp>
        <p:nvSpPr>
          <p:cNvPr id="4" name="Text 2"/>
          <p:cNvSpPr/>
          <p:nvPr/>
        </p:nvSpPr>
        <p:spPr>
          <a:xfrm>
            <a:off x="914400" y="6096000"/>
            <a:ext cx="16459200" cy="790575"/>
          </a:xfrm>
          <a:prstGeom prst="rect">
            <a:avLst/>
          </a:prstGeom>
          <a:noFill/>
          <a:ln/>
        </p:spPr>
        <p:txBody>
          <a:bodyPr wrap="square" lIns="0" tIns="15852" rIns="0" bIns="-15852" rtlCol="0" anchor="t"/>
          <a:lstStyle/>
          <a:p>
            <a:pPr algn="l" indent="0" marL="0">
              <a:lnSpc>
                <a:spcPts val="3278"/>
              </a:lnSpc>
              <a:buNone/>
            </a:pPr>
            <a:r>
              <a:rPr lang="en-US" sz="2850" dirty="0" spc="-3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Trung</a:t>
            </a:r>
            <a:r>
              <a:rPr lang="en-US" sz="28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bình</a:t>
            </a:r>
            <a:r>
              <a:rPr lang="en-US" sz="28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 não</a:t>
            </a:r>
            <a:r>
              <a:rPr lang="en-US" sz="28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nam</a:t>
            </a:r>
            <a:r>
              <a:rPr lang="en-US" sz="285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giới</a:t>
            </a:r>
            <a:r>
              <a:rPr lang="en-US" sz="2850" dirty="0" spc="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trưởng</a:t>
            </a:r>
            <a:r>
              <a:rPr lang="en-US" sz="28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thành,</a:t>
            </a:r>
            <a:r>
              <a:rPr lang="en-US" sz="285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</a:t>
            </a:r>
            <a:r>
              <a:rPr lang="en-US" sz="285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8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nghiên</a:t>
            </a:r>
            <a:r>
              <a:rPr lang="en-US" sz="2850" dirty="0" spc="3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cứu</a:t>
            </a:r>
            <a:r>
              <a:rPr lang="en-US" sz="2850" dirty="0" spc="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đếm</a:t>
            </a:r>
            <a:r>
              <a:rPr lang="en-US" sz="2850" dirty="0" spc="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trực</a:t>
            </a:r>
            <a:r>
              <a:rPr lang="en-US" sz="28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tiếp</a:t>
            </a:r>
            <a:r>
              <a:rPr lang="en-US" sz="285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[S4]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914400" y="6981825"/>
            <a:ext cx="16459200" cy="790575"/>
          </a:xfrm>
          <a:prstGeom prst="rect">
            <a:avLst/>
          </a:prstGeom>
          <a:noFill/>
          <a:ln/>
        </p:spPr>
        <p:txBody>
          <a:bodyPr wrap="square" lIns="0" tIns="15852" rIns="0" bIns="-15852" rtlCol="0" anchor="t"/>
          <a:lstStyle/>
          <a:p>
            <a:pPr algn="l" indent="0" marL="0">
              <a:lnSpc>
                <a:spcPts val="3278"/>
              </a:lnSpc>
              <a:buNone/>
            </a:pPr>
            <a:r>
              <a:rPr lang="en-US" sz="28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Cùng</a:t>
            </a:r>
            <a:r>
              <a:rPr lang="en-US" sz="28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nghiên</a:t>
            </a:r>
            <a:r>
              <a:rPr lang="en-US" sz="2850" dirty="0" spc="3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cứu:</a:t>
            </a:r>
            <a:r>
              <a:rPr lang="en-US" sz="28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khoảng</a:t>
            </a:r>
            <a:r>
              <a:rPr lang="en-US" sz="28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84,6</a:t>
            </a:r>
            <a:r>
              <a:rPr lang="en-US" sz="28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tỷ</a:t>
            </a:r>
            <a:r>
              <a:rPr lang="en-US" sz="285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tế</a:t>
            </a:r>
            <a:r>
              <a:rPr lang="en-US" sz="28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bào</a:t>
            </a:r>
            <a:r>
              <a:rPr lang="en-US" sz="285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8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2850" dirty="0" spc="-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nơron,</a:t>
            </a:r>
            <a:r>
              <a:rPr lang="en-US" sz="285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gần</a:t>
            </a:r>
            <a:r>
              <a:rPr lang="en-US" sz="285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ngang</a:t>
            </a:r>
            <a:r>
              <a:rPr lang="en-US" sz="2850" dirty="0" spc="-1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nơron</a:t>
            </a:r>
            <a:r>
              <a:rPr lang="en-US" sz="285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[S4]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7877175"/>
            <a:ext cx="16459200" cy="790575"/>
          </a:xfrm>
          <a:prstGeom prst="rect">
            <a:avLst/>
          </a:prstGeom>
          <a:noFill/>
          <a:ln/>
        </p:spPr>
        <p:txBody>
          <a:bodyPr wrap="square" lIns="0" tIns="15048" rIns="0" bIns="-15048" rtlCol="0" anchor="t"/>
          <a:lstStyle/>
          <a:p>
            <a:pPr algn="l" indent="0" marL="0">
              <a:lnSpc>
                <a:spcPts val="3105"/>
              </a:lnSpc>
              <a:buNone/>
            </a:pPr>
            <a:r>
              <a:rPr lang="en-US" sz="2700" dirty="0" spc="-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Neuroscience</a:t>
            </a: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Online nêu</a:t>
            </a:r>
            <a:r>
              <a:rPr lang="en-US" sz="27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số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khác</a:t>
            </a:r>
            <a:r>
              <a:rPr lang="en-US" sz="27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</a:t>
            </a:r>
            <a:r>
              <a:rPr lang="en-US" sz="27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cả</a:t>
            </a:r>
            <a:r>
              <a:rPr lang="en-US" sz="27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hệ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thần</a:t>
            </a: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kinh:</a:t>
            </a:r>
            <a:r>
              <a:rPr lang="en-US" sz="27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khoảng</a:t>
            </a: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360</a:t>
            </a:r>
            <a:r>
              <a:rPr lang="en-US" sz="27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tỷ</a:t>
            </a:r>
            <a:r>
              <a:rPr lang="en-US" sz="2700" dirty="0" spc="-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tế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bào</a:t>
            </a:r>
            <a:r>
              <a:rPr lang="en-US" sz="27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đệm,</a:t>
            </a:r>
            <a:r>
              <a:rPr lang="en-US" sz="27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90</a:t>
            </a:r>
            <a:r>
              <a:rPr lang="en-US" sz="27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tỷ</a:t>
            </a:r>
            <a:r>
              <a:rPr lang="en-US" sz="2700" dirty="0" spc="-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nơron</a:t>
            </a: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[S3];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khác</a:t>
            </a:r>
            <a:r>
              <a:rPr lang="en-US" sz="27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phạm</a:t>
            </a: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 nên</a:t>
            </a:r>
            <a:r>
              <a:rPr lang="en-US" sz="27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7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so</a:t>
            </a:r>
            <a:r>
              <a:rPr lang="en-US" sz="2700" dirty="0" spc="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trực</a:t>
            </a:r>
            <a:r>
              <a:rPr lang="en-US" sz="27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tiếp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[S4]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4932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252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35572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55892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76212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96532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216852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237172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2557989" y="9552517"/>
            <a:ext cx="135467" cy="135467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7" name="Shape 15"/>
          <p:cNvSpPr/>
          <p:nvPr/>
        </p:nvSpPr>
        <p:spPr>
          <a:xfrm>
            <a:off x="27781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29813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1845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338772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359092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379412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3997320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4200520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4403720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4606919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4810119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5013319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5216518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5419718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5622918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5826117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6029317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6232517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64357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66389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68421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70453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724851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745171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765491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785811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806131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826451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846771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867091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887411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907731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928051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948371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968691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989011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Text 51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L02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09/45</a:t>
            </a:r>
            <a:endParaRPr lang="en-US" sz="1800" dirty="0"/>
          </a:p>
        </p:txBody>
      </p:sp>
      <p:sp>
        <p:nvSpPr>
          <p:cNvPr id="54" name="Shape 5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5" name="Moda image moda-export-watermark-fd911649-52c1-45b8-9213-0c362bf24a6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57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loại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glia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giáo</a:t>
            </a:r>
            <a:r>
              <a:rPr lang="en-US" sz="57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72415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E8E0CF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72415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93370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96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Tế</a:t>
            </a:r>
            <a:r>
              <a:rPr lang="en-US" sz="1800" dirty="0" spc="3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bào</a:t>
            </a:r>
            <a:r>
              <a:rPr lang="en-US" sz="1800" dirty="0" spc="-2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ít</a:t>
            </a:r>
            <a:r>
              <a:rPr lang="en-US" sz="1800" dirty="0" spc="0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nhánh</a:t>
            </a:r>
            <a:r>
              <a:rPr lang="en-US" sz="1800" dirty="0" spc="-5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(oligodendroglia)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344805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79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Tạo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bao</a:t>
            </a:r>
            <a:r>
              <a:rPr lang="en-US" sz="2550" dirty="0" spc="-2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myelin</a:t>
            </a:r>
            <a:r>
              <a:rPr lang="en-US" sz="2550" dirty="0" spc="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ở</a:t>
            </a:r>
            <a:r>
              <a:rPr lang="en-US" sz="2550" dirty="0" spc="-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hệ thần</a:t>
            </a:r>
            <a:r>
              <a:rPr lang="en-US" sz="25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kinh trung</a:t>
            </a:r>
            <a:r>
              <a:rPr lang="en-US" sz="2550" dirty="0" spc="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ương;</a:t>
            </a:r>
            <a:r>
              <a:rPr lang="en-US" sz="2550" dirty="0" spc="-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một</a:t>
            </a:r>
            <a:r>
              <a:rPr lang="en-US" sz="2550" dirty="0" spc="-16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tế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bào quấn quanh nhiều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sợi</a:t>
            </a:r>
            <a:r>
              <a:rPr lang="en-US" sz="2550" dirty="0" spc="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trục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4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[S1]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486525" y="272415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E8E0CF"/>
          </a:solidFill>
          <a:ln/>
        </p:spPr>
      </p:sp>
      <p:sp>
        <p:nvSpPr>
          <p:cNvPr id="8" name="Shape 6"/>
          <p:cNvSpPr/>
          <p:nvPr/>
        </p:nvSpPr>
        <p:spPr>
          <a:xfrm>
            <a:off x="6486525" y="272415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9" name="Text 7"/>
          <p:cNvSpPr/>
          <p:nvPr/>
        </p:nvSpPr>
        <p:spPr>
          <a:xfrm>
            <a:off x="6867525" y="293370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108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Tế</a:t>
            </a:r>
            <a:r>
              <a:rPr lang="en-US" sz="2100" dirty="0" spc="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bào</a:t>
            </a:r>
            <a:r>
              <a:rPr lang="en-US" sz="2100" dirty="0" spc="-13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Schwann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867525" y="344805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79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Tạo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bao</a:t>
            </a:r>
            <a:r>
              <a:rPr lang="en-US" sz="2550" dirty="0" spc="-2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myelin</a:t>
            </a:r>
            <a:r>
              <a:rPr lang="en-US" sz="2550" dirty="0" spc="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ở</a:t>
            </a:r>
            <a:r>
              <a:rPr lang="en-US" sz="2550" dirty="0" spc="-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hệ thần</a:t>
            </a:r>
            <a:r>
              <a:rPr lang="en-US" sz="25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kinh</a:t>
            </a:r>
            <a:r>
              <a:rPr lang="en-US" sz="2550" dirty="0" spc="-1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ngoại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biên;</a:t>
            </a:r>
            <a:r>
              <a:rPr lang="en-US" sz="2550" dirty="0" spc="-6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một</a:t>
            </a:r>
            <a:r>
              <a:rPr lang="en-US" sz="2550" dirty="0" spc="-1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tế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bào</a:t>
            </a:r>
            <a:r>
              <a:rPr lang="en-US" sz="25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quấn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quanh</a:t>
            </a:r>
            <a:r>
              <a:rPr lang="en-US" sz="2550" dirty="0" spc="-6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một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sợi</a:t>
            </a:r>
            <a:r>
              <a:rPr lang="en-US" sz="2550" dirty="0" spc="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trục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4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[S1]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12068175" y="272415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E8E0CF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68175" y="272415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13" name="Text 11"/>
          <p:cNvSpPr/>
          <p:nvPr/>
        </p:nvSpPr>
        <p:spPr>
          <a:xfrm>
            <a:off x="12449175" y="293370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5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Vi</a:t>
            </a:r>
            <a:r>
              <a:rPr lang="en-US" sz="2100" dirty="0" spc="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bào</a:t>
            </a:r>
            <a:r>
              <a:rPr lang="en-US" sz="2100" dirty="0" spc="-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đệm</a:t>
            </a:r>
            <a:r>
              <a:rPr lang="en-US" sz="2100" dirty="0" spc="-2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</a:t>
            </a:r>
            <a:r>
              <a:rPr lang="en-US" sz="2100" dirty="0" spc="-3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tế</a:t>
            </a:r>
            <a:r>
              <a:rPr lang="en-US" sz="2100" dirty="0" spc="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bào</a:t>
            </a:r>
            <a:r>
              <a:rPr lang="en-US" sz="2100" dirty="0" spc="-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hình</a:t>
            </a:r>
            <a:r>
              <a:rPr lang="en-US" sz="2100" dirty="0" spc="4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sao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2449175" y="344805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Dọn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mảnh</a:t>
            </a:r>
            <a:r>
              <a:rPr lang="en-US" sz="2550" dirty="0" spc="-2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vỡ</a:t>
            </a:r>
            <a:r>
              <a:rPr lang="en-US" sz="2550" dirty="0" spc="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của</a:t>
            </a:r>
            <a:r>
              <a:rPr lang="en-US" sz="2550" dirty="0" spc="-18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nơron</a:t>
            </a:r>
            <a:r>
              <a:rPr lang="en-US" sz="2550" dirty="0" spc="-7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chết,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mang dinh</a:t>
            </a:r>
            <a:r>
              <a:rPr lang="en-US" sz="2550" dirty="0" spc="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dưỡng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từ</a:t>
            </a:r>
            <a:r>
              <a:rPr lang="en-US" sz="25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mạch máu,</a:t>
            </a:r>
            <a:r>
              <a:rPr lang="en-US" sz="2550" dirty="0" spc="19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điều</a:t>
            </a:r>
            <a:r>
              <a:rPr lang="en-US" sz="2550" dirty="0" spc="-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hòa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ion</a:t>
            </a:r>
            <a:r>
              <a:rPr lang="en-US" sz="25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dịch</a:t>
            </a:r>
            <a:r>
              <a:rPr lang="en-US" sz="2550" dirty="0" spc="-1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ngoại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bào</a:t>
            </a:r>
            <a:r>
              <a:rPr lang="en-US" sz="25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4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[S1]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914400" y="582930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E8E0CF"/>
          </a:solidFill>
          <a:ln/>
        </p:spPr>
      </p:sp>
      <p:sp>
        <p:nvSpPr>
          <p:cNvPr id="16" name="Shape 14"/>
          <p:cNvSpPr/>
          <p:nvPr/>
        </p:nvSpPr>
        <p:spPr>
          <a:xfrm>
            <a:off x="914400" y="582930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603885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Số</a:t>
            </a:r>
            <a:r>
              <a:rPr lang="en-US" sz="2100" dirty="0" spc="5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lượng</a:t>
            </a:r>
            <a:r>
              <a:rPr lang="en-US" sz="2100" dirty="0" spc="-2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(khác</a:t>
            </a:r>
            <a:r>
              <a:rPr lang="en-US" sz="2100" dirty="0" spc="-8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phạm</a:t>
            </a:r>
            <a:r>
              <a:rPr lang="en-US" sz="2100" dirty="0" spc="0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vi)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295400" y="655320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Não:</a:t>
            </a:r>
            <a:r>
              <a:rPr lang="en-US" sz="2550" dirty="0" spc="-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khoảng</a:t>
            </a:r>
            <a:r>
              <a:rPr lang="en-US" sz="25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84,6</a:t>
            </a:r>
            <a:r>
              <a:rPr lang="en-US" sz="2550" dirty="0" spc="-8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tỷ</a:t>
            </a:r>
            <a:r>
              <a:rPr lang="en-US" sz="2550" dirty="0" spc="-1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tế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bào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không phải</a:t>
            </a:r>
            <a:r>
              <a:rPr lang="en-US" sz="2550" dirty="0" spc="-18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nơron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2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[S4]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;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cả</a:t>
            </a:r>
            <a:r>
              <a:rPr lang="en-US" sz="2550" dirty="0" spc="-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hệ thần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kinh:</a:t>
            </a:r>
            <a:r>
              <a:rPr lang="en-US" sz="2550" dirty="0" spc="1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ước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tính</a:t>
            </a:r>
            <a:r>
              <a:rPr lang="en-US" sz="25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360</a:t>
            </a:r>
            <a:r>
              <a:rPr lang="en-US" sz="2550" dirty="0" spc="-8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tỷ</a:t>
            </a:r>
            <a:r>
              <a:rPr lang="en-US" sz="2550" dirty="0" spc="-1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tế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bào</a:t>
            </a:r>
            <a:r>
              <a:rPr lang="en-US" sz="2550" dirty="0" spc="1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đệm</a:t>
            </a:r>
            <a:r>
              <a:rPr lang="en-US" sz="25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3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[S3]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6486525" y="582930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E8E0CF"/>
          </a:solidFill>
          <a:ln/>
        </p:spPr>
      </p:sp>
      <p:sp>
        <p:nvSpPr>
          <p:cNvPr id="20" name="Shape 18"/>
          <p:cNvSpPr/>
          <p:nvPr/>
        </p:nvSpPr>
        <p:spPr>
          <a:xfrm>
            <a:off x="6486525" y="582930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21" name="Text 19"/>
          <p:cNvSpPr/>
          <p:nvPr/>
        </p:nvSpPr>
        <p:spPr>
          <a:xfrm>
            <a:off x="6867525" y="603885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22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Đừng</a:t>
            </a:r>
            <a:r>
              <a:rPr lang="en-US" sz="2100" dirty="0" spc="0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hiểu</a:t>
            </a:r>
            <a:r>
              <a:rPr lang="en-US" sz="2100" dirty="0" spc="-4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nhầm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6867525" y="655320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Hai</a:t>
            </a:r>
            <a:r>
              <a:rPr lang="en-US" sz="2400" dirty="0" spc="-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con</a:t>
            </a:r>
            <a:r>
              <a:rPr lang="en-US" sz="2400" dirty="0" spc="-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số</a:t>
            </a:r>
            <a:r>
              <a:rPr lang="en-US" sz="2400" dirty="0" spc="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khác</a:t>
            </a:r>
            <a:r>
              <a:rPr lang="en-US" sz="240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phạm vi</a:t>
            </a:r>
            <a:r>
              <a:rPr lang="en-US" sz="2400" dirty="0" spc="-18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và</a:t>
            </a:r>
            <a:r>
              <a:rPr lang="en-US" sz="240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cách</a:t>
            </a:r>
            <a:r>
              <a:rPr lang="en-US" sz="2400" dirty="0" spc="-9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gọi,</a:t>
            </a:r>
            <a:r>
              <a:rPr lang="en-US" sz="240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không</a:t>
            </a:r>
            <a:r>
              <a:rPr lang="en-US" sz="240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so</a:t>
            </a:r>
            <a:r>
              <a:rPr lang="en-US" sz="2400" dirty="0" spc="6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trực</a:t>
            </a:r>
            <a:r>
              <a:rPr lang="en-US" sz="240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tiếp</a:t>
            </a:r>
            <a:r>
              <a:rPr lang="en-US" sz="2400" dirty="0" spc="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được;</a:t>
            </a:r>
            <a:r>
              <a:rPr lang="en-US" sz="2400" dirty="0" spc="2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đừng</a:t>
            </a:r>
            <a:r>
              <a:rPr lang="en-US" sz="240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nhắc</a:t>
            </a:r>
            <a:r>
              <a:rPr lang="en-US" sz="2400" dirty="0" spc="-1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một</a:t>
            </a:r>
            <a:r>
              <a:rPr lang="en-US" sz="2400" dirty="0" spc="-7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tỷ</a:t>
            </a:r>
            <a:r>
              <a:rPr lang="en-US" sz="240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lệ</a:t>
            </a:r>
            <a:r>
              <a:rPr lang="en-US" sz="240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như</a:t>
            </a:r>
            <a:r>
              <a:rPr lang="en-US" sz="2400" dirty="0" spc="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sự</a:t>
            </a:r>
            <a:r>
              <a:rPr lang="en-US" sz="2400" dirty="0" spc="-9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thật</a:t>
            </a:r>
            <a:r>
              <a:rPr lang="en-US" sz="2400" dirty="0" spc="16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đã</a:t>
            </a:r>
            <a:r>
              <a:rPr lang="en-US" sz="2400" dirty="0" spc="-7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chốt</a:t>
            </a:r>
            <a:r>
              <a:rPr lang="en-US" sz="2400" dirty="0" spc="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000"/>
              </a:lnSpc>
              <a:buNone/>
            </a:pPr>
            <a:r>
              <a:rPr lang="en-US" sz="2400" dirty="0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[S3] [S4]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[S4]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94932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15252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35572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155892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176212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96532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16852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237172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25749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2761189" y="9552517"/>
            <a:ext cx="135467" cy="135467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4" name="Shape 32"/>
          <p:cNvSpPr/>
          <p:nvPr/>
        </p:nvSpPr>
        <p:spPr>
          <a:xfrm>
            <a:off x="29813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1845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38772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359092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379412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3997320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4200520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4403720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4606919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4810119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013319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5216518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419718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5622918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5826117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6029317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6232517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64357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66389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68421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70453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24851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745171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765491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785811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806131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826451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846771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867091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887411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907731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928051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948371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968691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989011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9" name="Text 67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L02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10/45</a:t>
            </a:r>
            <a:endParaRPr lang="en-US" sz="1800" dirty="0"/>
          </a:p>
        </p:txBody>
      </p:sp>
      <p:sp>
        <p:nvSpPr>
          <p:cNvPr id="70" name="Shape 6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71" name="Moda image moda-export-watermark-62f3f6fe-5e17-4f68-995e-6fa066eedb3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Ion</a:t>
            </a:r>
            <a:r>
              <a:rPr lang="en-US" sz="57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5700" dirty="0" spc="-6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-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ngoài</a:t>
            </a:r>
            <a:r>
              <a:rPr lang="en-US" sz="5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màng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247900"/>
            <a:ext cx="10096500" cy="609600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28575">
            <a:solidFill>
              <a:srgbClr val="2C3040"/>
            </a:solidFill>
            <a:prstDash val="solid"/>
          </a:ln>
        </p:spPr>
      </p:sp>
      <p:pic>
        <p:nvPicPr>
          <p:cNvPr id="4" name="Moda image rect-1792617546637-82137443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987403" y="2438400"/>
            <a:ext cx="3950494" cy="5715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8477250"/>
            <a:ext cx="16459200" cy="495300"/>
          </a:xfrm>
          <a:prstGeom prst="rect">
            <a:avLst/>
          </a:prstGeom>
          <a:noFill/>
          <a:ln/>
        </p:spPr>
        <p:txBody>
          <a:bodyPr wrap="square" lIns="0" tIns="14435" rIns="0" bIns="-14435" rtlCol="0" anchor="t"/>
          <a:lstStyle/>
          <a:p>
            <a:pPr algn="l" indent="0" marL="0">
              <a:lnSpc>
                <a:spcPts val="1815"/>
              </a:lnSpc>
              <a:buNone/>
            </a:pP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Hình: Noba,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giấy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CC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BY-NC-SA;</a:t>
            </a:r>
            <a:r>
              <a:rPr lang="en-US" sz="16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Hove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&amp; Martinez,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6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(chương 3)</a:t>
            </a:r>
            <a:endParaRPr lang="en-US" sz="1650" dirty="0"/>
          </a:p>
        </p:txBody>
      </p:sp>
      <p:sp>
        <p:nvSpPr>
          <p:cNvPr id="6" name="Shape 3"/>
          <p:cNvSpPr/>
          <p:nvPr/>
        </p:nvSpPr>
        <p:spPr>
          <a:xfrm>
            <a:off x="11391900" y="2247900"/>
            <a:ext cx="5981700" cy="14287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7" name="Shape 4"/>
          <p:cNvSpPr/>
          <p:nvPr/>
        </p:nvSpPr>
        <p:spPr>
          <a:xfrm>
            <a:off x="11391900" y="2247900"/>
            <a:ext cx="114300" cy="14287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8" name="Text 5"/>
          <p:cNvSpPr/>
          <p:nvPr/>
        </p:nvSpPr>
        <p:spPr>
          <a:xfrm>
            <a:off x="11734800" y="2343150"/>
            <a:ext cx="54483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Extracellular</a:t>
            </a:r>
            <a:endParaRPr lang="en-US" sz="2250" dirty="0"/>
          </a:p>
        </p:txBody>
      </p:sp>
      <p:sp>
        <p:nvSpPr>
          <p:cNvPr id="9" name="Text 6"/>
          <p:cNvSpPr/>
          <p:nvPr/>
        </p:nvSpPr>
        <p:spPr>
          <a:xfrm>
            <a:off x="11734800" y="2819400"/>
            <a:ext cx="5448300" cy="8001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dịch</a:t>
            </a:r>
            <a:r>
              <a:rPr lang="en-US" sz="255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ngoại</a:t>
            </a:r>
            <a:r>
              <a:rPr lang="en-US" sz="25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bào</a:t>
            </a:r>
            <a:endParaRPr lang="en-US" sz="2550" dirty="0"/>
          </a:p>
        </p:txBody>
      </p:sp>
      <p:sp>
        <p:nvSpPr>
          <p:cNvPr id="10" name="Shape 7"/>
          <p:cNvSpPr/>
          <p:nvPr/>
        </p:nvSpPr>
        <p:spPr>
          <a:xfrm>
            <a:off x="11391900" y="3905250"/>
            <a:ext cx="5981700" cy="14287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11" name="Shape 8"/>
          <p:cNvSpPr/>
          <p:nvPr/>
        </p:nvSpPr>
        <p:spPr>
          <a:xfrm>
            <a:off x="11391900" y="3905250"/>
            <a:ext cx="114300" cy="14287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2" name="Text 9"/>
          <p:cNvSpPr/>
          <p:nvPr/>
        </p:nvSpPr>
        <p:spPr>
          <a:xfrm>
            <a:off x="11734800" y="4000500"/>
            <a:ext cx="54483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Intracellular</a:t>
            </a:r>
            <a:endParaRPr lang="en-US" sz="2250" dirty="0"/>
          </a:p>
        </p:txBody>
      </p:sp>
      <p:sp>
        <p:nvSpPr>
          <p:cNvPr id="13" name="Text 10"/>
          <p:cNvSpPr/>
          <p:nvPr/>
        </p:nvSpPr>
        <p:spPr>
          <a:xfrm>
            <a:off x="11734800" y="4476750"/>
            <a:ext cx="5448300" cy="8001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dịch</a:t>
            </a:r>
            <a:r>
              <a:rPr lang="en-US" sz="25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nội</a:t>
            </a:r>
            <a:r>
              <a:rPr lang="en-US" sz="25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bào</a:t>
            </a:r>
            <a:endParaRPr lang="en-US" sz="2550" dirty="0"/>
          </a:p>
        </p:txBody>
      </p:sp>
      <p:sp>
        <p:nvSpPr>
          <p:cNvPr id="14" name="Shape 11"/>
          <p:cNvSpPr/>
          <p:nvPr/>
        </p:nvSpPr>
        <p:spPr>
          <a:xfrm>
            <a:off x="11391900" y="5562600"/>
            <a:ext cx="5981700" cy="14287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15" name="Shape 12"/>
          <p:cNvSpPr/>
          <p:nvPr/>
        </p:nvSpPr>
        <p:spPr>
          <a:xfrm>
            <a:off x="11391900" y="5562600"/>
            <a:ext cx="114300" cy="14287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6" name="Text 13"/>
          <p:cNvSpPr/>
          <p:nvPr/>
        </p:nvSpPr>
        <p:spPr>
          <a:xfrm>
            <a:off x="11734800" y="5657850"/>
            <a:ext cx="54483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Na+,</a:t>
            </a:r>
            <a:r>
              <a:rPr lang="en-US" sz="2250" dirty="0" spc="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K+,</a:t>
            </a:r>
            <a:r>
              <a:rPr lang="en-US" sz="2250" dirty="0" spc="-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Cl−,</a:t>
            </a:r>
            <a:r>
              <a:rPr lang="en-US" sz="2250" dirty="0" spc="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A−</a:t>
            </a:r>
            <a:endParaRPr lang="en-US" sz="2250" dirty="0"/>
          </a:p>
        </p:txBody>
      </p:sp>
      <p:sp>
        <p:nvSpPr>
          <p:cNvPr id="17" name="Text 14"/>
          <p:cNvSpPr/>
          <p:nvPr/>
        </p:nvSpPr>
        <p:spPr>
          <a:xfrm>
            <a:off x="11734800" y="6134100"/>
            <a:ext cx="5448300" cy="8001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bốn</a:t>
            </a:r>
            <a:r>
              <a:rPr lang="en-US" sz="25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nhóm</a:t>
            </a:r>
            <a:r>
              <a:rPr lang="en-US" sz="25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ion</a:t>
            </a:r>
            <a:endParaRPr lang="en-US" sz="2550" dirty="0"/>
          </a:p>
        </p:txBody>
      </p:sp>
      <p:sp>
        <p:nvSpPr>
          <p:cNvPr id="18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94932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7"/>
          <p:cNvSpPr/>
          <p:nvPr/>
        </p:nvSpPr>
        <p:spPr>
          <a:xfrm>
            <a:off x="115252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8"/>
          <p:cNvSpPr/>
          <p:nvPr/>
        </p:nvSpPr>
        <p:spPr>
          <a:xfrm>
            <a:off x="135572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155892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176212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1"/>
          <p:cNvSpPr/>
          <p:nvPr/>
        </p:nvSpPr>
        <p:spPr>
          <a:xfrm>
            <a:off x="196532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2"/>
          <p:cNvSpPr/>
          <p:nvPr/>
        </p:nvSpPr>
        <p:spPr>
          <a:xfrm>
            <a:off x="216852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237172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4"/>
          <p:cNvSpPr/>
          <p:nvPr/>
        </p:nvSpPr>
        <p:spPr>
          <a:xfrm>
            <a:off x="25749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5"/>
          <p:cNvSpPr/>
          <p:nvPr/>
        </p:nvSpPr>
        <p:spPr>
          <a:xfrm>
            <a:off x="27781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2964389" y="9552517"/>
            <a:ext cx="135467" cy="135467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0" name="Shape 27"/>
          <p:cNvSpPr/>
          <p:nvPr/>
        </p:nvSpPr>
        <p:spPr>
          <a:xfrm>
            <a:off x="31845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8"/>
          <p:cNvSpPr/>
          <p:nvPr/>
        </p:nvSpPr>
        <p:spPr>
          <a:xfrm>
            <a:off x="338772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359092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0"/>
          <p:cNvSpPr/>
          <p:nvPr/>
        </p:nvSpPr>
        <p:spPr>
          <a:xfrm>
            <a:off x="379412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1"/>
          <p:cNvSpPr/>
          <p:nvPr/>
        </p:nvSpPr>
        <p:spPr>
          <a:xfrm>
            <a:off x="3997320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4200520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3"/>
          <p:cNvSpPr/>
          <p:nvPr/>
        </p:nvSpPr>
        <p:spPr>
          <a:xfrm>
            <a:off x="4403720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4"/>
          <p:cNvSpPr/>
          <p:nvPr/>
        </p:nvSpPr>
        <p:spPr>
          <a:xfrm>
            <a:off x="4606919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5"/>
          <p:cNvSpPr/>
          <p:nvPr/>
        </p:nvSpPr>
        <p:spPr>
          <a:xfrm>
            <a:off x="4810119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6"/>
          <p:cNvSpPr/>
          <p:nvPr/>
        </p:nvSpPr>
        <p:spPr>
          <a:xfrm>
            <a:off x="5013319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7"/>
          <p:cNvSpPr/>
          <p:nvPr/>
        </p:nvSpPr>
        <p:spPr>
          <a:xfrm>
            <a:off x="5216518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8"/>
          <p:cNvSpPr/>
          <p:nvPr/>
        </p:nvSpPr>
        <p:spPr>
          <a:xfrm>
            <a:off x="5419718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39"/>
          <p:cNvSpPr/>
          <p:nvPr/>
        </p:nvSpPr>
        <p:spPr>
          <a:xfrm>
            <a:off x="5622918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0"/>
          <p:cNvSpPr/>
          <p:nvPr/>
        </p:nvSpPr>
        <p:spPr>
          <a:xfrm>
            <a:off x="5826117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1"/>
          <p:cNvSpPr/>
          <p:nvPr/>
        </p:nvSpPr>
        <p:spPr>
          <a:xfrm>
            <a:off x="6029317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2"/>
          <p:cNvSpPr/>
          <p:nvPr/>
        </p:nvSpPr>
        <p:spPr>
          <a:xfrm>
            <a:off x="6232517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3"/>
          <p:cNvSpPr/>
          <p:nvPr/>
        </p:nvSpPr>
        <p:spPr>
          <a:xfrm>
            <a:off x="64357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4"/>
          <p:cNvSpPr/>
          <p:nvPr/>
        </p:nvSpPr>
        <p:spPr>
          <a:xfrm>
            <a:off x="66389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5"/>
          <p:cNvSpPr/>
          <p:nvPr/>
        </p:nvSpPr>
        <p:spPr>
          <a:xfrm>
            <a:off x="68421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6"/>
          <p:cNvSpPr/>
          <p:nvPr/>
        </p:nvSpPr>
        <p:spPr>
          <a:xfrm>
            <a:off x="70453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7"/>
          <p:cNvSpPr/>
          <p:nvPr/>
        </p:nvSpPr>
        <p:spPr>
          <a:xfrm>
            <a:off x="724851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8"/>
          <p:cNvSpPr/>
          <p:nvPr/>
        </p:nvSpPr>
        <p:spPr>
          <a:xfrm>
            <a:off x="745171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49"/>
          <p:cNvSpPr/>
          <p:nvPr/>
        </p:nvSpPr>
        <p:spPr>
          <a:xfrm>
            <a:off x="765491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0"/>
          <p:cNvSpPr/>
          <p:nvPr/>
        </p:nvSpPr>
        <p:spPr>
          <a:xfrm>
            <a:off x="785811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1"/>
          <p:cNvSpPr/>
          <p:nvPr/>
        </p:nvSpPr>
        <p:spPr>
          <a:xfrm>
            <a:off x="806131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2"/>
          <p:cNvSpPr/>
          <p:nvPr/>
        </p:nvSpPr>
        <p:spPr>
          <a:xfrm>
            <a:off x="826451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3"/>
          <p:cNvSpPr/>
          <p:nvPr/>
        </p:nvSpPr>
        <p:spPr>
          <a:xfrm>
            <a:off x="846771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4"/>
          <p:cNvSpPr/>
          <p:nvPr/>
        </p:nvSpPr>
        <p:spPr>
          <a:xfrm>
            <a:off x="867091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5"/>
          <p:cNvSpPr/>
          <p:nvPr/>
        </p:nvSpPr>
        <p:spPr>
          <a:xfrm>
            <a:off x="887411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6"/>
          <p:cNvSpPr/>
          <p:nvPr/>
        </p:nvSpPr>
        <p:spPr>
          <a:xfrm>
            <a:off x="907731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7"/>
          <p:cNvSpPr/>
          <p:nvPr/>
        </p:nvSpPr>
        <p:spPr>
          <a:xfrm>
            <a:off x="928051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8"/>
          <p:cNvSpPr/>
          <p:nvPr/>
        </p:nvSpPr>
        <p:spPr>
          <a:xfrm>
            <a:off x="948371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59"/>
          <p:cNvSpPr/>
          <p:nvPr/>
        </p:nvSpPr>
        <p:spPr>
          <a:xfrm>
            <a:off x="968691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Shape 60"/>
          <p:cNvSpPr/>
          <p:nvPr/>
        </p:nvSpPr>
        <p:spPr>
          <a:xfrm>
            <a:off x="989011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Text 61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L02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11/45</a:t>
            </a:r>
            <a:endParaRPr lang="en-US" sz="1800" dirty="0"/>
          </a:p>
        </p:txBody>
      </p:sp>
      <p:sp>
        <p:nvSpPr>
          <p:cNvPr id="65" name="Shape 6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6" name="Moda image moda-export-watermark-cea5540b-867a-4f91-ba9f-a7e4e556d2c7" descr="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Điện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thế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nghỉ</a:t>
            </a:r>
            <a:r>
              <a:rPr lang="en-US" sz="57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khoảng</a:t>
            </a:r>
            <a:r>
              <a:rPr lang="en-US" sz="5700" dirty="0" spc="-18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−70</a:t>
            </a:r>
            <a:r>
              <a:rPr lang="en-US" sz="5700" dirty="0" spc="-10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mV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19400"/>
            <a:ext cx="95250" cy="55054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4" name="Text 2"/>
          <p:cNvSpPr/>
          <p:nvPr/>
        </p:nvSpPr>
        <p:spPr>
          <a:xfrm>
            <a:off x="1295400" y="2762250"/>
            <a:ext cx="10572750" cy="5619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28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bào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giống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nước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muối,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chứa</a:t>
            </a:r>
            <a:r>
              <a:rPr lang="en-US" sz="28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ion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natri,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kali,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clorua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anion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Màng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bào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ion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ion</a:t>
            </a:r>
            <a:r>
              <a:rPr lang="en-US" sz="2850" dirty="0" spc="4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qua. Hai</a:t>
            </a:r>
            <a:r>
              <a:rPr lang="en-US" sz="28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lực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ion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 nghỉ: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khuếch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tán và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áp</a:t>
            </a:r>
            <a:r>
              <a:rPr lang="en-US" sz="28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lực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tĩnh</a:t>
            </a:r>
            <a:r>
              <a:rPr lang="en-US" sz="2850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4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850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màng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18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điện</a:t>
            </a:r>
            <a:r>
              <a:rPr lang="en-US" sz="285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85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nghỉ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,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8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−70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mV</a:t>
            </a:r>
            <a:r>
              <a:rPr lang="en-US" sz="28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;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tùy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nơron,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8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 từ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−80</a:t>
            </a:r>
            <a:r>
              <a:rPr lang="en-US" sz="28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−40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mV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[S3]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850" dirty="0" spc="-4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rất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pin</a:t>
            </a:r>
            <a:r>
              <a:rPr lang="en-US" sz="28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ổ</a:t>
            </a:r>
            <a:r>
              <a:rPr lang="en-US" sz="28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điện,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vốn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volt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12325350" y="2762250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6" name="Shape 4"/>
          <p:cNvSpPr/>
          <p:nvPr/>
        </p:nvSpPr>
        <p:spPr>
          <a:xfrm>
            <a:off x="12325350" y="2762250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7" name="Text 5"/>
          <p:cNvSpPr/>
          <p:nvPr/>
        </p:nvSpPr>
        <p:spPr>
          <a:xfrm>
            <a:off x="12630150" y="3028950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4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Ở</a:t>
            </a:r>
            <a:r>
              <a:rPr lang="en-US" sz="1950" dirty="0" spc="5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đâu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630150" y="3486150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ngang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qua</a:t>
            </a: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màng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40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nơron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2325350" y="47148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10" name="Shape 8"/>
          <p:cNvSpPr/>
          <p:nvPr/>
        </p:nvSpPr>
        <p:spPr>
          <a:xfrm>
            <a:off x="12325350" y="47148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1" name="Text 9"/>
          <p:cNvSpPr/>
          <p:nvPr/>
        </p:nvSpPr>
        <p:spPr>
          <a:xfrm>
            <a:off x="12630150" y="49815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Làm</a:t>
            </a:r>
            <a:r>
              <a:rPr lang="en-US" sz="1950" dirty="0" spc="-4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gì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630150" y="54387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là</a:t>
            </a:r>
            <a:r>
              <a:rPr lang="en-US" sz="2400" dirty="0" spc="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mức</a:t>
            </a:r>
            <a:r>
              <a:rPr lang="en-US" sz="24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xuất</a:t>
            </a:r>
            <a:r>
              <a:rPr lang="en-US" sz="24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phát</a:t>
            </a:r>
            <a:r>
              <a:rPr lang="en-US" sz="2400" dirty="0" spc="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để</a:t>
            </a:r>
            <a:r>
              <a:rPr lang="en-US" sz="24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tính ngưỡng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2325350" y="66579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14" name="Shape 12"/>
          <p:cNvSpPr/>
          <p:nvPr/>
        </p:nvSpPr>
        <p:spPr>
          <a:xfrm>
            <a:off x="12325350" y="66579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15" name="Text 13"/>
          <p:cNvSpPr/>
          <p:nvPr/>
        </p:nvSpPr>
        <p:spPr>
          <a:xfrm>
            <a:off x="12630150" y="69246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23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Đừng</a:t>
            </a:r>
            <a:r>
              <a:rPr lang="en-US" sz="1950" dirty="0" spc="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hiểu</a:t>
            </a:r>
            <a:r>
              <a:rPr lang="en-US" sz="1950" dirty="0" spc="-3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nhầm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630150" y="73818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mỗi</a:t>
            </a: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loại</a:t>
            </a:r>
            <a:r>
              <a:rPr lang="en-US" sz="240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nơron</a:t>
            </a: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giá</a:t>
            </a:r>
            <a:r>
              <a:rPr lang="en-US" sz="2400" dirty="0" spc="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trị</a:t>
            </a:r>
            <a:r>
              <a:rPr lang="en-US" sz="24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riêng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4932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5252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35572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55892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76212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96532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16852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37172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5749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7781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9813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167588" y="9552517"/>
            <a:ext cx="135467" cy="135467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0" name="Shape 28"/>
          <p:cNvSpPr/>
          <p:nvPr/>
        </p:nvSpPr>
        <p:spPr>
          <a:xfrm>
            <a:off x="338772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59092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79412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997320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200520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403720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606919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810119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013319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216518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419718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622918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5826117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029317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232517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64357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66389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8421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0453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724851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745171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65491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785811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06131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26451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846771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867091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87411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907731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928051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948371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968691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989011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3" name="Text 61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L02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12/45</a:t>
            </a:r>
            <a:endParaRPr lang="en-US" sz="1800" dirty="0"/>
          </a:p>
        </p:txBody>
      </p:sp>
      <p:sp>
        <p:nvSpPr>
          <p:cNvPr id="64" name="Shape 6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5" name="Moda image moda-export-watermark-276f0a7c-7f4e-4e2f-bb6a-c49606e392b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 nhóm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ion lúc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nghỉ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76225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276225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76225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4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Anion</a:t>
            </a:r>
            <a:r>
              <a:rPr lang="en-US" sz="3000" dirty="0" spc="0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(A−)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581900" y="276225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7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trong,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màng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22910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422910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422910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28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Kali</a:t>
            </a:r>
            <a:r>
              <a:rPr lang="en-US" sz="3000" dirty="0" spc="-1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(K+)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581900" y="422910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7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trong;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khuếch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tán</a:t>
            </a:r>
            <a:r>
              <a:rPr lang="en-US" sz="27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</a:t>
            </a:r>
            <a:r>
              <a:rPr lang="en-US" sz="2700" dirty="0" spc="-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ra,</a:t>
            </a:r>
            <a:r>
              <a:rPr lang="en-US" sz="270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lực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tĩnh</a:t>
            </a:r>
            <a:r>
              <a:rPr lang="en-US" sz="270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r>
              <a:rPr lang="en-US" sz="2700" dirty="0" spc="-3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14400" y="569595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569595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569595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Clorua</a:t>
            </a:r>
            <a:r>
              <a:rPr lang="en-US" sz="3000" dirty="0" spc="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(Cl−)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7581900" y="569595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7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ngoài;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70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lực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7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7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ngược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914400" y="716280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716280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716280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Natri</a:t>
            </a:r>
            <a:r>
              <a:rPr lang="en-US" sz="3000" dirty="0" spc="-5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(Na+)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581900" y="716280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7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ngoài;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màng</a:t>
            </a:r>
            <a:r>
              <a:rPr lang="en-US" sz="27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cho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 lúc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nghỉ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4932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15252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35572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55892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76212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96532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16852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37172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5749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7781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9813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1845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370788" y="9552517"/>
            <a:ext cx="135467" cy="135467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3" name="Shape 31"/>
          <p:cNvSpPr/>
          <p:nvPr/>
        </p:nvSpPr>
        <p:spPr>
          <a:xfrm>
            <a:off x="359092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79412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997320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200520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403720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606919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810119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013319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216518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5419718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5622918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826117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6029317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6232517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4357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66389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68421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70453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24851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745171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765491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785811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806131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826451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46771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867091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887411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907731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928051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948371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968691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989011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5" name="Text 63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L02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13/45</a:t>
            </a:r>
            <a:endParaRPr lang="en-US" sz="1800" dirty="0"/>
          </a:p>
        </p:txBody>
      </p:sp>
      <p:sp>
        <p:nvSpPr>
          <p:cNvPr id="66" name="Shape 6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7" name="Moda image moda-export-watermark-6b826711-6569-4e20-b66d-aa1f1f69579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r>
              <a:rPr lang="en-US" sz="5700" dirty="0" spc="-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·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</a:t>
            </a:r>
            <a:r>
              <a:rPr lang="en-US" sz="5700" dirty="0" spc="-5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endParaRPr lang="en-US" sz="5700" dirty="0"/>
          </a:p>
        </p:txBody>
      </p:sp>
      <p:sp>
        <p:nvSpPr>
          <p:cNvPr id="3" name="Text 1"/>
          <p:cNvSpPr/>
          <p:nvPr/>
        </p:nvSpPr>
        <p:spPr>
          <a:xfrm>
            <a:off x="914400" y="2476500"/>
            <a:ext cx="16459200" cy="3429000"/>
          </a:xfrm>
          <a:prstGeom prst="rect">
            <a:avLst/>
          </a:prstGeom>
          <a:noFill/>
          <a:ln/>
        </p:spPr>
        <p:txBody>
          <a:bodyPr wrap="square" lIns="0" tIns="182880" rIns="0" bIns="-182880" rtlCol="0" anchor="ctr"/>
          <a:lstStyle/>
          <a:p>
            <a:pPr algn="l" indent="0" marL="0">
              <a:lnSpc>
                <a:spcPts val="18000"/>
              </a:lnSpc>
              <a:buNone/>
            </a:pPr>
            <a:r>
              <a:rPr lang="en-US" sz="18000" dirty="0" spc="-5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r>
              <a:rPr lang="en-US" sz="18000" dirty="0" spc="-10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</a:t>
            </a:r>
            <a:r>
              <a:rPr lang="en-US" sz="18000" dirty="0" spc="4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· 2</a:t>
            </a:r>
            <a:r>
              <a:rPr lang="en-US" sz="18000" dirty="0" spc="-14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endParaRPr lang="en-US" sz="18000" dirty="0"/>
          </a:p>
        </p:txBody>
      </p:sp>
      <p:sp>
        <p:nvSpPr>
          <p:cNvPr id="4" name="Text 2"/>
          <p:cNvSpPr/>
          <p:nvPr/>
        </p:nvSpPr>
        <p:spPr>
          <a:xfrm>
            <a:off x="914400" y="60960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18392" rIns="0" bIns="-18392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3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Bơm</a:t>
            </a:r>
            <a:r>
              <a:rPr lang="en-US" sz="330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natri-kali</a:t>
            </a:r>
            <a:r>
              <a:rPr lang="en-US" sz="33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dùng</a:t>
            </a:r>
            <a:r>
              <a:rPr lang="en-US" sz="3300" dirty="0" spc="-6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ATP:</a:t>
            </a:r>
            <a:r>
              <a:rPr lang="en-US" sz="3300" dirty="0" spc="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đưa</a:t>
            </a:r>
            <a:r>
              <a:rPr lang="en-US" sz="33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3</a:t>
            </a:r>
            <a:r>
              <a:rPr lang="en-US" sz="33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Na+</a:t>
            </a:r>
            <a:r>
              <a:rPr lang="en-US" sz="3300" dirty="0" spc="-3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ra</a:t>
            </a:r>
            <a:r>
              <a:rPr lang="en-US" sz="33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ngoài,</a:t>
            </a:r>
            <a:r>
              <a:rPr lang="en-US" sz="3300" dirty="0" spc="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đổi</a:t>
            </a:r>
            <a:r>
              <a:rPr lang="en-US" sz="330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lấy</a:t>
            </a:r>
            <a:r>
              <a:rPr lang="en-US" sz="33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2</a:t>
            </a:r>
            <a:r>
              <a:rPr lang="en-US" sz="33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K+</a:t>
            </a:r>
            <a:r>
              <a:rPr lang="en-US" sz="3300" dirty="0" spc="-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vào</a:t>
            </a:r>
            <a:r>
              <a:rPr lang="en-US" sz="3300" dirty="0" spc="-2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trong</a:t>
            </a:r>
            <a:r>
              <a:rPr lang="en-US" sz="33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[S1]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7429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18392" rIns="0" bIns="-18392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30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Suy</a:t>
            </a:r>
            <a:r>
              <a:rPr lang="en-US" sz="33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luận</a:t>
            </a:r>
            <a:r>
              <a:rPr lang="en-US" sz="33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3300" dirty="0" spc="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người</a:t>
            </a:r>
            <a:r>
              <a:rPr lang="en-US" sz="33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viết:</a:t>
            </a:r>
            <a:r>
              <a:rPr lang="en-US" sz="330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trạng</a:t>
            </a:r>
            <a:r>
              <a:rPr lang="en-US" sz="33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thái</a:t>
            </a:r>
            <a:r>
              <a:rPr lang="en-US" sz="33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nghỉ</a:t>
            </a:r>
            <a:r>
              <a:rPr lang="en-US" sz="33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33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cân</a:t>
            </a:r>
            <a:r>
              <a:rPr lang="en-US" sz="33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bằng</a:t>
            </a:r>
            <a:r>
              <a:rPr lang="en-US" sz="330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33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duy</a:t>
            </a:r>
            <a:r>
              <a:rPr lang="en-US" sz="330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trì</a:t>
            </a:r>
            <a:r>
              <a:rPr lang="en-US" sz="33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bằng</a:t>
            </a:r>
            <a:r>
              <a:rPr lang="en-US" sz="33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năng</a:t>
            </a:r>
            <a:r>
              <a:rPr lang="en-US" sz="330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lượng,</a:t>
            </a:r>
            <a:r>
              <a:rPr lang="en-US" sz="33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33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3300" dirty="0" spc="-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'tắt'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4932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5252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35572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55892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76212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96532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16852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237172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25749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27781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29813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31845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38772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3573988" y="9552517"/>
            <a:ext cx="135467" cy="135467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1" name="Shape 19"/>
          <p:cNvSpPr/>
          <p:nvPr/>
        </p:nvSpPr>
        <p:spPr>
          <a:xfrm>
            <a:off x="379412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3997320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200520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4403720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4606919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4810119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013319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5216518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5419718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5622918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5826117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6029317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6232517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64357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66389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68421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70453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724851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745171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765491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785811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806131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826451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846771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867091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887411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907731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928051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948371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968691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989011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Text 50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L02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14/45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4" name="Moda image moda-export-watermark-8d8ee219-50a3-4b28-b8f0-28583c7d4f1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5700" dirty="0" spc="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điện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thế</a:t>
            </a:r>
            <a:r>
              <a:rPr lang="en-US" sz="57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hoạt</a:t>
            </a:r>
            <a:r>
              <a:rPr lang="en-US" sz="57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r>
              <a:rPr lang="en-US" sz="57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trên</a:t>
            </a:r>
            <a:r>
              <a:rPr lang="en-US" sz="5700" dirty="0" spc="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thị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247900"/>
            <a:ext cx="8953500" cy="609600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28575">
            <a:solidFill>
              <a:srgbClr val="2C3040"/>
            </a:solidFill>
            <a:prstDash val="solid"/>
          </a:ln>
        </p:spPr>
      </p:sp>
      <p:pic>
        <p:nvPicPr>
          <p:cNvPr id="4" name="Moda image rect-1792617596488-41884753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300067" y="2438400"/>
            <a:ext cx="6182166" cy="5715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8477250"/>
            <a:ext cx="16459200" cy="495300"/>
          </a:xfrm>
          <a:prstGeom prst="rect">
            <a:avLst/>
          </a:prstGeom>
          <a:noFill/>
          <a:ln/>
        </p:spPr>
        <p:txBody>
          <a:bodyPr wrap="square" lIns="0" tIns="14435" rIns="0" bIns="-14435" rtlCol="0" anchor="t"/>
          <a:lstStyle/>
          <a:p>
            <a:pPr algn="l" indent="0" marL="0">
              <a:lnSpc>
                <a:spcPts val="1815"/>
              </a:lnSpc>
              <a:buNone/>
            </a:pP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Hình: Noba,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giấy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CC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BY-NC-SA;</a:t>
            </a:r>
            <a:r>
              <a:rPr lang="en-US" sz="16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Hove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&amp; Martinez,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(chương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3)</a:t>
            </a:r>
            <a:endParaRPr lang="en-US" sz="1650" dirty="0"/>
          </a:p>
        </p:txBody>
      </p:sp>
      <p:sp>
        <p:nvSpPr>
          <p:cNvPr id="6" name="Shape 3"/>
          <p:cNvSpPr/>
          <p:nvPr/>
        </p:nvSpPr>
        <p:spPr>
          <a:xfrm>
            <a:off x="10248900" y="2247900"/>
            <a:ext cx="7124700" cy="838200"/>
          </a:xfrm>
          <a:prstGeom prst="roundRect">
            <a:avLst>
              <a:gd name="adj" fmla="val 22727"/>
            </a:avLst>
          </a:prstGeom>
          <a:solidFill>
            <a:srgbClr val="1E212B"/>
          </a:solidFill>
          <a:ln/>
        </p:spPr>
      </p:sp>
      <p:sp>
        <p:nvSpPr>
          <p:cNvPr id="7" name="Shape 4"/>
          <p:cNvSpPr/>
          <p:nvPr/>
        </p:nvSpPr>
        <p:spPr>
          <a:xfrm>
            <a:off x="10248900" y="2247900"/>
            <a:ext cx="114300" cy="8382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8" name="Text 5"/>
          <p:cNvSpPr/>
          <p:nvPr/>
        </p:nvSpPr>
        <p:spPr>
          <a:xfrm>
            <a:off x="10591800" y="2343150"/>
            <a:ext cx="659130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87" dirty="0" spc="-12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Threshold</a:t>
            </a:r>
            <a:endParaRPr lang="en-US" sz="2187" dirty="0"/>
          </a:p>
        </p:txBody>
      </p:sp>
      <p:sp>
        <p:nvSpPr>
          <p:cNvPr id="9" name="Text 6"/>
          <p:cNvSpPr/>
          <p:nvPr/>
        </p:nvSpPr>
        <p:spPr>
          <a:xfrm>
            <a:off x="10591800" y="2581275"/>
            <a:ext cx="6591300" cy="466725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ngưỡng</a:t>
            </a:r>
            <a:r>
              <a:rPr lang="en-US" sz="25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kích</a:t>
            </a:r>
            <a:r>
              <a:rPr lang="en-US" sz="25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thích</a:t>
            </a:r>
            <a:r>
              <a:rPr lang="en-US" sz="25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(≈</a:t>
            </a:r>
            <a:r>
              <a:rPr lang="en-US" sz="255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−50</a:t>
            </a:r>
            <a:r>
              <a:rPr lang="en-US" sz="25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mV)</a:t>
            </a:r>
            <a:endParaRPr lang="en-US" sz="2550" dirty="0"/>
          </a:p>
        </p:txBody>
      </p:sp>
      <p:sp>
        <p:nvSpPr>
          <p:cNvPr id="10" name="Shape 7"/>
          <p:cNvSpPr/>
          <p:nvPr/>
        </p:nvSpPr>
        <p:spPr>
          <a:xfrm>
            <a:off x="10248900" y="3219450"/>
            <a:ext cx="7124700" cy="838200"/>
          </a:xfrm>
          <a:prstGeom prst="roundRect">
            <a:avLst>
              <a:gd name="adj" fmla="val 22727"/>
            </a:avLst>
          </a:prstGeom>
          <a:solidFill>
            <a:srgbClr val="1E212B"/>
          </a:solidFill>
          <a:ln/>
        </p:spPr>
      </p:sp>
      <p:sp>
        <p:nvSpPr>
          <p:cNvPr id="11" name="Shape 8"/>
          <p:cNvSpPr/>
          <p:nvPr/>
        </p:nvSpPr>
        <p:spPr>
          <a:xfrm>
            <a:off x="10248900" y="3219450"/>
            <a:ext cx="114300" cy="8382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2" name="Text 9"/>
          <p:cNvSpPr/>
          <p:nvPr/>
        </p:nvSpPr>
        <p:spPr>
          <a:xfrm>
            <a:off x="10591800" y="3314700"/>
            <a:ext cx="659130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87" dirty="0" spc="-6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Action</a:t>
            </a:r>
            <a:r>
              <a:rPr lang="en-US" sz="2187" dirty="0" spc="-5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potential</a:t>
            </a:r>
            <a:endParaRPr lang="en-US" sz="2187" dirty="0"/>
          </a:p>
        </p:txBody>
      </p:sp>
      <p:sp>
        <p:nvSpPr>
          <p:cNvPr id="13" name="Text 10"/>
          <p:cNvSpPr/>
          <p:nvPr/>
        </p:nvSpPr>
        <p:spPr>
          <a:xfrm>
            <a:off x="10591800" y="3552825"/>
            <a:ext cx="6591300" cy="466725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2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điện</a:t>
            </a:r>
            <a:r>
              <a:rPr lang="en-US" sz="25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thế</a:t>
            </a:r>
            <a:r>
              <a:rPr lang="en-US" sz="2550" dirty="0" spc="-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hoạt</a:t>
            </a:r>
            <a:r>
              <a:rPr lang="en-US" sz="255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động</a:t>
            </a:r>
            <a:endParaRPr lang="en-US" sz="2550" dirty="0"/>
          </a:p>
        </p:txBody>
      </p:sp>
      <p:sp>
        <p:nvSpPr>
          <p:cNvPr id="14" name="Shape 11"/>
          <p:cNvSpPr/>
          <p:nvPr/>
        </p:nvSpPr>
        <p:spPr>
          <a:xfrm>
            <a:off x="10248900" y="4191000"/>
            <a:ext cx="7124700" cy="838200"/>
          </a:xfrm>
          <a:prstGeom prst="roundRect">
            <a:avLst>
              <a:gd name="adj" fmla="val 22727"/>
            </a:avLst>
          </a:prstGeom>
          <a:solidFill>
            <a:srgbClr val="1E212B"/>
          </a:solidFill>
          <a:ln/>
        </p:spPr>
      </p:sp>
      <p:sp>
        <p:nvSpPr>
          <p:cNvPr id="15" name="Shape 12"/>
          <p:cNvSpPr/>
          <p:nvPr/>
        </p:nvSpPr>
        <p:spPr>
          <a:xfrm>
            <a:off x="10248900" y="4191000"/>
            <a:ext cx="114300" cy="8382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6" name="Text 13"/>
          <p:cNvSpPr/>
          <p:nvPr/>
        </p:nvSpPr>
        <p:spPr>
          <a:xfrm>
            <a:off x="10591800" y="4286250"/>
            <a:ext cx="659130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87" dirty="0" spc="-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EPSP</a:t>
            </a:r>
            <a:r>
              <a:rPr lang="en-US" sz="2187" dirty="0" spc="0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/ IPSP</a:t>
            </a:r>
            <a:endParaRPr lang="en-US" sz="2187" dirty="0"/>
          </a:p>
        </p:txBody>
      </p:sp>
      <p:sp>
        <p:nvSpPr>
          <p:cNvPr id="17" name="Text 14"/>
          <p:cNvSpPr/>
          <p:nvPr/>
        </p:nvSpPr>
        <p:spPr>
          <a:xfrm>
            <a:off x="10591800" y="4524375"/>
            <a:ext cx="6591300" cy="466725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tín</a:t>
            </a:r>
            <a:r>
              <a:rPr lang="en-US" sz="25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hiệu</a:t>
            </a:r>
            <a:r>
              <a:rPr lang="en-US" sz="25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kích</a:t>
            </a:r>
            <a:r>
              <a:rPr lang="en-US" sz="25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thích</a:t>
            </a:r>
            <a:r>
              <a:rPr lang="en-US" sz="25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/</a:t>
            </a:r>
            <a:r>
              <a:rPr lang="en-US" sz="2550" dirty="0" spc="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ức</a:t>
            </a:r>
            <a:r>
              <a:rPr lang="en-US" sz="25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chế</a:t>
            </a:r>
            <a:endParaRPr lang="en-US" sz="2550" dirty="0"/>
          </a:p>
        </p:txBody>
      </p:sp>
      <p:sp>
        <p:nvSpPr>
          <p:cNvPr id="18" name="Shape 15"/>
          <p:cNvSpPr/>
          <p:nvPr/>
        </p:nvSpPr>
        <p:spPr>
          <a:xfrm>
            <a:off x="10248900" y="5162550"/>
            <a:ext cx="7124700" cy="3181350"/>
          </a:xfrm>
          <a:prstGeom prst="roundRect">
            <a:avLst>
              <a:gd name="adj" fmla="val 5988"/>
            </a:avLst>
          </a:prstGeom>
          <a:solidFill>
            <a:srgbClr val="262C4A"/>
          </a:solidFill>
          <a:ln/>
        </p:spPr>
      </p:sp>
      <p:sp>
        <p:nvSpPr>
          <p:cNvPr id="19" name="Text 16"/>
          <p:cNvSpPr/>
          <p:nvPr/>
        </p:nvSpPr>
        <p:spPr>
          <a:xfrm>
            <a:off x="10553700" y="5429250"/>
            <a:ext cx="6515100" cy="264795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Trục</a:t>
            </a:r>
            <a:r>
              <a:rPr lang="en-US" sz="19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dọc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màng.</a:t>
            </a:r>
            <a:r>
              <a:rPr lang="en-US" sz="1950" dirty="0" spc="-6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9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nghỉ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195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−70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mV,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2535"/>
              </a:lnSpc>
              <a:buNone/>
            </a:pPr>
            <a:r>
              <a:rPr lang="en-US" sz="1950" b="1" dirty="0" spc="1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điện</a:t>
            </a:r>
            <a:r>
              <a:rPr lang="en-US" sz="195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1950" b="1" dirty="0" spc="-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195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pPr algn="l" indent="0" marL="0">
              <a:lnSpc>
                <a:spcPts val="2535"/>
              </a:lnSpc>
              <a:buNone/>
            </a:pP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bùng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95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đạt</a:t>
            </a: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2535"/>
              </a:lnSpc>
              <a:buNone/>
            </a:pPr>
            <a:r>
              <a:rPr lang="en-US" sz="1950" b="1" dirty="0" spc="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ngưỡng</a:t>
            </a:r>
            <a:pPr algn="l" indent="0" marL="0">
              <a:lnSpc>
                <a:spcPts val="2535"/>
              </a:lnSpc>
              <a:buNone/>
            </a:pP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−50</a:t>
            </a: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mV,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19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+40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mV</a:t>
            </a:r>
            <a:r>
              <a:rPr lang="en-US" sz="195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195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trở</a:t>
            </a:r>
            <a:r>
              <a:rPr lang="en-US" sz="19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9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nghỉ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2535"/>
              </a:lnSpc>
              <a:buNone/>
            </a:pP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[S1]</a:t>
            </a:r>
            <a:pPr algn="l" indent="0" marL="0">
              <a:lnSpc>
                <a:spcPts val="2535"/>
              </a:lnSpc>
              <a:buNone/>
            </a:pPr>
            <a:r>
              <a:rPr lang="en-US" sz="19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9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màu</a:t>
            </a:r>
            <a:r>
              <a:rPr lang="en-US" sz="195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đỏ</a:t>
            </a:r>
            <a:r>
              <a:rPr lang="en-US" sz="19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xanh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kích thích</a:t>
            </a:r>
            <a:r>
              <a:rPr lang="en-US" sz="19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ức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9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synapse: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chúng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9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195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nhẹ,</a:t>
            </a:r>
            <a:r>
              <a:rPr lang="en-US" sz="19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19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xung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2535"/>
              </a:lnSpc>
              <a:buNone/>
            </a:pP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[S1]</a:t>
            </a:r>
            <a:pPr algn="l" indent="0" marL="0">
              <a:lnSpc>
                <a:spcPts val="2535"/>
              </a:lnSpc>
              <a:buNone/>
            </a:pPr>
            <a:r>
              <a:rPr lang="en-US" sz="19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endParaRPr lang="en-US" sz="1950" dirty="0"/>
          </a:p>
        </p:txBody>
      </p:sp>
      <p:sp>
        <p:nvSpPr>
          <p:cNvPr id="20" name="Text 17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94932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115252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135572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1"/>
          <p:cNvSpPr/>
          <p:nvPr/>
        </p:nvSpPr>
        <p:spPr>
          <a:xfrm>
            <a:off x="155892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2"/>
          <p:cNvSpPr/>
          <p:nvPr/>
        </p:nvSpPr>
        <p:spPr>
          <a:xfrm>
            <a:off x="176212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196532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4"/>
          <p:cNvSpPr/>
          <p:nvPr/>
        </p:nvSpPr>
        <p:spPr>
          <a:xfrm>
            <a:off x="216852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5"/>
          <p:cNvSpPr/>
          <p:nvPr/>
        </p:nvSpPr>
        <p:spPr>
          <a:xfrm>
            <a:off x="237172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25749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7"/>
          <p:cNvSpPr/>
          <p:nvPr/>
        </p:nvSpPr>
        <p:spPr>
          <a:xfrm>
            <a:off x="27781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8"/>
          <p:cNvSpPr/>
          <p:nvPr/>
        </p:nvSpPr>
        <p:spPr>
          <a:xfrm>
            <a:off x="29813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31845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0"/>
          <p:cNvSpPr/>
          <p:nvPr/>
        </p:nvSpPr>
        <p:spPr>
          <a:xfrm>
            <a:off x="338772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1"/>
          <p:cNvSpPr/>
          <p:nvPr/>
        </p:nvSpPr>
        <p:spPr>
          <a:xfrm>
            <a:off x="359092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3777187" y="9552517"/>
            <a:ext cx="135467" cy="135467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6" name="Shape 33"/>
          <p:cNvSpPr/>
          <p:nvPr/>
        </p:nvSpPr>
        <p:spPr>
          <a:xfrm>
            <a:off x="3997320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4"/>
          <p:cNvSpPr/>
          <p:nvPr/>
        </p:nvSpPr>
        <p:spPr>
          <a:xfrm>
            <a:off x="4200520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5"/>
          <p:cNvSpPr/>
          <p:nvPr/>
        </p:nvSpPr>
        <p:spPr>
          <a:xfrm>
            <a:off x="4403720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6"/>
          <p:cNvSpPr/>
          <p:nvPr/>
        </p:nvSpPr>
        <p:spPr>
          <a:xfrm>
            <a:off x="4606919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7"/>
          <p:cNvSpPr/>
          <p:nvPr/>
        </p:nvSpPr>
        <p:spPr>
          <a:xfrm>
            <a:off x="4810119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8"/>
          <p:cNvSpPr/>
          <p:nvPr/>
        </p:nvSpPr>
        <p:spPr>
          <a:xfrm>
            <a:off x="5013319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39"/>
          <p:cNvSpPr/>
          <p:nvPr/>
        </p:nvSpPr>
        <p:spPr>
          <a:xfrm>
            <a:off x="5216518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0"/>
          <p:cNvSpPr/>
          <p:nvPr/>
        </p:nvSpPr>
        <p:spPr>
          <a:xfrm>
            <a:off x="5419718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1"/>
          <p:cNvSpPr/>
          <p:nvPr/>
        </p:nvSpPr>
        <p:spPr>
          <a:xfrm>
            <a:off x="5622918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2"/>
          <p:cNvSpPr/>
          <p:nvPr/>
        </p:nvSpPr>
        <p:spPr>
          <a:xfrm>
            <a:off x="5826117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3"/>
          <p:cNvSpPr/>
          <p:nvPr/>
        </p:nvSpPr>
        <p:spPr>
          <a:xfrm>
            <a:off x="6029317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4"/>
          <p:cNvSpPr/>
          <p:nvPr/>
        </p:nvSpPr>
        <p:spPr>
          <a:xfrm>
            <a:off x="6232517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5"/>
          <p:cNvSpPr/>
          <p:nvPr/>
        </p:nvSpPr>
        <p:spPr>
          <a:xfrm>
            <a:off x="64357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6"/>
          <p:cNvSpPr/>
          <p:nvPr/>
        </p:nvSpPr>
        <p:spPr>
          <a:xfrm>
            <a:off x="66389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7"/>
          <p:cNvSpPr/>
          <p:nvPr/>
        </p:nvSpPr>
        <p:spPr>
          <a:xfrm>
            <a:off x="68421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8"/>
          <p:cNvSpPr/>
          <p:nvPr/>
        </p:nvSpPr>
        <p:spPr>
          <a:xfrm>
            <a:off x="70453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49"/>
          <p:cNvSpPr/>
          <p:nvPr/>
        </p:nvSpPr>
        <p:spPr>
          <a:xfrm>
            <a:off x="724851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0"/>
          <p:cNvSpPr/>
          <p:nvPr/>
        </p:nvSpPr>
        <p:spPr>
          <a:xfrm>
            <a:off x="745171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1"/>
          <p:cNvSpPr/>
          <p:nvPr/>
        </p:nvSpPr>
        <p:spPr>
          <a:xfrm>
            <a:off x="765491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2"/>
          <p:cNvSpPr/>
          <p:nvPr/>
        </p:nvSpPr>
        <p:spPr>
          <a:xfrm>
            <a:off x="785811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3"/>
          <p:cNvSpPr/>
          <p:nvPr/>
        </p:nvSpPr>
        <p:spPr>
          <a:xfrm>
            <a:off x="806131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4"/>
          <p:cNvSpPr/>
          <p:nvPr/>
        </p:nvSpPr>
        <p:spPr>
          <a:xfrm>
            <a:off x="826451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5"/>
          <p:cNvSpPr/>
          <p:nvPr/>
        </p:nvSpPr>
        <p:spPr>
          <a:xfrm>
            <a:off x="846771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6"/>
          <p:cNvSpPr/>
          <p:nvPr/>
        </p:nvSpPr>
        <p:spPr>
          <a:xfrm>
            <a:off x="867091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7"/>
          <p:cNvSpPr/>
          <p:nvPr/>
        </p:nvSpPr>
        <p:spPr>
          <a:xfrm>
            <a:off x="887411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8"/>
          <p:cNvSpPr/>
          <p:nvPr/>
        </p:nvSpPr>
        <p:spPr>
          <a:xfrm>
            <a:off x="907731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59"/>
          <p:cNvSpPr/>
          <p:nvPr/>
        </p:nvSpPr>
        <p:spPr>
          <a:xfrm>
            <a:off x="928051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Shape 60"/>
          <p:cNvSpPr/>
          <p:nvPr/>
        </p:nvSpPr>
        <p:spPr>
          <a:xfrm>
            <a:off x="948371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Shape 61"/>
          <p:cNvSpPr/>
          <p:nvPr/>
        </p:nvSpPr>
        <p:spPr>
          <a:xfrm>
            <a:off x="968691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5" name="Shape 62"/>
          <p:cNvSpPr/>
          <p:nvPr/>
        </p:nvSpPr>
        <p:spPr>
          <a:xfrm>
            <a:off x="989011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6" name="Text 63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L02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15/45</a:t>
            </a:r>
            <a:endParaRPr lang="en-US" sz="1800" dirty="0"/>
          </a:p>
        </p:txBody>
      </p:sp>
      <p:sp>
        <p:nvSpPr>
          <p:cNvPr id="67" name="Shape 6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8" name="Moda image moda-export-watermark-3cd697f0-950f-43cf-adf4-476de1ed1ce7" descr="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</a:t>
            </a:r>
            <a:r>
              <a:rPr lang="en-US" sz="57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pha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57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xung</a:t>
            </a:r>
            <a:endParaRPr lang="en-US" sz="5700" dirty="0"/>
          </a:p>
        </p:txBody>
      </p:sp>
      <p:sp>
        <p:nvSpPr>
          <p:cNvPr id="3" name="Connector line-1792617597393-63746042"/>
          <p:cNvSpPr/>
          <p:nvPr/>
        </p:nvSpPr>
        <p:spPr>
          <a:xfrm>
            <a:off x="914400" y="5810250"/>
            <a:ext cx="16459200" cy="0"/>
          </a:xfrm>
          <a:prstGeom prst="line">
            <a:avLst/>
          </a:prstGeom>
          <a:noFill/>
          <a:ln w="57150">
            <a:solidFill>
              <a:srgbClr val="6B6A66"/>
            </a:solidFill>
            <a:prstDash val="solid"/>
            <a:headEnd type="none"/>
            <a:tailEnd type="none"/>
          </a:ln>
        </p:spPr>
      </p:sp>
      <p:sp>
        <p:nvSpPr>
          <p:cNvPr id="4" name="Shape 2"/>
          <p:cNvSpPr/>
          <p:nvPr/>
        </p:nvSpPr>
        <p:spPr>
          <a:xfrm>
            <a:off x="2314575" y="5562600"/>
            <a:ext cx="495300" cy="4953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5" name="Connector line-1792617597393-337592080"/>
          <p:cNvSpPr/>
          <p:nvPr/>
        </p:nvSpPr>
        <p:spPr>
          <a:xfrm flipV="1">
            <a:off x="2562225" y="5238750"/>
            <a:ext cx="0" cy="323850"/>
          </a:xfrm>
          <a:prstGeom prst="line">
            <a:avLst/>
          </a:prstGeom>
          <a:noFill/>
          <a:ln w="38100">
            <a:solidFill>
              <a:srgbClr val="0F766E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1104900" y="3429000"/>
            <a:ext cx="291465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Khử</a:t>
            </a:r>
            <a:r>
              <a:rPr lang="en-US" sz="270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cực</a:t>
            </a:r>
            <a:r>
              <a:rPr lang="en-US" sz="27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tới</a:t>
            </a:r>
            <a:r>
              <a:rPr lang="en-US" sz="270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ngưỡng</a:t>
            </a:r>
            <a:r>
              <a:rPr lang="en-US" sz="27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≈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−50</a:t>
            </a:r>
            <a:r>
              <a:rPr lang="en-US" sz="27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mV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5600700" y="5562600"/>
            <a:ext cx="495300" cy="4953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8" name="Connector line-1792617597395-249269893"/>
          <p:cNvSpPr/>
          <p:nvPr/>
        </p:nvSpPr>
        <p:spPr>
          <a:xfrm>
            <a:off x="5848350" y="6057900"/>
            <a:ext cx="0" cy="323850"/>
          </a:xfrm>
          <a:prstGeom prst="line">
            <a:avLst/>
          </a:prstGeom>
          <a:noFill/>
          <a:ln w="38100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4400550" y="6381750"/>
            <a:ext cx="291465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700" dirty="0" spc="-3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Kênh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Na+ mở: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natri</a:t>
            </a:r>
            <a:r>
              <a:rPr lang="en-US" sz="27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ào</a:t>
            </a:r>
            <a:r>
              <a:rPr lang="en-US" sz="270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vào,</a:t>
            </a:r>
            <a:r>
              <a:rPr lang="en-US" sz="2700" dirty="0" spc="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đỉnh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≈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+40</a:t>
            </a:r>
            <a:r>
              <a:rPr lang="en-US" sz="27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mV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8896350" y="5562600"/>
            <a:ext cx="495300" cy="4953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1" name="Connector line-1792617597397-692922613"/>
          <p:cNvSpPr/>
          <p:nvPr/>
        </p:nvSpPr>
        <p:spPr>
          <a:xfrm flipV="1">
            <a:off x="9144000" y="5238750"/>
            <a:ext cx="0" cy="32385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7686675" y="3429000"/>
            <a:ext cx="291465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700" dirty="0" spc="-3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Kênh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Na+</a:t>
            </a:r>
            <a:r>
              <a:rPr lang="en-US" sz="270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trơ,</a:t>
            </a:r>
            <a:r>
              <a:rPr lang="en-US" sz="2700" dirty="0" spc="-2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kênh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K+ mở:</a:t>
            </a:r>
            <a:r>
              <a:rPr lang="en-US" sz="2700" dirty="0" spc="-2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kali</a:t>
            </a:r>
            <a:r>
              <a:rPr lang="en-US" sz="2700" dirty="0" spc="-2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ra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12192000" y="5562600"/>
            <a:ext cx="495300" cy="4953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4" name="Connector line-1792617597399-714159558"/>
          <p:cNvSpPr/>
          <p:nvPr/>
        </p:nvSpPr>
        <p:spPr>
          <a:xfrm>
            <a:off x="12439650" y="6057900"/>
            <a:ext cx="0" cy="323850"/>
          </a:xfrm>
          <a:prstGeom prst="line">
            <a:avLst/>
          </a:prstGeom>
          <a:noFill/>
          <a:ln w="38100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10982325" y="6381750"/>
            <a:ext cx="291465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700" dirty="0" spc="-6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Tăng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phân</a:t>
            </a:r>
            <a:r>
              <a:rPr lang="en-US" sz="270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cực</a:t>
            </a:r>
            <a:r>
              <a:rPr lang="en-US" sz="27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ngắn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15478125" y="5562600"/>
            <a:ext cx="495300" cy="4953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7" name="Connector line-1792617597401-713093957"/>
          <p:cNvSpPr/>
          <p:nvPr/>
        </p:nvSpPr>
        <p:spPr>
          <a:xfrm flipV="1">
            <a:off x="15725775" y="5238750"/>
            <a:ext cx="0" cy="323850"/>
          </a:xfrm>
          <a:prstGeom prst="line">
            <a:avLst/>
          </a:prstGeom>
          <a:noFill/>
          <a:ln w="38100">
            <a:solidFill>
              <a:srgbClr val="0F766E"/>
            </a:solidFill>
            <a:prstDash val="solid"/>
            <a:headEnd type="none"/>
            <a:tailEnd type="none"/>
          </a:ln>
        </p:spPr>
      </p:sp>
      <p:sp>
        <p:nvSpPr>
          <p:cNvPr id="18" name="Text 16"/>
          <p:cNvSpPr/>
          <p:nvPr/>
        </p:nvSpPr>
        <p:spPr>
          <a:xfrm>
            <a:off x="14268450" y="3429000"/>
            <a:ext cx="291465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700" dirty="0" spc="-7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Về</a:t>
            </a:r>
            <a:r>
              <a:rPr lang="en-US" sz="2700" dirty="0" spc="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điện</a:t>
            </a:r>
            <a:r>
              <a:rPr lang="en-US" sz="27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thế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nghỉ,</a:t>
            </a:r>
            <a:r>
              <a:rPr lang="en-US" sz="2700" dirty="0" spc="-2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xong</a:t>
            </a:r>
            <a:r>
              <a:rPr lang="en-US" sz="2700" dirty="0" spc="-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trong</a:t>
            </a:r>
            <a:r>
              <a:rPr lang="en-US" sz="270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dưới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ms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4932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15252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35572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55892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76212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96532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16852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37172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5749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7781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9813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1845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38772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59092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79412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980387" y="9552517"/>
            <a:ext cx="135467" cy="135467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6" name="Shape 34"/>
          <p:cNvSpPr/>
          <p:nvPr/>
        </p:nvSpPr>
        <p:spPr>
          <a:xfrm>
            <a:off x="4200520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403720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606919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810119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013319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216518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5419718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5622918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826117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6029317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6232517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4357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66389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68421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70453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24851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745171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765491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785811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806131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826451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46771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867091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887411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907731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928051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948371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968691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989011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5" name="Text 63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L02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16/45</a:t>
            </a:r>
            <a:endParaRPr lang="en-US" sz="1800" dirty="0"/>
          </a:p>
        </p:txBody>
      </p:sp>
      <p:sp>
        <p:nvSpPr>
          <p:cNvPr id="66" name="Shape 6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7" name="Moda image moda-export-watermark-201e650f-ad70-450a-a493-59674402325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Có</a:t>
            </a:r>
            <a:r>
              <a:rPr lang="en-US" sz="57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hoặc</a:t>
            </a:r>
            <a:r>
              <a:rPr lang="en-US" sz="5700" dirty="0" spc="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không,</a:t>
            </a:r>
            <a:r>
              <a:rPr lang="en-US" sz="5700" dirty="0" spc="-6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57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hóa</a:t>
            </a: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</a:t>
            </a:r>
            <a:r>
              <a:rPr lang="en-US" sz="57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tần</a:t>
            </a:r>
            <a:r>
              <a:rPr lang="en-US" sz="57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19400"/>
            <a:ext cx="95250" cy="55054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4" name="Text 2"/>
          <p:cNvSpPr/>
          <p:nvPr/>
        </p:nvSpPr>
        <p:spPr>
          <a:xfrm>
            <a:off x="1295400" y="2762250"/>
            <a:ext cx="10572750" cy="5619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Điện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8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28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8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8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85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850" b="1" dirty="0" spc="-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(all-or-none):</a:t>
            </a:r>
            <a:r>
              <a:rPr lang="en-US" sz="2850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xảy</a:t>
            </a:r>
            <a:r>
              <a:rPr lang="en-US" sz="2850" dirty="0" spc="-3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85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</a:t>
            </a:r>
            <a:r>
              <a:rPr lang="en-US" sz="28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vẹn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 không</a:t>
            </a:r>
            <a:r>
              <a:rPr lang="en-US" sz="2850" dirty="0" spc="-3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xảy</a:t>
            </a:r>
            <a:r>
              <a:rPr lang="en-US" sz="2850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ra,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8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Neuroscience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Online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châm</a:t>
            </a: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ngòi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nổ: phải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đạt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ngưỡng</a:t>
            </a:r>
            <a:r>
              <a:rPr lang="en-US" sz="28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thiểu</a:t>
            </a:r>
            <a:r>
              <a:rPr lang="en-US" sz="28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[S3]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kích thích mạnh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hơn,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kích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thước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xung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8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tần</a:t>
            </a:r>
            <a:r>
              <a:rPr lang="en-US" sz="2850" b="1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xung</a:t>
            </a:r>
            <a:r>
              <a:rPr lang="en-US" sz="28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8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[S3]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viết: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chuông</a:t>
            </a:r>
            <a:r>
              <a:rPr lang="en-US" sz="28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cửa,</a:t>
            </a:r>
            <a:r>
              <a:rPr lang="en-US" sz="28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bấm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mạnh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nhẹ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tiếng</a:t>
            </a:r>
            <a:r>
              <a:rPr lang="en-US" sz="28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 nhau,</a:t>
            </a:r>
            <a:r>
              <a:rPr lang="en-US" sz="28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bấm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dồn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dập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8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vang</a:t>
            </a:r>
            <a:r>
              <a:rPr lang="en-US" sz="28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dày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12325350" y="2762250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6" name="Shape 4"/>
          <p:cNvSpPr/>
          <p:nvPr/>
        </p:nvSpPr>
        <p:spPr>
          <a:xfrm>
            <a:off x="12325350" y="2762250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7" name="Text 5"/>
          <p:cNvSpPr/>
          <p:nvPr/>
        </p:nvSpPr>
        <p:spPr>
          <a:xfrm>
            <a:off x="12630150" y="3028950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4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Ở</a:t>
            </a:r>
            <a:r>
              <a:rPr lang="en-US" sz="1950" dirty="0" spc="5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đâu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630150" y="3486150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dọc</a:t>
            </a:r>
            <a:r>
              <a:rPr lang="en-US" sz="24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sợi trục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2325350" y="47148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12325350" y="47148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1" name="Text 9"/>
          <p:cNvSpPr/>
          <p:nvPr/>
        </p:nvSpPr>
        <p:spPr>
          <a:xfrm>
            <a:off x="12630150" y="49815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1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Làm</a:t>
            </a:r>
            <a:r>
              <a:rPr lang="en-US" sz="1950" dirty="0" spc="-4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gì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630150" y="54387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mã</a:t>
            </a: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hóa</a:t>
            </a:r>
            <a:r>
              <a:rPr lang="en-US" sz="2400" dirty="0" spc="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cường</a:t>
            </a:r>
            <a:r>
              <a:rPr lang="en-US" sz="2400" dirty="0" spc="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</a:t>
            </a: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bằng tần số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2325350" y="66579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14" name="Shape 12"/>
          <p:cNvSpPr/>
          <p:nvPr/>
        </p:nvSpPr>
        <p:spPr>
          <a:xfrm>
            <a:off x="12325350" y="66579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5" name="Text 13"/>
          <p:cNvSpPr/>
          <p:nvPr/>
        </p:nvSpPr>
        <p:spPr>
          <a:xfrm>
            <a:off x="12630150" y="69246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2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Đừng</a:t>
            </a:r>
            <a:r>
              <a:rPr lang="en-US" sz="1950" dirty="0" spc="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hiểu</a:t>
            </a:r>
            <a:r>
              <a:rPr lang="en-US" sz="1950" dirty="0" spc="-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nhầm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630150" y="73818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xung</a:t>
            </a: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4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'to</a:t>
            </a:r>
            <a:r>
              <a:rPr lang="en-US" sz="24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hơn'</a:t>
            </a:r>
            <a:r>
              <a:rPr lang="en-US" sz="24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</a:t>
            </a:r>
            <a:r>
              <a:rPr lang="en-US" sz="24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kích thích</a:t>
            </a:r>
            <a:r>
              <a:rPr lang="en-US" sz="24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mạnh</a:t>
            </a:r>
            <a:r>
              <a:rPr lang="en-US" sz="24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hơn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4932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5252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35572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55892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76212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96532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16852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37172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5749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7781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9813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1845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38772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59092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79412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997320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183587" y="9552517"/>
            <a:ext cx="135467" cy="135467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5" name="Shape 33"/>
          <p:cNvSpPr/>
          <p:nvPr/>
        </p:nvSpPr>
        <p:spPr>
          <a:xfrm>
            <a:off x="4403720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606919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810119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013319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216518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419718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622918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5826117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029317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232517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64357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66389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8421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0453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724851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745171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65491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785811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06131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26451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846771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867091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87411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907731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928051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948371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968691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989011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Text 61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L02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17/45</a:t>
            </a:r>
            <a:endParaRPr lang="en-US" sz="1800" dirty="0"/>
          </a:p>
        </p:txBody>
      </p:sp>
      <p:sp>
        <p:nvSpPr>
          <p:cNvPr id="64" name="Shape 6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5" name="Moda image moda-export-watermark-6c693787-0bda-4130-8c77-ff2ffd863e4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3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Sợi</a:t>
            </a:r>
            <a:r>
              <a:rPr lang="en-US" sz="57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trục</a:t>
            </a: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5700" dirty="0" spc="-6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57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myelin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CFE8E2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Có</a:t>
            </a:r>
            <a:r>
              <a:rPr lang="en-US" sz="420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myelin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37160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xung</a:t>
            </a:r>
            <a:r>
              <a:rPr lang="en-US" sz="31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nhảy</a:t>
            </a:r>
            <a:r>
              <a:rPr lang="en-US" sz="31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31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eo</a:t>
            </a:r>
            <a:r>
              <a:rPr lang="en-US" sz="315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Ranvier</a:t>
            </a:r>
            <a:r>
              <a:rPr lang="en-US" sz="31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31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 eo</a:t>
            </a:r>
            <a:r>
              <a:rPr lang="en-US" sz="31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(dẫn</a:t>
            </a:r>
            <a:r>
              <a:rPr lang="en-US" sz="31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r>
              <a:rPr lang="en-US" sz="31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nhảy</a:t>
            </a: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cóc),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31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1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đỡ</a:t>
            </a:r>
            <a:r>
              <a:rPr lang="en-US" sz="31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tốn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31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31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931545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F8D9D0"/>
          </a:solidFill>
          <a:ln/>
        </p:spPr>
      </p:sp>
      <p:sp>
        <p:nvSpPr>
          <p:cNvPr id="8" name="Shape 6"/>
          <p:cNvSpPr/>
          <p:nvPr/>
        </p:nvSpPr>
        <p:spPr>
          <a:xfrm>
            <a:off x="931545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9" name="Text 7"/>
          <p:cNvSpPr/>
          <p:nvPr/>
        </p:nvSpPr>
        <p:spPr>
          <a:xfrm>
            <a:off x="977265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0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4200" dirty="0" spc="-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4200" dirty="0" spc="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myelin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977265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xung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</a:t>
            </a:r>
            <a:r>
              <a:rPr lang="en-US" sz="31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r>
              <a:rPr lang="en-US" sz="31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dọc</a:t>
            </a:r>
            <a:r>
              <a:rPr lang="en-US" sz="31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sợi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trục,</a:t>
            </a: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 hơn</a:t>
            </a:r>
            <a:r>
              <a:rPr lang="en-US" sz="31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914400" y="74295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E8E0CF"/>
          </a:solidFill>
          <a:ln/>
        </p:spPr>
      </p:sp>
      <p:sp>
        <p:nvSpPr>
          <p:cNvPr id="12" name="Text 10"/>
          <p:cNvSpPr/>
          <p:nvPr/>
        </p:nvSpPr>
        <p:spPr>
          <a:xfrm>
            <a:off x="1295400" y="7429500"/>
            <a:ext cx="15697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10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Tốc</a:t>
            </a:r>
            <a:r>
              <a:rPr lang="en-US" sz="2850" dirty="0" spc="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</a:t>
            </a:r>
            <a:r>
              <a:rPr lang="en-US" sz="285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trong</a:t>
            </a:r>
            <a:r>
              <a:rPr lang="en-US" sz="28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dây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thần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kinh: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khoảng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100</a:t>
            </a:r>
            <a:r>
              <a:rPr lang="en-US" sz="28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m/s</a:t>
            </a:r>
            <a:r>
              <a:rPr lang="en-US" sz="2850" dirty="0" spc="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đến</a:t>
            </a:r>
            <a:r>
              <a:rPr lang="en-US" sz="2850" dirty="0" spc="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dưới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0,1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m/s tùy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sợi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trục [S3]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4932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5252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35572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55892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76212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96532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16852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37172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5749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7781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9813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1845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38772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59092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79412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997320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200520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386786" y="9552517"/>
            <a:ext cx="135467" cy="135467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2" name="Shape 30"/>
          <p:cNvSpPr/>
          <p:nvPr/>
        </p:nvSpPr>
        <p:spPr>
          <a:xfrm>
            <a:off x="4606919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810119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013319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216518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419718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622918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826117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029317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6232517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4357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6389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8421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70453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724851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745171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65491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85811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06131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826451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46771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67091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87411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907731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928051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948371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968691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989011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Text 57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L02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18/45</a:t>
            </a:r>
            <a:endParaRPr lang="en-US" sz="1800" dirty="0"/>
          </a:p>
        </p:txBody>
      </p:sp>
      <p:sp>
        <p:nvSpPr>
          <p:cNvPr id="60" name="Shape 5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1" name="Moda image moda-export-watermark-db88b3fc-a9fd-4d22-a461-2be307e3a42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Hodgkin</a:t>
            </a:r>
            <a:r>
              <a:rPr lang="en-US" sz="5700" dirty="0" spc="-6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Huxley: nguồn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lịch sử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72415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1E212B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72415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93370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7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Họ</a:t>
            </a:r>
            <a:r>
              <a:rPr lang="en-US" sz="2100" dirty="0" spc="-6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là</a:t>
            </a:r>
            <a:r>
              <a:rPr lang="en-US" sz="2100" dirty="0" spc="5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ai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295400" y="344805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Alan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Hodgkin</a:t>
            </a:r>
            <a:r>
              <a:rPr lang="en-US" sz="2550" dirty="0" spc="-2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và</a:t>
            </a:r>
            <a:r>
              <a:rPr lang="en-US" sz="2550" dirty="0" spc="-2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Andrew</a:t>
            </a:r>
            <a:r>
              <a:rPr lang="en-US" sz="2550" dirty="0" spc="-1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Huxley;</a:t>
            </a:r>
            <a:r>
              <a:rPr lang="en-US" sz="2550" dirty="0" spc="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giáo</a:t>
            </a:r>
            <a:r>
              <a:rPr lang="en-US" sz="2550" dirty="0" spc="7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trình</a:t>
            </a:r>
            <a:r>
              <a:rPr lang="en-US" sz="255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nêu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họ</a:t>
            </a:r>
            <a:r>
              <a:rPr lang="en-US" sz="2550" dirty="0" spc="-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nhận</a:t>
            </a:r>
            <a:r>
              <a:rPr lang="en-US" sz="2550" dirty="0" spc="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giải</a:t>
            </a:r>
            <a:r>
              <a:rPr lang="en-US" sz="255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Nobel</a:t>
            </a:r>
            <a:r>
              <a:rPr lang="en-US" sz="2550" dirty="0" spc="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Y</a:t>
            </a:r>
            <a:r>
              <a:rPr lang="en-US" sz="2550" dirty="0" spc="-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học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năm</a:t>
            </a: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1963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4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[S1]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486525" y="272415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1E212B"/>
          </a:solidFill>
          <a:ln/>
        </p:spPr>
      </p:sp>
      <p:sp>
        <p:nvSpPr>
          <p:cNvPr id="8" name="Shape 6"/>
          <p:cNvSpPr/>
          <p:nvPr/>
        </p:nvSpPr>
        <p:spPr>
          <a:xfrm>
            <a:off x="6486525" y="272415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9" name="Text 7"/>
          <p:cNvSpPr/>
          <p:nvPr/>
        </p:nvSpPr>
        <p:spPr>
          <a:xfrm>
            <a:off x="6867525" y="293370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14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Làm</a:t>
            </a:r>
            <a:r>
              <a:rPr lang="en-US" sz="2100" dirty="0" spc="-10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trên</a:t>
            </a:r>
            <a:r>
              <a:rPr lang="en-US" sz="2100" dirty="0" spc="-1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gì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867525" y="344805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Sợi</a:t>
            </a:r>
            <a:r>
              <a:rPr lang="en-US" sz="2550" dirty="0" spc="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trục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khổng</a:t>
            </a:r>
            <a:r>
              <a:rPr lang="en-US" sz="2550" dirty="0" spc="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lồ</a:t>
            </a: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của</a:t>
            </a:r>
            <a:r>
              <a:rPr lang="en-US" sz="2550" dirty="0" spc="9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mực,</a:t>
            </a:r>
            <a:r>
              <a:rPr lang="en-US" sz="2550" dirty="0" spc="-1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to</a:t>
            </a:r>
            <a:r>
              <a:rPr lang="en-US" sz="2550" dirty="0" spc="-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hơn</a:t>
            </a:r>
            <a:r>
              <a:rPr lang="en-US" sz="255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khoảng 100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lần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sợi</a:t>
            </a:r>
            <a:r>
              <a:rPr lang="en-US" sz="2550" dirty="0" spc="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trục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não</a:t>
            </a:r>
            <a:r>
              <a:rPr lang="en-US" sz="2550" dirty="0" spc="7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động</a:t>
            </a:r>
            <a:r>
              <a:rPr lang="en-US" sz="2550" dirty="0" spc="-26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vật</a:t>
            </a: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có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vú</a:t>
            </a: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4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[S1]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28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(kết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quả</a:t>
            </a: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từ</a:t>
            </a:r>
            <a:r>
              <a:rPr lang="en-US" sz="2550" dirty="0" spc="7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động</a:t>
            </a:r>
            <a:r>
              <a:rPr lang="en-US" sz="2550" dirty="0" spc="-2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vật)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12068175" y="272415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1E212B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68175" y="272415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3" name="Text 11"/>
          <p:cNvSpPr/>
          <p:nvPr/>
        </p:nvSpPr>
        <p:spPr>
          <a:xfrm>
            <a:off x="12449175" y="293370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Điều</a:t>
            </a:r>
            <a:r>
              <a:rPr lang="en-US" sz="2100" dirty="0" spc="-9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họ</a:t>
            </a:r>
            <a:r>
              <a:rPr lang="en-US" sz="2100" dirty="0" spc="2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quan</a:t>
            </a:r>
            <a:r>
              <a:rPr lang="en-US" sz="2100" dirty="0" spc="-4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sát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2449175" y="344805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Kích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thích</a:t>
            </a:r>
            <a:r>
              <a:rPr lang="en-US" sz="2550" dirty="0" spc="18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điện</a:t>
            </a:r>
            <a:r>
              <a:rPr lang="en-US" sz="2550" dirty="0" spc="-2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gây</a:t>
            </a:r>
            <a:r>
              <a:rPr lang="en-US" sz="2550" dirty="0" spc="-6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một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dòng</a:t>
            </a:r>
            <a:r>
              <a:rPr lang="en-US" sz="2550" dirty="0" spc="17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điện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lớn,</a:t>
            </a:r>
            <a:r>
              <a:rPr lang="en-US" sz="2550" dirty="0" spc="-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thoáng</a:t>
            </a: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qua</a:t>
            </a:r>
            <a:r>
              <a:rPr lang="en-US" sz="2550" dirty="0" spc="-1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chạy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dọc sợi</a:t>
            </a: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trục:</a:t>
            </a:r>
            <a:r>
              <a:rPr lang="en-US" sz="2550" dirty="0" spc="17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điện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thế</a:t>
            </a:r>
            <a:r>
              <a:rPr lang="en-US" sz="2550" dirty="0" spc="-1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hoạt</a:t>
            </a:r>
            <a:r>
              <a:rPr lang="en-US" sz="2550" dirty="0" spc="7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động</a:t>
            </a:r>
            <a:r>
              <a:rPr lang="en-US" sz="2550" dirty="0" spc="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4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[S1]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914400" y="582930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1E212B"/>
          </a:solidFill>
          <a:ln/>
        </p:spPr>
      </p:sp>
      <p:sp>
        <p:nvSpPr>
          <p:cNvPr id="16" name="Shape 14"/>
          <p:cNvSpPr/>
          <p:nvPr/>
        </p:nvSpPr>
        <p:spPr>
          <a:xfrm>
            <a:off x="914400" y="582930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603885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5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Bài</a:t>
            </a:r>
            <a:r>
              <a:rPr lang="en-US" sz="2100" dirty="0" spc="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báo</a:t>
            </a:r>
            <a:r>
              <a:rPr lang="en-US" sz="2100" dirty="0" spc="-8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gốc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295400" y="655320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Công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bố năm 1952</a:t>
            </a:r>
            <a:r>
              <a:rPr lang="en-US" sz="2550" dirty="0" spc="-19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trên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Journal of</a:t>
            </a:r>
            <a:r>
              <a:rPr lang="en-US" sz="2550" dirty="0" spc="-1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Physiology</a:t>
            </a:r>
            <a:r>
              <a:rPr lang="en-US" sz="2550" dirty="0" spc="-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4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[S2]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6486525" y="582930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1E212B"/>
          </a:solidFill>
          <a:ln/>
        </p:spPr>
      </p:sp>
      <p:sp>
        <p:nvSpPr>
          <p:cNvPr id="20" name="Shape 18"/>
          <p:cNvSpPr/>
          <p:nvPr/>
        </p:nvSpPr>
        <p:spPr>
          <a:xfrm>
            <a:off x="6486525" y="582930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21" name="Text 19"/>
          <p:cNvSpPr/>
          <p:nvPr/>
        </p:nvSpPr>
        <p:spPr>
          <a:xfrm>
            <a:off x="6867525" y="603885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14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Mức</a:t>
            </a:r>
            <a:r>
              <a:rPr lang="en-US" sz="2100" dirty="0" spc="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đã</a:t>
            </a:r>
            <a:r>
              <a:rPr lang="en-US" sz="2100" dirty="0" spc="-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đọc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6867525" y="655320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Chỉ</a:t>
            </a:r>
            <a:r>
              <a:rPr lang="en-US" sz="2550" dirty="0" spc="-19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xác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minh</a:t>
            </a:r>
            <a:r>
              <a:rPr lang="en-US" sz="255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thông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tin</a:t>
            </a:r>
            <a:r>
              <a:rPr lang="en-US" sz="255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thư</a:t>
            </a:r>
            <a:r>
              <a:rPr lang="en-US" sz="2550" dirty="0" spc="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mục;</a:t>
            </a:r>
            <a:r>
              <a:rPr lang="en-US" sz="2550" dirty="0" spc="6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chưa</a:t>
            </a:r>
            <a:r>
              <a:rPr lang="en-US" sz="2550" dirty="0" spc="1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đọc</a:t>
            </a:r>
            <a:r>
              <a:rPr lang="en-US" sz="2550" dirty="0" spc="-1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toàn</a:t>
            </a:r>
            <a:r>
              <a:rPr lang="en-US" sz="2550" dirty="0" spc="-17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văn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bài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báo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4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[S2]</a:t>
            </a:r>
            <a:endParaRPr lang="en-US" sz="2550" dirty="0"/>
          </a:p>
        </p:txBody>
      </p:sp>
      <p:sp>
        <p:nvSpPr>
          <p:cNvPr id="23" name="Shape 21"/>
          <p:cNvSpPr/>
          <p:nvPr/>
        </p:nvSpPr>
        <p:spPr>
          <a:xfrm>
            <a:off x="12068175" y="582930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1E212B"/>
          </a:solidFill>
          <a:ln/>
        </p:spPr>
      </p:sp>
      <p:sp>
        <p:nvSpPr>
          <p:cNvPr id="24" name="Shape 22"/>
          <p:cNvSpPr/>
          <p:nvPr/>
        </p:nvSpPr>
        <p:spPr>
          <a:xfrm>
            <a:off x="12068175" y="582930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25" name="Text 23"/>
          <p:cNvSpPr/>
          <p:nvPr/>
        </p:nvSpPr>
        <p:spPr>
          <a:xfrm>
            <a:off x="12449175" y="603885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22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Đừng</a:t>
            </a:r>
            <a:r>
              <a:rPr lang="en-US" sz="2100" dirty="0" spc="0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hiểu</a:t>
            </a:r>
            <a:r>
              <a:rPr lang="en-US" sz="2100" dirty="0" spc="-4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nhầm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12449175" y="655320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Giáo</a:t>
            </a:r>
            <a:r>
              <a:rPr lang="en-US" sz="2400" dirty="0" spc="6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trình</a:t>
            </a:r>
            <a:r>
              <a:rPr lang="en-US" sz="240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dùng</a:t>
            </a:r>
            <a:r>
              <a:rPr lang="en-US" sz="2400" dirty="0" spc="-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công</a:t>
            </a:r>
            <a:r>
              <a:rPr lang="en-US" sz="2400" dirty="0" spc="6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trình</a:t>
            </a:r>
            <a:r>
              <a:rPr lang="en-US" sz="2400" dirty="0" spc="-1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này</a:t>
            </a:r>
            <a:r>
              <a:rPr lang="en-US" sz="240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làm</a:t>
            </a:r>
            <a:r>
              <a:rPr lang="en-US" sz="240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mô</a:t>
            </a:r>
            <a:r>
              <a:rPr lang="en-US" sz="2400" dirty="0" spc="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hình</a:t>
            </a:r>
            <a:r>
              <a:rPr lang="en-US" sz="240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chung; chi</a:t>
            </a:r>
            <a:r>
              <a:rPr lang="en-US" sz="2400" dirty="0" spc="-8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tiết</a:t>
            </a:r>
            <a:r>
              <a:rPr lang="en-US" sz="240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cơ chế</a:t>
            </a:r>
            <a:r>
              <a:rPr lang="en-US" sz="240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ở</a:t>
            </a:r>
            <a:r>
              <a:rPr lang="en-US" sz="2400" dirty="0" spc="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đây</a:t>
            </a:r>
            <a:r>
              <a:rPr lang="en-US" sz="2400" dirty="0" spc="-1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lấy</a:t>
            </a:r>
            <a:r>
              <a:rPr lang="en-US" sz="240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từ</a:t>
            </a:r>
            <a:r>
              <a:rPr lang="en-US" sz="2400" dirty="0" spc="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giáo</a:t>
            </a:r>
            <a:r>
              <a:rPr lang="en-US" sz="2400" dirty="0" spc="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trình,</a:t>
            </a:r>
            <a:r>
              <a:rPr lang="en-US" sz="240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không từ</a:t>
            </a:r>
            <a:r>
              <a:rPr lang="en-US" sz="240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bài</a:t>
            </a:r>
            <a:r>
              <a:rPr lang="en-US" sz="2400" dirty="0" spc="-1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gốc</a:t>
            </a:r>
            <a:r>
              <a:rPr lang="en-US" sz="2400" dirty="0" spc="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000"/>
              </a:lnSpc>
              <a:buNone/>
            </a:pPr>
            <a:r>
              <a:rPr lang="en-US" sz="2400" dirty="0" spc="-1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[S1]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4932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15252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135572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155892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176212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196532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216852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237172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25749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27781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29813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31845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338772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359092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379412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3997320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4200520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4403720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4589986" y="9552517"/>
            <a:ext cx="135467" cy="135467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7" name="Shape 45"/>
          <p:cNvSpPr/>
          <p:nvPr/>
        </p:nvSpPr>
        <p:spPr>
          <a:xfrm>
            <a:off x="4810119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5013319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5216518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5419718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5622918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5826117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6029317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6232517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64357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66389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68421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70453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724851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745171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765491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785811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806131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826451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846771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867091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887411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907731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928051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948371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968691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>
            <a:off x="989011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3" name="Text 71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L02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19/45</a:t>
            </a:r>
            <a:endParaRPr lang="en-US" sz="1800" dirty="0"/>
          </a:p>
        </p:txBody>
      </p:sp>
      <p:sp>
        <p:nvSpPr>
          <p:cNvPr id="74" name="Shape 7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75" name="Moda image moda-export-watermark-bd1b5ec7-dee9-430e-8c98-cef17b0124a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Synapse</a:t>
            </a:r>
            <a:r>
              <a:rPr lang="en-US" sz="57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hóa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học: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</a:t>
            </a:r>
            <a:r>
              <a:rPr lang="en-US" sz="5700" dirty="0" spc="-7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bước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1562100" y="2762250"/>
            <a:ext cx="4191000" cy="800100"/>
          </a:xfrm>
          <a:prstGeom prst="roundRect">
            <a:avLst>
              <a:gd name="adj" fmla="val 23810"/>
            </a:avLst>
          </a:prstGeom>
          <a:solidFill>
            <a:srgbClr val="0F766E"/>
          </a:solidFill>
          <a:ln/>
        </p:spPr>
      </p:sp>
      <p:sp>
        <p:nvSpPr>
          <p:cNvPr id="4" name="Text 2"/>
          <p:cNvSpPr/>
          <p:nvPr/>
        </p:nvSpPr>
        <p:spPr>
          <a:xfrm>
            <a:off x="1562100" y="2762250"/>
            <a:ext cx="4191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16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Nơron</a:t>
            </a:r>
            <a:r>
              <a:rPr lang="en-US" sz="2550" dirty="0" spc="8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trước</a:t>
            </a:r>
            <a:endParaRPr lang="en-US" sz="2550" dirty="0"/>
          </a:p>
        </p:txBody>
      </p:sp>
      <p:sp>
        <p:nvSpPr>
          <p:cNvPr id="5" name="Connector line-1792617651183-187746310"/>
          <p:cNvSpPr/>
          <p:nvPr/>
        </p:nvSpPr>
        <p:spPr>
          <a:xfrm>
            <a:off x="3657600" y="3562350"/>
            <a:ext cx="0" cy="5391150"/>
          </a:xfrm>
          <a:prstGeom prst="line">
            <a:avLst/>
          </a:prstGeom>
          <a:noFill/>
          <a:ln w="3810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7048500" y="2762250"/>
            <a:ext cx="4191000" cy="800100"/>
          </a:xfrm>
          <a:prstGeom prst="roundRect">
            <a:avLst>
              <a:gd name="adj" fmla="val 23810"/>
            </a:avLst>
          </a:prstGeom>
          <a:solidFill>
            <a:srgbClr val="E8472B"/>
          </a:solidFill>
          <a:ln/>
        </p:spPr>
      </p:sp>
      <p:sp>
        <p:nvSpPr>
          <p:cNvPr id="7" name="Text 5"/>
          <p:cNvSpPr/>
          <p:nvPr/>
        </p:nvSpPr>
        <p:spPr>
          <a:xfrm>
            <a:off x="7048500" y="2762250"/>
            <a:ext cx="4191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8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Khe</a:t>
            </a:r>
            <a:r>
              <a:rPr lang="en-US" sz="2550" dirty="0" spc="-12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synapse</a:t>
            </a:r>
            <a:endParaRPr lang="en-US" sz="2550" dirty="0"/>
          </a:p>
        </p:txBody>
      </p:sp>
      <p:sp>
        <p:nvSpPr>
          <p:cNvPr id="8" name="Connector line-1792617651185-154131880"/>
          <p:cNvSpPr/>
          <p:nvPr/>
        </p:nvSpPr>
        <p:spPr>
          <a:xfrm>
            <a:off x="9144000" y="3562350"/>
            <a:ext cx="0" cy="5391150"/>
          </a:xfrm>
          <a:prstGeom prst="line">
            <a:avLst/>
          </a:prstGeom>
          <a:noFill/>
          <a:ln w="3810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12534900" y="2762250"/>
            <a:ext cx="4191000" cy="800100"/>
          </a:xfrm>
          <a:prstGeom prst="roundRect">
            <a:avLst>
              <a:gd name="adj" fmla="val 23810"/>
            </a:avLst>
          </a:prstGeom>
          <a:solidFill>
            <a:srgbClr val="1F3FD1"/>
          </a:solidFill>
          <a:ln/>
        </p:spPr>
      </p:sp>
      <p:sp>
        <p:nvSpPr>
          <p:cNvPr id="10" name="Text 8"/>
          <p:cNvSpPr/>
          <p:nvPr/>
        </p:nvSpPr>
        <p:spPr>
          <a:xfrm>
            <a:off x="12534900" y="2762250"/>
            <a:ext cx="4191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16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Nơron</a:t>
            </a:r>
            <a:r>
              <a:rPr lang="en-US" sz="2550" dirty="0" spc="4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sau</a:t>
            </a:r>
            <a:endParaRPr lang="en-US" sz="2550" dirty="0"/>
          </a:p>
        </p:txBody>
      </p:sp>
      <p:sp>
        <p:nvSpPr>
          <p:cNvPr id="11" name="Connector line-1792617651187-339447110"/>
          <p:cNvSpPr/>
          <p:nvPr/>
        </p:nvSpPr>
        <p:spPr>
          <a:xfrm>
            <a:off x="14630400" y="3562350"/>
            <a:ext cx="0" cy="5391150"/>
          </a:xfrm>
          <a:prstGeom prst="line">
            <a:avLst/>
          </a:prstGeom>
          <a:noFill/>
          <a:ln w="3810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12" name="Connector line-1792617651187-92307950"/>
          <p:cNvSpPr/>
          <p:nvPr/>
        </p:nvSpPr>
        <p:spPr>
          <a:xfrm>
            <a:off x="3657600" y="4143375"/>
            <a:ext cx="0" cy="85725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3886200" y="4143375"/>
            <a:ext cx="4724400" cy="857250"/>
          </a:xfrm>
          <a:prstGeom prst="rect">
            <a:avLst/>
          </a:prstGeom>
          <a:noFill/>
          <a:ln/>
        </p:spPr>
        <p:txBody>
          <a:bodyPr wrap="square" lIns="0" tIns="19683" rIns="0" bIns="-19683" rtlCol="0" anchor="ctr"/>
          <a:lstStyle/>
          <a:p>
            <a:pPr algn="l" indent="0" marL="0">
              <a:lnSpc>
                <a:spcPts val="2475"/>
              </a:lnSpc>
              <a:buNone/>
            </a:pP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1.</a:t>
            </a:r>
            <a:r>
              <a:rPr lang="en-US" sz="225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Xung</a:t>
            </a:r>
            <a:r>
              <a:rPr lang="en-US" sz="2250" dirty="0" spc="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điện</a:t>
            </a:r>
            <a:r>
              <a:rPr lang="en-US" sz="22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tới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nút</a:t>
            </a:r>
            <a:r>
              <a:rPr lang="en-US" sz="22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tận</a:t>
            </a:r>
            <a:r>
              <a:rPr lang="en-US" sz="22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cùng</a:t>
            </a:r>
            <a:endParaRPr lang="en-US" sz="2250" dirty="0"/>
          </a:p>
        </p:txBody>
      </p:sp>
      <p:sp>
        <p:nvSpPr>
          <p:cNvPr id="14" name="Connector line-1792617651189-905029880"/>
          <p:cNvSpPr/>
          <p:nvPr/>
        </p:nvSpPr>
        <p:spPr>
          <a:xfrm>
            <a:off x="3657600" y="5953125"/>
            <a:ext cx="548640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3752850" y="5153025"/>
            <a:ext cx="5295900" cy="762000"/>
          </a:xfrm>
          <a:prstGeom prst="rect">
            <a:avLst/>
          </a:prstGeom>
          <a:noFill/>
          <a:ln/>
        </p:spPr>
        <p:txBody>
          <a:bodyPr wrap="square" lIns="0" tIns="19683" rIns="0" bIns="-19683" rtlCol="0" anchor="b"/>
          <a:lstStyle/>
          <a:p>
            <a:pPr algn="ctr" indent="0" marL="0">
              <a:lnSpc>
                <a:spcPts val="2475"/>
              </a:lnSpc>
              <a:buNone/>
            </a:pP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2.</a:t>
            </a:r>
            <a:r>
              <a:rPr lang="en-US" sz="22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Canxi</a:t>
            </a:r>
            <a:r>
              <a:rPr lang="en-US" sz="22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vào,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túi</a:t>
            </a:r>
            <a:r>
              <a:rPr lang="en-US" sz="22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giải</a:t>
            </a:r>
            <a:r>
              <a:rPr lang="en-US" sz="22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phóng chất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dẫn</a:t>
            </a:r>
            <a:r>
              <a:rPr lang="en-US" sz="22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truyền</a:t>
            </a:r>
            <a:endParaRPr lang="en-US" sz="2250" dirty="0"/>
          </a:p>
        </p:txBody>
      </p:sp>
      <p:sp>
        <p:nvSpPr>
          <p:cNvPr id="16" name="Connector line-1792617651191-919257543"/>
          <p:cNvSpPr/>
          <p:nvPr/>
        </p:nvSpPr>
        <p:spPr>
          <a:xfrm>
            <a:off x="9144000" y="7239000"/>
            <a:ext cx="548640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9239250" y="6438900"/>
            <a:ext cx="5295900" cy="762000"/>
          </a:xfrm>
          <a:prstGeom prst="rect">
            <a:avLst/>
          </a:prstGeom>
          <a:noFill/>
          <a:ln/>
        </p:spPr>
        <p:txBody>
          <a:bodyPr wrap="square" lIns="0" tIns="19683" rIns="0" bIns="-19683" rtlCol="0" anchor="b"/>
          <a:lstStyle/>
          <a:p>
            <a:pPr algn="ctr" indent="0" marL="0">
              <a:lnSpc>
                <a:spcPts val="2475"/>
              </a:lnSpc>
              <a:buNone/>
            </a:pPr>
            <a:r>
              <a:rPr lang="en-US" sz="225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3.</a:t>
            </a:r>
            <a:r>
              <a:rPr lang="en-US" sz="22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Chất</a:t>
            </a:r>
            <a:r>
              <a:rPr lang="en-US" sz="22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dẫn</a:t>
            </a:r>
            <a:r>
              <a:rPr lang="en-US" sz="22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truyền</a:t>
            </a:r>
            <a:r>
              <a:rPr lang="en-US" sz="22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qua</a:t>
            </a:r>
            <a:r>
              <a:rPr lang="en-US" sz="22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khe,</a:t>
            </a:r>
            <a:r>
              <a:rPr lang="en-US" sz="22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gắn</a:t>
            </a:r>
            <a:r>
              <a:rPr lang="en-US" sz="22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vào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thụ</a:t>
            </a:r>
            <a:r>
              <a:rPr lang="en-US" sz="22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thể</a:t>
            </a:r>
            <a:endParaRPr lang="en-US" sz="2250" dirty="0"/>
          </a:p>
        </p:txBody>
      </p:sp>
      <p:sp>
        <p:nvSpPr>
          <p:cNvPr id="18" name="Connector line-1792617651193-637298395"/>
          <p:cNvSpPr/>
          <p:nvPr/>
        </p:nvSpPr>
        <p:spPr>
          <a:xfrm>
            <a:off x="14630400" y="8001000"/>
            <a:ext cx="0" cy="85725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9677400" y="8001000"/>
            <a:ext cx="4724400" cy="857250"/>
          </a:xfrm>
          <a:prstGeom prst="rect">
            <a:avLst/>
          </a:prstGeom>
          <a:noFill/>
          <a:ln/>
        </p:spPr>
        <p:txBody>
          <a:bodyPr wrap="square" lIns="0" tIns="19683" rIns="0" bIns="-19683" rtlCol="0" anchor="ctr"/>
          <a:lstStyle/>
          <a:p>
            <a:pPr algn="r" indent="0" marL="0">
              <a:lnSpc>
                <a:spcPts val="2475"/>
              </a:lnSpc>
              <a:buNone/>
            </a:pPr>
            <a:r>
              <a:rPr lang="en-US" sz="22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4.</a:t>
            </a:r>
            <a:r>
              <a:rPr lang="en-US" sz="22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Nơron</a:t>
            </a:r>
            <a:r>
              <a:rPr lang="en-US" sz="22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sau</a:t>
            </a:r>
            <a:r>
              <a:rPr lang="en-US" sz="22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đổi</a:t>
            </a:r>
            <a:r>
              <a:rPr lang="en-US" sz="2250" dirty="0" spc="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điện</a:t>
            </a:r>
            <a:r>
              <a:rPr lang="en-US" sz="22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thế:</a:t>
            </a:r>
            <a:r>
              <a:rPr lang="en-US" sz="22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kích thích</a:t>
            </a:r>
            <a:r>
              <a:rPr lang="en-US" sz="22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hoặc</a:t>
            </a:r>
            <a:r>
              <a:rPr lang="en-US" sz="2250" dirty="0" spc="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ức</a:t>
            </a:r>
            <a:r>
              <a:rPr lang="en-US" sz="22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chế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94932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15252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35572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55892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76212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96532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16852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37172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5749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7781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29813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1845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38772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59092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79412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997320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200520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403720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606919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4793186" y="9552517"/>
            <a:ext cx="135467" cy="135467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1" name="Shape 39"/>
          <p:cNvSpPr/>
          <p:nvPr/>
        </p:nvSpPr>
        <p:spPr>
          <a:xfrm>
            <a:off x="5013319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5216518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5419718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622918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5826117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6029317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232517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64357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66389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68421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0453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724851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745171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765491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85811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806131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26451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846771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867091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887411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907731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928051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948371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968691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989011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6" name="Text 64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L02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20/45</a:t>
            </a:r>
            <a:endParaRPr lang="en-US" sz="1800" dirty="0"/>
          </a:p>
        </p:txBody>
      </p:sp>
      <p:sp>
        <p:nvSpPr>
          <p:cNvPr id="67" name="Shape 6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8" name="Moda image moda-export-watermark-d7e6e705-e6ce-4e25-b650-41b334e2724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Synapse</a:t>
            </a:r>
            <a:r>
              <a:rPr lang="en-US" sz="57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trên một</a:t>
            </a:r>
            <a:r>
              <a:rPr lang="en-US" sz="57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247900"/>
            <a:ext cx="10096500" cy="609600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28575">
            <a:solidFill>
              <a:srgbClr val="2C3040"/>
            </a:solidFill>
            <a:prstDash val="solid"/>
          </a:ln>
        </p:spPr>
      </p:sp>
      <p:pic>
        <p:nvPicPr>
          <p:cNvPr id="4" name="Moda image rect-1792617652602-34223026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56828" y="2438400"/>
            <a:ext cx="8611644" cy="5715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8477250"/>
            <a:ext cx="16459200" cy="495300"/>
          </a:xfrm>
          <a:prstGeom prst="rect">
            <a:avLst/>
          </a:prstGeom>
          <a:noFill/>
          <a:ln/>
        </p:spPr>
        <p:txBody>
          <a:bodyPr wrap="square" lIns="0" tIns="14435" rIns="0" bIns="-14435" rtlCol="0" anchor="t"/>
          <a:lstStyle/>
          <a:p>
            <a:pPr algn="l" indent="0" marL="0">
              <a:lnSpc>
                <a:spcPts val="1815"/>
              </a:lnSpc>
              <a:buNone/>
            </a:pP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Hình: Noba,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giấy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CC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BY-NC-SA;</a:t>
            </a:r>
            <a:r>
              <a:rPr lang="en-US" sz="16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Hove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&amp; Martinez,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(chương 3)</a:t>
            </a:r>
            <a:endParaRPr lang="en-US" sz="1650" dirty="0"/>
          </a:p>
        </p:txBody>
      </p:sp>
      <p:sp>
        <p:nvSpPr>
          <p:cNvPr id="6" name="Shape 3"/>
          <p:cNvSpPr/>
          <p:nvPr/>
        </p:nvSpPr>
        <p:spPr>
          <a:xfrm>
            <a:off x="11391900" y="2247900"/>
            <a:ext cx="5981700" cy="14287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7" name="Shape 4"/>
          <p:cNvSpPr/>
          <p:nvPr/>
        </p:nvSpPr>
        <p:spPr>
          <a:xfrm>
            <a:off x="11391900" y="2247900"/>
            <a:ext cx="114300" cy="14287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8" name="Text 5"/>
          <p:cNvSpPr/>
          <p:nvPr/>
        </p:nvSpPr>
        <p:spPr>
          <a:xfrm>
            <a:off x="11734800" y="2343150"/>
            <a:ext cx="54483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Vesicle</a:t>
            </a:r>
            <a:endParaRPr lang="en-US" sz="2250" dirty="0"/>
          </a:p>
        </p:txBody>
      </p:sp>
      <p:sp>
        <p:nvSpPr>
          <p:cNvPr id="9" name="Text 6"/>
          <p:cNvSpPr/>
          <p:nvPr/>
        </p:nvSpPr>
        <p:spPr>
          <a:xfrm>
            <a:off x="11734800" y="2819400"/>
            <a:ext cx="5448300" cy="8001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túi</a:t>
            </a:r>
            <a:r>
              <a:rPr lang="en-US" sz="2550" dirty="0" spc="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chứa</a:t>
            </a:r>
            <a:r>
              <a:rPr lang="en-US" sz="255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chất</a:t>
            </a:r>
            <a:r>
              <a:rPr lang="en-US" sz="25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dẫn</a:t>
            </a:r>
            <a:r>
              <a:rPr lang="en-US" sz="2550" dirty="0" spc="-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truyền</a:t>
            </a:r>
            <a:endParaRPr lang="en-US" sz="2550" dirty="0"/>
          </a:p>
        </p:txBody>
      </p:sp>
      <p:sp>
        <p:nvSpPr>
          <p:cNvPr id="10" name="Shape 7"/>
          <p:cNvSpPr/>
          <p:nvPr/>
        </p:nvSpPr>
        <p:spPr>
          <a:xfrm>
            <a:off x="11391900" y="3905250"/>
            <a:ext cx="5981700" cy="14287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11" name="Shape 8"/>
          <p:cNvSpPr/>
          <p:nvPr/>
        </p:nvSpPr>
        <p:spPr>
          <a:xfrm>
            <a:off x="11391900" y="3905250"/>
            <a:ext cx="114300" cy="14287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2" name="Text 9"/>
          <p:cNvSpPr/>
          <p:nvPr/>
        </p:nvSpPr>
        <p:spPr>
          <a:xfrm>
            <a:off x="11734800" y="4000500"/>
            <a:ext cx="54483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Synaptic</a:t>
            </a:r>
            <a:r>
              <a:rPr lang="en-US" sz="2250" dirty="0" spc="2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gap</a:t>
            </a:r>
            <a:endParaRPr lang="en-US" sz="2250" dirty="0"/>
          </a:p>
        </p:txBody>
      </p:sp>
      <p:sp>
        <p:nvSpPr>
          <p:cNvPr id="13" name="Text 10"/>
          <p:cNvSpPr/>
          <p:nvPr/>
        </p:nvSpPr>
        <p:spPr>
          <a:xfrm>
            <a:off x="11734800" y="4476750"/>
            <a:ext cx="5448300" cy="8001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khe</a:t>
            </a:r>
            <a:r>
              <a:rPr lang="en-US" sz="2550" dirty="0" spc="-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synapse</a:t>
            </a:r>
            <a:r>
              <a:rPr lang="en-US" sz="25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(khoảng</a:t>
            </a:r>
            <a:r>
              <a:rPr lang="en-US" sz="25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5</a:t>
            </a:r>
            <a:r>
              <a:rPr lang="en-US" sz="25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nm)</a:t>
            </a:r>
            <a:endParaRPr lang="en-US" sz="2550" dirty="0"/>
          </a:p>
        </p:txBody>
      </p:sp>
      <p:sp>
        <p:nvSpPr>
          <p:cNvPr id="14" name="Shape 11"/>
          <p:cNvSpPr/>
          <p:nvPr/>
        </p:nvSpPr>
        <p:spPr>
          <a:xfrm>
            <a:off x="11391900" y="5562600"/>
            <a:ext cx="5981700" cy="14287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15" name="Shape 12"/>
          <p:cNvSpPr/>
          <p:nvPr/>
        </p:nvSpPr>
        <p:spPr>
          <a:xfrm>
            <a:off x="11391900" y="5562600"/>
            <a:ext cx="114300" cy="14287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6" name="Text 13"/>
          <p:cNvSpPr/>
          <p:nvPr/>
        </p:nvSpPr>
        <p:spPr>
          <a:xfrm>
            <a:off x="11734800" y="5657850"/>
            <a:ext cx="54483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Receptor</a:t>
            </a:r>
            <a:endParaRPr lang="en-US" sz="2250" dirty="0"/>
          </a:p>
        </p:txBody>
      </p:sp>
      <p:sp>
        <p:nvSpPr>
          <p:cNvPr id="17" name="Text 14"/>
          <p:cNvSpPr/>
          <p:nvPr/>
        </p:nvSpPr>
        <p:spPr>
          <a:xfrm>
            <a:off x="11734800" y="6134100"/>
            <a:ext cx="5448300" cy="8001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thụ</a:t>
            </a:r>
            <a:r>
              <a:rPr lang="en-US" sz="25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thể</a:t>
            </a:r>
            <a:endParaRPr lang="en-US" sz="2550" dirty="0"/>
          </a:p>
        </p:txBody>
      </p:sp>
      <p:sp>
        <p:nvSpPr>
          <p:cNvPr id="18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94932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7"/>
          <p:cNvSpPr/>
          <p:nvPr/>
        </p:nvSpPr>
        <p:spPr>
          <a:xfrm>
            <a:off x="115252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8"/>
          <p:cNvSpPr/>
          <p:nvPr/>
        </p:nvSpPr>
        <p:spPr>
          <a:xfrm>
            <a:off x="135572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155892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176212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1"/>
          <p:cNvSpPr/>
          <p:nvPr/>
        </p:nvSpPr>
        <p:spPr>
          <a:xfrm>
            <a:off x="196532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2"/>
          <p:cNvSpPr/>
          <p:nvPr/>
        </p:nvSpPr>
        <p:spPr>
          <a:xfrm>
            <a:off x="216852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237172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4"/>
          <p:cNvSpPr/>
          <p:nvPr/>
        </p:nvSpPr>
        <p:spPr>
          <a:xfrm>
            <a:off x="25749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5"/>
          <p:cNvSpPr/>
          <p:nvPr/>
        </p:nvSpPr>
        <p:spPr>
          <a:xfrm>
            <a:off x="27781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29813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7"/>
          <p:cNvSpPr/>
          <p:nvPr/>
        </p:nvSpPr>
        <p:spPr>
          <a:xfrm>
            <a:off x="31845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8"/>
          <p:cNvSpPr/>
          <p:nvPr/>
        </p:nvSpPr>
        <p:spPr>
          <a:xfrm>
            <a:off x="338772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359092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0"/>
          <p:cNvSpPr/>
          <p:nvPr/>
        </p:nvSpPr>
        <p:spPr>
          <a:xfrm>
            <a:off x="379412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1"/>
          <p:cNvSpPr/>
          <p:nvPr/>
        </p:nvSpPr>
        <p:spPr>
          <a:xfrm>
            <a:off x="3997320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4200520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3"/>
          <p:cNvSpPr/>
          <p:nvPr/>
        </p:nvSpPr>
        <p:spPr>
          <a:xfrm>
            <a:off x="4403720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4"/>
          <p:cNvSpPr/>
          <p:nvPr/>
        </p:nvSpPr>
        <p:spPr>
          <a:xfrm>
            <a:off x="4606919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5"/>
          <p:cNvSpPr/>
          <p:nvPr/>
        </p:nvSpPr>
        <p:spPr>
          <a:xfrm>
            <a:off x="4810119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6"/>
          <p:cNvSpPr/>
          <p:nvPr/>
        </p:nvSpPr>
        <p:spPr>
          <a:xfrm>
            <a:off x="4996385" y="9552517"/>
            <a:ext cx="135467" cy="135467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0" name="Shape 37"/>
          <p:cNvSpPr/>
          <p:nvPr/>
        </p:nvSpPr>
        <p:spPr>
          <a:xfrm>
            <a:off x="5216518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8"/>
          <p:cNvSpPr/>
          <p:nvPr/>
        </p:nvSpPr>
        <p:spPr>
          <a:xfrm>
            <a:off x="5419718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39"/>
          <p:cNvSpPr/>
          <p:nvPr/>
        </p:nvSpPr>
        <p:spPr>
          <a:xfrm>
            <a:off x="5622918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0"/>
          <p:cNvSpPr/>
          <p:nvPr/>
        </p:nvSpPr>
        <p:spPr>
          <a:xfrm>
            <a:off x="5826117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1"/>
          <p:cNvSpPr/>
          <p:nvPr/>
        </p:nvSpPr>
        <p:spPr>
          <a:xfrm>
            <a:off x="6029317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2"/>
          <p:cNvSpPr/>
          <p:nvPr/>
        </p:nvSpPr>
        <p:spPr>
          <a:xfrm>
            <a:off x="6232517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3"/>
          <p:cNvSpPr/>
          <p:nvPr/>
        </p:nvSpPr>
        <p:spPr>
          <a:xfrm>
            <a:off x="64357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4"/>
          <p:cNvSpPr/>
          <p:nvPr/>
        </p:nvSpPr>
        <p:spPr>
          <a:xfrm>
            <a:off x="66389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5"/>
          <p:cNvSpPr/>
          <p:nvPr/>
        </p:nvSpPr>
        <p:spPr>
          <a:xfrm>
            <a:off x="68421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6"/>
          <p:cNvSpPr/>
          <p:nvPr/>
        </p:nvSpPr>
        <p:spPr>
          <a:xfrm>
            <a:off x="70453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7"/>
          <p:cNvSpPr/>
          <p:nvPr/>
        </p:nvSpPr>
        <p:spPr>
          <a:xfrm>
            <a:off x="724851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8"/>
          <p:cNvSpPr/>
          <p:nvPr/>
        </p:nvSpPr>
        <p:spPr>
          <a:xfrm>
            <a:off x="745171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49"/>
          <p:cNvSpPr/>
          <p:nvPr/>
        </p:nvSpPr>
        <p:spPr>
          <a:xfrm>
            <a:off x="765491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0"/>
          <p:cNvSpPr/>
          <p:nvPr/>
        </p:nvSpPr>
        <p:spPr>
          <a:xfrm>
            <a:off x="785811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1"/>
          <p:cNvSpPr/>
          <p:nvPr/>
        </p:nvSpPr>
        <p:spPr>
          <a:xfrm>
            <a:off x="806131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2"/>
          <p:cNvSpPr/>
          <p:nvPr/>
        </p:nvSpPr>
        <p:spPr>
          <a:xfrm>
            <a:off x="826451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3"/>
          <p:cNvSpPr/>
          <p:nvPr/>
        </p:nvSpPr>
        <p:spPr>
          <a:xfrm>
            <a:off x="846771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4"/>
          <p:cNvSpPr/>
          <p:nvPr/>
        </p:nvSpPr>
        <p:spPr>
          <a:xfrm>
            <a:off x="867091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5"/>
          <p:cNvSpPr/>
          <p:nvPr/>
        </p:nvSpPr>
        <p:spPr>
          <a:xfrm>
            <a:off x="887411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6"/>
          <p:cNvSpPr/>
          <p:nvPr/>
        </p:nvSpPr>
        <p:spPr>
          <a:xfrm>
            <a:off x="907731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7"/>
          <p:cNvSpPr/>
          <p:nvPr/>
        </p:nvSpPr>
        <p:spPr>
          <a:xfrm>
            <a:off x="928051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8"/>
          <p:cNvSpPr/>
          <p:nvPr/>
        </p:nvSpPr>
        <p:spPr>
          <a:xfrm>
            <a:off x="948371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59"/>
          <p:cNvSpPr/>
          <p:nvPr/>
        </p:nvSpPr>
        <p:spPr>
          <a:xfrm>
            <a:off x="968691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Shape 60"/>
          <p:cNvSpPr/>
          <p:nvPr/>
        </p:nvSpPr>
        <p:spPr>
          <a:xfrm>
            <a:off x="989011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Text 61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L02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21/45</a:t>
            </a:r>
            <a:endParaRPr lang="en-US" sz="1800" dirty="0"/>
          </a:p>
        </p:txBody>
      </p:sp>
      <p:sp>
        <p:nvSpPr>
          <p:cNvPr id="65" name="Shape 6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6" name="Moda image moda-export-watermark-c09904d7-1eab-4268-b710-d87478b1de37" descr="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Canxi:</a:t>
            </a:r>
            <a:r>
              <a:rPr lang="en-US" sz="57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chìa</a:t>
            </a:r>
            <a:r>
              <a:rPr lang="en-US" sz="57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 việc giải</a:t>
            </a: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phóng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19400"/>
            <a:ext cx="95250" cy="55054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4" name="Text 2"/>
          <p:cNvSpPr/>
          <p:nvPr/>
        </p:nvSpPr>
        <p:spPr>
          <a:xfrm>
            <a:off x="1295400" y="2762250"/>
            <a:ext cx="10572750" cy="5619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Khe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1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synapse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8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nanomet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5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tận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cùng,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 túi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synapse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đóng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28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1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chất</a:t>
            </a:r>
            <a:r>
              <a:rPr lang="en-US" sz="2850" b="1" dirty="0" spc="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850" b="1" dirty="0" spc="-1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xung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tới,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canxi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tận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cùng;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Neuroscience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Online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canxi là ion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then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chốt,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tương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8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protein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túi</a:t>
            </a:r>
            <a:r>
              <a:rPr lang="en-US" sz="28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phóng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8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[S3]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Bernard</a:t>
            </a:r>
            <a:r>
              <a:rPr lang="en-US" sz="2850" dirty="0" spc="-3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Katz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nghiệp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khảo</a:t>
            </a:r>
            <a:r>
              <a:rPr lang="en-US" sz="28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r>
              <a:rPr lang="en-US" sz="2850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synapse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dây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thần kinh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vân,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[S3]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8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khe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thụ</a:t>
            </a:r>
            <a:r>
              <a:rPr lang="en-US" sz="2850" b="1" dirty="0" spc="-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12325350" y="2762250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6" name="Shape 4"/>
          <p:cNvSpPr/>
          <p:nvPr/>
        </p:nvSpPr>
        <p:spPr>
          <a:xfrm>
            <a:off x="12325350" y="2762250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7" name="Text 5"/>
          <p:cNvSpPr/>
          <p:nvPr/>
        </p:nvSpPr>
        <p:spPr>
          <a:xfrm>
            <a:off x="12630150" y="3028950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4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Ở</a:t>
            </a:r>
            <a:r>
              <a:rPr lang="en-US" sz="1950" dirty="0" spc="5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đâu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630150" y="3486150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nút</a:t>
            </a:r>
            <a:r>
              <a:rPr lang="en-US" sz="24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tận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cùng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40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nơron</a:t>
            </a:r>
            <a:r>
              <a:rPr lang="en-US" sz="2400" dirty="0" spc="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2325350" y="47148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10" name="Shape 8"/>
          <p:cNvSpPr/>
          <p:nvPr/>
        </p:nvSpPr>
        <p:spPr>
          <a:xfrm>
            <a:off x="12325350" y="47148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1" name="Text 9"/>
          <p:cNvSpPr/>
          <p:nvPr/>
        </p:nvSpPr>
        <p:spPr>
          <a:xfrm>
            <a:off x="12630150" y="49815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Làm</a:t>
            </a:r>
            <a:r>
              <a:rPr lang="en-US" sz="1950" dirty="0" spc="-4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gì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630150" y="54387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canxi</a:t>
            </a:r>
            <a:r>
              <a:rPr lang="en-US" sz="24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vào,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túi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giải</a:t>
            </a:r>
            <a:r>
              <a:rPr lang="en-US" sz="24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phóng</a:t>
            </a:r>
            <a:r>
              <a:rPr lang="en-US" sz="24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chất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2325350" y="66579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14" name="Shape 12"/>
          <p:cNvSpPr/>
          <p:nvPr/>
        </p:nvSpPr>
        <p:spPr>
          <a:xfrm>
            <a:off x="12325350" y="66579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15" name="Text 13"/>
          <p:cNvSpPr/>
          <p:nvPr/>
        </p:nvSpPr>
        <p:spPr>
          <a:xfrm>
            <a:off x="12630150" y="69246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23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Đừng</a:t>
            </a:r>
            <a:r>
              <a:rPr lang="en-US" sz="1950" dirty="0" spc="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hiểu</a:t>
            </a:r>
            <a:r>
              <a:rPr lang="en-US" sz="1950" dirty="0" spc="-3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nhầm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630150" y="73818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nghiên</a:t>
            </a:r>
            <a:r>
              <a:rPr lang="en-US" sz="2400" dirty="0" spc="2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cứu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400" dirty="0" spc="-2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Katz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làm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24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synapse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thần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kinh-cơ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4932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5252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35572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55892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76212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96532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16852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37172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5749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7781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9813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1845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38772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59092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79412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997320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200520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403720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606919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810119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013319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199585" y="9552517"/>
            <a:ext cx="135467" cy="135467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0" name="Shape 38"/>
          <p:cNvSpPr/>
          <p:nvPr/>
        </p:nvSpPr>
        <p:spPr>
          <a:xfrm>
            <a:off x="5419718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622918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5826117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029317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232517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64357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66389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8421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0453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724851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745171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65491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785811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06131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26451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846771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867091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87411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907731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928051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948371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968691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989011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3" name="Text 61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L02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22/45</a:t>
            </a:r>
            <a:endParaRPr lang="en-US" sz="1800" dirty="0"/>
          </a:p>
        </p:txBody>
      </p:sp>
      <p:sp>
        <p:nvSpPr>
          <p:cNvPr id="64" name="Shape 6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5" name="Moda image moda-export-watermark-3df7744c-05d3-4d47-a568-35e9c5e68b6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5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kiểu</a:t>
            </a: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synapse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1E212B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2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295400" y="4857750"/>
            <a:ext cx="4495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Synapse</a:t>
            </a:r>
            <a:r>
              <a:rPr lang="en-US" sz="27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 học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295400" y="6000750"/>
            <a:ext cx="4495800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phổ biến</a:t>
            </a:r>
            <a:r>
              <a:rPr lang="en-US" sz="25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nhất; chất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5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r>
              <a:rPr lang="en-US" sz="25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bắc</a:t>
            </a:r>
            <a:r>
              <a:rPr lang="en-US" sz="25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 khe</a:t>
            </a:r>
            <a:r>
              <a:rPr lang="en-US" sz="25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65151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65151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0" name="Text 8"/>
          <p:cNvSpPr/>
          <p:nvPr/>
        </p:nvSpPr>
        <p:spPr>
          <a:xfrm>
            <a:off x="68961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4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6896100" y="4857750"/>
            <a:ext cx="4495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Synapse</a:t>
            </a:r>
            <a:r>
              <a:rPr lang="en-US" sz="270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6896100" y="6000750"/>
            <a:ext cx="4495800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cầu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5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(gap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junction)</a:t>
            </a:r>
            <a:r>
              <a:rPr lang="en-US" sz="25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5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r>
              <a:rPr lang="en-US" sz="25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bào,</a:t>
            </a:r>
            <a:r>
              <a:rPr lang="en-US" sz="2550" dirty="0" spc="2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5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r>
              <a:rPr lang="en-US" sz="25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21158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1E212B"/>
          </a:solidFill>
          <a:ln/>
        </p:spPr>
      </p:sp>
      <p:sp>
        <p:nvSpPr>
          <p:cNvPr id="14" name="Shape 12"/>
          <p:cNvSpPr/>
          <p:nvPr/>
        </p:nvSpPr>
        <p:spPr>
          <a:xfrm>
            <a:off x="121158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5" name="Text 13"/>
          <p:cNvSpPr/>
          <p:nvPr/>
        </p:nvSpPr>
        <p:spPr>
          <a:xfrm>
            <a:off x="124968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7200" dirty="0"/>
          </a:p>
        </p:txBody>
      </p:sp>
      <p:sp>
        <p:nvSpPr>
          <p:cNvPr id="16" name="Text 14"/>
          <p:cNvSpPr/>
          <p:nvPr/>
        </p:nvSpPr>
        <p:spPr>
          <a:xfrm>
            <a:off x="12496800" y="4857750"/>
            <a:ext cx="4495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4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Trọng</a:t>
            </a:r>
            <a:r>
              <a:rPr lang="en-US" sz="27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bài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12496800" y="6000750"/>
            <a:ext cx="4495800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synapse</a:t>
            </a:r>
            <a:r>
              <a:rPr lang="en-US" sz="25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5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học,</a:t>
            </a:r>
            <a:r>
              <a:rPr lang="en-US" sz="25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</a:t>
            </a:r>
            <a:r>
              <a:rPr lang="en-US" sz="25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5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r>
              <a:rPr lang="en-US" sz="2550" dirty="0" spc="-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thuốc</a:t>
            </a:r>
            <a:r>
              <a:rPr lang="en-US" sz="25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55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4932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15252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35572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55892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76212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96532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16852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37172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5749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7781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9813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1845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38772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59092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79412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997320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200520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403720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606919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810119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013319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216518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402785" y="9552517"/>
            <a:ext cx="135467" cy="135467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2" name="Shape 40"/>
          <p:cNvSpPr/>
          <p:nvPr/>
        </p:nvSpPr>
        <p:spPr>
          <a:xfrm>
            <a:off x="5622918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5826117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029317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6232517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64357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6389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68421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70453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724851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45171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765491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785811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06131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826451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846771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67091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887411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907731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928051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948371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968691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989011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Text 62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L02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23/45</a:t>
            </a:r>
            <a:endParaRPr lang="en-US" sz="1800" dirty="0"/>
          </a:p>
        </p:txBody>
      </p:sp>
      <p:sp>
        <p:nvSpPr>
          <p:cNvPr id="65" name="Shape 6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6" name="Moda image moda-export-watermark-5e921f9c-59e9-4976-9422-7e7f6bdbba4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Thụ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thể</a:t>
            </a:r>
            <a:endParaRPr lang="en-US" sz="5700" dirty="0"/>
          </a:p>
        </p:txBody>
      </p:sp>
      <p:sp>
        <p:nvSpPr>
          <p:cNvPr id="3" name="Connector line-1792617705244-208037151"/>
          <p:cNvSpPr/>
          <p:nvPr/>
        </p:nvSpPr>
        <p:spPr>
          <a:xfrm flipH="1" flipV="1">
            <a:off x="3619500" y="3619500"/>
            <a:ext cx="5524500" cy="2000250"/>
          </a:xfrm>
          <a:prstGeom prst="line">
            <a:avLst/>
          </a:prstGeom>
          <a:noFill/>
          <a:ln w="57150">
            <a:solidFill>
              <a:srgbClr val="0F766E"/>
            </a:solidFill>
            <a:prstDash val="solid"/>
            <a:headEnd type="none"/>
            <a:tailEnd type="none"/>
          </a:ln>
        </p:spPr>
      </p:sp>
      <p:sp>
        <p:nvSpPr>
          <p:cNvPr id="4" name="Connector line-1792617705244-504123477"/>
          <p:cNvSpPr/>
          <p:nvPr/>
        </p:nvSpPr>
        <p:spPr>
          <a:xfrm flipV="1">
            <a:off x="9144000" y="3619500"/>
            <a:ext cx="5524500" cy="2000250"/>
          </a:xfrm>
          <a:prstGeom prst="line">
            <a:avLst/>
          </a:prstGeom>
          <a:noFill/>
          <a:ln w="57150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5" name="Connector line-1792617705244-708265305"/>
          <p:cNvSpPr/>
          <p:nvPr/>
        </p:nvSpPr>
        <p:spPr>
          <a:xfrm flipH="1">
            <a:off x="3619500" y="5619750"/>
            <a:ext cx="5524500" cy="2000250"/>
          </a:xfrm>
          <a:prstGeom prst="line">
            <a:avLst/>
          </a:prstGeom>
          <a:noFill/>
          <a:ln w="57150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6" name="Connector line-1792617705244-854930035"/>
          <p:cNvSpPr/>
          <p:nvPr/>
        </p:nvSpPr>
        <p:spPr>
          <a:xfrm>
            <a:off x="9144000" y="5619750"/>
            <a:ext cx="5524500" cy="2000250"/>
          </a:xfrm>
          <a:prstGeom prst="line">
            <a:avLst/>
          </a:prstGeom>
          <a:noFill/>
          <a:ln w="57150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6953250" y="4191000"/>
            <a:ext cx="4381500" cy="28575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239000" y="4476750"/>
            <a:ext cx="3810000" cy="22860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ctr"/>
          <a:lstStyle/>
          <a:p>
            <a:pPr algn="ctr" indent="0" marL="0">
              <a:lnSpc>
                <a:spcPts val="3630"/>
              </a:lnSpc>
              <a:buNone/>
            </a:pPr>
            <a:r>
              <a:rPr lang="en-US" sz="33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Thụ</a:t>
            </a:r>
            <a:r>
              <a:rPr lang="en-US" sz="3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thể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1047750" y="2857500"/>
            <a:ext cx="5143500" cy="152400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47625">
            <a:solidFill>
              <a:srgbClr val="0F76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33500" y="285750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ctr" indent="0" marL="0">
              <a:lnSpc>
                <a:spcPts val="2933"/>
              </a:lnSpc>
              <a:buNone/>
            </a:pP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Chất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5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truyền: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chiếc chìa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12096750" y="2857500"/>
            <a:ext cx="5143500" cy="152400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47625">
            <a:solidFill>
              <a:srgbClr val="E8472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382500" y="285750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ctr" indent="0" marL="0">
              <a:lnSpc>
                <a:spcPts val="2933"/>
              </a:lnSpc>
              <a:buNone/>
            </a:pP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Thụ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thể: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ổ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màng</a:t>
            </a:r>
            <a:r>
              <a:rPr lang="en-US" sz="25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nơron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047750" y="6858000"/>
            <a:ext cx="5143500" cy="152400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47625">
            <a:solidFill>
              <a:srgbClr val="1F3FD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33500" y="685800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ctr" indent="0" marL="0">
              <a:lnSpc>
                <a:spcPts val="2933"/>
              </a:lnSpc>
              <a:buNone/>
            </a:pPr>
            <a:r>
              <a:rPr lang="en-US" sz="2550" b="1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Kênh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ion: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5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chìa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12096750" y="6858000"/>
            <a:ext cx="5143500" cy="152400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47625">
            <a:solidFill>
              <a:srgbClr val="B4530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382500" y="685800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ctr" indent="0" marL="0">
              <a:lnSpc>
                <a:spcPts val="2933"/>
              </a:lnSpc>
              <a:buNone/>
            </a:pP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Chất</a:t>
            </a:r>
            <a:r>
              <a:rPr lang="en-US" sz="25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hai:</a:t>
            </a: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5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gián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4932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5252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35572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55892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76212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96532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16852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37172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5749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7781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9813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1845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38772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59092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79412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997320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200520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403720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606919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810119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013319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216518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419718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605984" y="9552517"/>
            <a:ext cx="135467" cy="135467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2" name="Shape 40"/>
          <p:cNvSpPr/>
          <p:nvPr/>
        </p:nvSpPr>
        <p:spPr>
          <a:xfrm>
            <a:off x="5826117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029317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232517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64357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66389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8421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0453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724851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745171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65491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785811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06131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26451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846771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867091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87411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907731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928051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948371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968691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989011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3" name="Text 61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L02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24/45</a:t>
            </a:r>
            <a:endParaRPr lang="en-US" sz="1800" dirty="0"/>
          </a:p>
        </p:txBody>
      </p:sp>
      <p:sp>
        <p:nvSpPr>
          <p:cNvPr id="64" name="Shape 6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5" name="Moda image moda-export-watermark-6e74e0bb-48e5-4c85-9270-911b1e255cf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Thụ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thể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ion</a:t>
            </a:r>
            <a:r>
              <a:rPr lang="en-US" sz="5700" dirty="0" spc="-5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hướng</a:t>
            </a:r>
            <a:r>
              <a:rPr lang="en-US" sz="5700" dirty="0" spc="-6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loại</a:t>
            </a:r>
            <a:r>
              <a:rPr lang="en-US" sz="5700" dirty="0" spc="-2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kênh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19400"/>
            <a:ext cx="95250" cy="55054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4" name="Text 2"/>
          <p:cNvSpPr/>
          <p:nvPr/>
        </p:nvSpPr>
        <p:spPr>
          <a:xfrm>
            <a:off x="1295400" y="2762250"/>
            <a:ext cx="10572750" cy="5619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Giáo</a:t>
            </a:r>
            <a:r>
              <a:rPr lang="en-US" sz="28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8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8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thụ</a:t>
            </a:r>
            <a:r>
              <a:rPr lang="en-US" sz="285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85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ion</a:t>
            </a:r>
            <a:r>
              <a:rPr lang="en-US" sz="2850" b="1" dirty="0" spc="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(ionotropic</a:t>
            </a:r>
            <a:r>
              <a:rPr lang="en-US" sz="285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receptor)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85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r>
              <a:rPr lang="en-US" sz="285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8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ion: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8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8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8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chìa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ổ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khóa,</a:t>
            </a:r>
            <a:r>
              <a:rPr lang="en-US" sz="2850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ion</a:t>
            </a:r>
            <a:r>
              <a:rPr lang="en-US" sz="28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850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khỏi</a:t>
            </a:r>
            <a:r>
              <a:rPr lang="en-US" sz="28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bào</a:t>
            </a:r>
            <a:r>
              <a:rPr lang="en-US" sz="28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6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8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kích</a:t>
            </a:r>
            <a:r>
              <a:rPr lang="en-US" sz="285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3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ức</a:t>
            </a:r>
            <a:r>
              <a:rPr lang="en-US" sz="285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tùy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8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8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r>
              <a:rPr lang="en-US" sz="28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thấm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 nó kích</a:t>
            </a:r>
            <a:r>
              <a:rPr lang="en-US" sz="28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28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2850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thụ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8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gián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r>
              <a:rPr lang="en-US" sz="28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8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8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khả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ion</a:t>
            </a:r>
            <a:r>
              <a:rPr lang="en-US" sz="28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</a:t>
            </a:r>
            <a:r>
              <a:rPr lang="en-US" sz="28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sơ</a:t>
            </a:r>
            <a:r>
              <a:rPr lang="en-US" sz="28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thụ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2850" dirty="0" spc="-3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L03.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12325350" y="2762250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6" name="Shape 4"/>
          <p:cNvSpPr/>
          <p:nvPr/>
        </p:nvSpPr>
        <p:spPr>
          <a:xfrm>
            <a:off x="12325350" y="2762250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7" name="Text 5"/>
          <p:cNvSpPr/>
          <p:nvPr/>
        </p:nvSpPr>
        <p:spPr>
          <a:xfrm>
            <a:off x="12630150" y="3028950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4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Ở</a:t>
            </a:r>
            <a:r>
              <a:rPr lang="en-US" sz="1950" dirty="0" spc="5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đâu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630150" y="3486150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gai</a:t>
            </a:r>
            <a:r>
              <a:rPr lang="en-US" sz="24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sợi</a:t>
            </a:r>
            <a:r>
              <a:rPr lang="en-US" sz="24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nhánh</a:t>
            </a:r>
            <a:r>
              <a:rPr lang="en-US" sz="24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400" dirty="0" spc="-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nơron</a:t>
            </a:r>
            <a:r>
              <a:rPr lang="en-US" sz="24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sau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2325350" y="47148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12325350" y="47148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1" name="Text 9"/>
          <p:cNvSpPr/>
          <p:nvPr/>
        </p:nvSpPr>
        <p:spPr>
          <a:xfrm>
            <a:off x="12630150" y="49815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1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Làm</a:t>
            </a:r>
            <a:r>
              <a:rPr lang="en-US" sz="1950" dirty="0" spc="-4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gì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630150" y="54387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mở</a:t>
            </a:r>
            <a:r>
              <a:rPr lang="en-US" sz="2400" dirty="0" spc="-2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kênh</a:t>
            </a:r>
            <a:r>
              <a:rPr lang="en-US" sz="24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ion</a:t>
            </a: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hoặc</a:t>
            </a:r>
            <a:r>
              <a:rPr lang="en-US" sz="24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phát</a:t>
            </a:r>
            <a:r>
              <a:rPr lang="en-US" sz="24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tín</a:t>
            </a:r>
            <a:r>
              <a:rPr lang="en-US" sz="24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hiệu</a:t>
            </a:r>
            <a:r>
              <a:rPr lang="en-US" sz="2400" dirty="0" spc="-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trong</a:t>
            </a:r>
            <a:r>
              <a:rPr lang="en-US" sz="24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tế</a:t>
            </a:r>
            <a:r>
              <a:rPr lang="en-US" sz="24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bào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2325350" y="66579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14" name="Shape 12"/>
          <p:cNvSpPr/>
          <p:nvPr/>
        </p:nvSpPr>
        <p:spPr>
          <a:xfrm>
            <a:off x="12325350" y="66579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5" name="Text 13"/>
          <p:cNvSpPr/>
          <p:nvPr/>
        </p:nvSpPr>
        <p:spPr>
          <a:xfrm>
            <a:off x="12630150" y="69246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2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Đừng</a:t>
            </a:r>
            <a:r>
              <a:rPr lang="en-US" sz="1950" dirty="0" spc="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hiểu</a:t>
            </a:r>
            <a:r>
              <a:rPr lang="en-US" sz="1950" dirty="0" spc="-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nhầm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630150" y="73818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kích thích</a:t>
            </a:r>
            <a:r>
              <a:rPr lang="en-US" sz="24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hay</a:t>
            </a:r>
            <a:r>
              <a:rPr lang="en-US" sz="2400" dirty="0" spc="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ức</a:t>
            </a: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chế</a:t>
            </a: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còn</a:t>
            </a:r>
            <a:r>
              <a:rPr lang="en-US" sz="24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tùy</a:t>
            </a:r>
            <a:r>
              <a:rPr lang="en-US" sz="2400" dirty="0" spc="-1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kênh</a:t>
            </a:r>
            <a:r>
              <a:rPr lang="en-US" sz="24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mà</a:t>
            </a:r>
            <a:r>
              <a:rPr lang="en-US" sz="24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thụ</a:t>
            </a:r>
            <a:r>
              <a:rPr lang="en-US" sz="24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thể</a:t>
            </a: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mở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4932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5252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35572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55892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76212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96532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16852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37172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5749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7781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9813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1845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38772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59092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79412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997320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200520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403720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606919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810119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013319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216518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419718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622918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5809184" y="9552517"/>
            <a:ext cx="135467" cy="135467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3" name="Shape 41"/>
          <p:cNvSpPr/>
          <p:nvPr/>
        </p:nvSpPr>
        <p:spPr>
          <a:xfrm>
            <a:off x="6029317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232517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64357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66389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8421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0453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724851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745171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65491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785811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06131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26451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846771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867091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87411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907731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928051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948371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968691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989011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Text 61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L02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25/45</a:t>
            </a:r>
            <a:endParaRPr lang="en-US" sz="1800" dirty="0"/>
          </a:p>
        </p:txBody>
      </p:sp>
      <p:sp>
        <p:nvSpPr>
          <p:cNvPr id="64" name="Shape 6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5" name="Moda image moda-export-watermark-3a4a60e9-f571-4020-adf7-276ad38d25e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ví dụ</a:t>
            </a:r>
            <a:r>
              <a:rPr lang="en-US" sz="57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giáo</a:t>
            </a:r>
            <a:r>
              <a:rPr lang="en-US" sz="57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76225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276225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76225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5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Glutamate,</a:t>
            </a:r>
            <a:r>
              <a:rPr lang="en-US" sz="3000" dirty="0" spc="1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thụ</a:t>
            </a:r>
            <a:r>
              <a:rPr lang="en-US" sz="3000" dirty="0" spc="-6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thể</a:t>
            </a:r>
            <a:r>
              <a:rPr lang="en-US" sz="3000" dirty="0" spc="-23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NMDA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581900" y="276225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70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Na+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canxi,</a:t>
            </a:r>
            <a:r>
              <a:rPr lang="en-US" sz="270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gây</a:t>
            </a:r>
            <a:r>
              <a:rPr lang="en-US" sz="270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kích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22910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422910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422910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6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GABA,</a:t>
            </a:r>
            <a:r>
              <a:rPr lang="en-US" sz="3000" dirty="0" spc="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thụ</a:t>
            </a:r>
            <a:r>
              <a:rPr lang="en-US" sz="3000" dirty="0" spc="-6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thể</a:t>
            </a:r>
            <a:r>
              <a:rPr lang="en-US" sz="3000" dirty="0" spc="-5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GABA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581900" y="422910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70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Cl−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K+,</a:t>
            </a:r>
            <a:r>
              <a:rPr lang="en-US" sz="270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gây</a:t>
            </a:r>
            <a:r>
              <a:rPr lang="en-US" sz="270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70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14400" y="569595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569595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569595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3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Hai</a:t>
            </a:r>
            <a:r>
              <a:rPr lang="en-US" sz="3000" dirty="0" spc="-6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chất</a:t>
            </a:r>
            <a:r>
              <a:rPr lang="en-US" sz="3000" dirty="0" spc="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chính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7581900" y="569595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glutamate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kích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 chính,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GABA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ức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4932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15252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35572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55892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76212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96532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16852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37172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5749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7781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9813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1845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38772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59092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79412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997320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200520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403720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606919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810119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013319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216518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419718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622918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826117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012384" y="9552517"/>
            <a:ext cx="135467" cy="135467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2" name="Shape 40"/>
          <p:cNvSpPr/>
          <p:nvPr/>
        </p:nvSpPr>
        <p:spPr>
          <a:xfrm>
            <a:off x="6232517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4357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6389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68421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70453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24851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45171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765491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785811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06131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26451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46771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67091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887411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907731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928051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948371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968691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989011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1" name="Text 59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L02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26/45</a:t>
            </a:r>
            <a:endParaRPr lang="en-US" sz="1800" dirty="0"/>
          </a:p>
        </p:txBody>
      </p:sp>
      <p:sp>
        <p:nvSpPr>
          <p:cNvPr id="62" name="Shape 6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3" name="Moda image moda-export-watermark-4f5aa1af-3bd2-4a00-8fdd-2a63492665c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Vòng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tín</a:t>
            </a:r>
            <a:r>
              <a:rPr lang="en-US" sz="5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hiệu</a:t>
            </a:r>
            <a:r>
              <a:rPr lang="en-US" sz="5700" dirty="0" spc="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điện</a:t>
            </a:r>
            <a:r>
              <a:rPr lang="en-US" sz="57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hóa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247900"/>
            <a:ext cx="10096500" cy="609600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28575">
            <a:solidFill>
              <a:srgbClr val="2C3040"/>
            </a:solidFill>
            <a:prstDash val="solid"/>
          </a:ln>
        </p:spPr>
      </p:sp>
      <p:pic>
        <p:nvPicPr>
          <p:cNvPr id="4" name="Moda image rect-1792617708750-5902283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651677" y="2438400"/>
            <a:ext cx="6621946" cy="5715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8477250"/>
            <a:ext cx="16459200" cy="495300"/>
          </a:xfrm>
          <a:prstGeom prst="rect">
            <a:avLst/>
          </a:prstGeom>
          <a:noFill/>
          <a:ln/>
        </p:spPr>
        <p:txBody>
          <a:bodyPr wrap="square" lIns="0" tIns="14435" rIns="0" bIns="-14435" rtlCol="0" anchor="t"/>
          <a:lstStyle/>
          <a:p>
            <a:pPr algn="l" indent="0" marL="0">
              <a:lnSpc>
                <a:spcPts val="1815"/>
              </a:lnSpc>
              <a:buNone/>
            </a:pP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Hình: Noba,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giấy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CC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BY-NC-SA;</a:t>
            </a:r>
            <a:r>
              <a:rPr lang="en-US" sz="16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Hove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&amp; Martinez,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 (chương 3)</a:t>
            </a:r>
            <a:endParaRPr lang="en-US" sz="1650" dirty="0"/>
          </a:p>
        </p:txBody>
      </p:sp>
      <p:sp>
        <p:nvSpPr>
          <p:cNvPr id="6" name="Shape 3"/>
          <p:cNvSpPr/>
          <p:nvPr/>
        </p:nvSpPr>
        <p:spPr>
          <a:xfrm>
            <a:off x="11391900" y="2247900"/>
            <a:ext cx="5981700" cy="14287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7" name="Shape 4"/>
          <p:cNvSpPr/>
          <p:nvPr/>
        </p:nvSpPr>
        <p:spPr>
          <a:xfrm>
            <a:off x="11391900" y="2247900"/>
            <a:ext cx="114300" cy="14287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8" name="Text 5"/>
          <p:cNvSpPr/>
          <p:nvPr/>
        </p:nvSpPr>
        <p:spPr>
          <a:xfrm>
            <a:off x="11734800" y="2343150"/>
            <a:ext cx="54483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Action</a:t>
            </a:r>
            <a:r>
              <a:rPr lang="en-US" sz="2250" dirty="0" spc="-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potential</a:t>
            </a:r>
            <a:endParaRPr lang="en-US" sz="2250" dirty="0"/>
          </a:p>
        </p:txBody>
      </p:sp>
      <p:sp>
        <p:nvSpPr>
          <p:cNvPr id="9" name="Text 6"/>
          <p:cNvSpPr/>
          <p:nvPr/>
        </p:nvSpPr>
        <p:spPr>
          <a:xfrm>
            <a:off x="11734800" y="2819400"/>
            <a:ext cx="5448300" cy="8001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xung</a:t>
            </a:r>
            <a:r>
              <a:rPr lang="en-US" sz="2550" dirty="0" spc="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điện</a:t>
            </a:r>
            <a:r>
              <a:rPr lang="en-US" sz="25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5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hoặc</a:t>
            </a:r>
            <a:r>
              <a:rPr lang="en-US" sz="25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endParaRPr lang="en-US" sz="2550" dirty="0"/>
          </a:p>
        </p:txBody>
      </p:sp>
      <p:sp>
        <p:nvSpPr>
          <p:cNvPr id="10" name="Shape 7"/>
          <p:cNvSpPr/>
          <p:nvPr/>
        </p:nvSpPr>
        <p:spPr>
          <a:xfrm>
            <a:off x="11391900" y="3905250"/>
            <a:ext cx="5981700" cy="14287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11" name="Shape 8"/>
          <p:cNvSpPr/>
          <p:nvPr/>
        </p:nvSpPr>
        <p:spPr>
          <a:xfrm>
            <a:off x="11391900" y="3905250"/>
            <a:ext cx="114300" cy="14287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2" name="Text 9"/>
          <p:cNvSpPr/>
          <p:nvPr/>
        </p:nvSpPr>
        <p:spPr>
          <a:xfrm>
            <a:off x="11734800" y="4000500"/>
            <a:ext cx="54483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Release</a:t>
            </a:r>
            <a:r>
              <a:rPr lang="en-US" sz="2250" dirty="0" spc="-8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of</a:t>
            </a:r>
            <a:r>
              <a:rPr lang="en-US" sz="2250" dirty="0" spc="-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neurotransmitter</a:t>
            </a:r>
            <a:endParaRPr lang="en-US" sz="2250" dirty="0"/>
          </a:p>
        </p:txBody>
      </p:sp>
      <p:sp>
        <p:nvSpPr>
          <p:cNvPr id="13" name="Text 10"/>
          <p:cNvSpPr/>
          <p:nvPr/>
        </p:nvSpPr>
        <p:spPr>
          <a:xfrm>
            <a:off x="11734800" y="4476750"/>
            <a:ext cx="5448300" cy="8001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giải</a:t>
            </a:r>
            <a:r>
              <a:rPr lang="en-US" sz="255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phóng</a:t>
            </a:r>
            <a:r>
              <a:rPr lang="en-US" sz="255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chất</a:t>
            </a:r>
            <a:r>
              <a:rPr lang="en-US" sz="25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dẫn</a:t>
            </a:r>
            <a:r>
              <a:rPr lang="en-US" sz="2550" dirty="0" spc="-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truyền</a:t>
            </a:r>
            <a:endParaRPr lang="en-US" sz="2550" dirty="0"/>
          </a:p>
        </p:txBody>
      </p:sp>
      <p:sp>
        <p:nvSpPr>
          <p:cNvPr id="14" name="Shape 11"/>
          <p:cNvSpPr/>
          <p:nvPr/>
        </p:nvSpPr>
        <p:spPr>
          <a:xfrm>
            <a:off x="11391900" y="5562600"/>
            <a:ext cx="5981700" cy="14287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15" name="Shape 12"/>
          <p:cNvSpPr/>
          <p:nvPr/>
        </p:nvSpPr>
        <p:spPr>
          <a:xfrm>
            <a:off x="11391900" y="5562600"/>
            <a:ext cx="114300" cy="14287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6" name="Text 13"/>
          <p:cNvSpPr/>
          <p:nvPr/>
        </p:nvSpPr>
        <p:spPr>
          <a:xfrm>
            <a:off x="11734800" y="5657850"/>
            <a:ext cx="54483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0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EPSP /</a:t>
            </a:r>
            <a:r>
              <a:rPr lang="en-US" sz="2250" dirty="0" spc="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IPSP</a:t>
            </a:r>
            <a:endParaRPr lang="en-US" sz="2250" dirty="0"/>
          </a:p>
        </p:txBody>
      </p:sp>
      <p:sp>
        <p:nvSpPr>
          <p:cNvPr id="17" name="Text 14"/>
          <p:cNvSpPr/>
          <p:nvPr/>
        </p:nvSpPr>
        <p:spPr>
          <a:xfrm>
            <a:off x="11734800" y="6134100"/>
            <a:ext cx="5448300" cy="8001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2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điện</a:t>
            </a:r>
            <a:r>
              <a:rPr lang="en-US" sz="25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thế</a:t>
            </a:r>
            <a:r>
              <a:rPr lang="en-US" sz="25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kích</a:t>
            </a:r>
            <a:r>
              <a:rPr lang="en-US" sz="25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thích</a:t>
            </a:r>
            <a:r>
              <a:rPr lang="en-US" sz="25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/</a:t>
            </a:r>
            <a:r>
              <a:rPr lang="en-US" sz="2550" dirty="0" spc="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ức</a:t>
            </a:r>
            <a:r>
              <a:rPr lang="en-US" sz="25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chế</a:t>
            </a:r>
            <a:endParaRPr lang="en-US" sz="2550" dirty="0"/>
          </a:p>
        </p:txBody>
      </p:sp>
      <p:sp>
        <p:nvSpPr>
          <p:cNvPr id="18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94932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7"/>
          <p:cNvSpPr/>
          <p:nvPr/>
        </p:nvSpPr>
        <p:spPr>
          <a:xfrm>
            <a:off x="115252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8"/>
          <p:cNvSpPr/>
          <p:nvPr/>
        </p:nvSpPr>
        <p:spPr>
          <a:xfrm>
            <a:off x="135572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155892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176212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1"/>
          <p:cNvSpPr/>
          <p:nvPr/>
        </p:nvSpPr>
        <p:spPr>
          <a:xfrm>
            <a:off x="196532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2"/>
          <p:cNvSpPr/>
          <p:nvPr/>
        </p:nvSpPr>
        <p:spPr>
          <a:xfrm>
            <a:off x="216852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237172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4"/>
          <p:cNvSpPr/>
          <p:nvPr/>
        </p:nvSpPr>
        <p:spPr>
          <a:xfrm>
            <a:off x="25749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5"/>
          <p:cNvSpPr/>
          <p:nvPr/>
        </p:nvSpPr>
        <p:spPr>
          <a:xfrm>
            <a:off x="27781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29813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7"/>
          <p:cNvSpPr/>
          <p:nvPr/>
        </p:nvSpPr>
        <p:spPr>
          <a:xfrm>
            <a:off x="31845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8"/>
          <p:cNvSpPr/>
          <p:nvPr/>
        </p:nvSpPr>
        <p:spPr>
          <a:xfrm>
            <a:off x="338772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359092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0"/>
          <p:cNvSpPr/>
          <p:nvPr/>
        </p:nvSpPr>
        <p:spPr>
          <a:xfrm>
            <a:off x="379412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1"/>
          <p:cNvSpPr/>
          <p:nvPr/>
        </p:nvSpPr>
        <p:spPr>
          <a:xfrm>
            <a:off x="3997320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4200520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3"/>
          <p:cNvSpPr/>
          <p:nvPr/>
        </p:nvSpPr>
        <p:spPr>
          <a:xfrm>
            <a:off x="4403720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4"/>
          <p:cNvSpPr/>
          <p:nvPr/>
        </p:nvSpPr>
        <p:spPr>
          <a:xfrm>
            <a:off x="4606919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5"/>
          <p:cNvSpPr/>
          <p:nvPr/>
        </p:nvSpPr>
        <p:spPr>
          <a:xfrm>
            <a:off x="4810119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6"/>
          <p:cNvSpPr/>
          <p:nvPr/>
        </p:nvSpPr>
        <p:spPr>
          <a:xfrm>
            <a:off x="5013319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7"/>
          <p:cNvSpPr/>
          <p:nvPr/>
        </p:nvSpPr>
        <p:spPr>
          <a:xfrm>
            <a:off x="5216518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8"/>
          <p:cNvSpPr/>
          <p:nvPr/>
        </p:nvSpPr>
        <p:spPr>
          <a:xfrm>
            <a:off x="5419718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39"/>
          <p:cNvSpPr/>
          <p:nvPr/>
        </p:nvSpPr>
        <p:spPr>
          <a:xfrm>
            <a:off x="5622918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0"/>
          <p:cNvSpPr/>
          <p:nvPr/>
        </p:nvSpPr>
        <p:spPr>
          <a:xfrm>
            <a:off x="5826117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1"/>
          <p:cNvSpPr/>
          <p:nvPr/>
        </p:nvSpPr>
        <p:spPr>
          <a:xfrm>
            <a:off x="6029317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2"/>
          <p:cNvSpPr/>
          <p:nvPr/>
        </p:nvSpPr>
        <p:spPr>
          <a:xfrm>
            <a:off x="6215583" y="9552517"/>
            <a:ext cx="135467" cy="135467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6" name="Shape 43"/>
          <p:cNvSpPr/>
          <p:nvPr/>
        </p:nvSpPr>
        <p:spPr>
          <a:xfrm>
            <a:off x="64357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4"/>
          <p:cNvSpPr/>
          <p:nvPr/>
        </p:nvSpPr>
        <p:spPr>
          <a:xfrm>
            <a:off x="66389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5"/>
          <p:cNvSpPr/>
          <p:nvPr/>
        </p:nvSpPr>
        <p:spPr>
          <a:xfrm>
            <a:off x="68421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6"/>
          <p:cNvSpPr/>
          <p:nvPr/>
        </p:nvSpPr>
        <p:spPr>
          <a:xfrm>
            <a:off x="70453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7"/>
          <p:cNvSpPr/>
          <p:nvPr/>
        </p:nvSpPr>
        <p:spPr>
          <a:xfrm>
            <a:off x="724851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8"/>
          <p:cNvSpPr/>
          <p:nvPr/>
        </p:nvSpPr>
        <p:spPr>
          <a:xfrm>
            <a:off x="745171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49"/>
          <p:cNvSpPr/>
          <p:nvPr/>
        </p:nvSpPr>
        <p:spPr>
          <a:xfrm>
            <a:off x="765491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0"/>
          <p:cNvSpPr/>
          <p:nvPr/>
        </p:nvSpPr>
        <p:spPr>
          <a:xfrm>
            <a:off x="785811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1"/>
          <p:cNvSpPr/>
          <p:nvPr/>
        </p:nvSpPr>
        <p:spPr>
          <a:xfrm>
            <a:off x="806131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2"/>
          <p:cNvSpPr/>
          <p:nvPr/>
        </p:nvSpPr>
        <p:spPr>
          <a:xfrm>
            <a:off x="826451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3"/>
          <p:cNvSpPr/>
          <p:nvPr/>
        </p:nvSpPr>
        <p:spPr>
          <a:xfrm>
            <a:off x="846771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4"/>
          <p:cNvSpPr/>
          <p:nvPr/>
        </p:nvSpPr>
        <p:spPr>
          <a:xfrm>
            <a:off x="867091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5"/>
          <p:cNvSpPr/>
          <p:nvPr/>
        </p:nvSpPr>
        <p:spPr>
          <a:xfrm>
            <a:off x="887411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6"/>
          <p:cNvSpPr/>
          <p:nvPr/>
        </p:nvSpPr>
        <p:spPr>
          <a:xfrm>
            <a:off x="907731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7"/>
          <p:cNvSpPr/>
          <p:nvPr/>
        </p:nvSpPr>
        <p:spPr>
          <a:xfrm>
            <a:off x="928051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8"/>
          <p:cNvSpPr/>
          <p:nvPr/>
        </p:nvSpPr>
        <p:spPr>
          <a:xfrm>
            <a:off x="948371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59"/>
          <p:cNvSpPr/>
          <p:nvPr/>
        </p:nvSpPr>
        <p:spPr>
          <a:xfrm>
            <a:off x="968691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Shape 60"/>
          <p:cNvSpPr/>
          <p:nvPr/>
        </p:nvSpPr>
        <p:spPr>
          <a:xfrm>
            <a:off x="989011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Text 61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L02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27/45</a:t>
            </a:r>
            <a:endParaRPr lang="en-US" sz="1800" dirty="0"/>
          </a:p>
        </p:txBody>
      </p:sp>
      <p:sp>
        <p:nvSpPr>
          <p:cNvPr id="65" name="Shape 6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6" name="Moda image moda-export-watermark-c7f7c17b-7a2d-4ffc-9c61-9b001e71c71d" descr="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EPSP</a:t>
            </a:r>
            <a:r>
              <a:rPr lang="en-US" sz="5700" dirty="0" spc="-6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IPSP: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tín</a:t>
            </a:r>
            <a:r>
              <a:rPr lang="en-US" sz="57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hiệu</a:t>
            </a: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phân</a:t>
            </a:r>
            <a:r>
              <a:rPr lang="en-US" sz="57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bậc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19400"/>
            <a:ext cx="95250" cy="55054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4" name="Text 2"/>
          <p:cNvSpPr/>
          <p:nvPr/>
        </p:nvSpPr>
        <p:spPr>
          <a:xfrm>
            <a:off x="1295400" y="2762250"/>
            <a:ext cx="10572750" cy="5619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Chất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8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850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nơron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EPSP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(kích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thích)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 khử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cực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</a:t>
            </a:r>
            <a:r>
              <a:rPr lang="en-US" sz="2850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ngưỡng;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IPSP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(ức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chế)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cực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</a:t>
            </a:r>
            <a:r>
              <a:rPr lang="en-US" sz="2850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8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8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xa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ngưỡng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 không, chúng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phân</a:t>
            </a:r>
            <a:r>
              <a:rPr lang="en-US" sz="2850" b="1" dirty="0" spc="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bậc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xung</a:t>
            </a:r>
            <a:r>
              <a:rPr lang="en-US" sz="28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850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mV,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EPSP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IPSP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0,1</a:t>
            </a:r>
            <a:r>
              <a:rPr lang="en-US" sz="28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40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mV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nơron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8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trăm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 như</a:t>
            </a:r>
            <a:r>
              <a:rPr lang="en-US" sz="28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vậy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12325350" y="2762250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6" name="Shape 4"/>
          <p:cNvSpPr/>
          <p:nvPr/>
        </p:nvSpPr>
        <p:spPr>
          <a:xfrm>
            <a:off x="12325350" y="2762250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7" name="Text 5"/>
          <p:cNvSpPr/>
          <p:nvPr/>
        </p:nvSpPr>
        <p:spPr>
          <a:xfrm>
            <a:off x="12630150" y="3028950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4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Ở</a:t>
            </a:r>
            <a:r>
              <a:rPr lang="en-US" sz="1950" dirty="0" spc="5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đâu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630150" y="3486150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gai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sợi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nhánh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40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nơron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sau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2325350" y="47148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10" name="Shape 8"/>
          <p:cNvSpPr/>
          <p:nvPr/>
        </p:nvSpPr>
        <p:spPr>
          <a:xfrm>
            <a:off x="12325350" y="47148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1" name="Text 9"/>
          <p:cNvSpPr/>
          <p:nvPr/>
        </p:nvSpPr>
        <p:spPr>
          <a:xfrm>
            <a:off x="12630150" y="49815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Làm</a:t>
            </a:r>
            <a:r>
              <a:rPr lang="en-US" sz="1950" dirty="0" spc="-4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gì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630150" y="54387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đẩy</a:t>
            </a:r>
            <a:r>
              <a:rPr lang="en-US" sz="2400" dirty="0" spc="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điện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thế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lại</a:t>
            </a:r>
            <a:r>
              <a:rPr lang="en-US" sz="24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gần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hoặc</a:t>
            </a:r>
            <a:r>
              <a:rPr lang="en-US" sz="2400" dirty="0" spc="-2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ra</a:t>
            </a:r>
            <a:r>
              <a:rPr lang="en-US" sz="2400" dirty="0" spc="-2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xa</a:t>
            </a:r>
            <a:r>
              <a:rPr lang="en-US" sz="24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ngưỡng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2325350" y="66579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14" name="Shape 12"/>
          <p:cNvSpPr/>
          <p:nvPr/>
        </p:nvSpPr>
        <p:spPr>
          <a:xfrm>
            <a:off x="12325350" y="66579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15" name="Text 13"/>
          <p:cNvSpPr/>
          <p:nvPr/>
        </p:nvSpPr>
        <p:spPr>
          <a:xfrm>
            <a:off x="12630150" y="69246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23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Đừng</a:t>
            </a:r>
            <a:r>
              <a:rPr lang="en-US" sz="1950" dirty="0" spc="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hiểu</a:t>
            </a:r>
            <a:r>
              <a:rPr lang="en-US" sz="1950" dirty="0" spc="-3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nhầm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630150" y="73818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chưa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2400" dirty="0" spc="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điện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thế</a:t>
            </a:r>
            <a:r>
              <a:rPr lang="en-US" sz="24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hoạt</a:t>
            </a:r>
            <a:r>
              <a:rPr lang="en-US" sz="24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động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4932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5252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35572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55892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76212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96532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16852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37172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5749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7781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9813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1845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38772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59092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79412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997320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200520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403720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606919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810119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013319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216518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419718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622918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5826117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029317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232517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6418783" y="9552517"/>
            <a:ext cx="135467" cy="135467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6" name="Shape 44"/>
          <p:cNvSpPr/>
          <p:nvPr/>
        </p:nvSpPr>
        <p:spPr>
          <a:xfrm>
            <a:off x="66389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8421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0453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724851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745171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65491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785811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06131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26451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846771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867091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87411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907731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928051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948371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968691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989011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3" name="Text 61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L02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28/45</a:t>
            </a:r>
            <a:endParaRPr lang="en-US" sz="1800" dirty="0"/>
          </a:p>
        </p:txBody>
      </p:sp>
      <p:sp>
        <p:nvSpPr>
          <p:cNvPr id="64" name="Shape 6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5" name="Moda image moda-export-watermark-26544424-1f99-4df0-bdda-839603d5d20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Phép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cộng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5700" dirty="0" spc="-3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nơron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sau</a:t>
            </a:r>
            <a:endParaRPr lang="en-US" sz="5700" dirty="0"/>
          </a:p>
        </p:txBody>
      </p:sp>
      <p:sp>
        <p:nvSpPr>
          <p:cNvPr id="3" name="Text 1"/>
          <p:cNvSpPr/>
          <p:nvPr/>
        </p:nvSpPr>
        <p:spPr>
          <a:xfrm>
            <a:off x="914400" y="2667000"/>
            <a:ext cx="1619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00" dirty="0" spc="-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8700" dirty="0"/>
          </a:p>
        </p:txBody>
      </p:sp>
      <p:sp>
        <p:nvSpPr>
          <p:cNvPr id="4" name="Shape 2"/>
          <p:cNvSpPr/>
          <p:nvPr/>
        </p:nvSpPr>
        <p:spPr>
          <a:xfrm>
            <a:off x="2724150" y="2762250"/>
            <a:ext cx="1464945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3105150" y="2762250"/>
            <a:ext cx="14001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2" dirty="0" spc="-1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Một</a:t>
            </a:r>
            <a:r>
              <a:rPr lang="en-US" sz="2992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EPSP</a:t>
            </a:r>
            <a:r>
              <a:rPr lang="en-US" sz="2992" dirty="0" spc="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đơn</a:t>
            </a:r>
            <a:r>
              <a:rPr lang="en-US" sz="2992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lẻ</a:t>
            </a:r>
            <a:r>
              <a:rPr lang="en-US" sz="2992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nhỏ</a:t>
            </a:r>
            <a:r>
              <a:rPr lang="en-US" sz="2992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(khoảng</a:t>
            </a:r>
            <a:r>
              <a:rPr lang="en-US" sz="2992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</a:t>
            </a:r>
            <a:r>
              <a:rPr lang="en-US" sz="2992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mV</a:t>
            </a:r>
            <a:r>
              <a:rPr lang="en-US" sz="2992" dirty="0" spc="-1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trong</a:t>
            </a:r>
            <a:r>
              <a:rPr lang="en-US" sz="2992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ví</a:t>
            </a:r>
            <a:r>
              <a:rPr lang="en-US" sz="2992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dụ</a:t>
            </a:r>
            <a:r>
              <a:rPr lang="en-US" sz="2992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2992" dirty="0" spc="-1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nơron</a:t>
            </a:r>
            <a:r>
              <a:rPr lang="en-US" sz="2992" dirty="0" spc="-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vận</a:t>
            </a:r>
            <a:r>
              <a:rPr lang="en-US" sz="2992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động</a:t>
            </a:r>
            <a:r>
              <a:rPr lang="en-US" sz="2992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tủy</a:t>
            </a:r>
            <a:r>
              <a:rPr lang="en-US" sz="2992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sống),</a:t>
            </a:r>
            <a:r>
              <a:rPr lang="en-US" sz="2992" dirty="0" spc="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chưa</a:t>
            </a:r>
            <a:r>
              <a:rPr lang="en-US" sz="2992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đủ</a:t>
            </a:r>
            <a:r>
              <a:rPr lang="en-US" sz="2992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đạt</a:t>
            </a:r>
            <a:r>
              <a:rPr lang="en-US" sz="2992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ngưỡng</a:t>
            </a:r>
            <a:r>
              <a:rPr lang="en-US" sz="2992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[S3]</a:t>
            </a:r>
            <a:endParaRPr lang="en-US" sz="2992" dirty="0"/>
          </a:p>
        </p:txBody>
      </p:sp>
      <p:sp>
        <p:nvSpPr>
          <p:cNvPr id="6" name="Text 4"/>
          <p:cNvSpPr/>
          <p:nvPr/>
        </p:nvSpPr>
        <p:spPr>
          <a:xfrm>
            <a:off x="914400" y="4210050"/>
            <a:ext cx="1619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00" dirty="0" spc="6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8700" dirty="0"/>
          </a:p>
        </p:txBody>
      </p:sp>
      <p:sp>
        <p:nvSpPr>
          <p:cNvPr id="7" name="Shape 5"/>
          <p:cNvSpPr/>
          <p:nvPr/>
        </p:nvSpPr>
        <p:spPr>
          <a:xfrm>
            <a:off x="2724150" y="4305300"/>
            <a:ext cx="1464945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3105150" y="4305300"/>
            <a:ext cx="14001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Hai</a:t>
            </a:r>
            <a:r>
              <a:rPr lang="en-US" sz="30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xung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liên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tiếp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nhanh</a:t>
            </a:r>
            <a:r>
              <a:rPr lang="en-US" sz="30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cộng</a:t>
            </a:r>
            <a:r>
              <a:rPr lang="en-US" sz="30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lại:</a:t>
            </a:r>
            <a:r>
              <a:rPr lang="en-US" sz="30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cộng</a:t>
            </a:r>
            <a:r>
              <a:rPr lang="en-US" sz="30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theo</a:t>
            </a:r>
            <a:r>
              <a:rPr lang="en-US" sz="300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thời</a:t>
            </a:r>
            <a:r>
              <a:rPr lang="en-US" sz="30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gian [S3]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914400" y="5753100"/>
            <a:ext cx="1619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00" dirty="0" spc="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8700" dirty="0"/>
          </a:p>
        </p:txBody>
      </p:sp>
      <p:sp>
        <p:nvSpPr>
          <p:cNvPr id="10" name="Shape 8"/>
          <p:cNvSpPr/>
          <p:nvPr/>
        </p:nvSpPr>
        <p:spPr>
          <a:xfrm>
            <a:off x="2724150" y="5848350"/>
            <a:ext cx="1464945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3105150" y="5848350"/>
            <a:ext cx="14001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Hai</a:t>
            </a:r>
            <a:r>
              <a:rPr lang="en-US" sz="3000" dirty="0" spc="-1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nơron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kích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thích</a:t>
            </a:r>
            <a:r>
              <a:rPr lang="en-US" sz="30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cùng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lúc</a:t>
            </a:r>
            <a:r>
              <a:rPr lang="en-US" sz="30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cộng</a:t>
            </a:r>
            <a:r>
              <a:rPr lang="en-US" sz="30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lại:</a:t>
            </a:r>
            <a:r>
              <a:rPr lang="en-US" sz="30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cộng</a:t>
            </a:r>
            <a:r>
              <a:rPr lang="en-US" sz="30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theo</a:t>
            </a:r>
            <a:r>
              <a:rPr lang="en-US" sz="30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30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gian</a:t>
            </a:r>
            <a:r>
              <a:rPr lang="en-US" sz="30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[S3]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914400" y="7296150"/>
            <a:ext cx="1619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00" dirty="0" spc="6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8700" dirty="0"/>
          </a:p>
        </p:txBody>
      </p:sp>
      <p:sp>
        <p:nvSpPr>
          <p:cNvPr id="13" name="Shape 11"/>
          <p:cNvSpPr/>
          <p:nvPr/>
        </p:nvSpPr>
        <p:spPr>
          <a:xfrm>
            <a:off x="2724150" y="7391400"/>
            <a:ext cx="1464945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/>
        </p:spPr>
      </p:sp>
      <p:sp>
        <p:nvSpPr>
          <p:cNvPr id="14" name="Text 12"/>
          <p:cNvSpPr/>
          <p:nvPr/>
        </p:nvSpPr>
        <p:spPr>
          <a:xfrm>
            <a:off x="3105150" y="7391400"/>
            <a:ext cx="14001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Một</a:t>
            </a:r>
            <a:r>
              <a:rPr lang="en-US" sz="30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EPSP</a:t>
            </a:r>
            <a:r>
              <a:rPr lang="en-US" sz="3000" dirty="0" spc="-2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30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30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IPSP</a:t>
            </a:r>
            <a:r>
              <a:rPr lang="en-US" sz="30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cùng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lúc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30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thể</a:t>
            </a:r>
            <a:r>
              <a:rPr lang="en-US" sz="300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triệt</a:t>
            </a:r>
            <a:r>
              <a:rPr lang="en-US" sz="30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tiêu nhau [S1]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4932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15252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35572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55892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76212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96532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16852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37172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5749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7781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9813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1845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38772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59092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79412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997320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200520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403720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606919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810119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013319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216518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419718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622918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826117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029317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232517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4357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621983" y="9552517"/>
            <a:ext cx="135467" cy="135467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5" name="Shape 43"/>
          <p:cNvSpPr/>
          <p:nvPr/>
        </p:nvSpPr>
        <p:spPr>
          <a:xfrm>
            <a:off x="68421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70453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24851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45171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765491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785811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06131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26451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46771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67091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887411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907731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928051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948371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968691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989011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Text 59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L02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29/45</a:t>
            </a:r>
            <a:endParaRPr lang="en-US" sz="1800" dirty="0"/>
          </a:p>
        </p:txBody>
      </p:sp>
      <p:sp>
        <p:nvSpPr>
          <p:cNvPr id="62" name="Shape 6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3" name="Moda image moda-export-watermark-a56898ce-104f-48d6-bb9a-caf20479453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Nơron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sau</a:t>
            </a: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như</a:t>
            </a:r>
            <a:r>
              <a:rPr lang="en-US" sz="57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hội</a:t>
            </a:r>
            <a:r>
              <a:rPr lang="en-US" sz="57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đồng</a:t>
            </a:r>
            <a:r>
              <a:rPr lang="en-US" sz="57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bỏ</a:t>
            </a:r>
            <a:r>
              <a:rPr lang="en-US" sz="57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phiếu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952750"/>
            <a:ext cx="152400" cy="40005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4" name="Text 2"/>
          <p:cNvSpPr/>
          <p:nvPr/>
        </p:nvSpPr>
        <p:spPr>
          <a:xfrm>
            <a:off x="1485900" y="2857500"/>
            <a:ext cx="15811500" cy="419100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ctr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5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Nơron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sau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7728"/>
              </a:lnSpc>
              <a:buNone/>
            </a:pPr>
            <a:r>
              <a:rPr lang="en-US" sz="6900" dirty="0" spc="-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cộng</a:t>
            </a:r>
            <a:r>
              <a:rPr lang="en-US" sz="6900" dirty="0" spc="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mọi</a:t>
            </a:r>
            <a:r>
              <a:rPr lang="en-US" sz="6900" dirty="0" spc="8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phiếu</a:t>
            </a:r>
            <a:pPr algn="l" indent="0" marL="0">
              <a:lnSpc>
                <a:spcPts val="7728"/>
              </a:lnSpc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ủng hộ</a:t>
            </a:r>
            <a:r>
              <a:rPr lang="en-US" sz="6900" dirty="0" spc="-7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phản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đối,</a:t>
            </a:r>
            <a:r>
              <a:rPr lang="en-US" sz="69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6900" dirty="0" spc="-3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phát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xung</a:t>
            </a:r>
            <a:r>
              <a:rPr lang="en-US" sz="69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hoặc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endParaRPr lang="en-US" sz="6900" dirty="0"/>
          </a:p>
        </p:txBody>
      </p:sp>
      <p:sp>
        <p:nvSpPr>
          <p:cNvPr id="5" name="Text 3"/>
          <p:cNvSpPr/>
          <p:nvPr/>
        </p:nvSpPr>
        <p:spPr>
          <a:xfrm>
            <a:off x="1485900" y="7429500"/>
            <a:ext cx="15811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27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7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7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viết:</a:t>
            </a:r>
            <a:r>
              <a:rPr lang="en-US" sz="27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hội</a:t>
            </a:r>
            <a:r>
              <a:rPr lang="en-US" sz="270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7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7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phiếu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1485900" y="8096250"/>
            <a:ext cx="15811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Đạt</a:t>
            </a:r>
            <a:r>
              <a:rPr lang="en-US" sz="27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ngưỡng</a:t>
            </a:r>
            <a:r>
              <a:rPr lang="en-US" sz="27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7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xung;</a:t>
            </a:r>
            <a:r>
              <a:rPr lang="en-US" sz="27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đạt</a:t>
            </a:r>
            <a:r>
              <a:rPr lang="en-US" sz="27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7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7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4932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252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35572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55892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76212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96532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216852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237172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25749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27781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29813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1845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338772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359092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379412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3997320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4200520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4403720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4606919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4810119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5013319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5216518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5419718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5622918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5826117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6029317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6232517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64357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66389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6825182" y="9552517"/>
            <a:ext cx="135467" cy="135467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8" name="Shape 36"/>
          <p:cNvSpPr/>
          <p:nvPr/>
        </p:nvSpPr>
        <p:spPr>
          <a:xfrm>
            <a:off x="70453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724851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745171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765491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785811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806131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826451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846771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867091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887411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907731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928051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948371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968691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989011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Text 51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L02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30/45</a:t>
            </a:r>
            <a:endParaRPr lang="en-US" sz="1800" dirty="0"/>
          </a:p>
        </p:txBody>
      </p:sp>
      <p:sp>
        <p:nvSpPr>
          <p:cNvPr id="54" name="Shape 5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5" name="Moda image moda-export-watermark-452c2420-74bb-4e6b-95a5-04d146bbaae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4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giải</a:t>
            </a:r>
            <a:r>
              <a:rPr lang="en-US" sz="5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phóng</a:t>
            </a:r>
            <a:r>
              <a:rPr lang="en-US" sz="57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chấm dứt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3429000"/>
            <a:ext cx="3619500" cy="38100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00150" y="3714750"/>
            <a:ext cx="647700" cy="6477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5" name="Text 3"/>
          <p:cNvSpPr/>
          <p:nvPr/>
        </p:nvSpPr>
        <p:spPr>
          <a:xfrm>
            <a:off x="120015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219200" y="4572000"/>
            <a:ext cx="300990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Chất</a:t>
            </a: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dẫn</a:t>
            </a:r>
            <a:r>
              <a:rPr lang="en-US" sz="2700" dirty="0" spc="-1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truyền</a:t>
            </a:r>
            <a:r>
              <a:rPr lang="en-US" sz="2700" dirty="0" spc="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giải</a:t>
            </a:r>
            <a:r>
              <a:rPr lang="en-US" sz="27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phóng</a:t>
            </a:r>
            <a:endParaRPr lang="en-US" sz="2700" dirty="0"/>
          </a:p>
        </p:txBody>
      </p:sp>
      <p:sp>
        <p:nvSpPr>
          <p:cNvPr id="7" name="Connector line-1792617757157-519395835"/>
          <p:cNvSpPr/>
          <p:nvPr/>
        </p:nvSpPr>
        <p:spPr>
          <a:xfrm>
            <a:off x="4610100" y="533400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200650" y="3429000"/>
            <a:ext cx="3619500" cy="38100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0" y="3714750"/>
            <a:ext cx="647700" cy="6477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5505450" y="4572000"/>
            <a:ext cx="300990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Gắn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thụ</a:t>
            </a:r>
            <a:r>
              <a:rPr lang="en-US" sz="27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thể:</a:t>
            </a:r>
            <a:r>
              <a:rPr lang="en-US" sz="2700" dirty="0" spc="-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truyền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tin</a:t>
            </a:r>
            <a:endParaRPr lang="en-US" sz="2700" dirty="0"/>
          </a:p>
        </p:txBody>
      </p:sp>
      <p:sp>
        <p:nvSpPr>
          <p:cNvPr id="12" name="Connector line-1792617757160-406128086"/>
          <p:cNvSpPr/>
          <p:nvPr/>
        </p:nvSpPr>
        <p:spPr>
          <a:xfrm>
            <a:off x="8886825" y="533400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477375" y="3429000"/>
            <a:ext cx="3619500" cy="38100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763125" y="3714750"/>
            <a:ext cx="647700" cy="6477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15" name="Text 13"/>
          <p:cNvSpPr/>
          <p:nvPr/>
        </p:nvSpPr>
        <p:spPr>
          <a:xfrm>
            <a:off x="9763125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9782175" y="4572000"/>
            <a:ext cx="300990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27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gắn: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bị</a:t>
            </a:r>
            <a:r>
              <a:rPr lang="en-US" sz="27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phân</a:t>
            </a: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hủy</a:t>
            </a:r>
            <a:r>
              <a:rPr lang="en-US" sz="27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hoặc</a:t>
            </a:r>
            <a:r>
              <a:rPr lang="en-US" sz="27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thu</a:t>
            </a:r>
            <a:r>
              <a:rPr lang="en-US" sz="27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hồi</a:t>
            </a:r>
            <a:endParaRPr lang="en-US" sz="2700" dirty="0"/>
          </a:p>
        </p:txBody>
      </p:sp>
      <p:sp>
        <p:nvSpPr>
          <p:cNvPr id="17" name="Connector line-1792617757163-438885963"/>
          <p:cNvSpPr/>
          <p:nvPr/>
        </p:nvSpPr>
        <p:spPr>
          <a:xfrm>
            <a:off x="13163550" y="533400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13754100" y="3429000"/>
            <a:ext cx="3619500" cy="38100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039850" y="3714750"/>
            <a:ext cx="647700" cy="6477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20" name="Text 18"/>
          <p:cNvSpPr/>
          <p:nvPr/>
        </p:nvSpPr>
        <p:spPr>
          <a:xfrm>
            <a:off x="1403985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4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14058900" y="4572000"/>
            <a:ext cx="300990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Khe</a:t>
            </a:r>
            <a:r>
              <a:rPr lang="en-US" sz="2700" dirty="0" spc="-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synapse</a:t>
            </a: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sẵn</a:t>
            </a:r>
            <a:r>
              <a:rPr lang="en-US" sz="27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sàng</a:t>
            </a:r>
            <a:r>
              <a:rPr lang="en-US" sz="27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</a:t>
            </a: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tín hiệu</a:t>
            </a:r>
            <a:r>
              <a:rPr lang="en-US" sz="27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mới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94932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15252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35572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55892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176212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196532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16852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37172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25749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27781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29813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1845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38772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59092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379412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3997320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200520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4403720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4606919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4810119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5013319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216518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5419718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622918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5826117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6029317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6232517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64357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66389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68421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7028382" y="9552517"/>
            <a:ext cx="135467" cy="135467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54" name="Shape 52"/>
          <p:cNvSpPr/>
          <p:nvPr/>
        </p:nvSpPr>
        <p:spPr>
          <a:xfrm>
            <a:off x="724851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45171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765491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785811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806131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826451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846771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867091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887411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907731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928051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948371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968691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989011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8" name="Text 66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L02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31/45</a:t>
            </a:r>
            <a:endParaRPr lang="en-US" sz="1800" dirty="0"/>
          </a:p>
        </p:txBody>
      </p:sp>
      <p:sp>
        <p:nvSpPr>
          <p:cNvPr id="69" name="Shape 6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70" name="Moda image moda-export-watermark-9f861295-5a06-45cb-81be-61e8ae79871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Vì</a:t>
            </a:r>
            <a:r>
              <a:rPr lang="en-US" sz="57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57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tín</a:t>
            </a:r>
            <a:r>
              <a:rPr lang="en-US" sz="57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hiệu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19400"/>
            <a:ext cx="95250" cy="55054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4" name="Text 2"/>
          <p:cNvSpPr/>
          <p:nvPr/>
        </p:nvSpPr>
        <p:spPr>
          <a:xfrm>
            <a:off x="1295400" y="2762250"/>
            <a:ext cx="10572750" cy="5619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Suy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viết: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nếu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 lại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mãi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khe</a:t>
            </a:r>
            <a:r>
              <a:rPr lang="en-US" sz="28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1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synapse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,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thụ thể</a:t>
            </a:r>
            <a:r>
              <a:rPr lang="en-US" sz="28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sẽ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kích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nơron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8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Giáo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nêu: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thụ thể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sẽ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enzyme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8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bào</a:t>
            </a:r>
            <a:r>
              <a:rPr lang="en-US" sz="28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hủy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bất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hoạt,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 hồi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tận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nơron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Neuroscience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Online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8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rằng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synapse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thần kinh-cơ,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acetylcholine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khuếch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tán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[S3]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12325350" y="2762250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6" name="Shape 4"/>
          <p:cNvSpPr/>
          <p:nvPr/>
        </p:nvSpPr>
        <p:spPr>
          <a:xfrm>
            <a:off x="12325350" y="2762250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7" name="Text 5"/>
          <p:cNvSpPr/>
          <p:nvPr/>
        </p:nvSpPr>
        <p:spPr>
          <a:xfrm>
            <a:off x="12630150" y="3028950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4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Ở</a:t>
            </a:r>
            <a:r>
              <a:rPr lang="en-US" sz="1950" dirty="0" spc="5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đâu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630150" y="3486150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khe</a:t>
            </a:r>
            <a:r>
              <a:rPr lang="en-US" sz="24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synapse</a:t>
            </a:r>
            <a:r>
              <a:rPr lang="en-US" sz="240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4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nút</a:t>
            </a:r>
            <a:r>
              <a:rPr lang="en-US" sz="24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tận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cùng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2325350" y="47148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10" name="Shape 8"/>
          <p:cNvSpPr/>
          <p:nvPr/>
        </p:nvSpPr>
        <p:spPr>
          <a:xfrm>
            <a:off x="12325350" y="47148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1" name="Text 9"/>
          <p:cNvSpPr/>
          <p:nvPr/>
        </p:nvSpPr>
        <p:spPr>
          <a:xfrm>
            <a:off x="12630150" y="49815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Làm</a:t>
            </a:r>
            <a:r>
              <a:rPr lang="en-US" sz="1950" dirty="0" spc="-4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gì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630150" y="54387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3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kết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thúc</a:t>
            </a:r>
            <a:r>
              <a:rPr lang="en-US" sz="240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tín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hiệu</a:t>
            </a:r>
            <a:r>
              <a:rPr lang="en-US" sz="240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để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nhận</a:t>
            </a:r>
            <a:r>
              <a:rPr lang="en-US" sz="24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tín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hiệu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mới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2325350" y="66579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14" name="Shape 12"/>
          <p:cNvSpPr/>
          <p:nvPr/>
        </p:nvSpPr>
        <p:spPr>
          <a:xfrm>
            <a:off x="12325350" y="66579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15" name="Text 13"/>
          <p:cNvSpPr/>
          <p:nvPr/>
        </p:nvSpPr>
        <p:spPr>
          <a:xfrm>
            <a:off x="12630150" y="69246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23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Đừng</a:t>
            </a:r>
            <a:r>
              <a:rPr lang="en-US" sz="1950" dirty="0" spc="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hiểu</a:t>
            </a:r>
            <a:r>
              <a:rPr lang="en-US" sz="1950" dirty="0" spc="-3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nhầm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630150" y="73818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có</a:t>
            </a:r>
            <a:r>
              <a:rPr lang="en-US" sz="240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ít</a:t>
            </a:r>
            <a:r>
              <a:rPr lang="en-US" sz="24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nhất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ba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cách</a:t>
            </a:r>
            <a:r>
              <a:rPr lang="en-US" sz="240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tắt,</a:t>
            </a: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4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24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4932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5252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35572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55892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76212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96532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16852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37172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5749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7781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9813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1845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38772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59092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79412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997320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200520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403720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606919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810119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013319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216518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419718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622918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5826117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029317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232517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64357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66389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8421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0453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7231582" y="9552517"/>
            <a:ext cx="135467" cy="135467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50" name="Shape 48"/>
          <p:cNvSpPr/>
          <p:nvPr/>
        </p:nvSpPr>
        <p:spPr>
          <a:xfrm>
            <a:off x="745171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65491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785811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06131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26451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846771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867091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87411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907731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928051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948371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968691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989011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3" name="Text 61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L02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32/45</a:t>
            </a:r>
            <a:endParaRPr lang="en-US" sz="1800" dirty="0"/>
          </a:p>
        </p:txBody>
      </p:sp>
      <p:sp>
        <p:nvSpPr>
          <p:cNvPr id="64" name="Shape 6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5" name="Moda image moda-export-watermark-a018fb7a-ee0d-4c07-8b52-0c7884ae19a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 cách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chấm dứt tín</a:t>
            </a:r>
            <a:r>
              <a:rPr lang="en-US" sz="5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hiệu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1E212B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2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295400" y="4857750"/>
            <a:ext cx="4495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270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(reuptake)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295400" y="6000750"/>
            <a:ext cx="4495800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đưa</a:t>
            </a:r>
            <a:r>
              <a:rPr lang="en-US" sz="25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ngược</a:t>
            </a:r>
            <a:r>
              <a:rPr lang="en-US" sz="25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</a:t>
            </a:r>
            <a:r>
              <a:rPr lang="en-US" sz="25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tận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5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nơron</a:t>
            </a:r>
            <a:r>
              <a:rPr lang="en-US" sz="25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5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65151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65151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0" name="Text 8"/>
          <p:cNvSpPr/>
          <p:nvPr/>
        </p:nvSpPr>
        <p:spPr>
          <a:xfrm>
            <a:off x="68961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4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6896100" y="4857750"/>
            <a:ext cx="4495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Phân hủy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6896100" y="6000750"/>
            <a:ext cx="4495800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enzyme</a:t>
            </a:r>
            <a:r>
              <a:rPr lang="en-US" sz="25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r>
              <a:rPr lang="en-US" sz="25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bào</a:t>
            </a:r>
            <a:r>
              <a:rPr lang="en-US" sz="2550" dirty="0" spc="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5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cắt</a:t>
            </a:r>
            <a:r>
              <a:rPr lang="en-US" sz="25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5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5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r>
              <a:rPr lang="en-US" sz="25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21158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1E212B"/>
          </a:solidFill>
          <a:ln/>
        </p:spPr>
      </p:sp>
      <p:sp>
        <p:nvSpPr>
          <p:cNvPr id="14" name="Shape 12"/>
          <p:cNvSpPr/>
          <p:nvPr/>
        </p:nvSpPr>
        <p:spPr>
          <a:xfrm>
            <a:off x="121158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5" name="Text 13"/>
          <p:cNvSpPr/>
          <p:nvPr/>
        </p:nvSpPr>
        <p:spPr>
          <a:xfrm>
            <a:off x="124968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7200" dirty="0"/>
          </a:p>
        </p:txBody>
      </p:sp>
      <p:sp>
        <p:nvSpPr>
          <p:cNvPr id="16" name="Text 14"/>
          <p:cNvSpPr/>
          <p:nvPr/>
        </p:nvSpPr>
        <p:spPr>
          <a:xfrm>
            <a:off x="12496800" y="4857750"/>
            <a:ext cx="4495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Khuếch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tán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12496800" y="6000750"/>
            <a:ext cx="4495800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chất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5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r>
              <a:rPr lang="en-US" sz="2550" dirty="0" spc="-2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trôi</a:t>
            </a:r>
            <a:r>
              <a:rPr lang="en-US" sz="2550" dirty="0" spc="-3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khỏi khe</a:t>
            </a:r>
            <a:r>
              <a:rPr lang="en-US" sz="25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synapse</a:t>
            </a:r>
            <a:r>
              <a:rPr lang="en-US" sz="25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4932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15252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35572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55892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76212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96532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16852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37172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5749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7781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9813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1845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38772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59092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79412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997320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200520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403720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606919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810119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013319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216518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419718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5622918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5826117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029317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6232517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64357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6389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68421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70453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724851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434782" y="9552517"/>
            <a:ext cx="135467" cy="135467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52" name="Shape 50"/>
          <p:cNvSpPr/>
          <p:nvPr/>
        </p:nvSpPr>
        <p:spPr>
          <a:xfrm>
            <a:off x="765491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785811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06131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826451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846771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67091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887411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907731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928051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948371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968691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989011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Text 62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L02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33/45</a:t>
            </a:r>
            <a:endParaRPr lang="en-US" sz="1800" dirty="0"/>
          </a:p>
        </p:txBody>
      </p:sp>
      <p:sp>
        <p:nvSpPr>
          <p:cNvPr id="65" name="Shape 6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6" name="Moda image moda-export-watermark-9766e8fa-3378-471d-a789-d86ee74432e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600.000</a:t>
            </a:r>
            <a:endParaRPr lang="en-US" sz="5700" dirty="0"/>
          </a:p>
        </p:txBody>
      </p:sp>
      <p:sp>
        <p:nvSpPr>
          <p:cNvPr id="3" name="Text 1"/>
          <p:cNvSpPr/>
          <p:nvPr/>
        </p:nvSpPr>
        <p:spPr>
          <a:xfrm>
            <a:off x="914400" y="2476500"/>
            <a:ext cx="16459200" cy="3429000"/>
          </a:xfrm>
          <a:prstGeom prst="rect">
            <a:avLst/>
          </a:prstGeom>
          <a:noFill/>
          <a:ln/>
        </p:spPr>
        <p:txBody>
          <a:bodyPr wrap="square" lIns="0" tIns="228600" rIns="0" bIns="-228600" rtlCol="0" anchor="ctr"/>
          <a:lstStyle/>
          <a:p>
            <a:pPr algn="l" indent="0" marL="0">
              <a:lnSpc>
                <a:spcPts val="22500"/>
              </a:lnSpc>
              <a:buNone/>
            </a:pPr>
            <a:r>
              <a:rPr lang="en-US" sz="22500" dirty="0" spc="-115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600.000</a:t>
            </a:r>
            <a:endParaRPr lang="en-US" sz="22500" dirty="0"/>
          </a:p>
        </p:txBody>
      </p:sp>
      <p:sp>
        <p:nvSpPr>
          <p:cNvPr id="4" name="Text 2"/>
          <p:cNvSpPr/>
          <p:nvPr/>
        </p:nvSpPr>
        <p:spPr>
          <a:xfrm>
            <a:off x="914400" y="6096000"/>
            <a:ext cx="16459200" cy="790575"/>
          </a:xfrm>
          <a:prstGeom prst="rect">
            <a:avLst/>
          </a:prstGeom>
          <a:noFill/>
          <a:ln/>
        </p:spPr>
        <p:txBody>
          <a:bodyPr wrap="square" lIns="0" tIns="15048" rIns="0" bIns="-15048" rtlCol="0" anchor="t"/>
          <a:lstStyle/>
          <a:p>
            <a:pPr algn="l" indent="0" marL="0">
              <a:lnSpc>
                <a:spcPts val="3105"/>
              </a:lnSpc>
              <a:buNone/>
            </a:pPr>
            <a:r>
              <a:rPr lang="en-US" sz="270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Một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phân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tử</a:t>
            </a:r>
            <a:r>
              <a:rPr lang="en-US" sz="270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acetylcholinesterase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phân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hủy</a:t>
            </a:r>
            <a:r>
              <a:rPr lang="en-US" sz="270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7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600.000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phân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tử</a:t>
            </a:r>
            <a:r>
              <a:rPr lang="en-US" sz="27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acetylcholine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mỗi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phút [S3]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14400" y="6981825"/>
            <a:ext cx="16459200" cy="790575"/>
          </a:xfrm>
          <a:prstGeom prst="rect">
            <a:avLst/>
          </a:prstGeom>
          <a:noFill/>
          <a:ln/>
        </p:spPr>
        <p:txBody>
          <a:bodyPr wrap="square" lIns="0" tIns="18392" rIns="0" bIns="-18392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3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Số liệu</a:t>
            </a:r>
            <a:r>
              <a:rPr lang="en-US" sz="33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330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synapse</a:t>
            </a:r>
            <a:r>
              <a:rPr lang="en-US" sz="33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thần kinh-cơ</a:t>
            </a:r>
            <a:r>
              <a:rPr lang="en-US" sz="3300" dirty="0" spc="-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vân,</a:t>
            </a:r>
            <a:r>
              <a:rPr lang="en-US" sz="33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dùng</a:t>
            </a:r>
            <a:r>
              <a:rPr lang="en-US" sz="3300" dirty="0" spc="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để</a:t>
            </a:r>
            <a:r>
              <a:rPr lang="en-US" sz="33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minh</a:t>
            </a:r>
            <a:r>
              <a:rPr lang="en-US" sz="33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họa</a:t>
            </a:r>
            <a:r>
              <a:rPr lang="en-US" sz="330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nguyên</a:t>
            </a:r>
            <a:r>
              <a:rPr lang="en-US" sz="33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lý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914400" y="7877175"/>
            <a:ext cx="16459200" cy="790575"/>
          </a:xfrm>
          <a:prstGeom prst="rect">
            <a:avLst/>
          </a:prstGeom>
          <a:noFill/>
          <a:ln/>
        </p:spPr>
        <p:txBody>
          <a:bodyPr wrap="square" lIns="0" tIns="18392" rIns="0" bIns="-18392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3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Điện</a:t>
            </a:r>
            <a:r>
              <a:rPr lang="en-US" sz="33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thế</a:t>
            </a:r>
            <a:r>
              <a:rPr lang="en-US" sz="33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r>
              <a:rPr lang="en-US" sz="330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vận</a:t>
            </a:r>
            <a:r>
              <a:rPr lang="en-US" sz="33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động ở</a:t>
            </a:r>
            <a:r>
              <a:rPr lang="en-US" sz="330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đó</a:t>
            </a:r>
            <a:r>
              <a:rPr lang="en-US" sz="3300" dirty="0" spc="-3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kéo</a:t>
            </a:r>
            <a:r>
              <a:rPr lang="en-US" sz="33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dài</a:t>
            </a:r>
            <a:r>
              <a:rPr lang="en-US" sz="33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khoảng 10</a:t>
            </a:r>
            <a:r>
              <a:rPr lang="en-US" sz="33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mili</a:t>
            </a:r>
            <a:r>
              <a:rPr lang="en-US" sz="33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giây</a:t>
            </a:r>
            <a:r>
              <a:rPr lang="en-US" sz="33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[S3]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4932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252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35572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55892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76212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96532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216852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237172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25749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27781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29813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1845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338772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359092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379412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3997320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4200520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4403720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4606919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4810119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5013319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5216518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5419718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5622918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5826117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6029317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6232517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64357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66389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68421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70453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724851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745171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7637981" y="9552517"/>
            <a:ext cx="135467" cy="135467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2" name="Shape 40"/>
          <p:cNvSpPr/>
          <p:nvPr/>
        </p:nvSpPr>
        <p:spPr>
          <a:xfrm>
            <a:off x="785811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806131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826451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846771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867091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887411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907731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928051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948371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968691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989011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Text 51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L02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34/45</a:t>
            </a:r>
            <a:endParaRPr lang="en-US" sz="1800" dirty="0"/>
          </a:p>
        </p:txBody>
      </p:sp>
      <p:sp>
        <p:nvSpPr>
          <p:cNvPr id="54" name="Shape 5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5" name="Moda image moda-export-watermark-120d094e-5b7e-4dd2-a9bc-ad08ff2dcbc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mắt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xích</a:t>
            </a: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thể</a:t>
            </a:r>
            <a:r>
              <a:rPr lang="en-US" sz="57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can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thiệp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3429000"/>
            <a:ext cx="2762250" cy="381000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00150" y="3714750"/>
            <a:ext cx="647700" cy="6477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5" name="Text 3"/>
          <p:cNvSpPr/>
          <p:nvPr/>
        </p:nvSpPr>
        <p:spPr>
          <a:xfrm>
            <a:off x="120015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219200" y="4572000"/>
            <a:ext cx="215265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7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Tổng</a:t>
            </a:r>
            <a:r>
              <a:rPr lang="en-US" sz="27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hợp</a:t>
            </a:r>
            <a:endParaRPr lang="en-US" sz="2700" dirty="0"/>
          </a:p>
        </p:txBody>
      </p:sp>
      <p:sp>
        <p:nvSpPr>
          <p:cNvPr id="7" name="Connector line-1792617761435-324464855"/>
          <p:cNvSpPr/>
          <p:nvPr/>
        </p:nvSpPr>
        <p:spPr>
          <a:xfrm>
            <a:off x="3752850" y="533400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4343400" y="3429000"/>
            <a:ext cx="2762250" cy="381000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29150" y="3714750"/>
            <a:ext cx="647700" cy="6477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0" name="Text 8"/>
          <p:cNvSpPr/>
          <p:nvPr/>
        </p:nvSpPr>
        <p:spPr>
          <a:xfrm>
            <a:off x="462915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4648200" y="4572000"/>
            <a:ext cx="215265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Giải</a:t>
            </a:r>
            <a:r>
              <a:rPr lang="en-US" sz="27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phóng</a:t>
            </a:r>
            <a:endParaRPr lang="en-US" sz="2700" dirty="0"/>
          </a:p>
        </p:txBody>
      </p:sp>
      <p:sp>
        <p:nvSpPr>
          <p:cNvPr id="12" name="Connector line-1792617761438-159396736"/>
          <p:cNvSpPr/>
          <p:nvPr/>
        </p:nvSpPr>
        <p:spPr>
          <a:xfrm>
            <a:off x="7172325" y="533400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762875" y="3429000"/>
            <a:ext cx="2762250" cy="381000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8625" y="3714750"/>
            <a:ext cx="647700" cy="6477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15" name="Text 13"/>
          <p:cNvSpPr/>
          <p:nvPr/>
        </p:nvSpPr>
        <p:spPr>
          <a:xfrm>
            <a:off x="8048625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8067675" y="4572000"/>
            <a:ext cx="215265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Gắn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thụ</a:t>
            </a:r>
            <a:r>
              <a:rPr lang="en-US" sz="27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thể</a:t>
            </a:r>
            <a:endParaRPr lang="en-US" sz="2700" dirty="0"/>
          </a:p>
        </p:txBody>
      </p:sp>
      <p:sp>
        <p:nvSpPr>
          <p:cNvPr id="17" name="Connector line-1792617761439-907085047"/>
          <p:cNvSpPr/>
          <p:nvPr/>
        </p:nvSpPr>
        <p:spPr>
          <a:xfrm>
            <a:off x="10601325" y="533400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11191875" y="3429000"/>
            <a:ext cx="2762250" cy="381000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477625" y="3714750"/>
            <a:ext cx="647700" cy="6477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20" name="Text 18"/>
          <p:cNvSpPr/>
          <p:nvPr/>
        </p:nvSpPr>
        <p:spPr>
          <a:xfrm>
            <a:off x="11477625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4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11496675" y="4572000"/>
            <a:ext cx="215265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Thu</a:t>
            </a:r>
            <a:r>
              <a:rPr lang="en-US" sz="27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hồi</a:t>
            </a:r>
            <a:endParaRPr lang="en-US" sz="2700" dirty="0"/>
          </a:p>
        </p:txBody>
      </p:sp>
      <p:sp>
        <p:nvSpPr>
          <p:cNvPr id="22" name="Connector line-1792617761441-492536466"/>
          <p:cNvSpPr/>
          <p:nvPr/>
        </p:nvSpPr>
        <p:spPr>
          <a:xfrm>
            <a:off x="14020800" y="533400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14611350" y="3429000"/>
            <a:ext cx="2762250" cy="381000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4897100" y="3714750"/>
            <a:ext cx="647700" cy="6477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25" name="Text 23"/>
          <p:cNvSpPr/>
          <p:nvPr/>
        </p:nvSpPr>
        <p:spPr>
          <a:xfrm>
            <a:off x="1489710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5</a:t>
            </a:r>
            <a:endParaRPr lang="en-US" sz="2550" dirty="0"/>
          </a:p>
        </p:txBody>
      </p:sp>
      <p:sp>
        <p:nvSpPr>
          <p:cNvPr id="26" name="Text 24"/>
          <p:cNvSpPr/>
          <p:nvPr/>
        </p:nvSpPr>
        <p:spPr>
          <a:xfrm>
            <a:off x="14916150" y="4572000"/>
            <a:ext cx="215265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Phân hủy</a:t>
            </a:r>
            <a:endParaRPr lang="en-US" sz="2700" dirty="0"/>
          </a:p>
        </p:txBody>
      </p:sp>
      <p:sp>
        <p:nvSpPr>
          <p:cNvPr id="27" name="Text 2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4932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15252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135572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155892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176212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196532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216852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237172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25749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27781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29813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31845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338772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359092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379412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3997320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4200520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4403720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4606919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4810119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5013319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5216518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5419718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5622918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5826117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6029317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6232517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64357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66389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68421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70453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724851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745171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765491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7841181" y="9552517"/>
            <a:ext cx="135467" cy="135467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63" name="Shape 61"/>
          <p:cNvSpPr/>
          <p:nvPr/>
        </p:nvSpPr>
        <p:spPr>
          <a:xfrm>
            <a:off x="806131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826451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846771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867091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887411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907731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928051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948371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968691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>
            <a:off x="989011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3" name="Text 71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L02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35/45</a:t>
            </a:r>
            <a:endParaRPr lang="en-US" sz="1800" dirty="0"/>
          </a:p>
        </p:txBody>
      </p:sp>
      <p:sp>
        <p:nvSpPr>
          <p:cNvPr id="74" name="Shape 7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75" name="Moda image moda-export-watermark-6ca6a1eb-6f65-4ad8-a9e6-272c40c3edf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 nhóm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can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thiệp</a:t>
            </a: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synapse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724150"/>
            <a:ext cx="8096250" cy="2838450"/>
          </a:xfrm>
          <a:prstGeom prst="roundRect">
            <a:avLst>
              <a:gd name="adj" fmla="val 8054"/>
            </a:avLst>
          </a:prstGeom>
          <a:solidFill>
            <a:srgbClr val="E8E0CF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72415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933700"/>
            <a:ext cx="74866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Chặn thu</a:t>
            </a:r>
            <a:r>
              <a:rPr lang="en-US" sz="2100" dirty="0" spc="-5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hồi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295400" y="3448050"/>
            <a:ext cx="7486650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1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Chất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dẫn</a:t>
            </a:r>
            <a:r>
              <a:rPr lang="en-US" sz="2550" dirty="0" spc="-1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truyền</a:t>
            </a:r>
            <a:r>
              <a:rPr lang="en-US" sz="2550" dirty="0" spc="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ở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lại</a:t>
            </a:r>
            <a:r>
              <a:rPr lang="en-US" sz="25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khe</a:t>
            </a:r>
            <a:r>
              <a:rPr lang="en-US" sz="2550" dirty="0" spc="-1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synapse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lâu</a:t>
            </a:r>
            <a:r>
              <a:rPr lang="en-US" sz="2550" dirty="0" spc="-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hơn</a:t>
            </a:r>
            <a:r>
              <a:rPr lang="en-US" sz="25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4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[S1]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277350" y="2724150"/>
            <a:ext cx="8096250" cy="2838450"/>
          </a:xfrm>
          <a:prstGeom prst="roundRect">
            <a:avLst>
              <a:gd name="adj" fmla="val 8054"/>
            </a:avLst>
          </a:prstGeom>
          <a:solidFill>
            <a:srgbClr val="E8E0CF"/>
          </a:solidFill>
          <a:ln/>
        </p:spPr>
      </p:sp>
      <p:sp>
        <p:nvSpPr>
          <p:cNvPr id="8" name="Shape 6"/>
          <p:cNvSpPr/>
          <p:nvPr/>
        </p:nvSpPr>
        <p:spPr>
          <a:xfrm>
            <a:off x="9277350" y="272415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9" name="Text 7"/>
          <p:cNvSpPr/>
          <p:nvPr/>
        </p:nvSpPr>
        <p:spPr>
          <a:xfrm>
            <a:off x="9658350" y="2933700"/>
            <a:ext cx="74866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Chặn</a:t>
            </a:r>
            <a:r>
              <a:rPr lang="en-US" sz="2100" dirty="0" spc="-3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thụ</a:t>
            </a:r>
            <a:r>
              <a:rPr lang="en-US" sz="2100" dirty="0" spc="-6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thể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658350" y="3448050"/>
            <a:ext cx="7486650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Chiếm</a:t>
            </a:r>
            <a:r>
              <a:rPr lang="en-US" sz="2550" dirty="0" spc="-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hoặc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chặn</a:t>
            </a:r>
            <a:r>
              <a:rPr lang="en-US" sz="25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thụ</a:t>
            </a:r>
            <a:r>
              <a:rPr lang="en-US" sz="2550" dirty="0" spc="-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thể</a:t>
            </a:r>
            <a:r>
              <a:rPr lang="en-US" sz="2550" dirty="0" spc="-6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nên</a:t>
            </a:r>
            <a:r>
              <a:rPr lang="en-US" sz="2550" dirty="0" spc="-1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chất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dẫn</a:t>
            </a:r>
            <a:r>
              <a:rPr lang="en-US" sz="2550" dirty="0" spc="-1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truyền</a:t>
            </a:r>
            <a:r>
              <a:rPr lang="en-US" sz="2550" dirty="0" spc="-1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thật</a:t>
            </a:r>
            <a:r>
              <a:rPr lang="en-US" sz="2550" dirty="0" spc="-2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yếu</a:t>
            </a:r>
            <a:r>
              <a:rPr lang="en-US" sz="2550" dirty="0" spc="-1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tác</a:t>
            </a:r>
            <a:r>
              <a:rPr lang="en-US" sz="25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dụng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4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[S1]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" y="5829300"/>
            <a:ext cx="8096250" cy="2838450"/>
          </a:xfrm>
          <a:prstGeom prst="roundRect">
            <a:avLst>
              <a:gd name="adj" fmla="val 8054"/>
            </a:avLst>
          </a:prstGeom>
          <a:solidFill>
            <a:srgbClr val="E8E0CF"/>
          </a:solidFill>
          <a:ln/>
        </p:spPr>
      </p:sp>
      <p:sp>
        <p:nvSpPr>
          <p:cNvPr id="12" name="Shape 10"/>
          <p:cNvSpPr/>
          <p:nvPr/>
        </p:nvSpPr>
        <p:spPr>
          <a:xfrm>
            <a:off x="914400" y="582930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6038850"/>
            <a:ext cx="74866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Bắt</a:t>
            </a:r>
            <a:r>
              <a:rPr lang="en-US" sz="2100" dirty="0" spc="6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chước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295400" y="6553200"/>
            <a:ext cx="7486650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1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Chất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từ</a:t>
            </a:r>
            <a:r>
              <a:rPr lang="en-US" sz="2550" dirty="0" spc="-1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ngoài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cơ</a:t>
            </a:r>
            <a:r>
              <a:rPr lang="en-US" sz="2550" dirty="0" spc="-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thể</a:t>
            </a:r>
            <a:r>
              <a:rPr lang="en-US" sz="2550" dirty="0" spc="-1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gắn</a:t>
            </a:r>
            <a:r>
              <a:rPr lang="en-US" sz="2550" dirty="0" spc="-1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vào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thụ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thể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mà</a:t>
            </a:r>
            <a:r>
              <a:rPr lang="en-US" sz="2550" dirty="0" spc="-1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chất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tự</a:t>
            </a:r>
            <a:r>
              <a:rPr lang="en-US" sz="2550" dirty="0" spc="-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nhiên</a:t>
            </a:r>
            <a:r>
              <a:rPr lang="en-US" sz="2550" dirty="0" spc="-16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vẫn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dùng</a:t>
            </a:r>
            <a:r>
              <a:rPr lang="en-US" sz="2550" dirty="0" spc="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4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[S1]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9277350" y="5829300"/>
            <a:ext cx="8096250" cy="2838450"/>
          </a:xfrm>
          <a:prstGeom prst="roundRect">
            <a:avLst>
              <a:gd name="adj" fmla="val 8054"/>
            </a:avLst>
          </a:prstGeom>
          <a:solidFill>
            <a:srgbClr val="E8E0CF"/>
          </a:solidFill>
          <a:ln/>
        </p:spPr>
      </p:sp>
      <p:sp>
        <p:nvSpPr>
          <p:cNvPr id="16" name="Shape 14"/>
          <p:cNvSpPr/>
          <p:nvPr/>
        </p:nvSpPr>
        <p:spPr>
          <a:xfrm>
            <a:off x="9277350" y="582930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7" name="Text 15"/>
          <p:cNvSpPr/>
          <p:nvPr/>
        </p:nvSpPr>
        <p:spPr>
          <a:xfrm>
            <a:off x="9658350" y="6038850"/>
            <a:ext cx="74866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Ức</a:t>
            </a:r>
            <a:r>
              <a:rPr lang="en-US" sz="2100" dirty="0" spc="-6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chế</a:t>
            </a:r>
            <a:r>
              <a:rPr lang="en-US" sz="2100" dirty="0" spc="-8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enzyme</a:t>
            </a:r>
            <a:r>
              <a:rPr lang="en-US" sz="2100" dirty="0" spc="-6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phân</a:t>
            </a:r>
            <a:r>
              <a:rPr lang="en-US" sz="2100" dirty="0" spc="-4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hủy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9658350" y="6553200"/>
            <a:ext cx="7486650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1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Chất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dẫn</a:t>
            </a:r>
            <a:r>
              <a:rPr lang="en-US" sz="2550" dirty="0" spc="-1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truyền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bị</a:t>
            </a:r>
            <a:r>
              <a:rPr lang="en-US" sz="2550" dirty="0" spc="-1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cắt</a:t>
            </a:r>
            <a:r>
              <a:rPr lang="en-US" sz="25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chậm</a:t>
            </a:r>
            <a:r>
              <a:rPr lang="en-US" sz="2550" dirty="0" spc="-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hơn</a:t>
            </a:r>
            <a:r>
              <a:rPr lang="en-US" sz="2550" dirty="0" spc="-6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nên</a:t>
            </a:r>
            <a:r>
              <a:rPr lang="en-US" sz="2550" dirty="0" spc="-1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tác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dụng</a:t>
            </a:r>
            <a:r>
              <a:rPr lang="en-US" sz="2550" dirty="0" spc="-3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kéo</a:t>
            </a:r>
            <a:r>
              <a:rPr lang="en-US" sz="25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dài</a:t>
            </a:r>
            <a:r>
              <a:rPr lang="en-US" sz="2550" dirty="0" spc="-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hơn</a:t>
            </a:r>
            <a:r>
              <a:rPr lang="en-US" sz="25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3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[S3]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4932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15252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35572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55892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76212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96532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16852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37172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5749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7781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9813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1845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38772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59092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79412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997320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200520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403720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606919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810119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013319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216518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5419718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5622918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826117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6029317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6232517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4357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66389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68421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70453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24851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745171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765491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785811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8044381" y="9552517"/>
            <a:ext cx="135467" cy="135467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56" name="Shape 54"/>
          <p:cNvSpPr/>
          <p:nvPr/>
        </p:nvSpPr>
        <p:spPr>
          <a:xfrm>
            <a:off x="826451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46771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867091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887411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907731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928051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948371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968691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989011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5" name="Text 63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L02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36/45</a:t>
            </a:r>
            <a:endParaRPr lang="en-US" sz="1800" dirty="0"/>
          </a:p>
        </p:txBody>
      </p:sp>
      <p:sp>
        <p:nvSpPr>
          <p:cNvPr id="66" name="Shape 6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7" name="Moda image moda-export-watermark-39a531f6-706b-4347-bf9d-8a32ae1fa8a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Chủ</a:t>
            </a:r>
            <a:r>
              <a:rPr lang="en-US" sz="5700" dirty="0" spc="-3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vận,</a:t>
            </a:r>
            <a:r>
              <a:rPr lang="en-US" sz="57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đối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kháng</a:t>
            </a:r>
            <a:r>
              <a:rPr lang="en-US" sz="5700" dirty="0" spc="-6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cẩn</a:t>
            </a:r>
            <a:r>
              <a:rPr lang="en-US" sz="57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trọng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19400"/>
            <a:ext cx="95250" cy="55054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4" name="Text 2"/>
          <p:cNvSpPr/>
          <p:nvPr/>
        </p:nvSpPr>
        <p:spPr>
          <a:xfrm>
            <a:off x="1295400" y="2762250"/>
            <a:ext cx="10572750" cy="5619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Giáo</a:t>
            </a:r>
            <a:r>
              <a:rPr lang="en-US" sz="28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8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thuốc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8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 hoạt</a:t>
            </a:r>
            <a:r>
              <a:rPr lang="en-US" sz="28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8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1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synapse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8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8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(agonist),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thuốc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r>
              <a:rPr lang="en-US" sz="28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kháng</a:t>
            </a:r>
            <a:r>
              <a:rPr lang="en-US" sz="28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(antagonist)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Hầu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thuốc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8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cảm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giác</a:t>
            </a:r>
            <a:r>
              <a:rPr lang="en-US" sz="28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8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8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8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8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nơron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850" dirty="0" spc="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dễ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nhầm: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8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85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8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8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synapse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thuốc</a:t>
            </a:r>
            <a:r>
              <a:rPr lang="en-US" sz="285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tốt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8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xấu,</a:t>
            </a:r>
            <a:r>
              <a:rPr lang="en-US" sz="28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 hiệu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tùy mạch thần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kinh. Bài</a:t>
            </a:r>
            <a:r>
              <a:rPr lang="en-US" sz="28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thuốc,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liều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8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khuyến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nghị.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12325350" y="2762250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6" name="Shape 4"/>
          <p:cNvSpPr/>
          <p:nvPr/>
        </p:nvSpPr>
        <p:spPr>
          <a:xfrm>
            <a:off x="12325350" y="2762250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7" name="Text 5"/>
          <p:cNvSpPr/>
          <p:nvPr/>
        </p:nvSpPr>
        <p:spPr>
          <a:xfrm>
            <a:off x="12630150" y="3028950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4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Ở</a:t>
            </a:r>
            <a:r>
              <a:rPr lang="en-US" sz="1950" dirty="0" spc="5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đâu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630150" y="3486150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mọi</a:t>
            </a:r>
            <a:r>
              <a:rPr lang="en-US" sz="240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mắt</a:t>
            </a:r>
            <a:r>
              <a:rPr lang="en-US" sz="24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xích</a:t>
            </a:r>
            <a:r>
              <a:rPr lang="en-US" sz="24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400" dirty="0" spc="-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vòng</a:t>
            </a:r>
            <a:r>
              <a:rPr lang="en-US" sz="2400" dirty="0" spc="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đời</a:t>
            </a:r>
            <a:r>
              <a:rPr lang="en-US" sz="24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chất</a:t>
            </a:r>
            <a:r>
              <a:rPr lang="en-US" sz="24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dẫn</a:t>
            </a:r>
            <a:r>
              <a:rPr lang="en-US" sz="2400" dirty="0" spc="-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truyền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2325350" y="47148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12325350" y="47148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1" name="Text 9"/>
          <p:cNvSpPr/>
          <p:nvPr/>
        </p:nvSpPr>
        <p:spPr>
          <a:xfrm>
            <a:off x="12630150" y="49815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1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Làm</a:t>
            </a:r>
            <a:r>
              <a:rPr lang="en-US" sz="1950" dirty="0" spc="-4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gì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630150" y="54387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tăng</a:t>
            </a: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hoặc giảm</a:t>
            </a:r>
            <a:r>
              <a:rPr lang="en-US" sz="24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hoạt</a:t>
            </a:r>
            <a:r>
              <a:rPr lang="en-US" sz="24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động</a:t>
            </a:r>
            <a:r>
              <a:rPr lang="en-US" sz="24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24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synapse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2325350" y="66579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14" name="Shape 12"/>
          <p:cNvSpPr/>
          <p:nvPr/>
        </p:nvSpPr>
        <p:spPr>
          <a:xfrm>
            <a:off x="12325350" y="66579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5" name="Text 13"/>
          <p:cNvSpPr/>
          <p:nvPr/>
        </p:nvSpPr>
        <p:spPr>
          <a:xfrm>
            <a:off x="12630150" y="69246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2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Đừng</a:t>
            </a:r>
            <a:r>
              <a:rPr lang="en-US" sz="1950" dirty="0" spc="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hiểu</a:t>
            </a:r>
            <a:r>
              <a:rPr lang="en-US" sz="1950" dirty="0" spc="-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nhầm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630150" y="73818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5478" rIns="0" bIns="-15478" rtlCol="0" anchor="t"/>
          <a:lstStyle/>
          <a:p>
            <a:pPr algn="l" indent="0" marL="0">
              <a:lnSpc>
                <a:spcPts val="2379"/>
              </a:lnSpc>
              <a:buNone/>
            </a:pPr>
            <a:r>
              <a:rPr lang="en-US" sz="19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chủ</a:t>
            </a:r>
            <a:r>
              <a:rPr lang="en-US" sz="1950" dirty="0" spc="-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vận</a:t>
            </a:r>
            <a:r>
              <a:rPr lang="en-US" sz="19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19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19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nghĩa là</a:t>
            </a:r>
            <a:r>
              <a:rPr lang="en-US" sz="195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tốt,</a:t>
            </a:r>
            <a:r>
              <a:rPr lang="en-US" sz="1950" dirty="0" spc="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đối</a:t>
            </a:r>
            <a:r>
              <a:rPr lang="en-US" sz="19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kháng</a:t>
            </a:r>
            <a:r>
              <a:rPr lang="en-US" sz="19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19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19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nghĩa</a:t>
            </a:r>
            <a:r>
              <a:rPr lang="en-US" sz="19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1950" dirty="0" spc="-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xấu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4932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5252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35572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55892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76212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96532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16852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37172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5749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7781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9813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1845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38772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59092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79412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997320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200520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403720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606919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810119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013319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216518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419718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622918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5826117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029317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232517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64357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66389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8421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0453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724851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745171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65491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785811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06131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247580" y="9552517"/>
            <a:ext cx="135467" cy="135467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55" name="Shape 53"/>
          <p:cNvSpPr/>
          <p:nvPr/>
        </p:nvSpPr>
        <p:spPr>
          <a:xfrm>
            <a:off x="846771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867091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87411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907731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928051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948371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968691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989011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Text 61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L02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37/45</a:t>
            </a:r>
            <a:endParaRPr lang="en-US" sz="1800" dirty="0"/>
          </a:p>
        </p:txBody>
      </p:sp>
      <p:sp>
        <p:nvSpPr>
          <p:cNvPr id="64" name="Shape 6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5" name="Moda image moda-export-watermark-0fd21cf9-6b1b-41ff-add9-9cc3f08dd88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Thuốc</a:t>
            </a:r>
            <a:r>
              <a:rPr lang="en-US" sz="57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57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tác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</a:t>
            </a:r>
            <a:r>
              <a:rPr lang="en-US" sz="5700" dirty="0" spc="-3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</a:t>
            </a:r>
            <a:r>
              <a:rPr lang="en-US" sz="57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chứng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minh</a:t>
            </a:r>
            <a:r>
              <a:rPr lang="en-US" sz="57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nhân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952750"/>
            <a:ext cx="152400" cy="40005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4" name="Text 2"/>
          <p:cNvSpPr/>
          <p:nvPr/>
        </p:nvSpPr>
        <p:spPr>
          <a:xfrm>
            <a:off x="1485900" y="2857500"/>
            <a:ext cx="15811500" cy="419100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ctr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Thuốc</a:t>
            </a:r>
            <a:r>
              <a:rPr lang="en-US" sz="69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triệu chứng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tác</a:t>
            </a: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chất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dẫn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truyền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7728"/>
              </a:lnSpc>
              <a:buNone/>
            </a:pPr>
            <a:r>
              <a:rPr lang="en-US" sz="6900" dirty="0" spc="-6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chưa</a:t>
            </a:r>
            <a:r>
              <a:rPr lang="en-US" sz="6900" dirty="0" spc="6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chứng</a:t>
            </a:r>
            <a:r>
              <a:rPr lang="en-US" sz="6900" dirty="0" spc="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minh</a:t>
            </a:r>
            <a:pPr algn="l" indent="0" marL="0">
              <a:lnSpc>
                <a:spcPts val="7728"/>
              </a:lnSpc>
              <a:buNone/>
            </a:pP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bệnh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do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thiếu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chất</a:t>
            </a:r>
            <a:r>
              <a:rPr lang="en-US" sz="6900" dirty="0" spc="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đó</a:t>
            </a:r>
            <a:endParaRPr lang="en-US" sz="6900" dirty="0"/>
          </a:p>
        </p:txBody>
      </p:sp>
      <p:sp>
        <p:nvSpPr>
          <p:cNvPr id="5" name="Text 3"/>
          <p:cNvSpPr/>
          <p:nvPr/>
        </p:nvSpPr>
        <p:spPr>
          <a:xfrm>
            <a:off x="1485900" y="7429500"/>
            <a:ext cx="15811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Suy</a:t>
            </a:r>
            <a:r>
              <a:rPr lang="en-US" sz="27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</a:t>
            </a:r>
            <a:r>
              <a:rPr lang="en-US" sz="27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7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viết;</a:t>
            </a:r>
            <a:r>
              <a:rPr lang="en-US" sz="270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tranh</a:t>
            </a:r>
            <a:r>
              <a:rPr lang="en-US" sz="27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</a:t>
            </a:r>
            <a:r>
              <a:rPr lang="en-US" sz="27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7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 ở</a:t>
            </a:r>
            <a:r>
              <a:rPr lang="en-US" sz="2700" dirty="0" spc="-5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L03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1485900" y="8096250"/>
            <a:ext cx="15811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Đây</a:t>
            </a:r>
            <a:r>
              <a:rPr lang="en-US" sz="27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7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giáo</a:t>
            </a:r>
            <a:r>
              <a:rPr lang="en-US" sz="27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dục,</a:t>
            </a:r>
            <a:r>
              <a:rPr lang="en-US" sz="27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7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khuyên</a:t>
            </a:r>
            <a:r>
              <a:rPr lang="en-US" sz="27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</a:t>
            </a:r>
            <a:r>
              <a:rPr lang="en-US" sz="2700" dirty="0" spc="-1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4932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5252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35572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55892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76212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96532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16852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237172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25749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27781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29813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31845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38772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359092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379412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3997320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200520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4403720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4606919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4810119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013319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5216518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5419718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5622918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5826117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6029317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6232517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64357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66389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68421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70453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724851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745171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765491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785811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806131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826451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8450780" y="9552517"/>
            <a:ext cx="135467" cy="135467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5" name="Shape 43"/>
          <p:cNvSpPr/>
          <p:nvPr/>
        </p:nvSpPr>
        <p:spPr>
          <a:xfrm>
            <a:off x="867091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887411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907731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928051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948371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968691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989011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Text 50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L02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38/45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4" name="Moda image moda-export-watermark-c3266c7a-a8bf-40f4-a20d-ebc3071ead6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Quy</a:t>
            </a:r>
            <a:r>
              <a:rPr lang="en-US" sz="57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tắc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Hebb</a:t>
            </a:r>
            <a:r>
              <a:rPr lang="en-US" sz="5700" dirty="0" spc="-6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tăng</a:t>
            </a:r>
            <a:r>
              <a:rPr lang="en-US" sz="5700" dirty="0" spc="-6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cường</a:t>
            </a: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dài</a:t>
            </a:r>
            <a:r>
              <a:rPr lang="en-US" sz="5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19400"/>
            <a:ext cx="95250" cy="55054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4" name="Text 2"/>
          <p:cNvSpPr/>
          <p:nvPr/>
        </p:nvSpPr>
        <p:spPr>
          <a:xfrm>
            <a:off x="1295400" y="2762250"/>
            <a:ext cx="10572750" cy="5619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b="1" dirty="0" spc="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Tính</a:t>
            </a:r>
            <a:r>
              <a:rPr lang="en-US" sz="2850" b="1" dirty="0" spc="-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dẻo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synapse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mạnh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synapse</a:t>
            </a:r>
            <a:r>
              <a:rPr lang="en-US" sz="28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8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28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động.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Giáo</a:t>
            </a:r>
            <a:r>
              <a:rPr lang="en-US" sz="28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 quy</a:t>
            </a:r>
            <a:r>
              <a:rPr lang="en-US" sz="28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Donald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Hebb: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nếu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8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nơron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8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28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synapse</a:t>
            </a:r>
            <a:r>
              <a:rPr lang="en-US" sz="28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chúng</a:t>
            </a:r>
            <a:r>
              <a:rPr lang="en-US" sz="28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8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cường, thường</a:t>
            </a:r>
            <a:r>
              <a:rPr lang="en-US" sz="28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tóm</a:t>
            </a:r>
            <a:r>
              <a:rPr lang="en-US" sz="28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'cùng</a:t>
            </a:r>
            <a:r>
              <a:rPr lang="en-US" sz="28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dây'</a:t>
            </a:r>
            <a:r>
              <a:rPr lang="en-US" sz="28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8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28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8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cường</a:t>
            </a: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bền</a:t>
            </a:r>
            <a:r>
              <a:rPr lang="en-US" sz="2850" dirty="0" spc="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vững</a:t>
            </a:r>
            <a:r>
              <a:rPr lang="en-US" sz="28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8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tăng</a:t>
            </a:r>
            <a:r>
              <a:rPr lang="en-US" sz="2850" b="1" dirty="0" spc="1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cường</a:t>
            </a:r>
            <a:r>
              <a:rPr lang="en-US" sz="2850" b="1" dirty="0" spc="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285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6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(LTP),</a:t>
            </a:r>
            <a:r>
              <a:rPr lang="en-US" sz="28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8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 niên</a:t>
            </a:r>
            <a:r>
              <a:rPr lang="en-US" sz="28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1970</a:t>
            </a:r>
            <a:r>
              <a:rPr lang="en-US" sz="28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Neuroscience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Online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coi</a:t>
            </a:r>
            <a:r>
              <a:rPr lang="en-US" sz="2850" dirty="0" spc="-1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LTP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8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850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850" dirty="0" spc="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8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[S3]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12325350" y="2762250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6" name="Shape 4"/>
          <p:cNvSpPr/>
          <p:nvPr/>
        </p:nvSpPr>
        <p:spPr>
          <a:xfrm>
            <a:off x="12325350" y="2762250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7" name="Text 5"/>
          <p:cNvSpPr/>
          <p:nvPr/>
        </p:nvSpPr>
        <p:spPr>
          <a:xfrm>
            <a:off x="12630150" y="3028950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4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Ở</a:t>
            </a:r>
            <a:r>
              <a:rPr lang="en-US" sz="1950" dirty="0" spc="5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đâu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630150" y="3486150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synapse,</a:t>
            </a:r>
            <a:r>
              <a:rPr lang="en-US" sz="24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nhất</a:t>
            </a: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24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hồi hải</a:t>
            </a: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</a:t>
            </a:r>
            <a:r>
              <a:rPr lang="en-US" sz="2400" dirty="0" spc="-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trong</a:t>
            </a:r>
            <a:r>
              <a:rPr lang="en-US" sz="24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các</a:t>
            </a: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nghiên</a:t>
            </a:r>
            <a:r>
              <a:rPr lang="en-US" sz="2400" dirty="0" spc="2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cứu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2325350" y="47148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12325350" y="47148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1" name="Text 9"/>
          <p:cNvSpPr/>
          <p:nvPr/>
        </p:nvSpPr>
        <p:spPr>
          <a:xfrm>
            <a:off x="12630150" y="49815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1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Làm</a:t>
            </a:r>
            <a:r>
              <a:rPr lang="en-US" sz="1950" dirty="0" spc="-4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gì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630150" y="54387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tăng</a:t>
            </a: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hoặc giảm</a:t>
            </a:r>
            <a:r>
              <a:rPr lang="en-US" sz="2400" dirty="0" spc="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</a:t>
            </a:r>
            <a:r>
              <a:rPr lang="en-US" sz="24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mạnh</a:t>
            </a:r>
            <a:r>
              <a:rPr lang="en-US" sz="24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4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synapse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2325350" y="66579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14" name="Shape 12"/>
          <p:cNvSpPr/>
          <p:nvPr/>
        </p:nvSpPr>
        <p:spPr>
          <a:xfrm>
            <a:off x="12325350" y="66579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5" name="Text 13"/>
          <p:cNvSpPr/>
          <p:nvPr/>
        </p:nvSpPr>
        <p:spPr>
          <a:xfrm>
            <a:off x="12630150" y="69246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2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Đừng</a:t>
            </a:r>
            <a:r>
              <a:rPr lang="en-US" sz="1950" dirty="0" spc="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hiểu</a:t>
            </a:r>
            <a:r>
              <a:rPr lang="en-US" sz="1950" dirty="0" spc="-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nhầm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630150" y="73818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4288" rIns="0" bIns="-14288" rtlCol="0" anchor="t"/>
          <a:lstStyle/>
          <a:p>
            <a:pPr algn="l" indent="0" marL="0">
              <a:lnSpc>
                <a:spcPts val="2196"/>
              </a:lnSpc>
              <a:buNone/>
            </a:pPr>
            <a:r>
              <a:rPr lang="en-US" sz="1800" dirty="0" spc="-9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LTP</a:t>
            </a:r>
            <a:r>
              <a:rPr lang="en-US" sz="18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18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mô</a:t>
            </a:r>
            <a:r>
              <a:rPr lang="en-US" sz="18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hình</a:t>
            </a:r>
            <a:r>
              <a:rPr lang="en-US" sz="180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thí</a:t>
            </a:r>
            <a:r>
              <a:rPr lang="en-US" sz="18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nghiệm</a:t>
            </a:r>
            <a:r>
              <a:rPr lang="en-US" sz="18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1800" dirty="0" spc="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trí</a:t>
            </a:r>
            <a:r>
              <a:rPr lang="en-US" sz="18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nhớ,</a:t>
            </a:r>
            <a:r>
              <a:rPr lang="en-US" sz="1800" dirty="0" spc="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chưa</a:t>
            </a:r>
            <a:r>
              <a:rPr lang="en-US" sz="18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 bản mô</a:t>
            </a:r>
            <a:r>
              <a:rPr lang="en-US" sz="18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tả</a:t>
            </a:r>
            <a:r>
              <a:rPr lang="en-US" sz="18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hoàn</a:t>
            </a:r>
            <a:r>
              <a:rPr lang="en-US" sz="18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chỉnh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4932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5252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35572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55892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76212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96532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16852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37172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5749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7781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9813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1845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38772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59092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79412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997320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200520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403720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606919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810119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013319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216518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419718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622918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5826117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029317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232517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64357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66389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8421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0453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724851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745171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65491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785811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06131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26451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846771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8653980" y="9552517"/>
            <a:ext cx="135467" cy="135467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57" name="Shape 55"/>
          <p:cNvSpPr/>
          <p:nvPr/>
        </p:nvSpPr>
        <p:spPr>
          <a:xfrm>
            <a:off x="887411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907731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928051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948371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968691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989011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Text 61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L02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39/45</a:t>
            </a:r>
            <a:endParaRPr lang="en-US" sz="1800" dirty="0"/>
          </a:p>
        </p:txBody>
      </p:sp>
      <p:sp>
        <p:nvSpPr>
          <p:cNvPr id="64" name="Shape 6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5" name="Moda image moda-export-watermark-679e2768-6fcd-4b3e-bdce-3dfb5a14cfd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5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LTP: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</a:t>
            </a:r>
            <a:r>
              <a:rPr lang="en-US" sz="5700" dirty="0" spc="-7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bước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giáo</a:t>
            </a:r>
            <a:r>
              <a:rPr lang="en-US" sz="57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endParaRPr lang="en-US" sz="5700" dirty="0"/>
          </a:p>
        </p:txBody>
      </p:sp>
      <p:sp>
        <p:nvSpPr>
          <p:cNvPr id="3" name="Connector line-1792617811430-781824327"/>
          <p:cNvSpPr/>
          <p:nvPr/>
        </p:nvSpPr>
        <p:spPr>
          <a:xfrm>
            <a:off x="914400" y="5810250"/>
            <a:ext cx="16459200" cy="0"/>
          </a:xfrm>
          <a:prstGeom prst="line">
            <a:avLst/>
          </a:prstGeom>
          <a:noFill/>
          <a:ln w="57150">
            <a:solidFill>
              <a:srgbClr val="6B6A66"/>
            </a:solidFill>
            <a:prstDash val="solid"/>
            <a:headEnd type="none"/>
            <a:tailEnd type="none"/>
          </a:ln>
        </p:spPr>
      </p:sp>
      <p:sp>
        <p:nvSpPr>
          <p:cNvPr id="4" name="Shape 2"/>
          <p:cNvSpPr/>
          <p:nvPr/>
        </p:nvSpPr>
        <p:spPr>
          <a:xfrm>
            <a:off x="2314575" y="5562600"/>
            <a:ext cx="495300" cy="4953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5" name="Connector line-1792617811430-71543790"/>
          <p:cNvSpPr/>
          <p:nvPr/>
        </p:nvSpPr>
        <p:spPr>
          <a:xfrm flipV="1">
            <a:off x="2562225" y="5238750"/>
            <a:ext cx="0" cy="323850"/>
          </a:xfrm>
          <a:prstGeom prst="line">
            <a:avLst/>
          </a:prstGeom>
          <a:noFill/>
          <a:ln w="38100">
            <a:solidFill>
              <a:srgbClr val="0F766E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1104900" y="3429000"/>
            <a:ext cx="291465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Tín hiệu</a:t>
            </a:r>
            <a:r>
              <a:rPr lang="en-US" sz="270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đến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dồn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dập,</a:t>
            </a:r>
            <a:r>
              <a:rPr lang="en-US" sz="2700" dirty="0" spc="-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nơron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sau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bị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khử</a:t>
            </a:r>
            <a:r>
              <a:rPr lang="en-US" sz="270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cực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5600700" y="5562600"/>
            <a:ext cx="495300" cy="4953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8" name="Connector line-1792617811432-587572105"/>
          <p:cNvSpPr/>
          <p:nvPr/>
        </p:nvSpPr>
        <p:spPr>
          <a:xfrm>
            <a:off x="5848350" y="6057900"/>
            <a:ext cx="0" cy="323850"/>
          </a:xfrm>
          <a:prstGeom prst="line">
            <a:avLst/>
          </a:prstGeom>
          <a:noFill/>
          <a:ln w="38100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4400550" y="6381750"/>
            <a:ext cx="291465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700" dirty="0" spc="-2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NMDA</a:t>
            </a:r>
            <a:r>
              <a:rPr lang="en-US" sz="270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hết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bị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magiê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chặn,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canxi</a:t>
            </a:r>
            <a:r>
              <a:rPr lang="en-US" sz="2700" dirty="0" spc="-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vào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8896350" y="5562600"/>
            <a:ext cx="495300" cy="4953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1" name="Connector line-1792617811434-971049914"/>
          <p:cNvSpPr/>
          <p:nvPr/>
        </p:nvSpPr>
        <p:spPr>
          <a:xfrm flipV="1">
            <a:off x="9144000" y="5238750"/>
            <a:ext cx="0" cy="32385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7686675" y="3429000"/>
            <a:ext cx="291465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Canxi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khởi</a:t>
            </a:r>
            <a:r>
              <a:rPr lang="en-US" sz="27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động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chuỗi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tín hiệu</a:t>
            </a:r>
            <a:r>
              <a:rPr lang="en-US" sz="2700" dirty="0" spc="-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trong</a:t>
            </a:r>
            <a:r>
              <a:rPr lang="en-US" sz="270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tế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bào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12192000" y="5562600"/>
            <a:ext cx="495300" cy="4953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4" name="Connector line-1792617811436-598040263"/>
          <p:cNvSpPr/>
          <p:nvPr/>
        </p:nvSpPr>
        <p:spPr>
          <a:xfrm>
            <a:off x="12439650" y="6057900"/>
            <a:ext cx="0" cy="323850"/>
          </a:xfrm>
          <a:prstGeom prst="line">
            <a:avLst/>
          </a:prstGeom>
          <a:noFill/>
          <a:ln w="38100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10982325" y="6381750"/>
            <a:ext cx="291465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Thụ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thể</a:t>
            </a:r>
            <a:r>
              <a:rPr lang="en-US" sz="2700" dirty="0" spc="-4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AMPA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di</a:t>
            </a:r>
            <a:r>
              <a:rPr lang="en-US" sz="270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chuyển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lên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màng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15478125" y="5562600"/>
            <a:ext cx="495300" cy="4953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7" name="Connector line-1792617811437-81955831"/>
          <p:cNvSpPr/>
          <p:nvPr/>
        </p:nvSpPr>
        <p:spPr>
          <a:xfrm flipV="1">
            <a:off x="15725775" y="5238750"/>
            <a:ext cx="0" cy="323850"/>
          </a:xfrm>
          <a:prstGeom prst="line">
            <a:avLst/>
          </a:prstGeom>
          <a:noFill/>
          <a:ln w="38100">
            <a:solidFill>
              <a:srgbClr val="0F766E"/>
            </a:solidFill>
            <a:prstDash val="solid"/>
            <a:headEnd type="none"/>
            <a:tailEnd type="none"/>
          </a:ln>
        </p:spPr>
      </p:sp>
      <p:sp>
        <p:nvSpPr>
          <p:cNvPr id="18" name="Text 16"/>
          <p:cNvSpPr/>
          <p:nvPr/>
        </p:nvSpPr>
        <p:spPr>
          <a:xfrm>
            <a:off x="14268450" y="3429000"/>
            <a:ext cx="291465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700" dirty="0" spc="-2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Lần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sau: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EPSP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lớn hơn,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dễ</a:t>
            </a:r>
            <a:r>
              <a:rPr lang="en-US" sz="270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phát</a:t>
            </a:r>
            <a:r>
              <a:rPr lang="en-US" sz="27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xung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hơn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4932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15252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35572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55892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76212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96532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16852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37172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5749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7781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9813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1845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38772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59092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79412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997320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200520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403720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606919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810119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013319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216518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5419718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5622918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826117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6029317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6232517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4357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66389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68421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70453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24851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745171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765491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785811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806131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826451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46771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867091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8857179" y="9552517"/>
            <a:ext cx="135467" cy="135467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60" name="Shape 58"/>
          <p:cNvSpPr/>
          <p:nvPr/>
        </p:nvSpPr>
        <p:spPr>
          <a:xfrm>
            <a:off x="907731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928051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948371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968691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989011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5" name="Text 63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L02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40/45</a:t>
            </a:r>
            <a:endParaRPr lang="en-US" sz="1800" dirty="0"/>
          </a:p>
        </p:txBody>
      </p:sp>
      <p:sp>
        <p:nvSpPr>
          <p:cNvPr id="66" name="Shape 6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7" name="Moda image moda-export-watermark-91e6334a-af3d-410f-9a02-52cb9bb3223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20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LTP</a:t>
            </a:r>
            <a:r>
              <a:rPr lang="en-US" sz="5700" dirty="0" spc="-6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-1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LTD: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mạnh</a:t>
            </a:r>
            <a:r>
              <a:rPr lang="en-US" sz="5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lên</a:t>
            </a:r>
            <a:r>
              <a:rPr lang="en-US" sz="5700" dirty="0" spc="-6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yếu</a:t>
            </a:r>
            <a:r>
              <a:rPr lang="en-US" sz="5700" dirty="0" spc="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1C4236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5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LTP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37160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tăng</a:t>
            </a:r>
            <a:r>
              <a:rPr lang="en-US" sz="31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cường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bền</a:t>
            </a:r>
            <a:r>
              <a:rPr lang="en-US" sz="3150" dirty="0" spc="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vững;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31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thụ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3150" dirty="0" spc="-4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AMPA</a:t>
            </a:r>
            <a:r>
              <a:rPr lang="en-US" sz="31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màng</a:t>
            </a:r>
            <a:r>
              <a:rPr lang="en-US" sz="31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31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synapse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931545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4A2A24"/>
          </a:solidFill>
          <a:ln/>
        </p:spPr>
      </p:sp>
      <p:sp>
        <p:nvSpPr>
          <p:cNvPr id="8" name="Shape 6"/>
          <p:cNvSpPr/>
          <p:nvPr/>
        </p:nvSpPr>
        <p:spPr>
          <a:xfrm>
            <a:off x="931545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9" name="Text 7"/>
          <p:cNvSpPr/>
          <p:nvPr/>
        </p:nvSpPr>
        <p:spPr>
          <a:xfrm>
            <a:off x="977265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5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LTD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977265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suy giảm</a:t>
            </a: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bền</a:t>
            </a:r>
            <a:r>
              <a:rPr lang="en-US" sz="3150" dirty="0" spc="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vững;</a:t>
            </a: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rút</a:t>
            </a:r>
            <a:r>
              <a:rPr lang="en-US" sz="31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bớt</a:t>
            </a: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thụ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3150" dirty="0" spc="-4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AMPA</a:t>
            </a: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khỏi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màng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914400" y="74295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1295400" y="7429500"/>
            <a:ext cx="15697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Giáo</a:t>
            </a:r>
            <a:r>
              <a:rPr lang="en-US" sz="2850" dirty="0" spc="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trình:</a:t>
            </a:r>
            <a:r>
              <a:rPr lang="en-US" sz="2850" dirty="0" spc="-11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LTD</a:t>
            </a:r>
            <a:r>
              <a:rPr lang="en-US" sz="28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8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thể</a:t>
            </a:r>
            <a:r>
              <a:rPr lang="en-US" sz="28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quan</a:t>
            </a:r>
            <a:r>
              <a:rPr lang="en-US" sz="2850" dirty="0" spc="-1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trọng</a:t>
            </a:r>
            <a:r>
              <a:rPr lang="en-US" sz="285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850" dirty="0" spc="-3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kém</a:t>
            </a:r>
            <a:r>
              <a:rPr lang="en-US" sz="2850" dirty="0" spc="-1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LTP</a:t>
            </a:r>
            <a:r>
              <a:rPr lang="en-US" sz="2850" dirty="0" spc="-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với</a:t>
            </a:r>
            <a:r>
              <a:rPr lang="en-US" sz="285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học</a:t>
            </a:r>
            <a:r>
              <a:rPr lang="en-US" sz="2850" dirty="0" spc="-1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85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nhớ,</a:t>
            </a:r>
            <a:r>
              <a:rPr lang="en-US" sz="285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vì</a:t>
            </a:r>
            <a:r>
              <a:rPr lang="en-US" sz="28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làm</a:t>
            </a:r>
            <a:r>
              <a:rPr lang="en-US" sz="2850" dirty="0" spc="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các</a:t>
            </a:r>
            <a:r>
              <a:rPr lang="en-US" sz="2850" dirty="0" spc="-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synapse</a:t>
            </a:r>
            <a:r>
              <a:rPr lang="en-US" sz="2850" dirty="0" spc="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đã</a:t>
            </a:r>
            <a:r>
              <a:rPr lang="en-US" sz="285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tăng</a:t>
            </a:r>
            <a:r>
              <a:rPr lang="en-US" sz="2850" dirty="0" spc="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cường</a:t>
            </a:r>
            <a:r>
              <a:rPr lang="en-US" sz="28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nổi</a:t>
            </a:r>
            <a:r>
              <a:rPr lang="en-US" sz="285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bật</a:t>
            </a:r>
            <a:r>
              <a:rPr lang="en-US" sz="28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hơn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4932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5252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35572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55892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76212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96532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16852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37172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5749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7781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9813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1845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38772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59092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79412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997320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200520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403720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606919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810119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013319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216518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419718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622918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826117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029317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6232517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4357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6389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8421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70453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724851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745171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65491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85811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06131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826451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46771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67091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87411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9060379" y="9552517"/>
            <a:ext cx="135467" cy="135467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55" name="Shape 53"/>
          <p:cNvSpPr/>
          <p:nvPr/>
        </p:nvSpPr>
        <p:spPr>
          <a:xfrm>
            <a:off x="928051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948371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968691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989011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Text 57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L02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41/45</a:t>
            </a:r>
            <a:endParaRPr lang="en-US" sz="1800" dirty="0"/>
          </a:p>
        </p:txBody>
      </p:sp>
      <p:sp>
        <p:nvSpPr>
          <p:cNvPr id="60" name="Shape 5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1" name="Moda image moda-export-watermark-9bf8db08-fb57-4749-b427-cf818d50eba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Bằng</a:t>
            </a:r>
            <a:r>
              <a:rPr lang="en-US" sz="57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chứng</a:t>
            </a:r>
            <a:r>
              <a:rPr lang="en-US" sz="5700" dirty="0" spc="-6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về</a:t>
            </a:r>
            <a:r>
              <a:rPr lang="en-US" sz="5700" dirty="0" spc="-1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LTP:</a:t>
            </a:r>
            <a:r>
              <a:rPr lang="en-US" sz="57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57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mức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72415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E8E0CF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72415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93370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3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Bliss</a:t>
            </a:r>
            <a:r>
              <a:rPr lang="en-US" sz="2100" dirty="0" spc="-21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</a:t>
            </a:r>
            <a:r>
              <a:rPr lang="en-US" sz="2100" dirty="0" spc="-3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Lømo</a:t>
            </a:r>
            <a:r>
              <a:rPr lang="en-US" sz="2100" dirty="0" spc="1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1973</a:t>
            </a:r>
            <a:r>
              <a:rPr lang="en-US" sz="2100" dirty="0" spc="-5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(thỏ)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295400" y="344805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55" rIns="0" bIns="-17755" rtlCol="0" anchor="t"/>
          <a:lstStyle/>
          <a:p>
            <a:pPr algn="l" indent="0" marL="0">
              <a:lnSpc>
                <a:spcPts val="3179"/>
              </a:lnSpc>
              <a:buNone/>
            </a:pPr>
            <a:r>
              <a:rPr lang="en-US" sz="2543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Thỏ</a:t>
            </a:r>
            <a:r>
              <a:rPr lang="en-US" sz="2543" dirty="0" spc="-2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gây</a:t>
            </a:r>
            <a:r>
              <a:rPr lang="en-US" sz="2543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mê:</a:t>
            </a:r>
            <a:r>
              <a:rPr lang="en-US" sz="2543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15</a:t>
            </a:r>
            <a:r>
              <a:rPr lang="en-US" sz="2543" dirty="0" spc="-2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trên</a:t>
            </a:r>
            <a:r>
              <a:rPr lang="en-US" sz="2543" dirty="0" spc="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18</a:t>
            </a:r>
            <a:r>
              <a:rPr lang="en-US" sz="2543" dirty="0" spc="-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con</a:t>
            </a:r>
            <a:r>
              <a:rPr lang="en-US" sz="2543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có</a:t>
            </a:r>
            <a:r>
              <a:rPr lang="en-US" sz="2543" dirty="0" spc="1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đáp</a:t>
            </a:r>
            <a:r>
              <a:rPr lang="en-US" sz="2543" dirty="0" spc="2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ứng</a:t>
            </a:r>
            <a:r>
              <a:rPr lang="en-US" sz="2543" dirty="0" spc="-9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tăng</a:t>
            </a:r>
            <a:r>
              <a:rPr lang="en-US" sz="2543" dirty="0" spc="6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cường</a:t>
            </a:r>
            <a:r>
              <a:rPr lang="en-US" sz="2543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từ</a:t>
            </a:r>
            <a:r>
              <a:rPr lang="en-US" sz="2543" dirty="0" spc="-1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30</a:t>
            </a:r>
            <a:r>
              <a:rPr lang="en-US" sz="2543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phút</a:t>
            </a:r>
            <a:r>
              <a:rPr lang="en-US" sz="2543" dirty="0" spc="8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đến</a:t>
            </a:r>
            <a:r>
              <a:rPr lang="en-US" sz="2543" dirty="0" spc="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10</a:t>
            </a:r>
            <a:r>
              <a:rPr lang="en-US" sz="2543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giờ</a:t>
            </a:r>
            <a:r>
              <a:rPr lang="en-US" sz="2543" dirty="0" spc="-6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sau</a:t>
            </a:r>
            <a:r>
              <a:rPr lang="en-US" sz="2543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kích thích</a:t>
            </a:r>
            <a:r>
              <a:rPr lang="en-US" sz="2543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dồn</a:t>
            </a:r>
            <a:r>
              <a:rPr lang="en-US" sz="2543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79"/>
              </a:lnSpc>
              <a:buNone/>
            </a:pPr>
            <a:r>
              <a:rPr lang="en-US" sz="2543" dirty="0" spc="2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[S5]</a:t>
            </a:r>
            <a:endParaRPr lang="en-US" sz="2543" dirty="0"/>
          </a:p>
        </p:txBody>
      </p:sp>
      <p:sp>
        <p:nvSpPr>
          <p:cNvPr id="7" name="Shape 5"/>
          <p:cNvSpPr/>
          <p:nvPr/>
        </p:nvSpPr>
        <p:spPr>
          <a:xfrm>
            <a:off x="6486525" y="272415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E8E0CF"/>
          </a:solidFill>
          <a:ln/>
        </p:spPr>
      </p:sp>
      <p:sp>
        <p:nvSpPr>
          <p:cNvPr id="8" name="Shape 6"/>
          <p:cNvSpPr/>
          <p:nvPr/>
        </p:nvSpPr>
        <p:spPr>
          <a:xfrm>
            <a:off x="6486525" y="272415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9" name="Text 7"/>
          <p:cNvSpPr/>
          <p:nvPr/>
        </p:nvSpPr>
        <p:spPr>
          <a:xfrm>
            <a:off x="6867525" y="293370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Hai</a:t>
            </a:r>
            <a:r>
              <a:rPr lang="en-US" sz="2100" dirty="0" spc="-9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cơ</a:t>
            </a:r>
            <a:r>
              <a:rPr lang="en-US" sz="2100" dirty="0" spc="-6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chế</a:t>
            </a:r>
            <a:r>
              <a:rPr lang="en-US" sz="2100" dirty="0" spc="3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đề</a:t>
            </a:r>
            <a:r>
              <a:rPr lang="en-US" sz="2100" dirty="0" spc="-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xuất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867525" y="344805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6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Tăng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hiệu</a:t>
            </a:r>
            <a:r>
              <a:rPr lang="en-US" sz="25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quả</a:t>
            </a:r>
            <a:r>
              <a:rPr lang="en-US" sz="2550" dirty="0" spc="-1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truyền</a:t>
            </a:r>
            <a:r>
              <a:rPr lang="en-US" sz="2550" dirty="0" spc="-1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synapse</a:t>
            </a:r>
            <a:r>
              <a:rPr lang="en-US" sz="2550" dirty="0" spc="-2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và</a:t>
            </a:r>
            <a:r>
              <a:rPr lang="en-US" sz="2550" dirty="0" spc="-1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tăng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tính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dễ</a:t>
            </a:r>
            <a:r>
              <a:rPr lang="en-US" sz="2550" dirty="0" spc="18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hưng</a:t>
            </a:r>
            <a:r>
              <a:rPr lang="en-US" sz="2550" dirty="0" spc="-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phấn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của</a:t>
            </a:r>
            <a:r>
              <a:rPr lang="en-US" sz="25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quần</a:t>
            </a:r>
            <a:r>
              <a:rPr lang="en-US" sz="2550" dirty="0" spc="-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thể</a:t>
            </a:r>
            <a:r>
              <a:rPr lang="en-US" sz="2550" dirty="0" spc="-1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tế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bào</a:t>
            </a:r>
            <a:r>
              <a:rPr lang="en-US" sz="2550" dirty="0" spc="-1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hạt</a:t>
            </a:r>
            <a:r>
              <a:rPr lang="en-US" sz="2550" dirty="0" spc="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3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[S5]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12068175" y="272415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E8E0CF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68175" y="272415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13" name="Text 11"/>
          <p:cNvSpPr/>
          <p:nvPr/>
        </p:nvSpPr>
        <p:spPr>
          <a:xfrm>
            <a:off x="12449175" y="293370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3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Bliss</a:t>
            </a:r>
            <a:r>
              <a:rPr lang="en-US" sz="2100" dirty="0" spc="-2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</a:t>
            </a:r>
            <a:r>
              <a:rPr lang="en-US" sz="2100" dirty="0" spc="-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Collingridge</a:t>
            </a:r>
            <a:r>
              <a:rPr lang="en-US" sz="2100" dirty="0" spc="-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1993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2449175" y="344805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6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Tổng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quan:</a:t>
            </a:r>
            <a:r>
              <a:rPr lang="en-US" sz="2550" dirty="0" spc="-10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LTP</a:t>
            </a:r>
            <a:r>
              <a:rPr lang="en-US" sz="2550" dirty="0" spc="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ở</a:t>
            </a:r>
            <a:r>
              <a:rPr lang="en-US" sz="25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hồi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hải</a:t>
            </a:r>
            <a:r>
              <a:rPr lang="en-US" sz="25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mã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là</a:t>
            </a:r>
            <a:r>
              <a:rPr lang="en-US" sz="2550" dirty="0" spc="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mô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hình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thí nghiệm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chính cho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cơ</a:t>
            </a:r>
            <a:r>
              <a:rPr lang="en-US" sz="2550" dirty="0" spc="-7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sở</a:t>
            </a:r>
            <a:r>
              <a:rPr lang="en-US" sz="2550" dirty="0" spc="-1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synapse</a:t>
            </a:r>
            <a:r>
              <a:rPr lang="en-US" sz="2550" dirty="0" spc="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của</a:t>
            </a:r>
            <a:r>
              <a:rPr lang="en-US" sz="2550" dirty="0" spc="-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học</a:t>
            </a:r>
            <a:r>
              <a:rPr lang="en-US" sz="2550" dirty="0" spc="-2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và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nhớ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3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[S6]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914400" y="582930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E8E0CF"/>
          </a:solidFill>
          <a:ln/>
        </p:spPr>
      </p:sp>
      <p:sp>
        <p:nvSpPr>
          <p:cNvPr id="16" name="Shape 14"/>
          <p:cNvSpPr/>
          <p:nvPr/>
        </p:nvSpPr>
        <p:spPr>
          <a:xfrm>
            <a:off x="914400" y="582930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603885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8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Giáo</a:t>
            </a:r>
            <a:r>
              <a:rPr lang="en-US" sz="2100" dirty="0" spc="3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trình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295400" y="655320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Cơ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chế</a:t>
            </a:r>
            <a:r>
              <a:rPr lang="en-US" sz="2550" dirty="0" spc="-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phân</a:t>
            </a:r>
            <a:r>
              <a:rPr lang="en-US" sz="2550" dirty="0" spc="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tử</a:t>
            </a:r>
            <a:r>
              <a:rPr lang="en-US" sz="2550" dirty="0" spc="6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chưa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hiểu</a:t>
            </a:r>
            <a:r>
              <a:rPr lang="en-US" sz="2550" dirty="0" spc="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đầy</a:t>
            </a:r>
            <a:r>
              <a:rPr lang="en-US" sz="2550" dirty="0" spc="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đủ;</a:t>
            </a:r>
            <a:r>
              <a:rPr lang="en-US" sz="2550" dirty="0" spc="-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một</a:t>
            </a:r>
            <a:r>
              <a:rPr lang="en-US" sz="2550" dirty="0" spc="-7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số</a:t>
            </a:r>
            <a:r>
              <a:rPr lang="en-US" sz="2550" dirty="0" spc="-1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chất</a:t>
            </a:r>
            <a:r>
              <a:rPr lang="en-US" sz="2550" dirty="0" spc="-2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gây</a:t>
            </a:r>
            <a:r>
              <a:rPr lang="en-US" sz="2550" dirty="0" spc="-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nghiện</a:t>
            </a:r>
            <a:r>
              <a:rPr lang="en-US" sz="2550" dirty="0" spc="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lợi</a:t>
            </a:r>
            <a:r>
              <a:rPr lang="en-US" sz="25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dụng</a:t>
            </a:r>
            <a:r>
              <a:rPr lang="en-US" sz="2550" dirty="0" spc="6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đường</a:t>
            </a:r>
            <a:r>
              <a:rPr lang="en-US" sz="2550" dirty="0" spc="-10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LTP</a:t>
            </a:r>
            <a:r>
              <a:rPr lang="en-US" sz="2550" dirty="0" spc="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4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[S1]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6486525" y="582930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E8E0CF"/>
          </a:solidFill>
          <a:ln/>
        </p:spPr>
      </p:sp>
      <p:sp>
        <p:nvSpPr>
          <p:cNvPr id="20" name="Shape 18"/>
          <p:cNvSpPr/>
          <p:nvPr/>
        </p:nvSpPr>
        <p:spPr>
          <a:xfrm>
            <a:off x="6486525" y="582930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21" name="Text 19"/>
          <p:cNvSpPr/>
          <p:nvPr/>
        </p:nvSpPr>
        <p:spPr>
          <a:xfrm>
            <a:off x="6867525" y="603885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14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Mức</a:t>
            </a:r>
            <a:r>
              <a:rPr lang="en-US" sz="2100" dirty="0" spc="-3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chắc</a:t>
            </a:r>
            <a:r>
              <a:rPr lang="en-US" sz="2100" dirty="0" spc="-4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chắn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6867525" y="655320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139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LTP</a:t>
            </a:r>
            <a:r>
              <a:rPr lang="en-US" sz="2550" dirty="0" spc="16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đo</a:t>
            </a:r>
            <a:r>
              <a:rPr lang="en-US" sz="2550" dirty="0" spc="7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được;</a:t>
            </a:r>
            <a:r>
              <a:rPr lang="en-US" sz="2550" dirty="0" spc="-1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vai</a:t>
            </a:r>
            <a:r>
              <a:rPr lang="en-US" sz="2550" dirty="0" spc="-19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trò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làm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cơ</a:t>
            </a:r>
            <a:r>
              <a:rPr lang="en-US" sz="2550" dirty="0" spc="-7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sở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của</a:t>
            </a:r>
            <a:r>
              <a:rPr lang="en-US" sz="2550" dirty="0" spc="1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trí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nhớ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là</a:t>
            </a:r>
            <a:r>
              <a:rPr lang="en-US" sz="2550" dirty="0" spc="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mô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hình</a:t>
            </a:r>
            <a:r>
              <a:rPr lang="en-US" sz="2550" dirty="0" spc="9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được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ủng hộ</a:t>
            </a:r>
            <a:r>
              <a:rPr lang="en-US" sz="2550" dirty="0" spc="-18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rộng</a:t>
            </a:r>
            <a:r>
              <a:rPr lang="en-US" sz="2550" dirty="0" spc="-2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rãi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3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[S6]</a:t>
            </a:r>
            <a:endParaRPr lang="en-US" sz="2550" dirty="0"/>
          </a:p>
        </p:txBody>
      </p:sp>
      <p:sp>
        <p:nvSpPr>
          <p:cNvPr id="23" name="Shape 21"/>
          <p:cNvSpPr/>
          <p:nvPr/>
        </p:nvSpPr>
        <p:spPr>
          <a:xfrm>
            <a:off x="12068175" y="582930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E8E0CF"/>
          </a:solidFill>
          <a:ln/>
        </p:spPr>
      </p:sp>
      <p:sp>
        <p:nvSpPr>
          <p:cNvPr id="24" name="Shape 22"/>
          <p:cNvSpPr/>
          <p:nvPr/>
        </p:nvSpPr>
        <p:spPr>
          <a:xfrm>
            <a:off x="12068175" y="582930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25" name="Text 23"/>
          <p:cNvSpPr/>
          <p:nvPr/>
        </p:nvSpPr>
        <p:spPr>
          <a:xfrm>
            <a:off x="12449175" y="603885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2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Đừng</a:t>
            </a:r>
            <a:r>
              <a:rPr lang="en-US" sz="2100" dirty="0" spc="0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hiểu</a:t>
            </a:r>
            <a:r>
              <a:rPr lang="en-US" sz="2100" dirty="0" spc="-4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nhầm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12449175" y="655320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Phần</a:t>
            </a:r>
            <a:r>
              <a:rPr lang="en-US" sz="240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lớn</a:t>
            </a:r>
            <a:r>
              <a:rPr lang="en-US" sz="240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bằng</a:t>
            </a:r>
            <a:r>
              <a:rPr lang="en-US" sz="2400" dirty="0" spc="17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chứng</a:t>
            </a:r>
            <a:r>
              <a:rPr lang="en-US" sz="240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từ</a:t>
            </a:r>
            <a:r>
              <a:rPr lang="en-US" sz="2400" dirty="0" spc="6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động</a:t>
            </a:r>
            <a:r>
              <a:rPr lang="en-US" sz="2400" dirty="0" spc="-19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vật;</a:t>
            </a:r>
            <a:r>
              <a:rPr lang="en-US" sz="240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không</a:t>
            </a:r>
            <a:r>
              <a:rPr lang="en-US" sz="2400" dirty="0" spc="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đọc</a:t>
            </a:r>
            <a:r>
              <a:rPr lang="en-US" sz="2400" dirty="0" spc="-9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LTP</a:t>
            </a:r>
            <a:r>
              <a:rPr lang="en-US" sz="240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như</a:t>
            </a:r>
            <a:r>
              <a:rPr lang="en-US" sz="2400" dirty="0" spc="-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mô</a:t>
            </a:r>
            <a:r>
              <a:rPr lang="en-US" sz="2400" dirty="0" spc="-1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tả</a:t>
            </a:r>
            <a:r>
              <a:rPr lang="en-US" sz="240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cách</a:t>
            </a:r>
            <a:r>
              <a:rPr lang="en-US" sz="2400" dirty="0" spc="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người</a:t>
            </a:r>
            <a:r>
              <a:rPr lang="en-US" sz="240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nhớ</a:t>
            </a:r>
            <a:r>
              <a:rPr lang="en-US" sz="2400" dirty="0" spc="-1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một</a:t>
            </a:r>
            <a:r>
              <a:rPr lang="en-US" sz="2400" dirty="0" spc="-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việc</a:t>
            </a:r>
            <a:r>
              <a:rPr lang="en-US" sz="240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cụ</a:t>
            </a:r>
            <a:r>
              <a:rPr lang="en-US" sz="240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thể</a:t>
            </a:r>
            <a:r>
              <a:rPr lang="en-US" sz="2400" dirty="0" spc="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(suy</a:t>
            </a:r>
            <a:r>
              <a:rPr lang="en-US" sz="240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luận của</a:t>
            </a:r>
            <a:r>
              <a:rPr lang="en-US" sz="2400" dirty="0" spc="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người</a:t>
            </a:r>
            <a:r>
              <a:rPr lang="en-US" sz="2400" dirty="0" spc="-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viết)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[S5] [S6]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4932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15252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135572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155892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176212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196532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216852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237172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25749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27781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29813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31845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338772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359092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379412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3997320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4200520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4403720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4606919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4810119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5013319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5216518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5419718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5622918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5826117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6029317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6232517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64357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66389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68421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70453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724851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745171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765491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785811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806131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826451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846771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867091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887411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907731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9263579" y="9552517"/>
            <a:ext cx="135467" cy="135467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70" name="Shape 68"/>
          <p:cNvSpPr/>
          <p:nvPr/>
        </p:nvSpPr>
        <p:spPr>
          <a:xfrm>
            <a:off x="948371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968691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>
            <a:off x="989011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3" name="Text 71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L02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42/45</a:t>
            </a:r>
            <a:endParaRPr lang="en-US" sz="1800" dirty="0"/>
          </a:p>
        </p:txBody>
      </p:sp>
      <p:sp>
        <p:nvSpPr>
          <p:cNvPr id="74" name="Shape 7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75" name="Moda image moda-export-watermark-ab9b7304-dd01-4d65-b080-bc78b9b14d3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Sáu</a:t>
            </a:r>
            <a:r>
              <a:rPr lang="en-US" sz="5700" dirty="0" spc="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5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5700" dirty="0"/>
          </a:p>
        </p:txBody>
      </p:sp>
      <p:sp>
        <p:nvSpPr>
          <p:cNvPr id="3" name="Text 1"/>
          <p:cNvSpPr/>
          <p:nvPr/>
        </p:nvSpPr>
        <p:spPr>
          <a:xfrm>
            <a:off x="914400" y="2381250"/>
            <a:ext cx="1619250" cy="981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22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6422" dirty="0"/>
          </a:p>
        </p:txBody>
      </p:sp>
      <p:sp>
        <p:nvSpPr>
          <p:cNvPr id="4" name="Shape 2"/>
          <p:cNvSpPr/>
          <p:nvPr/>
        </p:nvSpPr>
        <p:spPr>
          <a:xfrm>
            <a:off x="2724150" y="2476500"/>
            <a:ext cx="14649450" cy="790575"/>
          </a:xfrm>
          <a:prstGeom prst="roundRect">
            <a:avLst>
              <a:gd name="adj" fmla="val 24096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3105150" y="2476500"/>
            <a:ext cx="14001750" cy="790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1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Nơron</a:t>
            </a:r>
            <a:r>
              <a:rPr lang="en-US" sz="24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nhận</a:t>
            </a:r>
            <a:r>
              <a:rPr lang="en-US" sz="24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 sợi nhánh,</a:t>
            </a:r>
            <a:r>
              <a:rPr lang="en-US" sz="2400" dirty="0" spc="4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gửi</a:t>
            </a: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bằng</a:t>
            </a:r>
            <a:r>
              <a:rPr lang="en-US" sz="24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sợi trục;</a:t>
            </a:r>
            <a:r>
              <a:rPr lang="en-US" sz="24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glia</a:t>
            </a: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hỗ</a:t>
            </a:r>
            <a:r>
              <a:rPr lang="en-US" sz="2400" dirty="0" spc="-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trợ</a:t>
            </a:r>
            <a:r>
              <a:rPr lang="en-US" sz="24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chứ</a:t>
            </a: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4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phát</a:t>
            </a: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xung</a:t>
            </a:r>
            <a:r>
              <a:rPr lang="en-US" sz="24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[S1]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14400" y="3476625"/>
            <a:ext cx="1619250" cy="981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22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6422" dirty="0"/>
          </a:p>
        </p:txBody>
      </p:sp>
      <p:sp>
        <p:nvSpPr>
          <p:cNvPr id="7" name="Shape 5"/>
          <p:cNvSpPr/>
          <p:nvPr/>
        </p:nvSpPr>
        <p:spPr>
          <a:xfrm>
            <a:off x="2724150" y="3571875"/>
            <a:ext cx="14649450" cy="790575"/>
          </a:xfrm>
          <a:prstGeom prst="roundRect">
            <a:avLst>
              <a:gd name="adj" fmla="val 24096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3105150" y="3571875"/>
            <a:ext cx="14001750" cy="790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Nghỉ</a:t>
            </a:r>
            <a:r>
              <a:rPr lang="en-US" sz="25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khoảng</a:t>
            </a:r>
            <a:r>
              <a:rPr lang="en-US" sz="2550" dirty="0" spc="-1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−70</a:t>
            </a:r>
            <a:r>
              <a:rPr lang="en-US" sz="25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mV nhờ</a:t>
            </a:r>
            <a:r>
              <a:rPr lang="en-US" sz="25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chênh</a:t>
            </a:r>
            <a:r>
              <a:rPr lang="en-US" sz="25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lệch</a:t>
            </a:r>
            <a:r>
              <a:rPr lang="en-US" sz="25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ion</a:t>
            </a:r>
            <a:r>
              <a:rPr lang="en-US" sz="2550" dirty="0" spc="-2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55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bơm</a:t>
            </a:r>
            <a:r>
              <a:rPr lang="en-US" sz="255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natri-kali tốn</a:t>
            </a:r>
            <a:r>
              <a:rPr lang="en-US" sz="25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năng</a:t>
            </a:r>
            <a:r>
              <a:rPr lang="en-US" sz="2550" dirty="0" spc="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lượng</a:t>
            </a:r>
            <a:r>
              <a:rPr lang="en-US" sz="25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[S1]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914400" y="4572000"/>
            <a:ext cx="1619250" cy="981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22" dirty="0" spc="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6422" dirty="0"/>
          </a:p>
        </p:txBody>
      </p:sp>
      <p:sp>
        <p:nvSpPr>
          <p:cNvPr id="10" name="Shape 8"/>
          <p:cNvSpPr/>
          <p:nvPr/>
        </p:nvSpPr>
        <p:spPr>
          <a:xfrm>
            <a:off x="2724150" y="4667250"/>
            <a:ext cx="14649450" cy="790575"/>
          </a:xfrm>
          <a:prstGeom prst="roundRect">
            <a:avLst>
              <a:gd name="adj" fmla="val 24096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3105150" y="4667250"/>
            <a:ext cx="14001750" cy="790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2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Xung</a:t>
            </a: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hoặc</a:t>
            </a:r>
            <a:r>
              <a:rPr lang="en-US" sz="24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không:</a:t>
            </a:r>
            <a:r>
              <a:rPr lang="en-US" sz="24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natri</a:t>
            </a:r>
            <a:r>
              <a:rPr lang="en-US" sz="240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vào,</a:t>
            </a:r>
            <a:r>
              <a:rPr lang="en-US" sz="2400" dirty="0" spc="-1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kali</a:t>
            </a:r>
            <a:r>
              <a:rPr lang="en-US" sz="2400" dirty="0" spc="-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ra;</a:t>
            </a:r>
            <a:r>
              <a:rPr lang="en-US" sz="2400" dirty="0" spc="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cường</a:t>
            </a:r>
            <a:r>
              <a:rPr lang="en-US" sz="2400" dirty="0" spc="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</a:t>
            </a:r>
            <a:r>
              <a:rPr lang="en-US" sz="24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</a:t>
            </a: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hóa</a:t>
            </a:r>
            <a:r>
              <a:rPr lang="en-US" sz="24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bằng</a:t>
            </a:r>
            <a:r>
              <a:rPr lang="en-US" sz="24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tần</a:t>
            </a: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số</a:t>
            </a:r>
            <a:r>
              <a:rPr lang="en-US" sz="24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[S1]</a:t>
            </a:r>
            <a:r>
              <a:rPr lang="en-US" sz="24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[S3]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914400" y="5667375"/>
            <a:ext cx="1619250" cy="981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22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6422" dirty="0"/>
          </a:p>
        </p:txBody>
      </p:sp>
      <p:sp>
        <p:nvSpPr>
          <p:cNvPr id="13" name="Shape 11"/>
          <p:cNvSpPr/>
          <p:nvPr/>
        </p:nvSpPr>
        <p:spPr>
          <a:xfrm>
            <a:off x="2724150" y="5762625"/>
            <a:ext cx="14649450" cy="790575"/>
          </a:xfrm>
          <a:prstGeom prst="roundRect">
            <a:avLst>
              <a:gd name="adj" fmla="val 24096"/>
            </a:avLst>
          </a:prstGeom>
          <a:solidFill>
            <a:srgbClr val="1E212B"/>
          </a:solidFill>
          <a:ln/>
        </p:spPr>
      </p:sp>
      <p:sp>
        <p:nvSpPr>
          <p:cNvPr id="14" name="Text 12"/>
          <p:cNvSpPr/>
          <p:nvPr/>
        </p:nvSpPr>
        <p:spPr>
          <a:xfrm>
            <a:off x="3105150" y="5762625"/>
            <a:ext cx="14001750" cy="790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Synapse</a:t>
            </a:r>
            <a:r>
              <a:rPr lang="en-US" sz="22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hóa</a:t>
            </a:r>
            <a:r>
              <a:rPr lang="en-US" sz="22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học:</a:t>
            </a:r>
            <a:r>
              <a:rPr lang="en-US" sz="225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canxi</a:t>
            </a:r>
            <a:r>
              <a:rPr lang="en-US" sz="225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vào,</a:t>
            </a:r>
            <a:r>
              <a:rPr lang="en-US" sz="225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chất</a:t>
            </a:r>
            <a:r>
              <a:rPr lang="en-US" sz="22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dẫn</a:t>
            </a:r>
            <a:r>
              <a:rPr lang="en-US" sz="2250" dirty="0" spc="-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truyền</a:t>
            </a:r>
            <a:r>
              <a:rPr lang="en-US" sz="225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gắn</a:t>
            </a:r>
            <a:r>
              <a:rPr lang="en-US" sz="22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thụ</a:t>
            </a:r>
            <a:r>
              <a:rPr lang="en-US" sz="22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thể, tạo</a:t>
            </a:r>
            <a:r>
              <a:rPr lang="en-US" sz="22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EPSP</a:t>
            </a:r>
            <a:r>
              <a:rPr lang="en-US" sz="22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hoặc</a:t>
            </a:r>
            <a:r>
              <a:rPr lang="en-US" sz="22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IPSP</a:t>
            </a:r>
            <a:r>
              <a:rPr lang="en-US" sz="2250" dirty="0" spc="-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rồi</a:t>
            </a:r>
            <a:r>
              <a:rPr lang="en-US" sz="22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cộng</a:t>
            </a:r>
            <a:r>
              <a:rPr lang="en-US" sz="225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gộp</a:t>
            </a:r>
            <a:r>
              <a:rPr lang="en-US" sz="22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[S1]</a:t>
            </a:r>
            <a:r>
              <a:rPr lang="en-US" sz="22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[S3]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914400" y="6762750"/>
            <a:ext cx="1619250" cy="981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22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6422" dirty="0"/>
          </a:p>
        </p:txBody>
      </p:sp>
      <p:sp>
        <p:nvSpPr>
          <p:cNvPr id="16" name="Shape 14"/>
          <p:cNvSpPr/>
          <p:nvPr/>
        </p:nvSpPr>
        <p:spPr>
          <a:xfrm>
            <a:off x="2724150" y="6858000"/>
            <a:ext cx="14649450" cy="790575"/>
          </a:xfrm>
          <a:prstGeom prst="roundRect">
            <a:avLst>
              <a:gd name="adj" fmla="val 24096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3105150" y="6858000"/>
            <a:ext cx="14001750" cy="790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Tín</a:t>
            </a:r>
            <a:r>
              <a:rPr lang="en-US" sz="22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hiệu</a:t>
            </a:r>
            <a:r>
              <a:rPr lang="en-US" sz="2250" dirty="0" spc="-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tắt</a:t>
            </a:r>
            <a:r>
              <a:rPr lang="en-US" sz="22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bằng</a:t>
            </a:r>
            <a:r>
              <a:rPr lang="en-US" sz="22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thu</a:t>
            </a:r>
            <a:r>
              <a:rPr lang="en-US" sz="22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hồi, phân</a:t>
            </a:r>
            <a:r>
              <a:rPr lang="en-US" sz="22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hủy,</a:t>
            </a:r>
            <a:r>
              <a:rPr lang="en-US" sz="22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khuếch</a:t>
            </a:r>
            <a:r>
              <a:rPr lang="en-US" sz="22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tán;</a:t>
            </a:r>
            <a:r>
              <a:rPr lang="en-US" sz="22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mỗi</a:t>
            </a:r>
            <a:r>
              <a:rPr lang="en-US" sz="225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mắt</a:t>
            </a:r>
            <a:r>
              <a:rPr lang="en-US" sz="22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xích</a:t>
            </a:r>
            <a:r>
              <a:rPr lang="en-US" sz="22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2250" dirty="0" spc="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điểm</a:t>
            </a:r>
            <a:r>
              <a:rPr lang="en-US" sz="22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thuốc</a:t>
            </a:r>
            <a:r>
              <a:rPr lang="en-US" sz="22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can</a:t>
            </a:r>
            <a:r>
              <a:rPr lang="en-US" sz="22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thiệp</a:t>
            </a:r>
            <a:r>
              <a:rPr lang="en-US" sz="22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[S1]</a:t>
            </a:r>
            <a:r>
              <a:rPr lang="en-US" sz="22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[S3]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914400" y="7858125"/>
            <a:ext cx="1619250" cy="981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22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6</a:t>
            </a:r>
            <a:endParaRPr lang="en-US" sz="6422" dirty="0"/>
          </a:p>
        </p:txBody>
      </p:sp>
      <p:sp>
        <p:nvSpPr>
          <p:cNvPr id="19" name="Shape 17"/>
          <p:cNvSpPr/>
          <p:nvPr/>
        </p:nvSpPr>
        <p:spPr>
          <a:xfrm>
            <a:off x="2724150" y="7953375"/>
            <a:ext cx="14649450" cy="790575"/>
          </a:xfrm>
          <a:prstGeom prst="roundRect">
            <a:avLst>
              <a:gd name="adj" fmla="val 24096"/>
            </a:avLst>
          </a:prstGeom>
          <a:solidFill>
            <a:srgbClr val="1E212B"/>
          </a:solidFill>
          <a:ln/>
        </p:spPr>
      </p:sp>
      <p:sp>
        <p:nvSpPr>
          <p:cNvPr id="20" name="Text 18"/>
          <p:cNvSpPr/>
          <p:nvPr/>
        </p:nvSpPr>
        <p:spPr>
          <a:xfrm>
            <a:off x="3105150" y="7953375"/>
            <a:ext cx="14001750" cy="790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Synapse</a:t>
            </a:r>
            <a:r>
              <a:rPr lang="en-US" sz="22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mạnh</a:t>
            </a:r>
            <a:r>
              <a:rPr lang="en-US" sz="225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lên</a:t>
            </a:r>
            <a:r>
              <a:rPr lang="en-US" sz="2250" dirty="0" spc="-6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(LTP)</a:t>
            </a:r>
            <a:r>
              <a:rPr lang="en-US" sz="22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hoặc</a:t>
            </a:r>
            <a:r>
              <a:rPr lang="en-US" sz="2250" dirty="0" spc="-2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yếu</a:t>
            </a:r>
            <a:r>
              <a:rPr lang="en-US" sz="2250" dirty="0" spc="2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</a:t>
            </a:r>
            <a:r>
              <a:rPr lang="en-US" sz="2250" dirty="0" spc="-6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(LTD)</a:t>
            </a:r>
            <a:r>
              <a:rPr lang="en-US" sz="22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theo</a:t>
            </a:r>
            <a:r>
              <a:rPr lang="en-US" sz="225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hoạt</a:t>
            </a:r>
            <a:r>
              <a:rPr lang="en-US" sz="22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động;</a:t>
            </a:r>
            <a:r>
              <a:rPr lang="en-US" sz="22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bằng</a:t>
            </a:r>
            <a:r>
              <a:rPr lang="en-US" sz="2250" dirty="0" spc="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chứng</a:t>
            </a:r>
            <a:r>
              <a:rPr lang="en-US" sz="22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nhiều</a:t>
            </a:r>
            <a:r>
              <a:rPr lang="en-US" sz="22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</a:t>
            </a:r>
            <a:r>
              <a:rPr lang="en-US" sz="225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động</a:t>
            </a:r>
            <a:r>
              <a:rPr lang="en-US" sz="2250" dirty="0" spc="-2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vật</a:t>
            </a:r>
            <a:r>
              <a:rPr lang="en-US" sz="22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[S1]</a:t>
            </a:r>
            <a:r>
              <a:rPr lang="en-US" sz="22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[S5]</a:t>
            </a:r>
            <a:r>
              <a:rPr lang="en-US" sz="22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[S6]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 [S5] [S6]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4932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15252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35572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55892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76212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196532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16852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37172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5749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27781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29813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1845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38772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59092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79412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3997320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200520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403720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4606919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4810119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5013319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5216518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419718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5622918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826117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029317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6232517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64357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66389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68421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70453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724851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745171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65491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785811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06131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826451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846771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867091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887411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907731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928051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9466778" y="9552517"/>
            <a:ext cx="135467" cy="135467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65" name="Shape 63"/>
          <p:cNvSpPr/>
          <p:nvPr/>
        </p:nvSpPr>
        <p:spPr>
          <a:xfrm>
            <a:off x="968691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989011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7" name="Text 65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L02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43/45</a:t>
            </a:r>
            <a:endParaRPr lang="en-US" sz="1800" dirty="0"/>
          </a:p>
        </p:txBody>
      </p:sp>
      <p:sp>
        <p:nvSpPr>
          <p:cNvPr id="68" name="Shape 6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9" name="Moda image moda-export-watermark-0ee09d80-93bb-4961-9e30-18eef558165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Lưu</a:t>
            </a: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ý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952750"/>
            <a:ext cx="152400" cy="40005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4" name="Text 2"/>
          <p:cNvSpPr/>
          <p:nvPr/>
        </p:nvSpPr>
        <p:spPr>
          <a:xfrm>
            <a:off x="1485900" y="2857500"/>
            <a:ext cx="15811500" cy="419100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ctr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Đây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giáo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dục,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7728"/>
              </a:lnSpc>
              <a:buNone/>
            </a:pPr>
            <a:r>
              <a:rPr lang="en-US" sz="6900" dirty="0" spc="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6900" dirty="0" spc="5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6900" dirty="0" spc="-3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r>
              <a:rPr lang="en-US" sz="6900" dirty="0" spc="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khuyên</a:t>
            </a:r>
            <a:r>
              <a:rPr lang="en-US" sz="6900" dirty="0" spc="-4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</a:t>
            </a:r>
            <a:r>
              <a:rPr lang="en-US" sz="6900" dirty="0" spc="-29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tế</a:t>
            </a:r>
            <a:endParaRPr lang="en-US" sz="6900" dirty="0"/>
          </a:p>
        </p:txBody>
      </p:sp>
      <p:sp>
        <p:nvSpPr>
          <p:cNvPr id="5" name="Text 3"/>
          <p:cNvSpPr/>
          <p:nvPr/>
        </p:nvSpPr>
        <p:spPr>
          <a:xfrm>
            <a:off x="1485900" y="7429500"/>
            <a:ext cx="15811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 chỉ</a:t>
            </a:r>
            <a:r>
              <a:rPr lang="en-US" sz="27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7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7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7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</a:t>
            </a:r>
            <a:r>
              <a:rPr lang="en-US" sz="27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thuốc,</a:t>
            </a:r>
            <a:r>
              <a:rPr lang="en-US" sz="27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7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7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thuốc,</a:t>
            </a:r>
            <a:r>
              <a:rPr lang="en-US" sz="27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liều</a:t>
            </a:r>
            <a:r>
              <a:rPr lang="en-US" sz="27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7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khuyến</a:t>
            </a:r>
            <a:r>
              <a:rPr lang="en-US" sz="27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nghị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1485900" y="8096250"/>
            <a:ext cx="15811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Hodgkin</a:t>
            </a:r>
            <a:r>
              <a:rPr lang="en-US" sz="27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Huxley</a:t>
            </a:r>
            <a:r>
              <a:rPr lang="en-US" sz="27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-2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7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7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27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mục;</a:t>
            </a:r>
            <a:r>
              <a:rPr lang="en-US" sz="270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mực</a:t>
            </a:r>
            <a:r>
              <a:rPr lang="en-US" sz="27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thỏ</a:t>
            </a:r>
            <a:r>
              <a:rPr lang="en-US" sz="27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3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7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 từ</a:t>
            </a:r>
            <a:r>
              <a:rPr lang="en-US" sz="270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700" dirty="0" spc="-2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vật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4932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5252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35572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55892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76212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96532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16852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237172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25749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27781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29813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318452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38772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359092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379412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3997320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200520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4403720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4606919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4810119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013319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5216518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5419718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5622918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5826117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6029317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6232517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64357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66389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68421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7045316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724851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745171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7654915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785811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806131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8264514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846771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867091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8874113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907731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928051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9483712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9669978" y="9552517"/>
            <a:ext cx="135467" cy="135467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51" name="Shape 49"/>
          <p:cNvSpPr/>
          <p:nvPr/>
        </p:nvSpPr>
        <p:spPr>
          <a:xfrm>
            <a:off x="9890111" y="9569450"/>
            <a:ext cx="101600" cy="1016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Text 50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L02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44/45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4" name="Moda image moda-export-watermark-a4b6f314-da3d-4a1e-bf64-0b5b1469366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Nguồn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tham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khảo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571750"/>
            <a:ext cx="16459200" cy="933450"/>
          </a:xfrm>
          <a:prstGeom prst="roundRect">
            <a:avLst>
              <a:gd name="adj" fmla="val 16327"/>
            </a:avLst>
          </a:prstGeom>
          <a:solidFill>
            <a:srgbClr val="1E212B"/>
          </a:solidFill>
          <a:ln/>
        </p:spPr>
      </p:sp>
      <p:sp>
        <p:nvSpPr>
          <p:cNvPr id="4" name="Text 2"/>
          <p:cNvSpPr/>
          <p:nvPr/>
        </p:nvSpPr>
        <p:spPr>
          <a:xfrm>
            <a:off x="1143000" y="2571750"/>
            <a:ext cx="876300" cy="933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5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S1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2057400" y="2571750"/>
            <a:ext cx="15087600" cy="933450"/>
          </a:xfrm>
          <a:prstGeom prst="rect">
            <a:avLst/>
          </a:prstGeom>
          <a:noFill/>
          <a:ln/>
        </p:spPr>
        <p:txBody>
          <a:bodyPr wrap="square" lIns="0" tIns="7703" rIns="0" bIns="-7703" rtlCol="0" anchor="ctr"/>
          <a:lstStyle/>
          <a:p>
            <a:pPr algn="l" indent="0" marL="0">
              <a:lnSpc>
                <a:spcPts val="2478"/>
              </a:lnSpc>
              <a:buNone/>
            </a:pPr>
            <a:r>
              <a:rPr lang="en-US" sz="210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Hove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&amp; Martinez,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Biological</a:t>
            </a: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Psychology</a:t>
            </a:r>
            <a:r>
              <a:rPr lang="en-US" sz="210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(Revised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Edition),</a:t>
            </a:r>
            <a:r>
              <a:rPr lang="en-US" sz="21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3,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5,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7,</a:t>
            </a: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2024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914400" y="3619500"/>
            <a:ext cx="16459200" cy="933450"/>
          </a:xfrm>
          <a:prstGeom prst="roundRect">
            <a:avLst>
              <a:gd name="adj" fmla="val 16327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1143000" y="3619500"/>
            <a:ext cx="876300" cy="933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S2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2057400" y="3619500"/>
            <a:ext cx="15087600" cy="933450"/>
          </a:xfrm>
          <a:prstGeom prst="rect">
            <a:avLst/>
          </a:prstGeom>
          <a:noFill/>
          <a:ln/>
        </p:spPr>
        <p:txBody>
          <a:bodyPr wrap="square" lIns="0" tIns="7703" rIns="0" bIns="-7703" rtlCol="0" anchor="ctr"/>
          <a:lstStyle/>
          <a:p>
            <a:pPr algn="l" indent="0" marL="0">
              <a:lnSpc>
                <a:spcPts val="2478"/>
              </a:lnSpc>
              <a:buNone/>
            </a:pP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Hodgkin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&amp;</a:t>
            </a:r>
            <a:r>
              <a:rPr lang="en-US" sz="21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Huxley,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Journal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of</a:t>
            </a:r>
            <a:r>
              <a:rPr lang="en-US" sz="21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Physiology,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1952 (chỉ thông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mục)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914400" y="4676775"/>
            <a:ext cx="16459200" cy="933450"/>
          </a:xfrm>
          <a:prstGeom prst="roundRect">
            <a:avLst>
              <a:gd name="adj" fmla="val 16327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4676775"/>
            <a:ext cx="876300" cy="933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S3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2057400" y="4676775"/>
            <a:ext cx="15087600" cy="933450"/>
          </a:xfrm>
          <a:prstGeom prst="rect">
            <a:avLst/>
          </a:prstGeom>
          <a:noFill/>
          <a:ln/>
        </p:spPr>
        <p:txBody>
          <a:bodyPr wrap="square" lIns="0" tIns="7703" rIns="0" bIns="-7703" rtlCol="0" anchor="ctr"/>
          <a:lstStyle/>
          <a:p>
            <a:pPr algn="l" indent="0" marL="0">
              <a:lnSpc>
                <a:spcPts val="2478"/>
              </a:lnSpc>
              <a:buNone/>
            </a:pP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Byrne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(chủ biên),</a:t>
            </a:r>
            <a:r>
              <a:rPr lang="en-US" sz="21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Neuroscience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Online,</a:t>
            </a:r>
            <a:r>
              <a:rPr lang="en-US" sz="21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1,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210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8,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UTHealth</a:t>
            </a:r>
            <a:r>
              <a:rPr lang="en-US" sz="21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Houston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914400" y="5724525"/>
            <a:ext cx="16459200" cy="933450"/>
          </a:xfrm>
          <a:prstGeom prst="roundRect">
            <a:avLst>
              <a:gd name="adj" fmla="val 16327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143000" y="5724525"/>
            <a:ext cx="876300" cy="933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S4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2057400" y="5724525"/>
            <a:ext cx="15087600" cy="933450"/>
          </a:xfrm>
          <a:prstGeom prst="rect">
            <a:avLst/>
          </a:prstGeom>
          <a:noFill/>
          <a:ln/>
        </p:spPr>
        <p:txBody>
          <a:bodyPr wrap="square" lIns="0" tIns="7703" rIns="0" bIns="-7703" rtlCol="0" anchor="ctr"/>
          <a:lstStyle/>
          <a:p>
            <a:pPr algn="l" indent="0" marL="0">
              <a:lnSpc>
                <a:spcPts val="2478"/>
              </a:lnSpc>
              <a:buNone/>
            </a:pPr>
            <a:r>
              <a:rPr lang="en-US" sz="21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Azevedo</a:t>
            </a:r>
            <a:r>
              <a:rPr lang="en-US" sz="21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sự,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Journal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of</a:t>
            </a:r>
            <a:r>
              <a:rPr lang="en-US" sz="21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Comparative</a:t>
            </a:r>
            <a:r>
              <a:rPr lang="en-US" sz="21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Neurology,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2009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914400" y="6772275"/>
            <a:ext cx="16459200" cy="933450"/>
          </a:xfrm>
          <a:prstGeom prst="roundRect">
            <a:avLst>
              <a:gd name="adj" fmla="val 16327"/>
            </a:avLst>
          </a:prstGeom>
          <a:solidFill>
            <a:srgbClr val="1E212B"/>
          </a:solidFill>
          <a:ln/>
        </p:spPr>
      </p:sp>
      <p:sp>
        <p:nvSpPr>
          <p:cNvPr id="16" name="Text 14"/>
          <p:cNvSpPr/>
          <p:nvPr/>
        </p:nvSpPr>
        <p:spPr>
          <a:xfrm>
            <a:off x="1143000" y="6772275"/>
            <a:ext cx="876300" cy="933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S5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2057400" y="6772275"/>
            <a:ext cx="15087600" cy="933450"/>
          </a:xfrm>
          <a:prstGeom prst="rect">
            <a:avLst/>
          </a:prstGeom>
          <a:noFill/>
          <a:ln/>
        </p:spPr>
        <p:txBody>
          <a:bodyPr wrap="square" lIns="0" tIns="7703" rIns="0" bIns="-7703" rtlCol="0" anchor="ctr"/>
          <a:lstStyle/>
          <a:p>
            <a:pPr algn="l" indent="0" marL="0">
              <a:lnSpc>
                <a:spcPts val="2478"/>
              </a:lnSpc>
              <a:buNone/>
            </a:pPr>
            <a:r>
              <a:rPr lang="en-US" sz="21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Bliss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&amp;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Lømo,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Journal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of</a:t>
            </a:r>
            <a:r>
              <a:rPr lang="en-US" sz="21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Physiology,</a:t>
            </a: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1973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914400" y="7829550"/>
            <a:ext cx="16459200" cy="933450"/>
          </a:xfrm>
          <a:prstGeom prst="roundRect">
            <a:avLst>
              <a:gd name="adj" fmla="val 16327"/>
            </a:avLst>
          </a:prstGeom>
          <a:solidFill>
            <a:srgbClr val="1E212B"/>
          </a:solidFill>
          <a:ln/>
        </p:spPr>
      </p:sp>
      <p:sp>
        <p:nvSpPr>
          <p:cNvPr id="19" name="Text 17"/>
          <p:cNvSpPr/>
          <p:nvPr/>
        </p:nvSpPr>
        <p:spPr>
          <a:xfrm>
            <a:off x="1143000" y="7829550"/>
            <a:ext cx="876300" cy="933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S6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2057400" y="7829550"/>
            <a:ext cx="15087600" cy="933450"/>
          </a:xfrm>
          <a:prstGeom prst="rect">
            <a:avLst/>
          </a:prstGeom>
          <a:noFill/>
          <a:ln/>
        </p:spPr>
        <p:txBody>
          <a:bodyPr wrap="square" lIns="0" tIns="7703" rIns="0" bIns="-7703" rtlCol="0" anchor="ctr"/>
          <a:lstStyle/>
          <a:p>
            <a:pPr algn="l" indent="0" marL="0">
              <a:lnSpc>
                <a:spcPts val="2478"/>
              </a:lnSpc>
              <a:buNone/>
            </a:pPr>
            <a:r>
              <a:rPr lang="en-US" sz="21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Bliss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&amp; Collingridge,</a:t>
            </a:r>
            <a:r>
              <a:rPr lang="en-US" sz="21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Nature,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1993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94932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15252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35572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55892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76212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96532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16852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37172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5749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7781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29813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18452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38772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59092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79412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997320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200520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403720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606919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4810119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013319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5216518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5419718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622918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5826117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6029317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232517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64357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66389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68421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045316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724851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745171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7654915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85811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806131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264514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846771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867091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8874113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907731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928051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9483712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9686911" y="9569450"/>
            <a:ext cx="101600" cy="1016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9873178" y="9552517"/>
            <a:ext cx="135467" cy="135467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66" name="Text 64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L02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45/45</a:t>
            </a:r>
            <a:endParaRPr lang="en-US" sz="1800" dirty="0"/>
          </a:p>
        </p:txBody>
      </p:sp>
      <p:sp>
        <p:nvSpPr>
          <p:cNvPr id="67" name="Shape 6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8" name="Moda image moda-export-watermark-6603533b-98ef-4ab1-9816-70dba3daf2f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2026-10-21T21:24:37Z</dcterms:created>
  <dcterms:modified xsi:type="dcterms:W3CDTF">2026-10-21T21:24:37Z</dcterms:modified>
</cp:coreProperties>
</file>