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8288000" cy="10287000"/>
  <p:notesSz cx="10287000" cy="18288000"/>
  <p:embeddedFontLst>
    <p:embeddedFont>
      <p:font typeface="Be Vietnam Pro"/>
      <p:regular r:id="rId29"/>
      <p:bold r:id="rId26"/>
    </p:embeddedFont>
    <p:embeddedFont>
      <p:font typeface="Bricolage Grotesque ExtraBold"/>
      <p:regular r:id="rId27"/>
    </p:embeddedFont>
    <p:embeddedFont>
      <p:font typeface="Be Vietnam Pro SemiBold"/>
      <p:regular r:id="rId28"/>
    </p:embeddedFont>
    <p:embeddedFont>
      <p:font typeface="Be Vietnam Pro ExtraBold"/>
      <p:regular r:id="rId3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font" Target="fonts/font1.fntdata"/><Relationship Id="rId27" Type="http://schemas.openxmlformats.org/officeDocument/2006/relationships/font" Target="fonts/font2.fntdata"/><Relationship Id="rId28" Type="http://schemas.openxmlformats.org/officeDocument/2006/relationships/font" Target="fonts/font3.fntdata"/><Relationship Id="rId29" Type="http://schemas.openxmlformats.org/officeDocument/2006/relationships/font" Target="fonts/font4.fntdata"/><Relationship Id="rId3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906250" y="857250"/>
            <a:ext cx="5143500" cy="952500"/>
          </a:xfrm>
          <a:prstGeom prst="roundRect">
            <a:avLst>
              <a:gd name="adj" fmla="val 24000"/>
            </a:avLst>
          </a:prstGeom>
          <a:solidFill>
            <a:srgbClr val="1E212B">
              <a:alpha val="55000"/>
            </a:srgbClr>
          </a:solidFill>
          <a:ln w="28575">
            <a:solidFill>
              <a:srgbClr val="2C3040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134850" y="2095500"/>
            <a:ext cx="5143500" cy="952500"/>
          </a:xfrm>
          <a:prstGeom prst="roundRect">
            <a:avLst>
              <a:gd name="adj" fmla="val 24000"/>
            </a:avLst>
          </a:prstGeom>
          <a:solidFill>
            <a:srgbClr val="1E212B">
              <a:alpha val="55000"/>
            </a:srgbClr>
          </a:solidFill>
          <a:ln w="28575">
            <a:solidFill>
              <a:srgbClr val="2C3040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363450" y="3333750"/>
            <a:ext cx="5143500" cy="952500"/>
          </a:xfrm>
          <a:prstGeom prst="roundRect">
            <a:avLst>
              <a:gd name="adj" fmla="val 24000"/>
            </a:avLst>
          </a:prstGeom>
          <a:solidFill>
            <a:srgbClr val="1E212B">
              <a:alpha val="55000"/>
            </a:srgbClr>
          </a:solidFill>
          <a:ln w="28575">
            <a:solidFill>
              <a:srgbClr val="2C3040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592050" y="4572000"/>
            <a:ext cx="5143500" cy="952500"/>
          </a:xfrm>
          <a:prstGeom prst="roundRect">
            <a:avLst>
              <a:gd name="adj" fmla="val 24000"/>
            </a:avLst>
          </a:prstGeom>
          <a:solidFill>
            <a:srgbClr val="1E212B">
              <a:alpha val="55000"/>
            </a:srgbClr>
          </a:solidFill>
          <a:ln w="28575">
            <a:solidFill>
              <a:srgbClr val="2C3040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820650" y="5810250"/>
            <a:ext cx="5143500" cy="952500"/>
          </a:xfrm>
          <a:prstGeom prst="roundRect">
            <a:avLst>
              <a:gd name="adj" fmla="val 24000"/>
            </a:avLst>
          </a:prstGeom>
          <a:solidFill>
            <a:srgbClr val="1E212B">
              <a:alpha val="55000"/>
            </a:srgbClr>
          </a:solidFill>
          <a:ln w="28575">
            <a:solidFill>
              <a:srgbClr val="2C3040">
                <a:alpha val="5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144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spc="4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 XÃ</a:t>
            </a:r>
            <a:r>
              <a:rPr lang="en-US" sz="2100" b="1" spc="4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100" b="1" spc="4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4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b="1" spc="4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14400" y="1619250"/>
            <a:ext cx="14287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Mạng</a:t>
            </a:r>
            <a:r>
              <a:rPr lang="en-US" sz="81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xã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hội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truyền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r>
              <a:rPr lang="en-US" sz="81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endParaRPr lang="en-US" sz="8100" dirty="0"/>
          </a:p>
        </p:txBody>
      </p:sp>
      <p:sp>
        <p:nvSpPr>
          <p:cNvPr id="9" name="Text 7"/>
          <p:cNvSpPr/>
          <p:nvPr/>
        </p:nvSpPr>
        <p:spPr>
          <a:xfrm>
            <a:off x="914400" y="5619750"/>
            <a:ext cx="1333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8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Mạng</a:t>
            </a:r>
            <a:r>
              <a:rPr lang="en-US" sz="3300" dirty="0" spc="-37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xã</a:t>
            </a:r>
            <a:r>
              <a:rPr lang="en-US" sz="330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hội</a:t>
            </a:r>
            <a:r>
              <a:rPr lang="en-US" sz="3300" dirty="0" spc="-6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330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“thao</a:t>
            </a:r>
            <a:r>
              <a:rPr lang="en-US" sz="3300" dirty="0" spc="-4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túng”</a:t>
            </a:r>
            <a:r>
              <a:rPr lang="en-US" sz="330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3300" dirty="0" spc="-6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không?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1440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110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 có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509587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6257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Suy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27735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4405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Bằng</a:t>
            </a:r>
            <a:r>
              <a:rPr lang="en-US" sz="2550" b="1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345882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2552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376420ff-6bff-4da8-bb59-a9a3e0283c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Mạng</a:t>
            </a:r>
            <a:r>
              <a:rPr lang="en-US" sz="57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xã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hội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"thao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túng"</a:t>
            </a:r>
            <a:r>
              <a:rPr lang="en-US" sz="57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não,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57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57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hành?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thật;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tận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suy</a:t>
            </a:r>
            <a:r>
              <a:rPr lang="en-US" sz="69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luận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52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8" name="Shape 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39c432d6-60fc-4421-a103-c9b87208a3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não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4495800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5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68961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 tận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896100" y="6000750"/>
            <a:ext cx="4495800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suy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124968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hại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496800" y="6000750"/>
            <a:ext cx="4495800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nhỏ, còn</a:t>
            </a:r>
            <a:r>
              <a:rPr lang="en-US" sz="25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-3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381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03/19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030886e2-b0d6-4ae8-9700-3d09474dcc5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Mạng</a:t>
            </a:r>
            <a:r>
              <a:rPr lang="en-US" sz="57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xã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hội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chạm</a:t>
            </a:r>
            <a:r>
              <a:rPr lang="en-US" sz="5700" dirty="0" spc="-5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57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</a:t>
            </a:r>
            <a:endParaRPr lang="en-US" sz="5700" dirty="0"/>
          </a:p>
        </p:txBody>
      </p:sp>
      <p:sp>
        <p:nvSpPr>
          <p:cNvPr id="3" name="Connector line-1792505337764-145765335"/>
          <p:cNvSpPr/>
          <p:nvPr/>
        </p:nvSpPr>
        <p:spPr>
          <a:xfrm flipH="1" flipV="1">
            <a:off x="3619500" y="3810000"/>
            <a:ext cx="5524500" cy="180975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4" name="Connector line-1792505337764-906862335"/>
          <p:cNvSpPr/>
          <p:nvPr/>
        </p:nvSpPr>
        <p:spPr>
          <a:xfrm flipV="1">
            <a:off x="9144000" y="3810000"/>
            <a:ext cx="5524500" cy="180975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5" name="Connector line-1792505337765-977650191"/>
          <p:cNvSpPr/>
          <p:nvPr/>
        </p:nvSpPr>
        <p:spPr>
          <a:xfrm>
            <a:off x="9144000" y="5619750"/>
            <a:ext cx="0" cy="247650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6953250" y="4191000"/>
            <a:ext cx="4381500" cy="2857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7" name="Text 5"/>
          <p:cNvSpPr/>
          <p:nvPr/>
        </p:nvSpPr>
        <p:spPr>
          <a:xfrm>
            <a:off x="7239000" y="4476750"/>
            <a:ext cx="3810000" cy="2286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ctr"/>
          <a:lstStyle/>
          <a:p>
            <a:pPr algn="ctr" indent="0" marL="0">
              <a:lnSpc>
                <a:spcPts val="3630"/>
              </a:lnSpc>
              <a:buNone/>
            </a:pP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Mạng</a:t>
            </a:r>
            <a:r>
              <a:rPr lang="en-US" sz="33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xã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hội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1047750" y="304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47625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33500" y="304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096750" y="304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47625">
            <a:solidFill>
              <a:srgbClr val="E847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82500" y="304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6572250" y="733425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47625">
            <a:solidFill>
              <a:srgbClr val="1F3F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733425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Ảnh</a:t>
            </a: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550" b="1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[S6]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6097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04/19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d992fcb1-a3ec-4b03-ab50-c7656554e0f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Lĩnh</a:t>
            </a:r>
            <a:r>
              <a:rPr lang="en-US" sz="57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vực</a:t>
            </a:r>
            <a:r>
              <a:rPr lang="en-US" sz="57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đang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nổi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</a:t>
            </a:r>
            <a:r>
              <a:rPr lang="en-US" sz="69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đây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lĩnh</a:t>
            </a:r>
            <a:r>
              <a:rPr lang="en-US" sz="6900" dirty="0" spc="-7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vực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đang</a:t>
            </a:r>
            <a:r>
              <a:rPr lang="en-US" sz="69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nổi</a:t>
            </a:r>
            <a:r>
              <a:rPr lang="en-US" sz="6900" dirty="0" spc="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8383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1" name="Shape 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ae7b5002-19e1-4520-8c1a-7f94b078320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Thí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nghiệm</a:t>
            </a:r>
            <a:r>
              <a:rPr lang="en-US" sz="57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bấm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32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thiếu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niên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13</a:t>
            </a:r>
            <a:r>
              <a:rPr lang="en-US" sz="27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18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tuổi</a:t>
            </a:r>
            <a:endParaRPr lang="en-US" sz="2700" dirty="0"/>
          </a:p>
        </p:txBody>
      </p:sp>
      <p:sp>
        <p:nvSpPr>
          <p:cNvPr id="7" name="Connector line-1792505339550-736715778"/>
          <p:cNvSpPr/>
          <p:nvPr/>
        </p:nvSpPr>
        <p:spPr>
          <a:xfrm>
            <a:off x="4610100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20065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3714750"/>
            <a:ext cx="647700" cy="6477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50545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4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Xem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ảnh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chụp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fMRI</a:t>
            </a:r>
            <a:endParaRPr lang="en-US" sz="2700" dirty="0"/>
          </a:p>
        </p:txBody>
      </p:sp>
      <p:sp>
        <p:nvSpPr>
          <p:cNvPr id="12" name="Connector line-1792505339554-278932905"/>
          <p:cNvSpPr/>
          <p:nvPr/>
        </p:nvSpPr>
        <p:spPr>
          <a:xfrm>
            <a:off x="8886825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477375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63125" y="3714750"/>
            <a:ext cx="647700" cy="6477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5" name="Text 13"/>
          <p:cNvSpPr/>
          <p:nvPr/>
        </p:nvSpPr>
        <p:spPr>
          <a:xfrm>
            <a:off x="97631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782175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Số</a:t>
            </a:r>
            <a:r>
              <a:rPr lang="en-US" sz="27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lượt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hiển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thị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7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7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endParaRPr lang="en-US" sz="2700" dirty="0"/>
          </a:p>
        </p:txBody>
      </p:sp>
      <p:sp>
        <p:nvSpPr>
          <p:cNvPr id="17" name="Connector line-1792505339558-196802843"/>
          <p:cNvSpPr/>
          <p:nvPr/>
        </p:nvSpPr>
        <p:spPr>
          <a:xfrm>
            <a:off x="13163550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37541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039850" y="3714750"/>
            <a:ext cx="647700" cy="6477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0" name="Text 18"/>
          <p:cNvSpPr/>
          <p:nvPr/>
        </p:nvSpPr>
        <p:spPr>
          <a:xfrm>
            <a:off x="140398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40589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Đo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phản</a:t>
            </a:r>
            <a:r>
              <a:rPr lang="en-US" sz="2700" dirty="0" spc="3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não</a:t>
            </a:r>
            <a:r>
              <a:rPr lang="en-US" sz="270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0669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Shape 27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06/19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c41c00a6-24e3-426e-a182-fbceca16a1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Kết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r>
              <a:rPr lang="en-US" sz="57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32385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Dễ</a:t>
            </a:r>
            <a:r>
              <a:rPr lang="en-US" sz="31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bấm</a:t>
            </a:r>
            <a:r>
              <a:rPr lang="en-US" sz="31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 ảnh</a:t>
            </a:r>
            <a:r>
              <a:rPr lang="en-US" sz="31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315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lượt,</a:t>
            </a:r>
            <a:r>
              <a:rPr lang="en-US" sz="3150" dirty="0" spc="-4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kể</a:t>
            </a:r>
            <a:r>
              <a:rPr lang="en-US" sz="31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</a:t>
            </a:r>
            <a:r>
              <a:rPr lang="en-US" sz="31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ảnh</a:t>
            </a:r>
            <a:r>
              <a:rPr lang="en-US" sz="31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nguy</a:t>
            </a:r>
            <a:r>
              <a:rPr lang="en-US" sz="31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9" name="Text 7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6896100" y="4857750"/>
            <a:ext cx="4495800" cy="32385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3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Vùng</a:t>
            </a:r>
            <a:r>
              <a:rPr lang="en-US" sz="315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thưởng,</a:t>
            </a:r>
            <a:r>
              <a:rPr lang="en-US" sz="3150" dirty="0" spc="-3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xã</a:t>
            </a:r>
            <a:r>
              <a:rPr lang="en-US" sz="31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hội,</a:t>
            </a:r>
            <a:r>
              <a:rPr lang="en-US" sz="31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chú</a:t>
            </a:r>
            <a:r>
              <a:rPr lang="en-US" sz="31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</a:t>
            </a:r>
            <a:r>
              <a:rPr lang="en-US" sz="31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hoạt</a:t>
            </a:r>
            <a:r>
              <a:rPr lang="en-US" sz="31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31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mạnh</a:t>
            </a:r>
            <a:r>
              <a:rPr lang="en-US" sz="31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3" name="Text 11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124968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2496800" y="6000750"/>
            <a:ext cx="4495800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phỏng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2955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Shape 22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07/19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57c73831-c67d-485f-8f4d-425642cbd1f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Chụp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fMRI</a:t>
            </a:r>
            <a:r>
              <a:rPr lang="en-US" sz="57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trông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4933950" cy="60960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8575">
            <a:solidFill>
              <a:srgbClr val="2C3040"/>
            </a:solidFill>
            <a:prstDash val="solid"/>
          </a:ln>
        </p:spPr>
      </p:sp>
      <p:pic>
        <p:nvPicPr>
          <p:cNvPr id="4" name="Moda image rect-1792505342097-7241328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75445" y="2438400"/>
            <a:ext cx="3811860" cy="5715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76950" y="2247900"/>
            <a:ext cx="4933950" cy="60960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8575">
            <a:solidFill>
              <a:srgbClr val="2C3040"/>
            </a:solidFill>
            <a:prstDash val="solid"/>
          </a:ln>
        </p:spPr>
      </p:sp>
      <p:pic>
        <p:nvPicPr>
          <p:cNvPr id="6" name="Moda image rect-1792505342369-465828926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7450" y="4198133"/>
            <a:ext cx="4552950" cy="219553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1391900" y="22479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8" name="Shape 4"/>
          <p:cNvSpPr/>
          <p:nvPr/>
        </p:nvSpPr>
        <p:spPr>
          <a:xfrm>
            <a:off x="11391900" y="22479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5"/>
          <p:cNvSpPr/>
          <p:nvPr/>
        </p:nvSpPr>
        <p:spPr>
          <a:xfrm>
            <a:off x="11734800" y="2247900"/>
            <a:ext cx="54483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Ảnh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minh</a:t>
            </a:r>
            <a:r>
              <a:rPr lang="en-US" sz="25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họa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endParaRPr lang="en-US" sz="2550" dirty="0"/>
          </a:p>
        </p:txBody>
      </p:sp>
      <p:sp>
        <p:nvSpPr>
          <p:cNvPr id="10" name="Shape 6"/>
          <p:cNvSpPr/>
          <p:nvPr/>
        </p:nvSpPr>
        <p:spPr>
          <a:xfrm>
            <a:off x="11391900" y="390525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1" name="Shape 7"/>
          <p:cNvSpPr/>
          <p:nvPr/>
        </p:nvSpPr>
        <p:spPr>
          <a:xfrm>
            <a:off x="11391900" y="390525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2" name="Text 8"/>
          <p:cNvSpPr/>
          <p:nvPr/>
        </p:nvSpPr>
        <p:spPr>
          <a:xfrm>
            <a:off x="11734800" y="3905250"/>
            <a:ext cx="54483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5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ảnh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 nghiên</a:t>
            </a:r>
            <a:r>
              <a:rPr lang="en-US" sz="2550" dirty="0" spc="2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cứu</a:t>
            </a:r>
            <a:endParaRPr lang="en-US" sz="2550" dirty="0"/>
          </a:p>
        </p:txBody>
      </p:sp>
      <p:sp>
        <p:nvSpPr>
          <p:cNvPr id="13" name="Shape 9"/>
          <p:cNvSpPr/>
          <p:nvPr/>
        </p:nvSpPr>
        <p:spPr>
          <a:xfrm>
            <a:off x="11391900" y="55626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4" name="Shape 10"/>
          <p:cNvSpPr/>
          <p:nvPr/>
        </p:nvSpPr>
        <p:spPr>
          <a:xfrm>
            <a:off x="11391900" y="55626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5" name="Text 11"/>
          <p:cNvSpPr/>
          <p:nvPr/>
        </p:nvSpPr>
        <p:spPr>
          <a:xfrm>
            <a:off x="11734800" y="569595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Màu</a:t>
            </a:r>
            <a:r>
              <a:rPr lang="en-US" sz="2250" dirty="0" spc="-9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nóng</a:t>
            </a:r>
            <a:endParaRPr lang="en-US" sz="2250" dirty="0"/>
          </a:p>
        </p:txBody>
      </p:sp>
      <p:sp>
        <p:nvSpPr>
          <p:cNvPr id="16" name="Text 12"/>
          <p:cNvSpPr/>
          <p:nvPr/>
        </p:nvSpPr>
        <p:spPr>
          <a:xfrm>
            <a:off x="11734800" y="6134100"/>
            <a:ext cx="5448300" cy="7810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hoạt</a:t>
            </a:r>
            <a:r>
              <a:rPr lang="en-US" sz="25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cao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</a:t>
            </a:r>
            <a:r>
              <a:rPr lang="en-US" sz="255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mức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nền</a:t>
            </a:r>
            <a:endParaRPr lang="en-US" sz="2550" dirty="0"/>
          </a:p>
        </p:txBody>
      </p:sp>
      <p:sp>
        <p:nvSpPr>
          <p:cNvPr id="17" name="Text 13"/>
          <p:cNvSpPr/>
          <p:nvPr/>
        </p:nvSpPr>
        <p:spPr>
          <a:xfrm>
            <a:off x="914400" y="84963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8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 Mart</a:t>
            </a:r>
            <a:r>
              <a:rPr lang="en-US" sz="1581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Production</a:t>
            </a:r>
            <a:r>
              <a:rPr lang="en-US" sz="1581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(Pexels),</a:t>
            </a:r>
            <a:r>
              <a:rPr lang="en-US" sz="158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CC0;</a:t>
            </a:r>
            <a:r>
              <a:rPr lang="en-US" sz="1581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581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58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</a:t>
            </a:r>
            <a:r>
              <a:rPr lang="en-US" sz="1581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Martinez,</a:t>
            </a:r>
            <a:r>
              <a:rPr lang="en-US" sz="158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58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1581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(chương</a:t>
            </a:r>
            <a:r>
              <a:rPr lang="en-US" sz="158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4);</a:t>
            </a:r>
            <a:r>
              <a:rPr lang="en-US" sz="1581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Wikimedia Commons,</a:t>
            </a:r>
            <a:r>
              <a:rPr lang="en-US" sz="1581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giấy</a:t>
            </a:r>
            <a:r>
              <a:rPr lang="en-US" sz="1581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58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581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581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581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BY-SA;</a:t>
            </a:r>
            <a:r>
              <a:rPr lang="en-US" sz="1581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58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</a:t>
            </a:r>
            <a:r>
              <a:rPr lang="en-US" sz="1581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Martinez,</a:t>
            </a:r>
            <a:r>
              <a:rPr lang="en-US" sz="158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58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581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(chương</a:t>
            </a:r>
            <a:r>
              <a:rPr lang="en-US" sz="158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4)</a:t>
            </a:r>
            <a:endParaRPr lang="en-US" sz="1581" dirty="0"/>
          </a:p>
        </p:txBody>
      </p:sp>
      <p:sp>
        <p:nvSpPr>
          <p:cNvPr id="18" name="Text 14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6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7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18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19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0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1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2"/>
          <p:cNvSpPr/>
          <p:nvPr/>
        </p:nvSpPr>
        <p:spPr>
          <a:xfrm>
            <a:off x="2524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7" name="Shape 23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4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5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6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7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28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29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0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1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2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3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Text 34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08/19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2d7684e7-0290-4591-8cc2-1a446fd035e3" descr="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563.312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57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điệp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47650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0" dirty="0" spc="-18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563.312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619125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5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Twitter,</a:t>
            </a:r>
            <a:r>
              <a:rPr lang="en-US" sz="33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</a:t>
            </a:r>
            <a:r>
              <a:rPr lang="en-US" sz="33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33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đề</a:t>
            </a:r>
            <a:r>
              <a:rPr lang="en-US" sz="330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gây</a:t>
            </a:r>
            <a:r>
              <a:rPr lang="en-US" sz="33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chia</a:t>
            </a:r>
            <a:r>
              <a:rPr lang="en-US" sz="3300" dirty="0" spc="-3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rẽ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710565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Ngôn</a:t>
            </a:r>
            <a:r>
              <a:rPr lang="en-US" sz="33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330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đạo</a:t>
            </a:r>
            <a:r>
              <a:rPr lang="en-US" sz="33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đức-cảm</a:t>
            </a:r>
            <a:r>
              <a:rPr lang="en-US" sz="33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xúc</a:t>
            </a:r>
            <a:r>
              <a:rPr lang="en-US" sz="33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33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chia</a:t>
            </a:r>
            <a:r>
              <a:rPr lang="en-US" sz="33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sẻ</a:t>
            </a:r>
            <a:r>
              <a:rPr lang="en-US" sz="33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33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7527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09/19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5ed8dbf-651e-4771-b691-bb389fbbc1a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57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thận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trọng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6670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8700" dirty="0"/>
          </a:p>
        </p:txBody>
      </p:sp>
      <p:sp>
        <p:nvSpPr>
          <p:cNvPr id="4" name="Shape 2"/>
          <p:cNvSpPr/>
          <p:nvPr/>
        </p:nvSpPr>
        <p:spPr>
          <a:xfrm>
            <a:off x="2724150" y="27622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7622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30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nền</a:t>
            </a:r>
            <a:r>
              <a:rPr lang="en-US" sz="30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tảng,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 chủ</a:t>
            </a:r>
            <a:r>
              <a:rPr lang="en-US" sz="30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đề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2100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8700" dirty="0"/>
          </a:p>
        </p:txBody>
      </p:sp>
      <p:sp>
        <p:nvSpPr>
          <p:cNvPr id="7" name="Shape 5"/>
          <p:cNvSpPr/>
          <p:nvPr/>
        </p:nvSpPr>
        <p:spPr>
          <a:xfrm>
            <a:off x="2724150" y="43053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43053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Dữ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quan</a:t>
            </a:r>
            <a:r>
              <a:rPr lang="en-US" sz="30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sát,</a:t>
            </a:r>
            <a:r>
              <a:rPr lang="en-US" sz="3000" dirty="0" spc="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3000" dirty="0" spc="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chứng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minh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nhân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57531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8700" dirty="0"/>
          </a:p>
        </p:txBody>
      </p:sp>
      <p:sp>
        <p:nvSpPr>
          <p:cNvPr id="10" name="Shape 8"/>
          <p:cNvSpPr/>
          <p:nvPr/>
        </p:nvSpPr>
        <p:spPr>
          <a:xfrm>
            <a:off x="2724150" y="58483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8483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Đo</a:t>
            </a:r>
            <a:r>
              <a:rPr lang="en-US" sz="30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ngôn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30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lượt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chia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sẻ,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</a:t>
            </a:r>
            <a:r>
              <a:rPr lang="en-US" sz="30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tốc</a:t>
            </a:r>
            <a:r>
              <a:rPr lang="en-US" sz="300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9813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Shape 21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10/19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16e44ed2-f404-49b8-947c-a6b7781a571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</a:t>
            </a:r>
            <a:r>
              <a:rPr lang="en-US" sz="57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thiết</a:t>
            </a:r>
            <a:r>
              <a:rPr lang="en-US" sz="57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6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Thông</a:t>
            </a:r>
            <a:r>
              <a:rPr lang="en-US" sz="3000" dirty="0" spc="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báo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70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(suy luận)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2291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1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Lượt</a:t>
            </a:r>
            <a:r>
              <a:rPr lang="en-US" sz="3000" dirty="0" spc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thích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42291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 hiệu</a:t>
            </a:r>
            <a:r>
              <a:rPr lang="en-US" sz="27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xã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(thí nghiệm mô phỏng)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6959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5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Kết</a:t>
            </a:r>
            <a:r>
              <a:rPr lang="en-US" sz="30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quả</a:t>
            </a:r>
            <a:r>
              <a:rPr lang="en-US" sz="3000" dirty="0" spc="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lúc</a:t>
            </a:r>
            <a:r>
              <a:rPr lang="en-US" sz="300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có</a:t>
            </a:r>
            <a:r>
              <a:rPr lang="en-US" sz="300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lúc</a:t>
            </a:r>
            <a:r>
              <a:rPr lang="en-US" sz="3000" dirty="0" spc="-1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6959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thưởng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(suy luận)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71628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71628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71628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Nội</a:t>
            </a:r>
            <a:r>
              <a:rPr lang="en-US" sz="3000" dirty="0" spc="-7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dung</a:t>
            </a:r>
            <a:r>
              <a:rPr lang="en-US" sz="3000" dirty="0" spc="1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đạo</a:t>
            </a:r>
            <a:r>
              <a:rPr lang="en-US" sz="3000" dirty="0" spc="1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đức-cảm</a:t>
            </a:r>
            <a:r>
              <a:rPr lang="en-US" sz="3000" dirty="0" spc="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xúc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81900" y="71628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(quan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sát)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2099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11/19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d28fc8d8-3ca9-4f01-b017-566f3d34920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Đây</a:t>
            </a: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suy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luận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Cột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suy</a:t>
            </a:r>
            <a:r>
              <a:rPr lang="en-US" sz="69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luận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,</a:t>
            </a:r>
            <a:r>
              <a:rPr lang="en-US" sz="69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nghiệm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4385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12/19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130dce4b-339b-42f8-b231-596d5c797e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9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0,4%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47650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0" dirty="0" spc="-38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0,4%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619125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Công</a:t>
            </a:r>
            <a:r>
              <a:rPr lang="en-US" sz="33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nghệ</a:t>
            </a:r>
            <a:r>
              <a:rPr lang="en-US" sz="33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</a:t>
            </a:r>
            <a:r>
              <a:rPr lang="en-US" sz="33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giải</a:t>
            </a:r>
            <a:r>
              <a:rPr lang="en-US" sz="33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r>
              <a:rPr lang="en-US" sz="33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tối</a:t>
            </a:r>
            <a:r>
              <a:rPr lang="en-US" sz="33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</a:t>
            </a:r>
            <a:r>
              <a:rPr lang="en-US" sz="33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0,4%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710565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Hơn</a:t>
            </a:r>
            <a:r>
              <a:rPr lang="en-US" sz="33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300.000</a:t>
            </a:r>
            <a:r>
              <a:rPr lang="en-US" sz="33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thiếu</a:t>
            </a:r>
            <a:r>
              <a:rPr lang="en-US" sz="33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niên</a:t>
            </a:r>
            <a:r>
              <a:rPr lang="en-US" sz="33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33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Anh</a:t>
            </a:r>
            <a:r>
              <a:rPr lang="en-US" sz="3300" dirty="0" spc="-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3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Mỹ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6671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13/19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fd6ad3c-4d17-402b-add3-e36120c7036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sánh</a:t>
            </a:r>
            <a:r>
              <a:rPr lang="en-US" sz="57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6670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8700" dirty="0"/>
          </a:p>
        </p:txBody>
      </p:sp>
      <p:sp>
        <p:nvSpPr>
          <p:cNvPr id="4" name="Shape 2"/>
          <p:cNvSpPr/>
          <p:nvPr/>
        </p:nvSpPr>
        <p:spPr>
          <a:xfrm>
            <a:off x="2724150" y="27622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7622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Ăn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khoai</a:t>
            </a:r>
            <a:r>
              <a:rPr lang="en-US" sz="30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tây: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liên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300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tương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2100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8700" dirty="0"/>
          </a:p>
        </p:txBody>
      </p:sp>
      <p:sp>
        <p:nvSpPr>
          <p:cNvPr id="7" name="Shape 5"/>
          <p:cNvSpPr/>
          <p:nvPr/>
        </p:nvSpPr>
        <p:spPr>
          <a:xfrm>
            <a:off x="2724150" y="43053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43053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Bắt</a:t>
            </a:r>
            <a:r>
              <a:rPr lang="en-US" sz="30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nạt,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 sa: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r>
              <a:rPr lang="en-US" sz="3000" dirty="0" spc="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cực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mạnh hơn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57531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8700" dirty="0"/>
          </a:p>
        </p:txBody>
      </p:sp>
      <p:sp>
        <p:nvSpPr>
          <p:cNvPr id="10" name="Shape 8"/>
          <p:cNvSpPr/>
          <p:nvPr/>
        </p:nvSpPr>
        <p:spPr>
          <a:xfrm>
            <a:off x="2724150" y="58483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8483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Ngủ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đủ,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ăn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sáng: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tích</a:t>
            </a:r>
            <a:r>
              <a:rPr lang="en-US" sz="3000" dirty="0" spc="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cực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mạnh hơn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8957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14/19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5ecfca05-4898-43f7-950b-85714c41088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Quan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sát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57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5334000"/>
          </a:xfrm>
          <a:prstGeom prst="roundRect">
            <a:avLst>
              <a:gd name="adj" fmla="val 5000"/>
            </a:avLst>
          </a:prstGeom>
          <a:solidFill>
            <a:srgbClr val="CFE8E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Quan</a:t>
            </a:r>
            <a:r>
              <a:rPr lang="en-US" sz="42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sát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314325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1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1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5334000"/>
          </a:xfrm>
          <a:prstGeom prst="roundRect">
            <a:avLst>
              <a:gd name="adj" fmla="val 5000"/>
            </a:avLst>
          </a:prstGeom>
          <a:solidFill>
            <a:srgbClr val="F8D9D0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Nhân</a:t>
            </a:r>
            <a:r>
              <a:rPr lang="en-US" sz="42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314325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31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31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315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1243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7" name="Shape 25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15/19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d177e11f-c84d-49b4-93fe-80a926ad83a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</a:t>
            </a: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3095625" cy="32385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1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Tắt</a:t>
            </a:r>
            <a:r>
              <a:rPr lang="en-US" sz="31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thông</a:t>
            </a:r>
            <a:r>
              <a:rPr lang="en-US" sz="31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r>
              <a:rPr lang="en-US" sz="31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1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31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thiết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511492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511492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9" name="Text 7"/>
          <p:cNvSpPr/>
          <p:nvPr/>
        </p:nvSpPr>
        <p:spPr>
          <a:xfrm>
            <a:off x="549592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5495925" y="4857750"/>
            <a:ext cx="3095625" cy="32385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Đặt</a:t>
            </a:r>
            <a:r>
              <a:rPr lang="en-US" sz="3150" dirty="0" spc="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điểm</a:t>
            </a:r>
            <a:r>
              <a:rPr lang="en-US" sz="3150" dirty="0" spc="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dừng</a:t>
            </a:r>
            <a:r>
              <a:rPr lang="en-US" sz="31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315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31545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545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3" name="Text 11"/>
          <p:cNvSpPr/>
          <p:nvPr/>
        </p:nvSpPr>
        <p:spPr>
          <a:xfrm>
            <a:off x="969645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9696450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696450" y="6000750"/>
            <a:ext cx="3095625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mình muốn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thích?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351597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1351597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8" name="Text 16"/>
          <p:cNvSpPr/>
          <p:nvPr/>
        </p:nvSpPr>
        <p:spPr>
          <a:xfrm>
            <a:off x="1389697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7200" dirty="0"/>
          </a:p>
        </p:txBody>
      </p:sp>
      <p:sp>
        <p:nvSpPr>
          <p:cNvPr id="19" name="Text 17"/>
          <p:cNvSpPr/>
          <p:nvPr/>
        </p:nvSpPr>
        <p:spPr>
          <a:xfrm>
            <a:off x="13896975" y="4857750"/>
            <a:ext cx="3095625" cy="32385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Chậm</a:t>
            </a:r>
            <a:r>
              <a:rPr lang="en-US" sz="31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315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31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nội</a:t>
            </a:r>
            <a:r>
              <a:rPr lang="en-US" sz="31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dung</a:t>
            </a:r>
            <a:r>
              <a:rPr lang="en-US" sz="315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đạo</a:t>
            </a:r>
            <a:r>
              <a:rPr lang="en-US" sz="315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đức-cảm</a:t>
            </a:r>
            <a:r>
              <a:rPr lang="en-US" sz="31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xúc</a:t>
            </a:r>
            <a:endParaRPr lang="en-US" sz="3150" dirty="0"/>
          </a:p>
        </p:txBody>
      </p:sp>
      <p:sp>
        <p:nvSpPr>
          <p:cNvPr id="20" name="Text 18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 [S7]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529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16/19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6c52fac9-7a42-4f42-9bd3-cdd94af163b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6670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8700" dirty="0"/>
          </a:p>
        </p:txBody>
      </p:sp>
      <p:sp>
        <p:nvSpPr>
          <p:cNvPr id="4" name="Shape 2"/>
          <p:cNvSpPr/>
          <p:nvPr/>
        </p:nvSpPr>
        <p:spPr>
          <a:xfrm>
            <a:off x="2724150" y="27622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7622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Cơ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r>
              <a:rPr lang="en-US" sz="30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thưởng,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chú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ý,</a:t>
            </a:r>
            <a:r>
              <a:rPr lang="en-US" sz="3000" dirty="0" spc="-3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xã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hội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30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thật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2100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8700" dirty="0"/>
          </a:p>
        </p:txBody>
      </p:sp>
      <p:sp>
        <p:nvSpPr>
          <p:cNvPr id="7" name="Shape 5"/>
          <p:cNvSpPr/>
          <p:nvPr/>
        </p:nvSpPr>
        <p:spPr>
          <a:xfrm>
            <a:off x="2724150" y="43053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43053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Tính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năng</a:t>
            </a:r>
            <a:r>
              <a:rPr lang="en-US" sz="30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tận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dụng chúng phần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lớn là</a:t>
            </a:r>
            <a:r>
              <a:rPr lang="en-US" sz="30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suy luận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57531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8700" dirty="0"/>
          </a:p>
        </p:txBody>
      </p:sp>
      <p:sp>
        <p:nvSpPr>
          <p:cNvPr id="10" name="Shape 8"/>
          <p:cNvSpPr/>
          <p:nvPr/>
        </p:nvSpPr>
        <p:spPr>
          <a:xfrm>
            <a:off x="2724150" y="58483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8483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9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Tác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hại</a:t>
            </a:r>
            <a:r>
              <a:rPr lang="en-US" sz="30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thiếu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niên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nhỏ,</a:t>
            </a:r>
            <a:r>
              <a:rPr lang="en-US" sz="30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</a:t>
            </a:r>
            <a:r>
              <a:rPr lang="en-US" sz="30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3000" dirty="0" spc="-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rõ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72961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8700" dirty="0"/>
          </a:p>
        </p:txBody>
      </p:sp>
      <p:sp>
        <p:nvSpPr>
          <p:cNvPr id="13" name="Shape 11"/>
          <p:cNvSpPr/>
          <p:nvPr/>
        </p:nvSpPr>
        <p:spPr>
          <a:xfrm>
            <a:off x="2724150" y="73914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3105150" y="73914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Giảm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động: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gợi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ý,</a:t>
            </a:r>
            <a:r>
              <a:rPr lang="en-US" sz="30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3000" dirty="0" spc="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chứng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 [S5] [S6]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581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17/19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113f021d-3523-4f4f-affb-9bee0ed05cd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Lưu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-6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chế,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khuyên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</a:t>
            </a:r>
            <a:r>
              <a:rPr lang="en-US" sz="6900" dirty="0" spc="-3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tế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1485900" y="7429500"/>
            <a:ext cx="1581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r>
              <a:rPr lang="en-US" sz="27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ngủ,</a:t>
            </a:r>
            <a:r>
              <a:rPr lang="en-US" sz="27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7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âu,</a:t>
            </a:r>
            <a:r>
              <a:rPr lang="en-US" sz="27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 kiểm</a:t>
            </a:r>
            <a:r>
              <a:rPr lang="en-US" sz="27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soát:</a:t>
            </a:r>
            <a:r>
              <a:rPr lang="en-US" sz="27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7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7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810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Shape 2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18/19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3e804c6b-ef73-4ccf-bb69-a57bc403a32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khảo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15621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Meshi</a:t>
            </a:r>
            <a:r>
              <a:rPr lang="en-US" sz="30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sự,</a:t>
            </a:r>
            <a:r>
              <a:rPr lang="en-US" sz="3000" b="1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Trends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Cogn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Sci,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2015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3800475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800475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3800475"/>
            <a:ext cx="15621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Sherman</a:t>
            </a:r>
            <a:r>
              <a:rPr lang="en-US" sz="30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sự,</a:t>
            </a:r>
            <a:r>
              <a:rPr lang="en-US" sz="3000" b="1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Psychol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Sci,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2016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14400" y="4838700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4838700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4838700"/>
            <a:ext cx="15621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Orben</a:t>
            </a:r>
            <a:r>
              <a:rPr lang="en-US" sz="30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Przybylski,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Nat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Hum</a:t>
            </a:r>
            <a:r>
              <a:rPr lang="en-US" sz="30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Behav,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2019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5876925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876925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5876925"/>
            <a:ext cx="15621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Brady</a:t>
            </a:r>
            <a:r>
              <a:rPr lang="en-US" sz="3000" b="1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sự,</a:t>
            </a:r>
            <a:r>
              <a:rPr lang="en-US" sz="30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PNAS,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2017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914400" y="6915150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6915150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915150"/>
            <a:ext cx="15621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Schultz</a:t>
            </a:r>
            <a:r>
              <a:rPr lang="en-US" sz="30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1997,</a:t>
            </a: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Corbetta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2002, Berridge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1998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14400" y="7953375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7953375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20" name="Text 18"/>
          <p:cNvSpPr/>
          <p:nvPr/>
        </p:nvSpPr>
        <p:spPr>
          <a:xfrm>
            <a:off x="1295400" y="7953375"/>
            <a:ext cx="15621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Hove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Martinez,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Biological</a:t>
            </a:r>
            <a:r>
              <a:rPr lang="en-US" sz="30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Psychology,</a:t>
            </a: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 (hình)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0387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0" name="Text 38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19/19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de01675e-2abf-41a2-bb8e-d764d09e1df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2026-10-20T15:27:05Z</dcterms:created>
  <dcterms:modified xsi:type="dcterms:W3CDTF">2026-10-20T15:27:05Z</dcterms:modified>
</cp:coreProperties>
</file>