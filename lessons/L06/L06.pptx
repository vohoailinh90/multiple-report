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8288000" cy="10287000"/>
  <p:notesSz cx="10287000" cy="18288000"/>
  <p:embeddedFontLst>
    <p:embeddedFont>
      <p:font typeface="Be Vietnam Pro"/>
      <p:regular r:id="rId51"/>
      <p:bold r:id="rId48"/>
    </p:embeddedFont>
    <p:embeddedFont>
      <p:font typeface="Bricolage Grotesque ExtraBold"/>
      <p:regular r:id="rId49"/>
    </p:embeddedFont>
    <p:embeddedFont>
      <p:font typeface="Be Vietnam Pro SemiBold"/>
      <p:regular r:id="rId50"/>
    </p:embeddedFont>
    <p:embeddedFont>
      <p:font typeface="Be Vietnam Pro ExtraBold"/>
      <p:regular r:id="rId52"/>
    </p:embeddedFont>
    <p:embeddedFont>
      <p:font typeface="Be Vietnam Pro Medium"/>
      <p:regular r:id="rId5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8" Type="http://schemas.openxmlformats.org/officeDocument/2006/relationships/font" Target="fonts/font1.fntdata"/><Relationship Id="rId49" Type="http://schemas.openxmlformats.org/officeDocument/2006/relationships/font" Target="fonts/font2.fntdata"/><Relationship Id="rId50" Type="http://schemas.openxmlformats.org/officeDocument/2006/relationships/font" Target="fonts/font3.fntdata"/><Relationship Id="rId51" Type="http://schemas.openxmlformats.org/officeDocument/2006/relationships/font" Target="fonts/font4.fntdata"/><Relationship Id="rId52" Type="http://schemas.openxmlformats.org/officeDocument/2006/relationships/font" Target="fonts/font5.fntdata"/><Relationship Id="rId53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906250" y="857250"/>
            <a:ext cx="5143500" cy="952500"/>
          </a:xfrm>
          <a:prstGeom prst="roundRect">
            <a:avLst>
              <a:gd name="adj" fmla="val 24000"/>
            </a:avLst>
          </a:prstGeom>
          <a:solidFill>
            <a:srgbClr val="1E212B">
              <a:alpha val="55000"/>
            </a:srgbClr>
          </a:solidFill>
          <a:ln w="28575">
            <a:solidFill>
              <a:srgbClr val="2C3040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134850" y="2095500"/>
            <a:ext cx="5143500" cy="952500"/>
          </a:xfrm>
          <a:prstGeom prst="roundRect">
            <a:avLst>
              <a:gd name="adj" fmla="val 24000"/>
            </a:avLst>
          </a:prstGeom>
          <a:solidFill>
            <a:srgbClr val="1E212B">
              <a:alpha val="55000"/>
            </a:srgbClr>
          </a:solidFill>
          <a:ln w="28575">
            <a:solidFill>
              <a:srgbClr val="2C3040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363450" y="3333750"/>
            <a:ext cx="5143500" cy="952500"/>
          </a:xfrm>
          <a:prstGeom prst="roundRect">
            <a:avLst>
              <a:gd name="adj" fmla="val 24000"/>
            </a:avLst>
          </a:prstGeom>
          <a:solidFill>
            <a:srgbClr val="1E212B">
              <a:alpha val="55000"/>
            </a:srgbClr>
          </a:solidFill>
          <a:ln w="28575">
            <a:solidFill>
              <a:srgbClr val="2C3040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592050" y="4572000"/>
            <a:ext cx="5143500" cy="952500"/>
          </a:xfrm>
          <a:prstGeom prst="roundRect">
            <a:avLst>
              <a:gd name="adj" fmla="val 24000"/>
            </a:avLst>
          </a:prstGeom>
          <a:solidFill>
            <a:srgbClr val="1E212B">
              <a:alpha val="55000"/>
            </a:srgbClr>
          </a:solidFill>
          <a:ln w="28575">
            <a:solidFill>
              <a:srgbClr val="2C3040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20650" y="5810250"/>
            <a:ext cx="5143500" cy="952500"/>
          </a:xfrm>
          <a:prstGeom prst="roundRect">
            <a:avLst>
              <a:gd name="adj" fmla="val 24000"/>
            </a:avLst>
          </a:prstGeom>
          <a:solidFill>
            <a:srgbClr val="1E212B">
              <a:alpha val="55000"/>
            </a:srgbClr>
          </a:solidFill>
          <a:ln w="28575">
            <a:solidFill>
              <a:srgbClr val="2C3040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4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 XÃ</a:t>
            </a:r>
            <a:r>
              <a:rPr lang="en-US" sz="2100" b="1" spc="4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100" b="1" spc="4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4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spc="4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14400" y="1619250"/>
            <a:ext cx="14287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81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xã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hội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endParaRPr lang="en-US" sz="8100" dirty="0"/>
          </a:p>
        </p:txBody>
      </p:sp>
      <p:sp>
        <p:nvSpPr>
          <p:cNvPr id="9" name="Text 7"/>
          <p:cNvSpPr/>
          <p:nvPr/>
        </p:nvSpPr>
        <p:spPr>
          <a:xfrm>
            <a:off x="914400" y="561975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8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Mạng</a:t>
            </a:r>
            <a:r>
              <a:rPr lang="en-US" sz="3300" dirty="0" spc="-37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xã</a:t>
            </a:r>
            <a:r>
              <a:rPr lang="en-US" sz="33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hội</a:t>
            </a:r>
            <a:r>
              <a:rPr lang="en-US" sz="3300" dirty="0" spc="-6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3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“thao</a:t>
            </a:r>
            <a:r>
              <a:rPr lang="en-US" sz="3300" dirty="0" spc="-4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túng”</a:t>
            </a:r>
            <a:r>
              <a:rPr lang="en-US" sz="33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3300" dirty="0" spc="-6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không?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1440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110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509587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6257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Thí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27735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4405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7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hại: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345882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2552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879b17f5-1e88-499e-ba11-764accce3b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57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xã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hội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“thao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túng”</a:t>
            </a:r>
            <a:r>
              <a:rPr lang="en-US" sz="57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não,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 cách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57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hành?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thật;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tính năng</a:t>
            </a:r>
            <a:r>
              <a:rPr lang="en-US" sz="69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“tận</a:t>
            </a:r>
            <a:r>
              <a:rPr lang="en-US" sz="69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dụng”</a:t>
            </a:r>
            <a:r>
              <a:rPr lang="en-US" sz="69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</a:t>
            </a:r>
            <a:r>
              <a:rPr lang="en-US" sz="69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-4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69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suy</a:t>
            </a:r>
            <a:r>
              <a:rPr lang="en-US" sz="69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;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69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85900" y="742950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57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657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657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2657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657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657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657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657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</a:t>
            </a:r>
            <a:r>
              <a:rPr lang="en-US" sz="2657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</a:t>
            </a:r>
            <a:r>
              <a:rPr lang="en-US" sz="2657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657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657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niên:</a:t>
            </a:r>
            <a:r>
              <a:rPr lang="en-US" sz="2657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657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657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âm,</a:t>
            </a:r>
            <a:r>
              <a:rPr lang="en-US" sz="2657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 [S3]</a:t>
            </a:r>
            <a:endParaRPr lang="en-US" sz="2657" dirty="0"/>
          </a:p>
        </p:txBody>
      </p:sp>
      <p:sp>
        <p:nvSpPr>
          <p:cNvPr id="6" name="Text 4"/>
          <p:cNvSpPr/>
          <p:nvPr/>
        </p:nvSpPr>
        <p:spPr>
          <a:xfrm>
            <a:off x="1485900" y="809625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7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tầng: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 chế,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27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sát,</a:t>
            </a:r>
            <a:r>
              <a:rPr lang="en-US" sz="27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48808" y="9545909"/>
            <a:ext cx="148683" cy="148683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Shape 8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02/41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5bf7ddfa-ebee-49b5-b9db-a11ada1a029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tầng,</a:t>
            </a:r>
            <a:r>
              <a:rPr lang="en-US" sz="57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57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chắc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chắn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Thưởng,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 ý,</a:t>
            </a: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“muốn”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“thích”;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linh</a:t>
            </a:r>
            <a:r>
              <a:rPr lang="en-US" sz="25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trưởng,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chuột</a:t>
            </a:r>
            <a:r>
              <a:rPr lang="en-US" sz="25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[S6]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Thí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961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5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[S2];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4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Twitter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68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hại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4968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quan</a:t>
            </a:r>
            <a:r>
              <a:rPr lang="en-US" sz="25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lớn,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 hệ</a:t>
            </a: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âm</a:t>
            </a:r>
            <a:r>
              <a:rPr lang="en-US" sz="25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3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 [S7]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371832" y="9545909"/>
            <a:ext cx="148683" cy="148683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Text 58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03/41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2" name="Moda image moda-export-watermark-0c06b4dd-0ac6-44d3-87c8-80ec22580ab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57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57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dụng: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 chế</a:t>
            </a:r>
            <a:r>
              <a:rPr lang="en-US" sz="57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r>
              <a:rPr lang="en-US" sz="57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</a:t>
            </a:r>
            <a:r>
              <a:rPr lang="en-US" sz="57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xã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6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L06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4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8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dạy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cơ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 mà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8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hội.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850" b="1" dirty="0" spc="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“muốn” khác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“thích”,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thẳng: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L00.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xúc: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-4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L09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L10.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trán: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L04.</a:t>
            </a:r>
            <a:r>
              <a:rPr lang="en-US" sz="28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lĩnh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vực,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Meshi,</a:t>
            </a:r>
            <a:r>
              <a:rPr lang="en-US" sz="28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Tamir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Heekeren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 kinh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 nhắc</a:t>
            </a:r>
            <a:r>
              <a:rPr lang="en-US" sz="28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đạo</a:t>
            </a:r>
            <a:r>
              <a:rPr lang="en-US" sz="28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khoa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 kinh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8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sau</a:t>
            </a:r>
            <a:r>
              <a:rPr lang="en-US" sz="2400" dirty="0" spc="-3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L00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4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L05,</a:t>
            </a:r>
            <a:r>
              <a:rPr lang="en-US" sz="2400" dirty="0" spc="-3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L09</a:t>
            </a:r>
            <a:r>
              <a:rPr lang="en-US" sz="24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L10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6669" rIns="0" bIns="-16669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nối</a:t>
            </a:r>
            <a:r>
              <a:rPr lang="en-US" sz="21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21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1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1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vài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nghiệm</a:t>
            </a:r>
            <a:r>
              <a:rPr lang="en-US" sz="21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1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1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mạng</a:t>
            </a:r>
            <a:r>
              <a:rPr lang="en-US" sz="21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xã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hội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tổng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[S1]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4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tóm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94856" y="9545909"/>
            <a:ext cx="148683" cy="148683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04/41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b364ea08-02fd-4436-8ff2-dc8a460f4a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 nhóm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endParaRPr lang="en-US" sz="5700" dirty="0"/>
          </a:p>
        </p:txBody>
      </p:sp>
      <p:sp>
        <p:nvSpPr>
          <p:cNvPr id="3" name="Connector line-1792616823159-902917887"/>
          <p:cNvSpPr/>
          <p:nvPr/>
        </p:nvSpPr>
        <p:spPr>
          <a:xfrm flipH="1" flipV="1">
            <a:off x="3619500" y="3619500"/>
            <a:ext cx="5524500" cy="200025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4" name="Connector line-1792616823159-79934882"/>
          <p:cNvSpPr/>
          <p:nvPr/>
        </p:nvSpPr>
        <p:spPr>
          <a:xfrm flipV="1">
            <a:off x="9144000" y="3619500"/>
            <a:ext cx="5524500" cy="200025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5" name="Connector line-1792616823160-139204241"/>
          <p:cNvSpPr/>
          <p:nvPr/>
        </p:nvSpPr>
        <p:spPr>
          <a:xfrm flipH="1">
            <a:off x="3619500" y="5619750"/>
            <a:ext cx="5524500" cy="200025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6" name="Connector line-1792616823160-623035628"/>
          <p:cNvSpPr/>
          <p:nvPr/>
        </p:nvSpPr>
        <p:spPr>
          <a:xfrm>
            <a:off x="9144000" y="5619750"/>
            <a:ext cx="5524500" cy="200025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8" name="Text 6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33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xã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hội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047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3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r>
              <a:rPr lang="en-US" sz="255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hội: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96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82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bạn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bè: bấm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số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đông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ý: hai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hệ,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“muốn”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“thích”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2096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B4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82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đạo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đức-cảm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xúc: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[S4]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17880" y="9545909"/>
            <a:ext cx="148683" cy="148683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05/41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b37fafd7-2f04-42cb-b586-35659d893cb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 bằng</a:t>
            </a:r>
            <a:r>
              <a:rPr lang="en-US" sz="57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chứng,</a:t>
            </a:r>
            <a:r>
              <a:rPr lang="en-US" sz="57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57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57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18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Thực</a:t>
            </a:r>
            <a:r>
              <a:rPr lang="en-US" sz="3000" dirty="0" spc="-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nghiệm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đo;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 [S2]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Dữ liệu quan</a:t>
            </a:r>
            <a:r>
              <a:rPr lang="en-US" sz="300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sát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cái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ra;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 đăng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[S4],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Suy</a:t>
            </a:r>
            <a:r>
              <a:rPr lang="en-US" sz="300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luận</a:t>
            </a:r>
            <a:r>
              <a:rPr lang="en-US" sz="3000" dirty="0" spc="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của</a:t>
            </a:r>
            <a:r>
              <a:rPr lang="en-US" sz="3000" dirty="0" spc="1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người</a:t>
            </a:r>
            <a:r>
              <a:rPr lang="en-US" sz="3000" dirty="0" spc="-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viết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 chế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năng;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 ghi</a:t>
            </a:r>
            <a:r>
              <a:rPr lang="en-US" sz="270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040904" y="9545909"/>
            <a:ext cx="148683" cy="148683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06/41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9" name="Moda image moda-export-watermark-7cb4bd02-ff33-46a3-a593-191b8853d24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5700" dirty="0" spc="-7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7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57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57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6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Toàn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Sherman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2016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[S2],</a:t>
            </a:r>
            <a:r>
              <a:rPr lang="en-US" sz="25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Brady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2017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[S4],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giáo</a:t>
            </a:r>
            <a:r>
              <a:rPr lang="en-US" sz="25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[S8]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961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Meshi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2015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[S1];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Orben</a:t>
            </a:r>
            <a:r>
              <a:rPr lang="en-US" sz="25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Przybylski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2019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[S3],</a:t>
            </a:r>
            <a:r>
              <a:rPr lang="en-US" sz="25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68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4968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Schultz</a:t>
            </a:r>
            <a:r>
              <a:rPr lang="en-US" sz="25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1997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[S5],</a:t>
            </a:r>
            <a:r>
              <a:rPr lang="en-US" sz="25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Corbetta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2002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[S6],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Berridge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1998 [S7];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255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 [S7]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63928" y="9545909"/>
            <a:ext cx="148683" cy="148683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6" name="Shape 24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Text 58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07/41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2" name="Moda image moda-export-watermark-0ffb708d-8ecb-44cd-b684-692d316537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9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Được</a:t>
            </a:r>
            <a:r>
              <a:rPr lang="en-US" sz="57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tán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57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thưởng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850" b="1" dirty="0" spc="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(xem</a:t>
            </a:r>
            <a:r>
              <a:rPr lang="en-US" sz="2850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L05)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8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ăn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tiền.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là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8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hội, như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 bè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 vào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cuộc.</a:t>
            </a:r>
            <a:r>
              <a:rPr lang="en-US" sz="2850" dirty="0" spc="-6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8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số: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8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Sherman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Instagram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(fMRI)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8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 diễn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rằng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cực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mình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8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Ý</a:t>
            </a:r>
            <a:r>
              <a:rPr lang="en-US" sz="195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tưởng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tín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</a:t>
            </a:r>
            <a:r>
              <a:rPr lang="en-US" sz="240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xã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hội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40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kéo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thưởng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cuộc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Cách</a:t>
            </a:r>
            <a:r>
              <a:rPr lang="en-US" sz="195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thử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7859" rIns="0" bIns="-17859" rtlCol="0" anchor="t"/>
          <a:lstStyle/>
          <a:p>
            <a:pPr algn="l" indent="0" marL="0">
              <a:lnSpc>
                <a:spcPts val="2745"/>
              </a:lnSpc>
              <a:buNone/>
            </a:pPr>
            <a:r>
              <a:rPr lang="en-US" sz="225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22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thưởng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phản</a:t>
            </a:r>
            <a:r>
              <a:rPr lang="en-US" sz="2250" dirty="0" spc="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22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2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lượt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[S2]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7859" rIns="0" bIns="-17859" rtlCol="0" anchor="t"/>
          <a:lstStyle/>
          <a:p>
            <a:pPr algn="l" indent="0" marL="0">
              <a:lnSpc>
                <a:spcPts val="2745"/>
              </a:lnSpc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đây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</a:t>
            </a:r>
            <a:r>
              <a:rPr lang="en-US" sz="22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thuyết</a:t>
            </a:r>
            <a:r>
              <a:rPr lang="en-US" sz="22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thử,</a:t>
            </a:r>
            <a:r>
              <a:rPr lang="en-US" sz="22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25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chắc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486952" y="9545909"/>
            <a:ext cx="148683" cy="148683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08/41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a635d29b-37dc-435e-acf1-42a17e9104b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“vùng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sáng”</a:t>
            </a:r>
            <a:r>
              <a:rPr lang="en-US" sz="57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“phần</a:t>
            </a:r>
            <a:r>
              <a:rPr lang="en-US" sz="57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thưởng”: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mắt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xích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Đo</a:t>
            </a:r>
            <a:r>
              <a:rPr lang="en-US" sz="21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được:</a:t>
            </a:r>
            <a:r>
              <a:rPr lang="en-US" sz="21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oxy</a:t>
            </a:r>
            <a:r>
              <a:rPr lang="en-US" sz="21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máu</a:t>
            </a:r>
            <a:r>
              <a:rPr lang="en-US" sz="21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 nhân</a:t>
            </a:r>
            <a:r>
              <a:rPr lang="en-US" sz="21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accumbens cao hơn</a:t>
            </a:r>
            <a:r>
              <a:rPr lang="en-US" sz="21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ảnh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trung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</a:t>
            </a:r>
            <a:r>
              <a:rPr lang="en-US" sz="21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ảnh của chính</a:t>
            </a:r>
            <a:r>
              <a:rPr lang="en-US" sz="21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mình</a:t>
            </a:r>
            <a:r>
              <a:rPr lang="en-US" sz="21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1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lượt</a:t>
            </a:r>
            <a:r>
              <a:rPr lang="en-US" sz="21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21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[S2]</a:t>
            </a:r>
            <a:endParaRPr lang="en-US" sz="2100" dirty="0"/>
          </a:p>
        </p:txBody>
      </p:sp>
      <p:sp>
        <p:nvSpPr>
          <p:cNvPr id="7" name="Connector line-1792616880220-858091511"/>
          <p:cNvSpPr/>
          <p:nvPr/>
        </p:nvSpPr>
        <p:spPr>
          <a:xfrm>
            <a:off x="461010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20065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37147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50545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Diễn</a:t>
            </a: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giải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giả: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accumbens</a:t>
            </a:r>
            <a:r>
              <a:rPr lang="en-US" sz="25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55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mối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 mạch</a:t>
            </a:r>
            <a:r>
              <a:rPr lang="en-US" sz="255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thưởng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[S2]</a:t>
            </a:r>
            <a:endParaRPr lang="en-US" sz="2550" dirty="0"/>
          </a:p>
        </p:txBody>
      </p:sp>
      <p:sp>
        <p:nvSpPr>
          <p:cNvPr id="12" name="Connector line-1792616880225-327420057"/>
          <p:cNvSpPr/>
          <p:nvPr/>
        </p:nvSpPr>
        <p:spPr>
          <a:xfrm>
            <a:off x="88868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477375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63125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97631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782175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Suy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viết: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“vùng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sáng”</a:t>
            </a:r>
            <a:r>
              <a:rPr lang="en-US" sz="25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chắc</a:t>
            </a: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55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“người</a:t>
            </a:r>
            <a:r>
              <a:rPr lang="en-US" sz="255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ấy</a:t>
            </a:r>
            <a:r>
              <a:rPr lang="en-US" sz="25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thấy</a:t>
            </a:r>
            <a:r>
              <a:rPr lang="en-US" sz="25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thưởng”</a:t>
            </a:r>
            <a:endParaRPr lang="en-US" sz="2550" dirty="0"/>
          </a:p>
        </p:txBody>
      </p:sp>
      <p:sp>
        <p:nvSpPr>
          <p:cNvPr id="17" name="Connector line-1792616880231-17918472"/>
          <p:cNvSpPr/>
          <p:nvPr/>
        </p:nvSpPr>
        <p:spPr>
          <a:xfrm>
            <a:off x="1316355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37541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039850" y="3714750"/>
            <a:ext cx="647700" cy="647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140398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40589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7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suy</a:t>
            </a:r>
            <a:r>
              <a:rPr lang="en-US" sz="27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ra: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“dopamine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tăng”;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fMRI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[S8]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709976" y="9545909"/>
            <a:ext cx="148683" cy="148683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2" name="Shape 30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09/41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0da26849-8fd5-4c90-a1a1-1fae351b53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fMRI</a:t>
            </a:r>
            <a:r>
              <a:rPr lang="en-US" sz="57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r>
              <a:rPr lang="en-US" sz="57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oxy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máu,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7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dopamine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 dùng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oxy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giàu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oxy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chảy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fMRI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nồng</a:t>
            </a:r>
            <a:r>
              <a:rPr lang="en-US" sz="28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hemoglobin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oxy,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BOLD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;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</a:t>
            </a:r>
            <a:r>
              <a:rPr lang="en-US" sz="28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[S8]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 phân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milimét,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8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kém,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ảnh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 bình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[S8]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Giáo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nhấn mạnh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fMRI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tương</a:t>
            </a:r>
            <a:r>
              <a:rPr lang="en-US" sz="285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bổ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sung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 nghiệm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[S8]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Đo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oxy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máu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khối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ảnh</a:t>
            </a:r>
            <a:r>
              <a:rPr lang="en-US" sz="24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vài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milimét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Suy</a:t>
            </a:r>
            <a:r>
              <a:rPr lang="en-US" sz="1950" dirty="0" spc="-1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ra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hoạt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4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nơron,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</a:t>
            </a:r>
            <a:r>
              <a:rPr lang="en-US" sz="24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trực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tiếp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dopamine</a:t>
            </a: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khoái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33000" y="9545909"/>
            <a:ext cx="148683" cy="148683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8" name="Shape 26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10/41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e3ac4024-98b6-43ff-9513-8118a7bdad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 quét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fMRI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trông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 nào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4933950" cy="6096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2616932697-95391894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75445" y="2438400"/>
            <a:ext cx="3811860" cy="5715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76950" y="2247900"/>
            <a:ext cx="4933950" cy="6096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6" name="Moda image rect-1792616932954-466079047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7450" y="4198133"/>
            <a:ext cx="4552950" cy="219553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Mart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Production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(Pexels),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CC0;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Martinez,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(chương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4);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Wikimedia Commons,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BY-SA;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(chương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4)</a:t>
            </a:r>
            <a:endParaRPr lang="en-US" sz="1650" dirty="0"/>
          </a:p>
        </p:txBody>
      </p:sp>
      <p:sp>
        <p:nvSpPr>
          <p:cNvPr id="8" name="Shape 4"/>
          <p:cNvSpPr/>
          <p:nvPr/>
        </p:nvSpPr>
        <p:spPr>
          <a:xfrm>
            <a:off x="11391900" y="22479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9" name="Shape 5"/>
          <p:cNvSpPr/>
          <p:nvPr/>
        </p:nvSpPr>
        <p:spPr>
          <a:xfrm>
            <a:off x="11391900" y="22479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0" name="Text 6"/>
          <p:cNvSpPr/>
          <p:nvPr/>
        </p:nvSpPr>
        <p:spPr>
          <a:xfrm>
            <a:off x="11734800" y="234315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MRI</a:t>
            </a:r>
            <a:r>
              <a:rPr lang="en-US" sz="22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scanner</a:t>
            </a:r>
            <a:endParaRPr lang="en-US" sz="2250" dirty="0"/>
          </a:p>
        </p:txBody>
      </p:sp>
      <p:sp>
        <p:nvSpPr>
          <p:cNvPr id="11" name="Text 7"/>
          <p:cNvSpPr/>
          <p:nvPr/>
        </p:nvSpPr>
        <p:spPr>
          <a:xfrm>
            <a:off x="11734800" y="281940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chụp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cộng</a:t>
            </a:r>
            <a:r>
              <a:rPr lang="en-US" sz="255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hưởng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từ;</a:t>
            </a:r>
            <a:r>
              <a:rPr lang="en-US" sz="25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25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5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lòng</a:t>
            </a:r>
            <a:r>
              <a:rPr lang="en-US" sz="25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endParaRPr lang="en-US" sz="2550" dirty="0"/>
          </a:p>
        </p:txBody>
      </p:sp>
      <p:sp>
        <p:nvSpPr>
          <p:cNvPr id="12" name="Shape 8"/>
          <p:cNvSpPr/>
          <p:nvPr/>
        </p:nvSpPr>
        <p:spPr>
          <a:xfrm>
            <a:off x="11391900" y="390525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3" name="Shape 9"/>
          <p:cNvSpPr/>
          <p:nvPr/>
        </p:nvSpPr>
        <p:spPr>
          <a:xfrm>
            <a:off x="11391900" y="390525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4" name="Text 10"/>
          <p:cNvSpPr/>
          <p:nvPr/>
        </p:nvSpPr>
        <p:spPr>
          <a:xfrm>
            <a:off x="11734800" y="400050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Activation</a:t>
            </a:r>
            <a:r>
              <a:rPr lang="en-US" sz="22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map</a:t>
            </a:r>
            <a:endParaRPr lang="en-US" sz="2250" dirty="0"/>
          </a:p>
        </p:txBody>
      </p:sp>
      <p:sp>
        <p:nvSpPr>
          <p:cNvPr id="15" name="Text 11"/>
          <p:cNvSpPr/>
          <p:nvPr/>
        </p:nvSpPr>
        <p:spPr>
          <a:xfrm>
            <a:off x="11734800" y="447675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</a:t>
            </a:r>
            <a:r>
              <a:rPr lang="en-US" sz="25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</a:t>
            </a:r>
            <a:r>
              <a:rPr lang="en-US" sz="25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r>
              <a:rPr lang="en-US" sz="25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động;</a:t>
            </a:r>
            <a:r>
              <a:rPr lang="en-US" sz="25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màu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nóng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nghĩa</a:t>
            </a:r>
            <a:r>
              <a:rPr lang="en-US" sz="25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cao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r>
              <a:rPr lang="en-US" sz="2550" dirty="0" spc="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mức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nền</a:t>
            </a:r>
            <a:endParaRPr lang="en-US" sz="2550" dirty="0"/>
          </a:p>
        </p:txBody>
      </p:sp>
      <p:sp>
        <p:nvSpPr>
          <p:cNvPr id="16" name="Shape 12"/>
          <p:cNvSpPr/>
          <p:nvPr/>
        </p:nvSpPr>
        <p:spPr>
          <a:xfrm>
            <a:off x="11391900" y="55626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7" name="Shape 13"/>
          <p:cNvSpPr/>
          <p:nvPr/>
        </p:nvSpPr>
        <p:spPr>
          <a:xfrm>
            <a:off x="11391900" y="55626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8" name="Text 14"/>
          <p:cNvSpPr/>
          <p:nvPr/>
        </p:nvSpPr>
        <p:spPr>
          <a:xfrm>
            <a:off x="11734800" y="565785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Baseline</a:t>
            </a:r>
            <a:endParaRPr lang="en-US" sz="2250" dirty="0"/>
          </a:p>
        </p:txBody>
      </p:sp>
      <p:sp>
        <p:nvSpPr>
          <p:cNvPr id="19" name="Text 15"/>
          <p:cNvSpPr/>
          <p:nvPr/>
        </p:nvSpPr>
        <p:spPr>
          <a:xfrm>
            <a:off x="11734800" y="613410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mức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nền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550" dirty="0" spc="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5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sánh</a:t>
            </a:r>
            <a:r>
              <a:rPr lang="en-US" sz="25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lúc</a:t>
            </a:r>
            <a:r>
              <a:rPr lang="en-US" sz="25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nhiệm vụ</a:t>
            </a:r>
            <a:endParaRPr lang="en-US" sz="2550" dirty="0"/>
          </a:p>
        </p:txBody>
      </p:sp>
      <p:sp>
        <p:nvSpPr>
          <p:cNvPr id="20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19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0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1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2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3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4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5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6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7"/>
          <p:cNvSpPr/>
          <p:nvPr/>
        </p:nvSpPr>
        <p:spPr>
          <a:xfrm>
            <a:off x="3156024" y="9545909"/>
            <a:ext cx="148683" cy="148683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2" name="Shape 28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29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0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1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2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3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4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5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6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7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38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39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0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1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2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3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4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5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6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7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48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49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0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1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2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3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4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5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6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7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Text 58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11/41</a:t>
            </a:r>
            <a:endParaRPr lang="en-US" sz="1800" dirty="0"/>
          </a:p>
        </p:txBody>
      </p:sp>
      <p:sp>
        <p:nvSpPr>
          <p:cNvPr id="63" name="Shape 5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4" name="Moda image moda-export-watermark-f6f0a093-1e4b-4cda-8b5d-8ac9885906ef" descr="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r>
              <a:rPr lang="en-US" sz="57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suy</a:t>
            </a:r>
            <a:r>
              <a:rPr lang="en-US" sz="57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57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CFE8E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r>
              <a:rPr lang="en-US" sz="4200" dirty="0" spc="-5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31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hiển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thị,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1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r>
              <a:rPr lang="en-US" sz="31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Like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1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Next,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31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BOLD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1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 [S8]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8D9D0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suy</a:t>
            </a:r>
            <a:r>
              <a:rPr lang="en-US" sz="4200" dirty="0" spc="-19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4200" dirty="0" spc="-5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Cảm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giác</a:t>
            </a:r>
            <a:r>
              <a:rPr lang="en-US" sz="31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sướng,</a:t>
            </a:r>
            <a:r>
              <a:rPr lang="en-US" sz="31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dopamine,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1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1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31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31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31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</a:t>
            </a:r>
            <a:r>
              <a:rPr lang="en-US" sz="2850" dirty="0" spc="3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2850" dirty="0" spc="-3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xa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khỏi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suy luận,</a:t>
            </a:r>
            <a:r>
              <a:rPr lang="en-US" sz="28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8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suy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379048" y="9545909"/>
            <a:ext cx="148683" cy="148683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12/41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7" name="Moda image moda-export-watermark-ee59604f-e3ba-4ed3-9d31-da1068810d7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Thí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</a:t>
            </a:r>
            <a:r>
              <a:rPr lang="en-US" sz="5700" dirty="0" spc="-7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7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dựng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5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Tuyển</a:t>
            </a: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34</a:t>
            </a: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em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13</a:t>
            </a:r>
            <a:r>
              <a:rPr lang="en-US" sz="255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18 tuổi;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phân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tích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fMRI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32</a:t>
            </a: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em</a:t>
            </a:r>
            <a:endParaRPr lang="en-US" sz="2550" dirty="0"/>
          </a:p>
        </p:txBody>
      </p:sp>
      <p:sp>
        <p:nvSpPr>
          <p:cNvPr id="7" name="Connector line-1792616934737-406835332"/>
          <p:cNvSpPr/>
          <p:nvPr/>
        </p:nvSpPr>
        <p:spPr>
          <a:xfrm>
            <a:off x="375285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343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9150" y="37147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4629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4648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em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nộp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ảnh</a:t>
            </a:r>
            <a:r>
              <a:rPr lang="en-US" sz="22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Instagram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mình,</a:t>
            </a:r>
            <a:r>
              <a:rPr lang="en-US" sz="22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khoảng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50 bạn</a:t>
            </a:r>
            <a:r>
              <a:rPr lang="en-US" sz="22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2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xem</a:t>
            </a:r>
            <a:endParaRPr lang="en-US" sz="2250" dirty="0"/>
          </a:p>
        </p:txBody>
      </p:sp>
      <p:sp>
        <p:nvSpPr>
          <p:cNvPr id="12" name="Connector line-1792616934742-843417064"/>
          <p:cNvSpPr/>
          <p:nvPr/>
        </p:nvSpPr>
        <p:spPr>
          <a:xfrm>
            <a:off x="7172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62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8625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8048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8067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4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Trong</a:t>
            </a:r>
            <a:r>
              <a:rPr lang="en-US" sz="255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5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quét:</a:t>
            </a:r>
            <a:r>
              <a:rPr lang="en-US" sz="25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148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ảnh,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</a:t>
            </a:r>
            <a:r>
              <a:rPr lang="en-US" sz="25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ảnh</a:t>
            </a: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3</a:t>
            </a:r>
            <a:r>
              <a:rPr lang="en-US" sz="25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giây,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nút</a:t>
            </a:r>
            <a:r>
              <a:rPr lang="en-US" sz="255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Like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55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Next</a:t>
            </a:r>
            <a:endParaRPr lang="en-US" sz="2550" dirty="0"/>
          </a:p>
        </p:txBody>
      </p:sp>
      <p:sp>
        <p:nvSpPr>
          <p:cNvPr id="17" name="Connector line-1792616934745-768470645"/>
          <p:cNvSpPr/>
          <p:nvPr/>
        </p:nvSpPr>
        <p:spPr>
          <a:xfrm>
            <a:off x="10601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1191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477625" y="3714750"/>
            <a:ext cx="647700" cy="647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11477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1496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Số</a:t>
            </a:r>
            <a:r>
              <a:rPr lang="en-US" sz="21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lượt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21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 nghiên</a:t>
            </a:r>
            <a:r>
              <a:rPr lang="en-US" sz="2100" dirty="0" spc="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</a:t>
            </a:r>
            <a:r>
              <a:rPr lang="en-US" sz="21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ấn</a:t>
            </a:r>
            <a:r>
              <a:rPr lang="en-US" sz="21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định:</a:t>
            </a:r>
            <a:r>
              <a:rPr lang="en-US" sz="21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1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(23</a:t>
            </a:r>
            <a:r>
              <a:rPr lang="en-US" sz="21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1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45)</a:t>
            </a:r>
            <a:r>
              <a:rPr lang="en-US" sz="21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1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ít</a:t>
            </a:r>
            <a:r>
              <a:rPr lang="en-US" sz="21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(0</a:t>
            </a:r>
            <a:r>
              <a:rPr lang="en-US" sz="21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1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22)</a:t>
            </a:r>
            <a:endParaRPr lang="en-US" sz="2100" dirty="0"/>
          </a:p>
        </p:txBody>
      </p:sp>
      <p:sp>
        <p:nvSpPr>
          <p:cNvPr id="22" name="Connector line-1792616934751-964754428"/>
          <p:cNvSpPr/>
          <p:nvPr/>
        </p:nvSpPr>
        <p:spPr>
          <a:xfrm>
            <a:off x="1402080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461135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97100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5" name="Text 23"/>
          <p:cNvSpPr/>
          <p:nvPr/>
        </p:nvSpPr>
        <p:spPr>
          <a:xfrm>
            <a:off x="148971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491615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Ảnh</a:t>
            </a:r>
            <a:r>
              <a:rPr lang="en-US" sz="21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chung: hai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21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1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đảo</a:t>
            </a:r>
            <a:r>
              <a:rPr lang="en-US" sz="21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ngược.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Ảnh của</a:t>
            </a:r>
            <a:r>
              <a:rPr lang="en-US" sz="21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em: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</a:t>
            </a:r>
            <a:r>
              <a:rPr lang="en-US" sz="21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ngẫu</a:t>
            </a:r>
            <a:r>
              <a:rPr lang="en-US" sz="21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nhiên</a:t>
            </a:r>
            <a:r>
              <a:rPr lang="en-US" sz="21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1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21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nội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dung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02072" y="9545909"/>
            <a:ext cx="148683" cy="148683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1" name="Shape 39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Text 6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13/41</a:t>
            </a:r>
            <a:endParaRPr lang="en-US" sz="1800" dirty="0"/>
          </a:p>
        </p:txBody>
      </p:sp>
      <p:sp>
        <p:nvSpPr>
          <p:cNvPr id="70" name="Shape 6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1" name="Moda image moda-export-watermark-1f2a98ad-419c-4e8f-9bcf-34b6f1a078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Thẻ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57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sơ: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Sherman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cộng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57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(2016)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34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thiếu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niên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13</a:t>
            </a:r>
            <a:r>
              <a:rPr lang="en-US" sz="2550" dirty="0" spc="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đến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18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tuổi,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32</a:t>
            </a:r>
            <a:r>
              <a:rPr lang="en-US" sz="25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em</a:t>
            </a:r>
            <a:r>
              <a:rPr lang="en-US" sz="2550" dirty="0" spc="-1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trong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tích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fMRI;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cỡ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mẫu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</a:t>
            </a:r>
            <a:r>
              <a:rPr lang="en-US" sz="2550" dirty="0" spc="1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mức</a:t>
            </a:r>
            <a:r>
              <a:rPr lang="en-US" sz="2550" dirty="0" spc="-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tối</a:t>
            </a:r>
            <a:r>
              <a:rPr lang="en-US" sz="2550" dirty="0" spc="1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đa</a:t>
            </a:r>
            <a:r>
              <a:rPr lang="en-US" sz="2550" dirty="0" spc="-1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tuyển</a:t>
            </a:r>
            <a:r>
              <a:rPr lang="en-US" sz="2550" dirty="0" spc="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được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[S2]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21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Xem</a:t>
            </a:r>
            <a:r>
              <a:rPr lang="en-US" sz="2550" dirty="0" spc="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148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ảnh</a:t>
            </a:r>
            <a:r>
              <a:rPr lang="en-US" sz="2550" dirty="0" spc="-1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trong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mô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phỏng</a:t>
            </a:r>
            <a:r>
              <a:rPr lang="en-US" sz="2550" dirty="0" spc="-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Instagram: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66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trung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tính,</a:t>
            </a:r>
            <a:r>
              <a:rPr lang="en-US" sz="2550" dirty="0" spc="-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42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nguy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cơ,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40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chính</a:t>
            </a:r>
            <a:r>
              <a:rPr lang="en-US" sz="25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em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[S2]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Thao</a:t>
            </a:r>
            <a:r>
              <a:rPr lang="en-US" sz="210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tác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Lượt</a:t>
            </a:r>
            <a:r>
              <a:rPr lang="en-US" sz="240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thích</a:t>
            </a:r>
            <a:r>
              <a:rPr lang="en-US" sz="240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do</a:t>
            </a:r>
            <a:r>
              <a:rPr lang="en-US" sz="240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nhóm</a:t>
            </a:r>
            <a:r>
              <a:rPr lang="en-US" sz="240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nghiên</a:t>
            </a:r>
            <a:r>
              <a:rPr lang="en-US" sz="2400" dirty="0" spc="2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cứu</a:t>
            </a:r>
            <a:r>
              <a:rPr lang="en-US" sz="240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ấn</a:t>
            </a:r>
            <a:r>
              <a:rPr lang="en-US" sz="2400" dirty="0" spc="1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định;</a:t>
            </a:r>
            <a:r>
              <a:rPr lang="en-US" sz="240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ảnh</a:t>
            </a:r>
            <a:r>
              <a:rPr lang="en-US" sz="240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chung</a:t>
            </a:r>
            <a:r>
              <a:rPr lang="en-US" sz="2400" dirty="0" spc="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đảo</a:t>
            </a:r>
            <a:r>
              <a:rPr lang="en-US" sz="240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chéo</a:t>
            </a:r>
            <a:r>
              <a:rPr lang="en-US" sz="240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hai</a:t>
            </a:r>
            <a:r>
              <a:rPr lang="en-US" sz="240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phiên</a:t>
            </a:r>
            <a:r>
              <a:rPr lang="en-US" sz="240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bản,</a:t>
            </a:r>
            <a:r>
              <a:rPr lang="en-US" sz="240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ảnh</a:t>
            </a:r>
            <a:r>
              <a:rPr lang="en-US" sz="240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40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em</a:t>
            </a:r>
            <a:r>
              <a:rPr lang="en-US" sz="240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chia</a:t>
            </a:r>
            <a:r>
              <a:rPr lang="en-US" sz="2400" dirty="0" spc="-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ngẫu</a:t>
            </a:r>
            <a:r>
              <a:rPr lang="en-US" sz="240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nhiên</a:t>
            </a:r>
            <a:r>
              <a:rPr lang="en-US" sz="240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000"/>
              </a:lnSpc>
              <a:buNone/>
            </a:pPr>
            <a:r>
              <a:rPr lang="en-US" sz="2400" dirty="0" spc="-1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[S2]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Hành</a:t>
            </a:r>
            <a:r>
              <a:rPr lang="en-US" sz="210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vi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Bấm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thích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theo</a:t>
            </a:r>
            <a:r>
              <a:rPr lang="en-US" sz="2550" dirty="0" spc="-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số</a:t>
            </a:r>
            <a:r>
              <a:rPr lang="en-US" sz="2550" dirty="0" spc="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đông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hơn</a:t>
            </a:r>
            <a:r>
              <a:rPr lang="en-US" sz="2550" dirty="0" spc="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mức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ngẫu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nhiên;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mạnh</a:t>
            </a:r>
            <a:r>
              <a:rPr lang="en-US" sz="2550" dirty="0" spc="-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nhất</a:t>
            </a:r>
            <a:r>
              <a:rPr lang="en-US" sz="2550" dirty="0" spc="-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với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ảnh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chính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em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[S2]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Não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Nhiều</a:t>
            </a:r>
            <a:r>
              <a:rPr lang="en-US" sz="2550" dirty="0" spc="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lượt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thích: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các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vùng</a:t>
            </a:r>
            <a:r>
              <a:rPr lang="en-US" sz="2550" dirty="0" spc="-2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xã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hội,</a:t>
            </a:r>
            <a:r>
              <a:rPr lang="en-US" sz="2550" dirty="0" spc="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thưởng,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thị</a:t>
            </a:r>
            <a:r>
              <a:rPr lang="en-US" sz="25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giác</a:t>
            </a:r>
            <a:r>
              <a:rPr lang="en-US" sz="2550" dirty="0" spc="-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sáng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hơn,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tùy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loại ảnh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[S2]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206817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24" name="Shape 22"/>
          <p:cNvSpPr/>
          <p:nvPr/>
        </p:nvSpPr>
        <p:spPr>
          <a:xfrm>
            <a:off x="1206817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25" name="Text 23"/>
          <p:cNvSpPr/>
          <p:nvPr/>
        </p:nvSpPr>
        <p:spPr>
          <a:xfrm>
            <a:off x="1244917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210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210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244917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Mẫu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nhỏ,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mô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phỏng,</a:t>
            </a:r>
            <a:r>
              <a:rPr lang="en-US" sz="2550" dirty="0" spc="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lượt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thích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do</a:t>
            </a:r>
            <a:r>
              <a:rPr lang="en-US" sz="2550" dirty="0" spc="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nghiên</a:t>
            </a:r>
            <a:r>
              <a:rPr lang="en-US" sz="2550" dirty="0" spc="2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cứu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ấn</a:t>
            </a:r>
            <a:r>
              <a:rPr lang="en-US" sz="2550" dirty="0" spc="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định;</a:t>
            </a:r>
            <a:r>
              <a:rPr lang="en-US" sz="2550" dirty="0" spc="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chưa</a:t>
            </a:r>
            <a:r>
              <a:rPr lang="en-US" sz="2550" dirty="0" spc="1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chứng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minh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tác</a:t>
            </a:r>
            <a:r>
              <a:rPr lang="en-US" sz="2550" dirty="0" spc="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động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ngoài</a:t>
            </a:r>
            <a:r>
              <a:rPr lang="en-US" sz="2550" dirty="0" spc="1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đời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[S2]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825096" y="9545909"/>
            <a:ext cx="148683" cy="148683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Text 6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14/41</a:t>
            </a:r>
            <a:endParaRPr lang="en-US" sz="1800" dirty="0"/>
          </a:p>
        </p:txBody>
      </p:sp>
      <p:sp>
        <p:nvSpPr>
          <p:cNvPr id="70" name="Shape 6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1" name="Moda image moda-export-watermark-34b15c2b-9fc5-40eb-898b-8a583d24192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Não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phản</a:t>
            </a:r>
            <a:r>
              <a:rPr lang="en-US" sz="57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57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nào,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5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Ảnh</a:t>
            </a:r>
            <a:r>
              <a:rPr lang="en-US" sz="300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của</a:t>
            </a:r>
            <a:r>
              <a:rPr lang="en-US" sz="300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chính</a:t>
            </a:r>
            <a:r>
              <a:rPr lang="en-US" sz="300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em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70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hơn;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accumbens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Ảnh</a:t>
            </a:r>
            <a:r>
              <a:rPr lang="en-US" sz="3000" dirty="0" spc="-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trung</a:t>
            </a:r>
            <a:r>
              <a:rPr lang="en-US" sz="3000" dirty="0" spc="-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tính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Vỏ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giác,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chêm,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tiểu não;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accumbens</a:t>
            </a:r>
            <a:r>
              <a:rPr lang="en-US" sz="27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Ảnh</a:t>
            </a:r>
            <a:r>
              <a:rPr lang="en-US" sz="3000" dirty="0" spc="-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nguy cơ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7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trái;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accumbens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 [S2]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71628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71628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1628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Ít so</a:t>
            </a:r>
            <a:r>
              <a:rPr lang="en-US" sz="3000" dirty="0" spc="-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với</a:t>
            </a:r>
            <a:r>
              <a:rPr lang="en-US" sz="300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nhiều</a:t>
            </a:r>
            <a:r>
              <a:rPr lang="en-US" sz="3000" dirty="0" spc="1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lượt</a:t>
            </a:r>
            <a:r>
              <a:rPr lang="en-US" sz="300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71628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vùng nào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 nghĩa ở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048120" y="9545909"/>
            <a:ext cx="148683" cy="148683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5" name="Shape 33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15/41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3" name="Moda image moda-export-watermark-f6e9a193-25a7-471d-b86e-4d3f98af339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nhỏ: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em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tích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fMRI,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tuyển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b="1" dirty="0" spc="-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8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thật;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 bè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8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8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ấn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8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xem.</a:t>
            </a:r>
            <a:r>
              <a:rPr lang="en-US" sz="28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accumbens không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; suy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viết: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8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 niên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8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Mức</a:t>
            </a:r>
            <a:r>
              <a:rPr lang="en-US" sz="195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bằng</a:t>
            </a:r>
            <a:r>
              <a:rPr lang="en-US" sz="1950" dirty="0" spc="1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chứng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thực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nghiệm,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mô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nhỏ,</a:t>
            </a:r>
            <a:r>
              <a:rPr lang="en-US" sz="24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kiện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Cơ</a:t>
            </a:r>
            <a:r>
              <a:rPr lang="en-US" sz="19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chế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tóm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đây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 “possible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mechanisms” [S2]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chưa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40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r>
              <a:rPr lang="en-US" sz="24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ngoài</a:t>
            </a:r>
            <a:r>
              <a:rPr lang="en-US" sz="24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đời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271144" y="9545909"/>
            <a:ext cx="148683" cy="148683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16/41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189113ff-f8b5-49e7-9a4f-8e66861f725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57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57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trộn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lẫn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1C4236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36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3600" dirty="0" spc="-4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36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ít</a:t>
            </a:r>
            <a:r>
              <a:rPr lang="en-US" sz="3600" dirty="0" spc="-3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36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31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ảnh,</a:t>
            </a:r>
            <a:r>
              <a:rPr lang="en-US" sz="31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1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thích:</a:t>
            </a:r>
            <a:r>
              <a:rPr lang="en-US" sz="31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31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1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1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31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31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4A2A24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Ảnh</a:t>
            </a:r>
            <a:r>
              <a:rPr lang="en-US" sz="330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</a:t>
            </a:r>
            <a:r>
              <a:rPr lang="en-US" sz="33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33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3300" dirty="0" spc="-4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33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trung</a:t>
            </a:r>
            <a:r>
              <a:rPr lang="en-US" sz="33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31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1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31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31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1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 nguy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cơ:</a:t>
            </a:r>
            <a:r>
              <a:rPr lang="en-US" sz="31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31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nội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850" dirty="0" spc="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gộp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850" dirty="0" spc="-3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28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285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“lượt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giảm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8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soát”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494169" y="9545909"/>
            <a:ext cx="148683" cy="148683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1" name="Shape 29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17/41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7" name="Moda image moda-export-watermark-982a716e-cbfe-4241-af55-1808fb43c7f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 hệ chú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57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Corbetta và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Shulman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85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[S6]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hệ,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đỉnh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rãnh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 vỏ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 thích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8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(từ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xuống)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[S6]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kia,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8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dương-đỉnh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nghiêng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phải,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 thích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quan,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nổi</a:t>
            </a:r>
            <a:r>
              <a:rPr lang="en-US" sz="285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ngờ,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“cầu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dao”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hệ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[S6]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L05;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mạng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não,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tách biệt</a:t>
            </a: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6669" rIns="0" bIns="-16669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21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 chọn</a:t>
            </a: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1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tiêu,</a:t>
            </a: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1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phát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hiện</a:t>
            </a:r>
            <a:r>
              <a:rPr lang="en-US" sz="21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nổi</a:t>
            </a:r>
            <a:r>
              <a:rPr lang="en-US" sz="21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bật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7859" rIns="0" bIns="-17859" rtlCol="0" anchor="t"/>
          <a:lstStyle/>
          <a:p>
            <a:pPr algn="l" indent="0" marL="0">
              <a:lnSpc>
                <a:spcPts val="2745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mô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22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nói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chung,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bàn</a:t>
            </a:r>
            <a:r>
              <a:rPr lang="en-US" sz="22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2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điện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thoại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[S6]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717193" y="9545909"/>
            <a:ext cx="148683" cy="148683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6" name="Shape 34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18/41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68908403-4ed9-445e-9aae-779e9b4292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Ví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 của</a:t>
            </a:r>
            <a:r>
              <a:rPr lang="en-US" sz="57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5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viết: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57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57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r>
              <a:rPr lang="en-US" sz="27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đang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 cáo: chú ý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27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giấy</a:t>
            </a:r>
            <a:endParaRPr lang="en-US" sz="2700" dirty="0"/>
          </a:p>
        </p:txBody>
      </p:sp>
      <p:sp>
        <p:nvSpPr>
          <p:cNvPr id="7" name="Connector line-1792616986136-964724142"/>
          <p:cNvSpPr/>
          <p:nvPr/>
        </p:nvSpPr>
        <p:spPr>
          <a:xfrm>
            <a:off x="461010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20065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37147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50545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Điện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thoại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rung</a:t>
            </a:r>
            <a:r>
              <a:rPr lang="en-US" sz="270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sáng:</a:t>
            </a:r>
            <a:r>
              <a:rPr lang="en-US" sz="27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nổi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bật,</a:t>
            </a: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bất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ngờ</a:t>
            </a:r>
            <a:endParaRPr lang="en-US" sz="2700" dirty="0"/>
          </a:p>
        </p:txBody>
      </p:sp>
      <p:sp>
        <p:nvSpPr>
          <p:cNvPr id="12" name="Connector line-1792616986138-521283616"/>
          <p:cNvSpPr/>
          <p:nvPr/>
        </p:nvSpPr>
        <p:spPr>
          <a:xfrm>
            <a:off x="88868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477375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63125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97631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782175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Theo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mô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[S6],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phát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hiện kích thích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ngắt</a:t>
            </a:r>
            <a:r>
              <a:rPr lang="en-US" sz="27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hướng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 ý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hiện</a:t>
            </a:r>
            <a:r>
              <a:rPr lang="en-US" sz="27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tại</a:t>
            </a:r>
            <a:endParaRPr lang="en-US" sz="2700" dirty="0"/>
          </a:p>
        </p:txBody>
      </p:sp>
      <p:sp>
        <p:nvSpPr>
          <p:cNvPr id="17" name="Connector line-1792616986142-180093000"/>
          <p:cNvSpPr/>
          <p:nvPr/>
        </p:nvSpPr>
        <p:spPr>
          <a:xfrm>
            <a:off x="1316355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37541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039850" y="3714750"/>
            <a:ext cx="647700" cy="647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140398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40589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 nhìn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sang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màn</a:t>
            </a:r>
            <a:r>
              <a:rPr lang="en-US" sz="25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định;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đây</a:t>
            </a: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suy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luận,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r>
              <a:rPr lang="en-US" sz="25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5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5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55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940217" y="9545909"/>
            <a:ext cx="148683" cy="148683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2" name="Shape 40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19/41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c84d167e-b373-4423-915b-0d12bb17952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“Thích”</a:t>
            </a:r>
            <a:r>
              <a:rPr lang="en-US" sz="57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“muốn”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CFE8E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Thích</a:t>
            </a:r>
            <a:r>
              <a:rPr lang="en-US" sz="4200" dirty="0" spc="-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(liking)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3150" dirty="0" spc="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 vị</a:t>
            </a:r>
            <a:r>
              <a:rPr lang="en-US" sz="31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ngọt</a:t>
            </a:r>
            <a:r>
              <a:rPr lang="en-US" sz="31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31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đắng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31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1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31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 dopamine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99%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1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chuột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8D9D0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Muốn</a:t>
            </a:r>
            <a:r>
              <a:rPr lang="en-US" sz="4200" dirty="0" spc="-3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(wanting)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1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315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dopamine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1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hút</a:t>
            </a:r>
            <a:r>
              <a:rPr lang="en-US" sz="31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cơ,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cần cho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Quan</a:t>
            </a:r>
            <a:r>
              <a:rPr lang="en-US" sz="28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850" dirty="0" spc="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chuột,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 thuận;</a:t>
            </a:r>
            <a:r>
              <a:rPr lang="en-US" sz="285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xem</a:t>
            </a:r>
            <a:r>
              <a:rPr lang="en-US" sz="2850" dirty="0" spc="-3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L05</a:t>
            </a:r>
            <a:r>
              <a:rPr lang="en-US" sz="28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3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L09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163241" y="9545909"/>
            <a:ext cx="148683" cy="148683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20/41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7" name="Moda image moda-export-watermark-e50f85cf-3b54-4bcf-ae16-82e8ff787c1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Cuộn</a:t>
            </a:r>
            <a:r>
              <a:rPr lang="en-US" sz="57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vô</a:t>
            </a:r>
            <a:r>
              <a:rPr lang="en-US" sz="5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tận: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suy luận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luồng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9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69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 cuộn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85900" y="742950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Suy</a:t>
            </a:r>
            <a:r>
              <a:rPr lang="en-US" sz="27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7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viết, nối</a:t>
            </a:r>
            <a:r>
              <a:rPr lang="en-US" sz="27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4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270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7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485900" y="809625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6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70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7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70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27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nguồn nào</a:t>
            </a:r>
            <a:r>
              <a:rPr lang="en-US" sz="27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7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cuộn</a:t>
            </a:r>
            <a:r>
              <a:rPr lang="en-US" sz="27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27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tận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386265" y="9545909"/>
            <a:ext cx="148683" cy="148683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8" name="Shape 26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21/41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d0569ffe-d94c-4648-983d-bd1d1a1d662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suy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Có</a:t>
            </a:r>
            <a:r>
              <a:rPr lang="en-US" sz="3000" dirty="0" spc="-9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nguồn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 một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[S6];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dopamine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cho muốn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thích,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chuột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Suy</a:t>
            </a:r>
            <a:r>
              <a:rPr lang="en-US" sz="30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luận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 kích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nổi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Suy</a:t>
            </a:r>
            <a:r>
              <a:rPr lang="en-US" sz="300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luận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Cuộn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tận</a:t>
            </a:r>
            <a:r>
              <a:rPr lang="en-US" sz="27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 “muốn”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 hơn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71628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71628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1628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18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Chưa</a:t>
            </a:r>
            <a:r>
              <a:rPr lang="en-US" sz="3000" dirty="0" spc="-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có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71628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Thí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thông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cuộn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09289" y="9545909"/>
            <a:ext cx="148683" cy="148683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22/41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3" name="Moda image moda-export-watermark-6c556863-9238-4ae8-9bea-fc8447c156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563.312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476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ctr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1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563.312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6096000"/>
            <a:ext cx="16459200" cy="790575"/>
          </a:xfrm>
          <a:prstGeom prst="rect">
            <a:avLst/>
          </a:prstGeom>
          <a:noFill/>
          <a:ln/>
        </p:spPr>
        <p:txBody>
          <a:bodyPr wrap="square" lIns="0" tIns="18392" rIns="0" bIns="-18392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thông</a:t>
            </a:r>
            <a:r>
              <a:rPr lang="en-US" sz="3300" dirty="0" spc="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điệp</a:t>
            </a:r>
            <a:r>
              <a:rPr lang="en-US" sz="3300" dirty="0" spc="-5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Twitter</a:t>
            </a:r>
            <a:r>
              <a:rPr lang="en-US" sz="3300" dirty="0" spc="-2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33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</a:t>
            </a:r>
            <a:r>
              <a:rPr lang="en-US" sz="33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33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đề</a:t>
            </a:r>
            <a:r>
              <a:rPr lang="en-US" sz="33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gây</a:t>
            </a:r>
            <a:r>
              <a:rPr lang="en-US" sz="33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</a:t>
            </a:r>
            <a:r>
              <a:rPr lang="en-US" sz="3300" dirty="0" spc="-3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rẽ</a:t>
            </a:r>
            <a:r>
              <a:rPr lang="en-US" sz="33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3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Mỹ</a:t>
            </a:r>
            <a:r>
              <a:rPr lang="en-US" sz="33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[S4]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6981825"/>
            <a:ext cx="16459200" cy="790575"/>
          </a:xfrm>
          <a:prstGeom prst="rect">
            <a:avLst/>
          </a:prstGeom>
          <a:noFill/>
          <a:ln/>
        </p:spPr>
        <p:txBody>
          <a:bodyPr wrap="square" lIns="0" tIns="15048" rIns="0" bIns="-15048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Kiểm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soát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súng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102.328;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hôn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</a:t>
            </a:r>
            <a:r>
              <a:rPr lang="en-US" sz="27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70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47.373;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biến</a:t>
            </a:r>
            <a:r>
              <a:rPr lang="en-US" sz="27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khí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hậu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413.611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[S4]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7877175"/>
            <a:ext cx="16459200" cy="790575"/>
          </a:xfrm>
          <a:prstGeom prst="rect">
            <a:avLst/>
          </a:prstGeom>
          <a:noFill/>
          <a:ln/>
        </p:spPr>
        <p:txBody>
          <a:bodyPr wrap="square" lIns="0" tIns="18392" rIns="0" bIns="-18392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Đo</a:t>
            </a:r>
            <a:r>
              <a:rPr lang="en-US" sz="33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33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3300" dirty="0" spc="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điển</a:t>
            </a:r>
            <a:r>
              <a:rPr lang="en-US" sz="33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33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ngữ</a:t>
            </a:r>
            <a:r>
              <a:rPr lang="en-US" sz="3300" dirty="0" spc="-2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3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r>
              <a:rPr lang="en-US" sz="33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33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33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lại,</a:t>
            </a:r>
            <a:r>
              <a:rPr lang="en-US" sz="33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30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 người</a:t>
            </a:r>
            <a:r>
              <a:rPr lang="en-US" sz="33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33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[S4]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832313" y="9545909"/>
            <a:ext cx="148683" cy="148683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1" name="Shape 29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23/41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bf0d1584-bd70-43b4-bf05-0a10e42849b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Đếm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57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đạo</a:t>
            </a:r>
            <a:r>
              <a:rPr lang="en-US" sz="57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đức,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cảm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xúc,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57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đạo</a:t>
            </a:r>
            <a:r>
              <a:rPr lang="en-US" sz="57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đức-cảm</a:t>
            </a:r>
            <a:r>
              <a:rPr lang="en-US" sz="57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xúc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Brady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điển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điệp: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1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đạo</a:t>
            </a:r>
            <a:r>
              <a:rPr lang="en-US" sz="2850" b="1" dirty="0" spc="1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đức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(như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“duty”,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329</a:t>
            </a:r>
            <a:r>
              <a:rPr lang="en-US" sz="2850" dirty="0" spc="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từ),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cảm xúc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(như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“fear”,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819</a:t>
            </a:r>
            <a:r>
              <a:rPr lang="en-US" sz="2850" dirty="0" spc="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từ)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1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đạo</a:t>
            </a:r>
            <a:r>
              <a:rPr lang="en-US" sz="2850" b="1" dirty="0" spc="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đức-cảm</a:t>
            </a:r>
            <a:r>
              <a:rPr lang="en-US" sz="28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xúc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(như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“hate”,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159</a:t>
            </a:r>
            <a:r>
              <a:rPr lang="en-US" sz="2850" dirty="0" spc="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từ)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điển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[S4]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lan</a:t>
            </a:r>
            <a:r>
              <a:rPr lang="en-US" sz="285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[S4]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8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hỏi: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nhiều từ</a:t>
            </a:r>
            <a:r>
              <a:rPr lang="en-US" sz="28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đạo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đức-cảm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xúc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không,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thuần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đạo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đức,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thuần cảm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xúc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[S4]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Đo</a:t>
            </a:r>
            <a:r>
              <a:rPr lang="en-US" sz="1950" dirty="0" spc="-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từ</a:t>
            </a:r>
            <a:r>
              <a:rPr lang="en-US" sz="24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</a:t>
            </a:r>
            <a:r>
              <a:rPr lang="en-US" sz="24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điệp</a:t>
            </a:r>
            <a:r>
              <a:rPr lang="en-US" sz="24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24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195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cảm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xúc</a:t>
            </a:r>
            <a:r>
              <a:rPr lang="en-US" sz="24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4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đăng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nghĩa</a:t>
            </a:r>
            <a:r>
              <a:rPr lang="en-US" sz="24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</a:t>
            </a:r>
            <a:r>
              <a:rPr lang="en-US" sz="24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thuyết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phục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055337" y="9545909"/>
            <a:ext cx="148683" cy="148683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24/41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dedd1ba7-4135-48cc-892e-438a04a9c5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5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đạo</a:t>
            </a:r>
            <a:r>
              <a:rPr lang="en-US" sz="57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đức-cảm</a:t>
            </a:r>
            <a:r>
              <a:rPr lang="en-US" sz="5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xúc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57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Kiểm</a:t>
            </a:r>
            <a:r>
              <a:rPr lang="en-US" sz="3000" dirty="0" spc="-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soát</a:t>
            </a:r>
            <a:r>
              <a:rPr lang="en-US" sz="300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súng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19%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mỗi từ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7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Hôn</a:t>
            </a:r>
            <a:r>
              <a:rPr lang="en-US" sz="300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nhân</a:t>
            </a:r>
            <a:r>
              <a:rPr lang="en-US" sz="300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đồng</a:t>
            </a:r>
            <a:r>
              <a:rPr lang="en-US" sz="3000" dirty="0" spc="1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giới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6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Tăng</a:t>
            </a:r>
            <a:r>
              <a:rPr lang="en-US" sz="270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17%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thêm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Biến</a:t>
            </a:r>
            <a:r>
              <a:rPr lang="en-US" sz="3000" dirty="0" spc="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30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khí</a:t>
            </a:r>
            <a:r>
              <a:rPr lang="en-US" sz="300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hậu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6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Tăng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24%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mỗi từ thêm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71628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71628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1628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3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Trung</a:t>
            </a:r>
            <a:r>
              <a:rPr lang="en-US" sz="300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bình</a:t>
            </a:r>
            <a:r>
              <a:rPr lang="en-US" sz="3000" dirty="0" spc="-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ba</a:t>
            </a:r>
            <a:r>
              <a:rPr lang="en-US" sz="300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chủ</a:t>
            </a:r>
            <a:r>
              <a:rPr lang="en-US" sz="300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đề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71628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20%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mỗi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từ,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thuần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đạo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đức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thuần cảm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xúc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78361" y="9545909"/>
            <a:ext cx="148683" cy="148683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5" name="Shape 43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25/41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3" name="Moda image moda-export-watermark-53ba35c4-9455-4f56-88a8-ade84dde455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CFE8E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33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 cùng</a:t>
            </a:r>
            <a:r>
              <a:rPr lang="en-US" sz="33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khuynh</a:t>
            </a:r>
            <a:r>
              <a:rPr lang="en-US" sz="3300" dirty="0" spc="-3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1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đạo</a:t>
            </a:r>
            <a:r>
              <a:rPr lang="en-US" sz="31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đức-cảm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xúc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 hơn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8D9D0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Giữa</a:t>
            </a:r>
            <a:r>
              <a:rPr lang="en-US" sz="33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33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33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 khuynh</a:t>
            </a:r>
            <a:r>
              <a:rPr lang="en-US" sz="3300" dirty="0" spc="-3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9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31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 suy</a:t>
            </a:r>
            <a:r>
              <a:rPr lang="en-US" sz="28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đoán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đây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 thể</a:t>
            </a:r>
            <a:r>
              <a:rPr lang="en-US" sz="28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góp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phân</a:t>
            </a:r>
            <a:r>
              <a:rPr lang="en-US" sz="28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cực</a:t>
            </a:r>
            <a:r>
              <a:rPr lang="en-US" sz="28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buồng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vang;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850" dirty="0" spc="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850" dirty="0" spc="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minh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[S4]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501385" y="9545909"/>
            <a:ext cx="148683" cy="148683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Shape 38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26/41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7" name="Moda image moda-export-watermark-58592e4f-3fde-46d5-978b-afaa7d3a26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57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thận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3812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745" dirty="0"/>
          </a:p>
        </p:txBody>
      </p:sp>
      <p:sp>
        <p:nvSpPr>
          <p:cNvPr id="4" name="Shape 2"/>
          <p:cNvSpPr/>
          <p:nvPr/>
        </p:nvSpPr>
        <p:spPr>
          <a:xfrm>
            <a:off x="2724150" y="24765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4765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Dữ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</a:t>
            </a: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sát: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ngữ</a:t>
            </a:r>
            <a:r>
              <a:rPr lang="en-US" sz="3000" dirty="0" spc="3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3000" dirty="0" spc="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lượt</a:t>
            </a:r>
            <a:r>
              <a:rPr lang="en-US" sz="30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lại,</a:t>
            </a:r>
            <a:r>
              <a:rPr lang="en-US" sz="3000" dirty="0" spc="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3000" dirty="0" spc="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minh từ</a:t>
            </a: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ngữ</a:t>
            </a:r>
            <a:r>
              <a:rPr lang="en-US" sz="30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gây</a:t>
            </a:r>
            <a:r>
              <a:rPr lang="en-US" sz="3000" dirty="0" spc="-2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[S4]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36766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745" dirty="0"/>
          </a:p>
        </p:txBody>
      </p:sp>
      <p:sp>
        <p:nvSpPr>
          <p:cNvPr id="7" name="Shape 5"/>
          <p:cNvSpPr/>
          <p:nvPr/>
        </p:nvSpPr>
        <p:spPr>
          <a:xfrm>
            <a:off x="2724150" y="37719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37719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nền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tảng,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 chủ</a:t>
            </a:r>
            <a:r>
              <a:rPr lang="en-US" sz="300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đề,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bối cảnh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300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trị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Mỹ: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đại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diện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mọi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mạng</a:t>
            </a:r>
            <a:r>
              <a:rPr lang="en-US" sz="3000" dirty="0" spc="-3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xã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hội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49720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745" dirty="0"/>
          </a:p>
        </p:txBody>
      </p:sp>
      <p:sp>
        <p:nvSpPr>
          <p:cNvPr id="10" name="Shape 8"/>
          <p:cNvSpPr/>
          <p:nvPr/>
        </p:nvSpPr>
        <p:spPr>
          <a:xfrm>
            <a:off x="2724150" y="50673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0673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Đo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ngữ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lượt</a:t>
            </a:r>
            <a:r>
              <a:rPr lang="en-US" sz="30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lại,</a:t>
            </a: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cảm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xúc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000" dirty="0" spc="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30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62674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7745" dirty="0"/>
          </a:p>
        </p:txBody>
      </p:sp>
      <p:sp>
        <p:nvSpPr>
          <p:cNvPr id="13" name="Shape 11"/>
          <p:cNvSpPr/>
          <p:nvPr/>
        </p:nvSpPr>
        <p:spPr>
          <a:xfrm>
            <a:off x="2724150" y="63627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63627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Lan</a:t>
            </a:r>
            <a:r>
              <a:rPr lang="en-US" sz="30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nghĩa</a:t>
            </a:r>
            <a:r>
              <a:rPr lang="en-US" sz="30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thuyết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phục: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30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30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ai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</a:t>
            </a:r>
            <a:r>
              <a:rPr lang="en-US" sz="3000" dirty="0" spc="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4400" y="75628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7745" dirty="0"/>
          </a:p>
        </p:txBody>
      </p:sp>
      <p:sp>
        <p:nvSpPr>
          <p:cNvPr id="16" name="Shape 14"/>
          <p:cNvSpPr/>
          <p:nvPr/>
        </p:nvSpPr>
        <p:spPr>
          <a:xfrm>
            <a:off x="2724150" y="76581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3105150" y="76581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Chính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</a:t>
            </a:r>
            <a:r>
              <a:rPr lang="en-US" sz="3000" dirty="0" spc="-2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kêu</a:t>
            </a: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nghiệm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soát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ảnh</a:t>
            </a:r>
            <a:r>
              <a:rPr lang="en-US" sz="30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hưởng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 [S4]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724409" y="9545909"/>
            <a:ext cx="148683" cy="148683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6" name="Shape 44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Text 58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27/41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2" name="Moda image moda-export-watermark-a2950014-d126-4ab5-9a49-b6db7bf1505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suy luận: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57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năng,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57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chế,</a:t>
            </a:r>
            <a:r>
              <a:rPr lang="en-US" sz="57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57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Thông</a:t>
            </a:r>
            <a:r>
              <a:rPr lang="en-US" sz="3000" dirty="0" spc="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báo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kích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nổi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bật,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ngờ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[S6];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suy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39814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9814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39814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Số</a:t>
            </a:r>
            <a:r>
              <a:rPr lang="en-US" sz="3000" dirty="0" spc="1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lượt</a:t>
            </a:r>
            <a:r>
              <a:rPr lang="en-US" sz="30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39814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 hiệu</a:t>
            </a: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[S2];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phỏng,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2006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2006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2006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4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Kéo</a:t>
            </a:r>
            <a:r>
              <a:rPr lang="en-US" sz="300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làm</a:t>
            </a:r>
            <a:r>
              <a:rPr lang="en-US" sz="3000" dirty="0" spc="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2006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linh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trưởng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[S5];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thể là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64198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64198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4198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Luồng</a:t>
            </a:r>
            <a:r>
              <a:rPr lang="en-US" sz="3000" dirty="0" spc="-1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3000" dirty="0" spc="1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điểm</a:t>
            </a:r>
            <a:r>
              <a:rPr lang="en-US" sz="3000" dirty="0" spc="26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dừng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64198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(L04);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 luận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14400" y="76390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76390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76390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Nội</a:t>
            </a:r>
            <a:r>
              <a:rPr lang="en-US" sz="3000" dirty="0" spc="-7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dung</a:t>
            </a:r>
            <a:r>
              <a:rPr lang="en-US" sz="3000" dirty="0" spc="-1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gây</a:t>
            </a:r>
            <a:r>
              <a:rPr lang="en-US" sz="3000" dirty="0" spc="-8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phẫn</a:t>
            </a:r>
            <a:r>
              <a:rPr lang="en-US" sz="3000" dirty="0" spc="-7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nộ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81900" y="76390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lan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Twitter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[S4];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947433" y="9545909"/>
            <a:ext cx="148683" cy="148683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2" name="Shape 50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28/41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7" name="Moda image moda-export-watermark-5207cfb8-0047-4169-8d78-47e93dfbd2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Ví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 của</a:t>
            </a:r>
            <a:r>
              <a:rPr lang="en-US" sz="57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5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viết: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57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5700" dirty="0"/>
          </a:p>
        </p:txBody>
      </p:sp>
      <p:sp>
        <p:nvSpPr>
          <p:cNvPr id="3" name="Connector line-1792617087911-95035409"/>
          <p:cNvSpPr/>
          <p:nvPr/>
        </p:nvSpPr>
        <p:spPr>
          <a:xfrm>
            <a:off x="914400" y="5810250"/>
            <a:ext cx="16459200" cy="0"/>
          </a:xfrm>
          <a:prstGeom prst="line">
            <a:avLst/>
          </a:prstGeom>
          <a:noFill/>
          <a:ln w="57150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4" name="Shape 2"/>
          <p:cNvSpPr/>
          <p:nvPr/>
        </p:nvSpPr>
        <p:spPr>
          <a:xfrm>
            <a:off x="2314575" y="5562600"/>
            <a:ext cx="495300" cy="4953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5" name="Connector line-1792617087912-271271392"/>
          <p:cNvSpPr/>
          <p:nvPr/>
        </p:nvSpPr>
        <p:spPr>
          <a:xfrm flipV="1">
            <a:off x="2562225" y="5238750"/>
            <a:ext cx="0" cy="3238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104900" y="3429000"/>
            <a:ext cx="291465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Thông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rung: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 ý bị</a:t>
            </a:r>
            <a:r>
              <a:rPr lang="en-US" sz="2700" dirty="0" spc="-3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kéo</a:t>
            </a:r>
            <a:r>
              <a:rPr lang="en-US" sz="2700" dirty="0" spc="2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[S6]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5600700" y="5562600"/>
            <a:ext cx="495300" cy="4953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8" name="Connector line-1792617087913-704261591"/>
          <p:cNvSpPr/>
          <p:nvPr/>
        </p:nvSpPr>
        <p:spPr>
          <a:xfrm>
            <a:off x="5848350" y="6057900"/>
            <a:ext cx="0" cy="3238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4400550" y="6381750"/>
            <a:ext cx="291465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Thấy</a:t>
            </a:r>
            <a:r>
              <a:rPr lang="en-US" sz="27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lượt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thích: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</a:t>
            </a:r>
            <a:r>
              <a:rPr lang="en-US" sz="2700" dirty="0" spc="-3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xã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hội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[S2]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8896350" y="5562600"/>
            <a:ext cx="495300" cy="4953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1" name="Connector line-1792617087916-128353470"/>
          <p:cNvSpPr/>
          <p:nvPr/>
        </p:nvSpPr>
        <p:spPr>
          <a:xfrm flipV="1">
            <a:off x="9144000" y="5238750"/>
            <a:ext cx="0" cy="32385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7686675" y="3429000"/>
            <a:ext cx="291465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4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Kéo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mới:</a:t>
            </a:r>
            <a:r>
              <a:rPr lang="en-US" sz="2700" dirty="0" spc="-3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27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[S5]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2192000" y="556260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4" name="Connector line-1792617087918-177568058"/>
          <p:cNvSpPr/>
          <p:nvPr/>
        </p:nvSpPr>
        <p:spPr>
          <a:xfrm>
            <a:off x="12439650" y="6057900"/>
            <a:ext cx="0" cy="32385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10982325" y="6381750"/>
            <a:ext cx="291465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Luồng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dừng:</a:t>
            </a:r>
            <a:r>
              <a:rPr lang="en-US" sz="2700" dirty="0" spc="-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quyết</a:t>
            </a:r>
            <a:r>
              <a:rPr lang="en-US" sz="2700" dirty="0" spc="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700" dirty="0" spc="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dừng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lặp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15478125" y="5562600"/>
            <a:ext cx="495300" cy="4953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7" name="Connector line-1792617087920-775718324"/>
          <p:cNvSpPr/>
          <p:nvPr/>
        </p:nvSpPr>
        <p:spPr>
          <a:xfrm flipV="1">
            <a:off x="15725775" y="5238750"/>
            <a:ext cx="0" cy="3238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14268450" y="3429000"/>
            <a:ext cx="291465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7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gây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phẫn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nộ: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dễ</a:t>
            </a:r>
            <a:r>
              <a:rPr lang="en-US" sz="27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sẻ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[S4]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170457" y="9545909"/>
            <a:ext cx="148683" cy="148683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9" name="Shape 47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29/41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3" name="Moda image moda-export-watermark-8652434e-98c3-473f-9430-734aa3e520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lưu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57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suy luận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nguồn.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“tận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dụng”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giả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chế,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khẳng</a:t>
            </a:r>
            <a:r>
              <a:rPr lang="en-US" sz="28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85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vậy;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nguồn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nói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8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kế.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hai,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khỏe;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 phần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8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đáp.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8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xấu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tốt,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Một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tận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dụng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 có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nghĩa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Hai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cơ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</a:t>
            </a:r>
            <a:r>
              <a:rPr lang="en-US" sz="24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40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minh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Ba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bảng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phân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biệt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chỗ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r>
              <a:rPr lang="en-US" sz="24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chỗ nối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93481" y="9545909"/>
            <a:ext cx="148683" cy="148683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7" name="Shape 45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30/41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0" name="Moda image moda-export-watermark-adc08991-b11b-4328-a688-a19973c077b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9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0,4%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476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ctr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38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0,4%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6096000"/>
            <a:ext cx="16459200" cy="790575"/>
          </a:xfrm>
          <a:prstGeom prst="rect">
            <a:avLst/>
          </a:prstGeom>
          <a:noFill/>
          <a:ln/>
        </p:spPr>
        <p:txBody>
          <a:bodyPr wrap="square" lIns="0" tIns="15048" rIns="0" bIns="-15048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là</a:t>
            </a:r>
            <a:r>
              <a:rPr lang="en-US" sz="27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mức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biến thiên</a:t>
            </a:r>
            <a:r>
              <a:rPr lang="en-US" sz="27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tối</a:t>
            </a:r>
            <a:r>
              <a:rPr lang="en-US" sz="27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</a:t>
            </a:r>
            <a:r>
              <a:rPr lang="en-US" sz="270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trạng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khỏe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mạnh của thiếu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niên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nghệ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giải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[S3]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6981825"/>
            <a:ext cx="16459200" cy="7905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Nói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lời:</a:t>
            </a:r>
            <a:r>
              <a:rPr lang="en-US" sz="300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1.000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biệt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giữa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em, tối</a:t>
            </a:r>
            <a:r>
              <a:rPr lang="en-US" sz="3000" dirty="0" spc="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khoảng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4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7877175"/>
            <a:ext cx="16459200" cy="790575"/>
          </a:xfrm>
          <a:prstGeom prst="rect">
            <a:avLst/>
          </a:prstGeom>
          <a:noFill/>
          <a:ln/>
        </p:spPr>
        <p:txBody>
          <a:bodyPr wrap="square" lIns="0" tIns="15048" rIns="0" bIns="-15048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Liên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âm</a:t>
            </a:r>
            <a:r>
              <a:rPr lang="en-US" sz="2700" dirty="0" spc="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nhưng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nhỏ; các</a:t>
            </a: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7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rằng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</a:t>
            </a:r>
            <a:r>
              <a:rPr lang="en-US" sz="27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biện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minh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7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7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[S3]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616505" y="9545909"/>
            <a:ext cx="148683" cy="148683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9" name="Shape 37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31/41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36dffd04-ea25-4656-9cfe-611775d9ee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Nghiên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Orben</a:t>
            </a:r>
            <a:r>
              <a:rPr lang="en-US" sz="57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Przybylski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Orben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Przybylski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rằng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phần lớn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việc phân tích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lớn,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linh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phân tích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khiến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hiệu</a:t>
            </a:r>
            <a:r>
              <a:rPr lang="en-US" sz="2850" b="1" dirty="0" spc="3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85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[S3]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phân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cong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đặc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(specification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curve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analysis)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 mẫu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355.358,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</a:t>
            </a:r>
            <a:r>
              <a:rPr lang="en-US" sz="2850" b="1" dirty="0" spc="2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850" b="1" dirty="0" spc="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8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[S3]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công nghệ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 niên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âm</a:t>
            </a:r>
            <a:r>
              <a:rPr lang="en-US" sz="2850" b="1" dirty="0" spc="2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 giải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8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0,4%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 thiên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[S3]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Dữ</a:t>
            </a:r>
            <a:r>
              <a:rPr lang="en-US" sz="195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 lớn,</a:t>
            </a: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YRBS,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MTF,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MCS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Phương</a:t>
            </a:r>
            <a:r>
              <a:rPr lang="en-US" sz="195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pháp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nhiều</a:t>
            </a:r>
            <a:r>
              <a:rPr lang="en-US" sz="18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18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phân</a:t>
            </a:r>
            <a:r>
              <a:rPr lang="en-US" sz="18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tích</a:t>
            </a:r>
            <a:r>
              <a:rPr lang="en-US" sz="18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18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vì</a:t>
            </a: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r>
              <a:rPr lang="en-US" sz="18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18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(giải</a:t>
            </a:r>
            <a:r>
              <a:rPr lang="en-US" sz="18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18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18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18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viết)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6669" rIns="0" bIns="-16669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nói</a:t>
            </a:r>
            <a:r>
              <a:rPr lang="en-US" sz="21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1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1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nghệ</a:t>
            </a:r>
            <a:r>
              <a:rPr lang="en-US" sz="21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nói chung,</a:t>
            </a:r>
            <a:r>
              <a:rPr lang="en-US" sz="21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1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mạng</a:t>
            </a:r>
            <a:r>
              <a:rPr lang="en-US" sz="21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xã</a:t>
            </a:r>
            <a:r>
              <a:rPr lang="en-US" sz="21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hội</a:t>
            </a:r>
            <a:r>
              <a:rPr lang="en-US" sz="21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[S3]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839530" y="9545909"/>
            <a:ext cx="148683" cy="148683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0" name="Shape 48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32/41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295e3029-ecd0-42c7-937f-ea3da7ef7c2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57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57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1C4236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Cho</a:t>
            </a:r>
            <a:r>
              <a:rPr lang="en-US" sz="42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42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7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31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1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31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1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1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 trạng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 khỏe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âm</a:t>
            </a:r>
            <a:r>
              <a:rPr lang="en-US" sz="31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4A2A24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420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42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31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31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mạnh;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31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31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hại;</a:t>
            </a:r>
            <a:r>
              <a:rPr lang="en-US" sz="31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1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1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1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Mức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trung bình</a:t>
            </a:r>
            <a:r>
              <a:rPr lang="en-US" sz="28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</a:t>
            </a:r>
            <a:r>
              <a:rPr lang="en-US" sz="285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loại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trừ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28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chịu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ảnh</a:t>
            </a:r>
            <a:r>
              <a:rPr lang="en-US" sz="28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hưởng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lớn hơn: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suy luận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8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062554" y="9545909"/>
            <a:ext cx="148683" cy="148683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7" name="Shape 45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33/41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7" name="Moda image moda-export-watermark-341a62ae-25e4-42d5-b66d-6142cb5a603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57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57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57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38125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422" dirty="0"/>
          </a:p>
        </p:txBody>
      </p:sp>
      <p:sp>
        <p:nvSpPr>
          <p:cNvPr id="4" name="Shape 2"/>
          <p:cNvSpPr/>
          <p:nvPr/>
        </p:nvSpPr>
        <p:spPr>
          <a:xfrm>
            <a:off x="2724150" y="247650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47650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Hướng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quả: dữ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tương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quan,</a:t>
            </a:r>
            <a:r>
              <a:rPr lang="en-US" sz="24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cái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24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gây</a:t>
            </a:r>
            <a:r>
              <a:rPr lang="en-US" sz="24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cái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 [S3]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347662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422" dirty="0"/>
          </a:p>
        </p:txBody>
      </p:sp>
      <p:sp>
        <p:nvSpPr>
          <p:cNvPr id="7" name="Shape 5"/>
          <p:cNvSpPr/>
          <p:nvPr/>
        </p:nvSpPr>
        <p:spPr>
          <a:xfrm>
            <a:off x="2724150" y="357187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357187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Mạng</a:t>
            </a:r>
            <a:r>
              <a:rPr lang="en-US" sz="22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xã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hội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riêng,</a:t>
            </a:r>
            <a:r>
              <a:rPr lang="en-US" sz="2250" dirty="0" spc="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năng:</a:t>
            </a:r>
            <a:r>
              <a:rPr lang="en-US" sz="22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tóm</a:t>
            </a:r>
            <a:r>
              <a:rPr lang="en-US" sz="22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nói</a:t>
            </a:r>
            <a:r>
              <a:rPr lang="en-US" sz="22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nghệ số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nói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[S3]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14400" y="457200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422" dirty="0"/>
          </a:p>
        </p:txBody>
      </p:sp>
      <p:sp>
        <p:nvSpPr>
          <p:cNvPr id="10" name="Shape 8"/>
          <p:cNvSpPr/>
          <p:nvPr/>
        </p:nvSpPr>
        <p:spPr>
          <a:xfrm>
            <a:off x="2724150" y="466725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466725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Nhóm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nhỏ: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trung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bình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che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chịu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ảnh</a:t>
            </a:r>
            <a:r>
              <a:rPr lang="en-US" sz="22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hưởng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lớn hơn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(suy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2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viết)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14400" y="566737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422" dirty="0"/>
          </a:p>
        </p:txBody>
      </p:sp>
      <p:sp>
        <p:nvSpPr>
          <p:cNvPr id="13" name="Shape 11"/>
          <p:cNvSpPr/>
          <p:nvPr/>
        </p:nvSpPr>
        <p:spPr>
          <a:xfrm>
            <a:off x="2724150" y="576262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576262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Tranh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luận:</a:t>
            </a:r>
            <a:r>
              <a:rPr lang="en-US" sz="22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bình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phản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biện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bố</a:t>
            </a:r>
            <a:r>
              <a:rPr lang="en-US" sz="225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17/4/2020;</a:t>
            </a:r>
            <a:r>
              <a:rPr lang="en-US" sz="22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22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2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14400" y="676275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6422" dirty="0"/>
          </a:p>
        </p:txBody>
      </p:sp>
      <p:sp>
        <p:nvSpPr>
          <p:cNvPr id="16" name="Shape 14"/>
          <p:cNvSpPr/>
          <p:nvPr/>
        </p:nvSpPr>
        <p:spPr>
          <a:xfrm>
            <a:off x="2724150" y="685800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3105150" y="685800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Cầu nối: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nghiên</a:t>
            </a:r>
            <a:r>
              <a:rPr lang="en-US" sz="2550" dirty="0" spc="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</a:t>
            </a: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mạng</a:t>
            </a:r>
            <a:r>
              <a:rPr lang="en-US" sz="2550" dirty="0" spc="-3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xã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hội</a:t>
            </a:r>
            <a:r>
              <a:rPr lang="en-US" sz="25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 không</a:t>
            </a:r>
            <a:r>
              <a:rPr lang="en-US" sz="25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hại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[S2]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[S4]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785812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6422" dirty="0"/>
          </a:p>
        </p:txBody>
      </p:sp>
      <p:sp>
        <p:nvSpPr>
          <p:cNvPr id="19" name="Shape 17"/>
          <p:cNvSpPr/>
          <p:nvPr/>
        </p:nvSpPr>
        <p:spPr>
          <a:xfrm>
            <a:off x="2724150" y="795337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5150" y="795337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lớn</a:t>
            </a:r>
            <a:r>
              <a:rPr lang="en-US" sz="27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 năm: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7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 cho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285578" y="9545909"/>
            <a:ext cx="148683" cy="148683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6" name="Shape 54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34/41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1c460c74-0004-4138-b3fb-5360856fe6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57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</a:t>
            </a:r>
            <a:r>
              <a:rPr lang="en-US" sz="57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xã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Sherman</a:t>
            </a:r>
            <a:r>
              <a:rPr lang="en-US" sz="300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2016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phỏng;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hại [S2]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Brady</a:t>
            </a:r>
            <a:r>
              <a:rPr lang="en-US" sz="300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2017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Twitter;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hại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Orben</a:t>
            </a:r>
            <a:r>
              <a:rPr lang="en-US" sz="30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2019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lớn;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âm,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7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0,4%;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71628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71628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1628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Schultz,</a:t>
            </a:r>
            <a:r>
              <a:rPr lang="en-US" sz="300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Corbetta,</a:t>
            </a:r>
            <a:r>
              <a:rPr lang="en-US" sz="300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Berridge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71628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(linh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trưởng,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chuột); không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70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 [S7]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508602" y="9545909"/>
            <a:ext cx="148683" cy="148683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5" name="Shape 53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35/41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3" name="Moda image moda-export-watermark-7d41ffc3-17d5-472d-8aef-992c0a8453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57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gợi</a:t>
            </a:r>
            <a:r>
              <a:rPr lang="en-US" sz="57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ý,</a:t>
            </a:r>
            <a:r>
              <a:rPr lang="en-US" sz="57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đều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suy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Kích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nổi</a:t>
            </a:r>
            <a:r>
              <a:rPr lang="en-US" sz="22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25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 ý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[S6];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511492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511492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549592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549592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700" b="1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5495925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Hẹn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550" dirty="0" spc="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việc;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</a:t>
            </a: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4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1545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931545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969645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969645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9696450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“Muốn”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“thích”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[S7];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40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4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351597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19" name="Shape 17"/>
          <p:cNvSpPr/>
          <p:nvPr/>
        </p:nvSpPr>
        <p:spPr>
          <a:xfrm>
            <a:off x="1351597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20" name="Text 18"/>
          <p:cNvSpPr/>
          <p:nvPr/>
        </p:nvSpPr>
        <p:spPr>
          <a:xfrm>
            <a:off x="1389697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1389697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Chậm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3896975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đạo</a:t>
            </a:r>
            <a:r>
              <a:rPr lang="en-US" sz="25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đức-cảm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xúc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 [S7]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731626" y="9545909"/>
            <a:ext cx="148683" cy="148683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60" name="Shape 58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36/41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7" name="Moda image moda-export-watermark-fa4a1c85-35f8-40a1-aa6c-15c2b3746bc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57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gợi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suy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</a:t>
            </a:r>
            <a:r>
              <a:rPr lang="en-US" sz="28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8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thử nghiệm: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thiện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tinh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“Có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giúp”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giả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850" b="1" dirty="0" spc="-3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8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850" b="1" dirty="0" spc="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trông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 mỗi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 thẳng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8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8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L10;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8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luận.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huynh.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Mức</a:t>
            </a:r>
            <a:r>
              <a:rPr lang="en-US" sz="195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bằng</a:t>
            </a:r>
            <a:r>
              <a:rPr lang="en-US" sz="1950" dirty="0" spc="1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chứng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suy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 từ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Hướng</a:t>
            </a:r>
            <a:r>
              <a:rPr lang="en-US" sz="19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chung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sửa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môi</a:t>
            </a:r>
            <a:r>
              <a:rPr lang="en-US" sz="24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trường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quanh</a:t>
            </a:r>
            <a:r>
              <a:rPr lang="en-US" sz="24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mình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ai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954650" y="9545909"/>
            <a:ext cx="148683" cy="148683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4" name="Shape 52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37/41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0" name="Moda image moda-export-watermark-842c932f-115d-4873-9914-5b718060df2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57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vòng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57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57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bấm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3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Dừng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nhịp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thấy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27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gây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phẫn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nộ</a:t>
            </a:r>
            <a:endParaRPr lang="en-US" sz="2700" dirty="0"/>
          </a:p>
        </p:txBody>
      </p:sp>
      <p:sp>
        <p:nvSpPr>
          <p:cNvPr id="7" name="Connector line-1792617206266-115124624"/>
          <p:cNvSpPr/>
          <p:nvPr/>
        </p:nvSpPr>
        <p:spPr>
          <a:xfrm>
            <a:off x="461010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20065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3714750"/>
            <a:ext cx="647700" cy="6477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50545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Hỏi: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mình</a:t>
            </a:r>
            <a:r>
              <a:rPr lang="en-US" sz="27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đang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muốn</a:t>
            </a: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đang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thích?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[S7]</a:t>
            </a:r>
            <a:endParaRPr lang="en-US" sz="2700" dirty="0"/>
          </a:p>
        </p:txBody>
      </p:sp>
      <p:sp>
        <p:nvSpPr>
          <p:cNvPr id="12" name="Connector line-1792617206269-14087975"/>
          <p:cNvSpPr/>
          <p:nvPr/>
        </p:nvSpPr>
        <p:spPr>
          <a:xfrm>
            <a:off x="8886825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477375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63125" y="3714750"/>
            <a:ext cx="647700" cy="6477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97631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782175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Hỏi: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nội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dung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này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mình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phẫn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nộ,</a:t>
            </a:r>
            <a:r>
              <a:rPr lang="en-US" sz="27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vì sao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mình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muốn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sẻ?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[S4]</a:t>
            </a:r>
            <a:endParaRPr lang="en-US" sz="2700" dirty="0"/>
          </a:p>
        </p:txBody>
      </p:sp>
      <p:sp>
        <p:nvSpPr>
          <p:cNvPr id="17" name="Connector line-1792617206271-448636014"/>
          <p:cNvSpPr/>
          <p:nvPr/>
        </p:nvSpPr>
        <p:spPr>
          <a:xfrm>
            <a:off x="1316355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37541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039850" y="371475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0" name="Text 18"/>
          <p:cNvSpPr/>
          <p:nvPr/>
        </p:nvSpPr>
        <p:spPr>
          <a:xfrm>
            <a:off x="140398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40589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Đặt</a:t>
            </a:r>
            <a:r>
              <a:rPr lang="en-US" sz="27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r>
              <a:rPr lang="en-US" sz="2700" dirty="0" spc="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dừng:</a:t>
            </a:r>
            <a:r>
              <a:rPr lang="en-US" sz="270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xong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7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đóng</a:t>
            </a:r>
            <a:r>
              <a:rPr lang="en-US" sz="2700" dirty="0" spc="3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dụng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177674" y="9545909"/>
            <a:ext cx="148683" cy="148683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61" name="Shape 59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38/41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a29d8193-8ea4-4894-84cc-c46606bd08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3812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745" dirty="0"/>
          </a:p>
        </p:txBody>
      </p:sp>
      <p:sp>
        <p:nvSpPr>
          <p:cNvPr id="4" name="Shape 2"/>
          <p:cNvSpPr/>
          <p:nvPr/>
        </p:nvSpPr>
        <p:spPr>
          <a:xfrm>
            <a:off x="2724150" y="24765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4765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Cơ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30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thưởng,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ý,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ảnh</a:t>
            </a:r>
            <a:r>
              <a:rPr lang="en-US" sz="30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hưởng</a:t>
            </a:r>
            <a:r>
              <a:rPr lang="en-US" sz="3000" dirty="0" spc="-3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xã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hội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thật,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lớn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nghiên</a:t>
            </a:r>
            <a:r>
              <a:rPr lang="en-US" sz="3000" dirty="0" spc="3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</a:t>
            </a: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ngoài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mạng</a:t>
            </a:r>
            <a:r>
              <a:rPr lang="en-US" sz="3000" dirty="0" spc="-3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xã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hội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[S5]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[S6]</a:t>
            </a:r>
            <a:r>
              <a:rPr lang="en-US" sz="30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[S7]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36766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745" dirty="0"/>
          </a:p>
        </p:txBody>
      </p:sp>
      <p:sp>
        <p:nvSpPr>
          <p:cNvPr id="7" name="Shape 5"/>
          <p:cNvSpPr/>
          <p:nvPr/>
        </p:nvSpPr>
        <p:spPr>
          <a:xfrm>
            <a:off x="2724150" y="37719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37719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Thí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nghiệm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mô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phỏng: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thiếu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niên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bấm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đông; fMRI</a:t>
            </a:r>
            <a:r>
              <a:rPr lang="en-US" sz="300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oxy</a:t>
            </a:r>
            <a:r>
              <a:rPr lang="en-US" sz="30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máu,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dopamine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[S2]</a:t>
            </a:r>
            <a:r>
              <a:rPr lang="en-US" sz="300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[S8]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49720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745" dirty="0"/>
          </a:p>
        </p:txBody>
      </p:sp>
      <p:sp>
        <p:nvSpPr>
          <p:cNvPr id="10" name="Shape 8"/>
          <p:cNvSpPr/>
          <p:nvPr/>
        </p:nvSpPr>
        <p:spPr>
          <a:xfrm>
            <a:off x="2724150" y="50673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0673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Dữ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3000" dirty="0" spc="-4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Twitter:</a:t>
            </a:r>
            <a:r>
              <a:rPr lang="en-US" sz="30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ngôn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300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đạo</a:t>
            </a:r>
            <a:r>
              <a:rPr lang="en-US" sz="30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đức-cảm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xúc</a:t>
            </a:r>
            <a:r>
              <a:rPr lang="en-US" sz="3000" dirty="0" spc="3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lượt</a:t>
            </a:r>
            <a:r>
              <a:rPr lang="en-US" sz="30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hơn;</a:t>
            </a:r>
            <a:r>
              <a:rPr lang="en-US" sz="300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 quan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sát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[S4]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62674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7745" dirty="0"/>
          </a:p>
        </p:txBody>
      </p:sp>
      <p:sp>
        <p:nvSpPr>
          <p:cNvPr id="13" name="Shape 11"/>
          <p:cNvSpPr/>
          <p:nvPr/>
        </p:nvSpPr>
        <p:spPr>
          <a:xfrm>
            <a:off x="2724150" y="63627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63627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Dùng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 nghệ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trạng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khỏe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mạnh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thiếu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niên: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liên</a:t>
            </a: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âm</a:t>
            </a:r>
            <a:r>
              <a:rPr lang="en-US" sz="3000" dirty="0" spc="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nhưng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nhỏ,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tối</a:t>
            </a:r>
            <a:r>
              <a:rPr lang="en-US" sz="3000" dirty="0" spc="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0,4%; nhân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r>
              <a:rPr lang="en-US" sz="3000" dirty="0" spc="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3000" dirty="0" spc="-2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rõ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[S3]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4400" y="75628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7745" dirty="0"/>
          </a:p>
        </p:txBody>
      </p:sp>
      <p:sp>
        <p:nvSpPr>
          <p:cNvPr id="16" name="Shape 14"/>
          <p:cNvSpPr/>
          <p:nvPr/>
        </p:nvSpPr>
        <p:spPr>
          <a:xfrm>
            <a:off x="2724150" y="76581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3105150" y="76581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Phần nối từ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sang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năng,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gợi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30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vệ,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lớn là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suy luận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 [S7]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400698" y="9545909"/>
            <a:ext cx="148683" cy="148683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8" name="Shape 56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Text 58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39/41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2" name="Moda image moda-export-watermark-0507530f-a12d-4ff2-b296-031db4a634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Lưu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nhằm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3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khuyên</a:t>
            </a:r>
            <a:r>
              <a:rPr lang="en-US" sz="69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</a:t>
            </a:r>
            <a:r>
              <a:rPr lang="en-US" sz="6900" dirty="0" spc="-2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tế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chẩn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85900" y="742950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coi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bệnh,</a:t>
            </a:r>
            <a:r>
              <a:rPr lang="en-US" sz="25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“nghiện”</a:t>
            </a:r>
            <a:r>
              <a:rPr lang="en-US" sz="2550" dirty="0" spc="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chẩn</a:t>
            </a:r>
            <a:r>
              <a:rPr lang="en-US" sz="25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485900" y="809625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27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ngủ,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âu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buồn</a:t>
            </a:r>
            <a:r>
              <a:rPr lang="en-US" sz="2700" dirty="0" spc="-3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7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hãy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7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bác sĩ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7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9623722" y="9545909"/>
            <a:ext cx="148683" cy="148683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7" name="Shape 45"/>
          <p:cNvSpPr/>
          <p:nvPr/>
        </p:nvSpPr>
        <p:spPr>
          <a:xfrm>
            <a:off x="9865331" y="9564494"/>
            <a:ext cx="111512" cy="111512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40/41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06d7648f-c7d5-41f5-8c55-93342ba6e7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571750"/>
            <a:ext cx="8039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2571750"/>
            <a:ext cx="8763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2057400" y="2571750"/>
            <a:ext cx="6667500" cy="13335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Meshi,</a:t>
            </a:r>
            <a:r>
              <a:rPr lang="en-US" sz="21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Tamir,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Heekeren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2015, The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emerging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neuroscience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social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media,</a:t>
            </a:r>
            <a:r>
              <a:rPr lang="en-US" sz="210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Trends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Cogn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Sci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14400" y="4019550"/>
            <a:ext cx="8039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4019550"/>
            <a:ext cx="8763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S2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2057400" y="4019550"/>
            <a:ext cx="6667500" cy="13335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Sherman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2016,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power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Like</a:t>
            </a: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adolescence,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Psychological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Science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5467350"/>
            <a:ext cx="8039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5467350"/>
            <a:ext cx="8763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S3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2057400" y="5467350"/>
            <a:ext cx="6667500" cy="13335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Orben,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Przybylski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2019, The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association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between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adolescent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well-being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digital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technology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6915150"/>
            <a:ext cx="8039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6915150"/>
            <a:ext cx="8763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S4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2057400" y="6915150"/>
            <a:ext cx="6667500" cy="13335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Brady và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2017,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Emotion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shapes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diffusion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moralized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content,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PNAS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334500" y="2571750"/>
            <a:ext cx="8039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9563100" y="2571750"/>
            <a:ext cx="8763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S5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0477500" y="2571750"/>
            <a:ext cx="6667500" cy="13335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Schultz,</a:t>
            </a:r>
            <a:r>
              <a:rPr lang="en-US" sz="21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Dayan,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Montague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1997,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neural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substrate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prediction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210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Science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334500" y="4019550"/>
            <a:ext cx="8039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9563100" y="4019550"/>
            <a:ext cx="8763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S6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0477500" y="4019550"/>
            <a:ext cx="6667500" cy="13335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Corbetta,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Shulman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2002,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21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goal-directed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stimulus-driven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attention,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</a:t>
            </a:r>
            <a:r>
              <a:rPr lang="en-US" sz="210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334500" y="5467350"/>
            <a:ext cx="8039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9563100" y="5467350"/>
            <a:ext cx="8763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S7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0477500" y="5467350"/>
            <a:ext cx="6667500" cy="13335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Berridge,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Robinson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1998,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What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role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 dopamine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10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reward,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Brain</a:t>
            </a:r>
            <a:r>
              <a:rPr lang="en-US" sz="21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</a:t>
            </a:r>
            <a:r>
              <a:rPr lang="en-US" sz="210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334500" y="6915150"/>
            <a:ext cx="8039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9563100" y="6915150"/>
            <a:ext cx="8763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S8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10477500" y="6915150"/>
            <a:ext cx="6667500" cy="13335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Biological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Psychology,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 mục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4.5</a:t>
            </a:r>
            <a:r>
              <a:rPr lang="en-US" sz="21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(ROTEL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Pressbooks)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4436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16739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39041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61344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83646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05948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28251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50553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72856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95158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17461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39763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62065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84368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06670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28973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51275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73577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95880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18182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404850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627874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850898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073922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296946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51997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74299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96601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18904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41206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63509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85811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08113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30416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52718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50211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73235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196259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419283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642307" y="9564494"/>
            <a:ext cx="111512" cy="111512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846746" y="9545909"/>
            <a:ext cx="148683" cy="148683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8" name="Text 66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41/41</a:t>
            </a:r>
            <a:endParaRPr lang="en-US" sz="1800" dirty="0"/>
          </a:p>
        </p:txBody>
      </p:sp>
      <p:sp>
        <p:nvSpPr>
          <p:cNvPr id="69" name="Shape 6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0" name="Moda image moda-export-watermark-f4b3709b-1f8a-4fd4-8a22-1c0c5653bfe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2026-10-21T21:15:03Z</dcterms:created>
  <dcterms:modified xsi:type="dcterms:W3CDTF">2026-10-21T21:15:03Z</dcterms:modified>
</cp:coreProperties>
</file>