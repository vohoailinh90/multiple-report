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8288000" cy="10287000"/>
  <p:notesSz cx="10287000" cy="18288000"/>
  <p:embeddedFontLst>
    <p:embeddedFont>
      <p:font typeface="Be Vietnam Pro"/>
      <p:regular r:id="rId54"/>
      <p:bold r:id="rId51"/>
    </p:embeddedFont>
    <p:embeddedFont>
      <p:font typeface="Bricolage Grotesque ExtraBold"/>
      <p:regular r:id="rId52"/>
    </p:embeddedFont>
    <p:embeddedFont>
      <p:font typeface="Be Vietnam Pro SemiBold"/>
      <p:regular r:id="rId53"/>
    </p:embeddedFont>
    <p:embeddedFont>
      <p:font typeface="Be Vietnam Pro ExtraBold"/>
      <p:regular r:id="rId55"/>
    </p:embeddedFont>
    <p:embeddedFont>
      <p:font typeface="Be Vietnam Pro Medium"/>
      <p:regular r:id="rId5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font" Target="fonts/font1.fntdata"/><Relationship Id="rId52" Type="http://schemas.openxmlformats.org/officeDocument/2006/relationships/font" Target="fonts/font2.fntdata"/><Relationship Id="rId53" Type="http://schemas.openxmlformats.org/officeDocument/2006/relationships/font" Target="fonts/font3.fntdata"/><Relationship Id="rId54" Type="http://schemas.openxmlformats.org/officeDocument/2006/relationships/font" Target="fonts/font4.fntdata"/><Relationship Id="rId55" Type="http://schemas.openxmlformats.org/officeDocument/2006/relationships/font" Target="fonts/font5.fntdata"/><Relationship Id="rId5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345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252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47775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62075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6685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621000" y="952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764000" y="1047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297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822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25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5730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2550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66850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716250" y="2476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668750" y="2381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29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573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207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573250" y="38100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71625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764000" y="39052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3345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5252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47775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2075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6685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5621000" y="52387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6764000" y="53340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4297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3822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525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5730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52550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66850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5716250" y="676275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6668750" y="666750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29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4775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2573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36207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4573250" y="8096250"/>
            <a:ext cx="381000" cy="381000"/>
          </a:xfrm>
          <a:prstGeom prst="ellipse">
            <a:avLst/>
          </a:prstGeom>
          <a:solidFill>
            <a:srgbClr val="FFB454">
              <a:alpha val="2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571625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6764000" y="8191500"/>
            <a:ext cx="190500" cy="190500"/>
          </a:xfrm>
          <a:prstGeom prst="ellipse">
            <a:avLst/>
          </a:prstGeom>
          <a:solidFill>
            <a:srgbClr val="2C3040">
              <a:alpha val="2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2100" b="1" spc="4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Thuốc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endParaRPr lang="en-US" sz="8100" dirty="0"/>
          </a:p>
        </p:txBody>
      </p:sp>
      <p:sp>
        <p:nvSpPr>
          <p:cNvPr id="52" name="Text 50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Cùng</a:t>
            </a:r>
            <a:r>
              <a:rPr lang="en-US" sz="3300" dirty="0" spc="-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 synapse,</a:t>
            </a:r>
            <a:r>
              <a:rPr lang="en-US" sz="33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 sao</a:t>
            </a:r>
            <a:r>
              <a:rPr lang="en-US" sz="3300" dirty="0" spc="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</a:t>
            </a:r>
            <a:r>
              <a:rPr lang="en-US" sz="33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3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buồn</a:t>
            </a:r>
            <a:r>
              <a:rPr lang="en-US" sz="330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</a:t>
            </a:r>
            <a:r>
              <a:rPr lang="en-US" sz="3300" dirty="0" spc="-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30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 phê</a:t>
            </a:r>
            <a:r>
              <a:rPr lang="en-US" sz="33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3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tỉnh?</a:t>
            </a:r>
            <a:endParaRPr lang="en-US" sz="3300" dirty="0"/>
          </a:p>
        </p:txBody>
      </p:sp>
      <p:sp>
        <p:nvSpPr>
          <p:cNvPr id="53" name="Shape 51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Rượu: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endParaRPr lang="en-US" sz="2550" dirty="0"/>
          </a:p>
        </p:txBody>
      </p:sp>
      <p:sp>
        <p:nvSpPr>
          <p:cNvPr id="55" name="Shape 53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Caffeine</a:t>
            </a:r>
            <a:endParaRPr lang="en-US" sz="2550" dirty="0"/>
          </a:p>
        </p:txBody>
      </p:sp>
      <p:sp>
        <p:nvSpPr>
          <p:cNvPr id="57" name="Shape 55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</a:t>
            </a:r>
            <a:endParaRPr lang="en-US" sz="2550" dirty="0"/>
          </a:p>
        </p:txBody>
      </p:sp>
      <p:sp>
        <p:nvSpPr>
          <p:cNvPr id="59" name="Shape 57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Opioid</a:t>
            </a:r>
            <a:endParaRPr lang="en-US" sz="255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2915540b-057a-4740-981e-79c34dc3d9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2766" rIns="0" bIns="-32766" rtlCol="0" anchor="ctr"/>
          <a:lstStyle/>
          <a:p>
            <a:pPr algn="l" indent="0" marL="0">
              <a:lnSpc>
                <a:spcPts val="7224"/>
              </a:lnSpc>
              <a:buNone/>
            </a:pPr>
            <a:r>
              <a:rPr lang="en-US" sz="6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45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4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synapse,</a:t>
            </a:r>
            <a:r>
              <a:rPr lang="en-US" sz="645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45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rượu</a:t>
            </a:r>
            <a:r>
              <a:rPr lang="en-US" sz="6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45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buồn</a:t>
            </a:r>
            <a:r>
              <a:rPr lang="en-US" sz="6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ngủ,</a:t>
            </a:r>
            <a:r>
              <a:rPr lang="en-US" sz="6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</a:t>
            </a:r>
            <a:r>
              <a:rPr lang="en-US" sz="6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phê</a:t>
            </a:r>
            <a:r>
              <a:rPr lang="en-US" sz="6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tỉnh, còn</a:t>
            </a:r>
            <a:r>
              <a:rPr lang="en-US" sz="6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</a:t>
            </a:r>
            <a:r>
              <a:rPr lang="en-US" sz="645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thuốc</a:t>
            </a:r>
            <a:r>
              <a:rPr lang="en-US" sz="6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phiện</a:t>
            </a:r>
            <a:r>
              <a:rPr lang="en-US" sz="645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</a:t>
            </a:r>
            <a:r>
              <a:rPr lang="en-US" sz="6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6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224"/>
              </a:lnSpc>
              <a:buNone/>
            </a:pPr>
            <a:r>
              <a:rPr lang="en-US" sz="6450" dirty="0" spc="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những</a:t>
            </a:r>
            <a:r>
              <a:rPr lang="en-US" sz="6450" dirty="0" spc="-6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45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4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hẳn</a:t>
            </a:r>
            <a:pPr algn="l" indent="0" marL="0">
              <a:lnSpc>
                <a:spcPts val="7224"/>
              </a:lnSpc>
              <a:buNone/>
            </a:pPr>
            <a:r>
              <a:rPr lang="en-US" sz="6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8671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Shape 6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02/44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f253ac5f-358d-4494-b78b-b0026061bc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chất,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Rượu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NMDA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Caffeine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chiếm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thụ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adenosine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THC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CB1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Opioid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mu,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delta,</a:t>
            </a:r>
            <a:r>
              <a:rPr lang="en-US" sz="25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kappa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46489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03/44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62f7f07e-f61d-4815-85be-3bd485bd82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suốt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Bốn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chất,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30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 nhau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Mạch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30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giống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hệt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nghi; dung nạp,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chất,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</a:t>
            </a:r>
            <a:r>
              <a:rPr lang="en-US" sz="30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cai</a:t>
            </a:r>
            <a:r>
              <a:rPr lang="en-US" sz="30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rối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 [S12] [S13]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54307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04/44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b44dc93b-0f5d-451e-82ce-582b275ea4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 vào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uống,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hít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tiêm;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endParaRPr lang="en-US" sz="2700" dirty="0"/>
          </a:p>
        </p:txBody>
      </p:sp>
      <p:sp>
        <p:nvSpPr>
          <p:cNvPr id="7" name="Connector line-1792652069585-152561246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Máu: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chở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nơi,</a:t>
            </a:r>
            <a:r>
              <a:rPr lang="en-US" sz="270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700" dirty="0"/>
          </a:p>
        </p:txBody>
      </p:sp>
      <p:sp>
        <p:nvSpPr>
          <p:cNvPr id="12" name="Connector line-1792652069589-822977561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Não: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(thụ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enzyme,</a:t>
            </a: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kênh)</a:t>
            </a:r>
            <a:endParaRPr lang="en-US" sz="2550" dirty="0"/>
          </a:p>
        </p:txBody>
      </p:sp>
      <p:sp>
        <p:nvSpPr>
          <p:cNvPr id="17" name="Connector line-1792652069594-536945434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Synapse: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 hiệu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đổi,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endParaRPr lang="en-US" sz="2700" dirty="0"/>
          </a:p>
        </p:txBody>
      </p:sp>
      <p:sp>
        <p:nvSpPr>
          <p:cNvPr id="22" name="Connector line-1792652069599-314071837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Gan: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enzyme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giải;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gan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enzyme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6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aab7a8f3-235f-4b33-9ebf-430171d1d1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57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57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tốc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Dược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(pharmacokinetics)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hấp thu,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bố,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máu;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uống chậm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hít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tiêm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 mạch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não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trọng: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</a:t>
            </a:r>
            <a:r>
              <a:rPr lang="en-US" sz="28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lạm dụng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thành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thèm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Rượu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máu,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 vài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595312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1950" dirty="0" spc="1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6410325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69944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3a5c39ad-1207-43d1-8726-6a81fbefa1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ADME: bốn việc cơ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Absorption,</a:t>
            </a:r>
            <a:r>
              <a:rPr lang="en-US" sz="30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hấp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Distribution,</a:t>
            </a: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30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bố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Metabolism,</a:t>
            </a:r>
            <a:r>
              <a:rPr lang="en-US" sz="3000" dirty="0" spc="-1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chuyển</a:t>
            </a:r>
            <a:r>
              <a:rPr lang="en-US" sz="30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hóa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enzyme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P450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Excretion,</a:t>
            </a:r>
            <a:r>
              <a:rPr lang="en-US" sz="3000" dirty="0" spc="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đào</a:t>
            </a: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thải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thể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77762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1b9d22f0-7cae-4e89-940b-c76b42062c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chen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synapse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076325"/>
          </a:xfrm>
          <a:prstGeom prst="roundRect">
            <a:avLst>
              <a:gd name="adj" fmla="val 19469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vận: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 thụ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(opioid)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086225"/>
            <a:ext cx="15125700" cy="1076325"/>
          </a:xfrm>
          <a:prstGeom prst="roundRect">
            <a:avLst>
              <a:gd name="adj" fmla="val 19469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086225"/>
            <a:ext cx="14363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kháng: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 thụ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(caffeine)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314950"/>
            <a:ext cx="13792200" cy="1076325"/>
          </a:xfrm>
          <a:prstGeom prst="roundRect">
            <a:avLst>
              <a:gd name="adj" fmla="val 19469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314950"/>
            <a:ext cx="13030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biến: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(rượu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GABA)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6543675"/>
            <a:ext cx="12458700" cy="1076325"/>
          </a:xfrm>
          <a:prstGeom prst="roundRect">
            <a:avLst>
              <a:gd name="adj" fmla="val 19469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6543675"/>
            <a:ext cx="11696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enzyme: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(thuốc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L12)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581400" y="7772400"/>
            <a:ext cx="11125200" cy="1076325"/>
          </a:xfrm>
          <a:prstGeom prst="roundRect">
            <a:avLst>
              <a:gd name="adj" fmla="val 19469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2400" y="7772400"/>
            <a:ext cx="10363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tiếp: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(cần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opioid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thưởng)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85581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e1b91b6b-f0ff-4f5d-8697-9b6ff57b93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synapse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chen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52145391-4654208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56892" y="2438400"/>
            <a:ext cx="5268516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Media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Attributions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Presynaptic</a:t>
            </a:r>
            <a:r>
              <a:rPr lang="en-US" sz="2187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cell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nơron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Reuptake</a:t>
            </a:r>
            <a:r>
              <a:rPr lang="en-US" sz="2187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inhibitor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Receptor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thụ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F3DFB8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synapse: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</a:t>
            </a:r>
            <a:pPr algn="l" indent="0" marL="0">
              <a:lnSpc>
                <a:spcPts val="2730"/>
              </a:lnSpc>
              <a:buNone/>
            </a:pPr>
            <a:r>
              <a:rPr lang="en-US" sz="21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presynaptic</a:t>
            </a:r>
            <a:r>
              <a:rPr lang="en-US" sz="21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cell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),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túi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truyền,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1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thu hồi.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</a:t>
            </a:r>
            <a:r>
              <a:rPr lang="en-US" sz="21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L12, không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bài;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chỉ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 thiệp.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93399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7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09/44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f6aaf45a-00b9-40fb-ba7e-0f8acce8c86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Rượu: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r>
              <a:rPr lang="en-US" sz="210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(nhóm)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Chất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thần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giáo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trình;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giai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đoạn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Đích</a:t>
            </a: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tử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Gắn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thụ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acetylcholine,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serotonin,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GABA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NMDA;</a:t>
            </a:r>
            <a:r>
              <a:rPr lang="en-US" sz="25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màng,</a:t>
            </a:r>
            <a:r>
              <a:rPr lang="en-US" sz="2550" dirty="0" spc="-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kênh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ion,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enzyme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Mạch/vùng</a:t>
            </a:r>
            <a:r>
              <a:rPr lang="en-US" sz="21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 an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thần;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</a:t>
            </a:r>
            <a:r>
              <a:rPr lang="en-US" sz="24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thưởng,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40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vẻ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enzyme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phân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Tác</a:t>
            </a:r>
            <a:r>
              <a:rPr lang="en-US" sz="21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dụng</a:t>
            </a: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Kênh Cl⁻ của GABA có lẽ mở lâu hơn, NMDA kém kích thích hơn: nơron khó phát xung hơn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Dùng</a:t>
            </a:r>
            <a:r>
              <a:rPr lang="en-US" sz="18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lâu:</a:t>
            </a:r>
            <a:r>
              <a:rPr lang="en-US" sz="18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</a:t>
            </a:r>
            <a:r>
              <a:rPr lang="en-US" sz="18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nạp,</a:t>
            </a: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 thuộc,</a:t>
            </a:r>
            <a:r>
              <a:rPr lang="en-US" sz="18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NMDA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nhạy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mức,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GABA</a:t>
            </a:r>
            <a:r>
              <a:rPr lang="en-US" sz="255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kém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nhạy: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nền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hội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cai;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phân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[S2]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2100" dirty="0" spc="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100" dirty="0" spc="1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Đừng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55" rIns="0" bIns="-17755" rtlCol="0" anchor="t"/>
          <a:lstStyle/>
          <a:p>
            <a:pPr algn="l" indent="0" marL="0">
              <a:lnSpc>
                <a:spcPts val="3179"/>
              </a:lnSpc>
              <a:buNone/>
            </a:pPr>
            <a:r>
              <a:rPr lang="en-US" sz="2543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543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khoa</a:t>
            </a:r>
            <a:r>
              <a:rPr lang="en-US" sz="2543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43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khung</a:t>
            </a:r>
            <a:r>
              <a:rPr lang="en-US" sz="2543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chung,</a:t>
            </a:r>
            <a:r>
              <a:rPr lang="en-US" sz="2543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43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</a:t>
            </a:r>
            <a:r>
              <a:rPr lang="en-US" sz="2543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43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</a:t>
            </a:r>
            <a:r>
              <a:rPr lang="en-US" sz="2543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tiết;</a:t>
            </a:r>
            <a:r>
              <a:rPr lang="en-US" sz="2543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rượu</a:t>
            </a:r>
            <a:r>
              <a:rPr lang="en-US" sz="2543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43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 là</a:t>
            </a:r>
            <a:r>
              <a:rPr lang="en-US" sz="2543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43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 thích </a:t>
            </a:r>
            <a:pPr algn="l" indent="0" marL="0">
              <a:lnSpc>
                <a:spcPts val="3179"/>
              </a:lnSpc>
              <a:buNone/>
            </a:pPr>
            <a:r>
              <a:rPr lang="en-US" sz="2543" dirty="0" spc="5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43" dirty="0" spc="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[S3]</a:t>
            </a:r>
            <a:endParaRPr lang="en-US" sz="2543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01217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6afcc7eb-89c1-436c-b28a-4b40456ec6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GABA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rượu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562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562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Rượu</a:t>
            </a:r>
            <a:endParaRPr lang="en-US" sz="2550" dirty="0"/>
          </a:p>
        </p:txBody>
      </p:sp>
      <p:sp>
        <p:nvSpPr>
          <p:cNvPr id="5" name="Connector line-1792652147362-231383603"/>
          <p:cNvSpPr/>
          <p:nvPr/>
        </p:nvSpPr>
        <p:spPr>
          <a:xfrm>
            <a:off x="36576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0485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GABA</a:t>
            </a:r>
            <a:endParaRPr lang="en-US" sz="2550" dirty="0"/>
          </a:p>
        </p:txBody>
      </p:sp>
      <p:sp>
        <p:nvSpPr>
          <p:cNvPr id="8" name="Connector line-1792652147364-398470513"/>
          <p:cNvSpPr/>
          <p:nvPr/>
        </p:nvSpPr>
        <p:spPr>
          <a:xfrm>
            <a:off x="91440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534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34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Nơron</a:t>
            </a:r>
            <a:r>
              <a:rPr lang="en-US" sz="255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sau</a:t>
            </a:r>
            <a:endParaRPr lang="en-US" sz="2550" dirty="0"/>
          </a:p>
        </p:txBody>
      </p:sp>
      <p:sp>
        <p:nvSpPr>
          <p:cNvPr id="11" name="Connector line-1792652147366-29531348"/>
          <p:cNvSpPr/>
          <p:nvPr/>
        </p:nvSpPr>
        <p:spPr>
          <a:xfrm>
            <a:off x="14630400" y="3562350"/>
            <a:ext cx="0" cy="5391150"/>
          </a:xfrm>
          <a:prstGeom prst="line">
            <a:avLst/>
          </a:prstGeom>
          <a:noFill/>
          <a:ln w="3810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Connector line-1792652147366-556540428"/>
          <p:cNvSpPr/>
          <p:nvPr/>
        </p:nvSpPr>
        <p:spPr>
          <a:xfrm>
            <a:off x="9144000" y="4667250"/>
            <a:ext cx="54864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239250" y="3867150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rượu: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endParaRPr lang="en-US" sz="2250" dirty="0"/>
          </a:p>
        </p:txBody>
      </p:sp>
      <p:sp>
        <p:nvSpPr>
          <p:cNvPr id="14" name="Connector line-1792652147369-472996624"/>
          <p:cNvSpPr/>
          <p:nvPr/>
        </p:nvSpPr>
        <p:spPr>
          <a:xfrm>
            <a:off x="9144000" y="5438775"/>
            <a:ext cx="5486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239250" y="4638675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 Ion Cl⁻ mang điện âm đi vào nơron sau</a:t>
            </a:r>
            <a:endParaRPr lang="en-US" sz="2250" dirty="0"/>
          </a:p>
        </p:txBody>
      </p:sp>
      <p:sp>
        <p:nvSpPr>
          <p:cNvPr id="16" name="Connector line-1792652147374-80257120"/>
          <p:cNvSpPr/>
          <p:nvPr/>
        </p:nvSpPr>
        <p:spPr>
          <a:xfrm>
            <a:off x="14630400" y="5686425"/>
            <a:ext cx="0" cy="8572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677400" y="5686425"/>
            <a:ext cx="4724400" cy="85725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ctr"/>
          <a:lstStyle/>
          <a:p>
            <a:pPr algn="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kích thích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hơn: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2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endParaRPr lang="en-US" sz="2250" dirty="0"/>
          </a:p>
        </p:txBody>
      </p:sp>
      <p:sp>
        <p:nvSpPr>
          <p:cNvPr id="18" name="Connector line-1792652147377-358921819"/>
          <p:cNvSpPr/>
          <p:nvPr/>
        </p:nvSpPr>
        <p:spPr>
          <a:xfrm>
            <a:off x="3657600" y="6981825"/>
            <a:ext cx="54864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752850" y="6181725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 Có</a:t>
            </a:r>
            <a:r>
              <a:rPr lang="en-US" sz="22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rượu:</a:t>
            </a: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endParaRPr lang="en-US" sz="2250" dirty="0"/>
          </a:p>
        </p:txBody>
      </p:sp>
      <p:sp>
        <p:nvSpPr>
          <p:cNvPr id="20" name="Connector line-1792652147379-307160849"/>
          <p:cNvSpPr/>
          <p:nvPr/>
        </p:nvSpPr>
        <p:spPr>
          <a:xfrm>
            <a:off x="9144000" y="7753350"/>
            <a:ext cx="54864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239250" y="6953250"/>
            <a:ext cx="52959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5. Giáo trình: kênh có lẽ mở lâu hơn, nhiều Cl⁻ vào hơn</a:t>
            </a:r>
            <a:endParaRPr lang="en-US" sz="2250" dirty="0"/>
          </a:p>
        </p:txBody>
      </p:sp>
      <p:sp>
        <p:nvSpPr>
          <p:cNvPr id="22" name="Connector line-1792652147383-665250105"/>
          <p:cNvSpPr/>
          <p:nvPr/>
        </p:nvSpPr>
        <p:spPr>
          <a:xfrm>
            <a:off x="3657600" y="8524875"/>
            <a:ext cx="109728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752850" y="7724775"/>
            <a:ext cx="10782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6.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Thêm:</a:t>
            </a:r>
            <a:r>
              <a:rPr lang="en-US" sz="22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 dụng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 thích của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glutamate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NMDA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09036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11/44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aabac047-c9d6-4ce2-89f9-47a8d3f90d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Synapse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 trên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652148465-4968556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56828" y="2438400"/>
            <a:ext cx="8611644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sách;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 Hình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(chương 3)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Vesicle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7908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túi</a:t>
            </a: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8290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8290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392430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Synaptic</a:t>
            </a:r>
            <a:r>
              <a:rPr lang="en-US" sz="225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cleft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37197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khe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41020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41020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505450"/>
            <a:ext cx="54483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Receptor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5953125"/>
            <a:ext cx="5448300" cy="762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thụ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1391900" y="6991350"/>
            <a:ext cx="5981700" cy="1352550"/>
          </a:xfrm>
          <a:prstGeom prst="roundRect">
            <a:avLst>
              <a:gd name="adj" fmla="val 14085"/>
            </a:avLst>
          </a:prstGeom>
          <a:solidFill>
            <a:srgbClr val="1E212B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91900" y="6991350"/>
            <a:ext cx="114300" cy="1352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7"/>
          <p:cNvSpPr/>
          <p:nvPr/>
        </p:nvSpPr>
        <p:spPr>
          <a:xfrm>
            <a:off x="11734800" y="6991350"/>
            <a:ext cx="544830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Ở synapse GABA, thụ thể là kênh Cl⁻</a:t>
            </a:r>
            <a:endParaRPr lang="en-US" sz="2550" dirty="0"/>
          </a:p>
        </p:txBody>
      </p:sp>
      <p:sp>
        <p:nvSpPr>
          <p:cNvPr id="21" name="Text 18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216854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1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12/44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2b3cadcb-4e1a-44f3-9812-3aa5d64e1b8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rượu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 dụng</a:t>
            </a:r>
            <a:r>
              <a:rPr lang="en-US" sz="28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rượu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cộng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rượu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clorua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 thể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rượu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glutamate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NMDA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 dopamine,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vẻ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enzyme phân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 thêm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rượu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Giáo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rượu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 NMDA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595312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Giả</a:t>
            </a:r>
            <a:r>
              <a:rPr lang="en-US" sz="1950" dirty="0" spc="-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thuyết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6410325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kênh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(giáo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"probably")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24673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136b5df6-8b65-41fc-8439-639864a7ce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 bằng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rượu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Neuron: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lẫn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nạp</a:t>
            </a:r>
            <a:r>
              <a:rPr lang="en-US" sz="30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Cai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rượu: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glutamate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0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0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47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chuột,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bình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tuần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kiêng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NIAAA: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rối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rối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não; hội</a:t>
            </a:r>
            <a:r>
              <a:rPr lang="en-US" sz="30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cai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thể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dọa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[S14]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32491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14/44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38910340-e0c0-4d7e-869f-733b6650be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Rượu: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9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GABA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NMDA</a:t>
            </a:r>
            <a:r>
              <a:rPr lang="en-US" sz="31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1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NMDA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glutamate,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Gan: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850" dirty="0" spc="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enzyme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rượu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ngừng,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 lộ</a:t>
            </a:r>
            <a:r>
              <a:rPr lang="en-US" sz="28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40309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713dec80-aea2-4c39-a08f-c5bf1e053b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Caffeine: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r>
              <a:rPr lang="en-US" sz="210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(nhóm)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Chất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 thần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kinh trung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ương,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thụ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adenosine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Đích</a:t>
            </a: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tử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Thụ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adenosine; adenosine là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thần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kinh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chậm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Mạch/vùng</a:t>
            </a:r>
            <a:r>
              <a:rPr lang="en-US" sz="21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hoạt;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</a:t>
            </a:r>
            <a:r>
              <a:rPr lang="en-US" sz="2550" dirty="0" spc="-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yên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hormone,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thượng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thận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adrenaline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Tác</a:t>
            </a:r>
            <a:r>
              <a:rPr lang="en-US" sz="21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dụng</a:t>
            </a: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Chiếm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chỗ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adenosine,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phanh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nhiên</a:t>
            </a:r>
            <a:r>
              <a:rPr lang="en-US" sz="25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</a:t>
            </a:r>
            <a:r>
              <a:rPr lang="en-US" sz="2550" dirty="0" spc="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đi,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lên;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adrenaline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chú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Dùng</a:t>
            </a:r>
            <a:r>
              <a:rPr lang="en-US" sz="18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lâu:</a:t>
            </a:r>
            <a:r>
              <a:rPr lang="en-US" sz="18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</a:t>
            </a:r>
            <a:r>
              <a:rPr lang="en-US" sz="18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nạp,</a:t>
            </a: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 thuộc,</a:t>
            </a:r>
            <a:r>
              <a:rPr lang="en-US" sz="18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Dung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nạp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thiểu;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thuộc thể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chất,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cai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(đau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buồn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nôn,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buồn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ngủ)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ngày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2100" dirty="0" spc="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100" dirty="0" spc="1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Đừng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khoa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adenosine;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đang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[S6]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Caffeine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thuốc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48128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c0636d7f-e855-46cb-a5bb-542d95d4c1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tử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caffeine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52281599-4483936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1150" y="2438400"/>
            <a:ext cx="76200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Vaccinationist,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(trang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Commons,</a:t>
            </a:r>
            <a:r>
              <a:rPr lang="en-US" sz="16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2026-10-21)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C,</a:t>
            </a:r>
            <a:r>
              <a:rPr lang="en-US" sz="22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N,</a:t>
            </a:r>
            <a:r>
              <a:rPr lang="en-US" sz="225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carbon,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nitơ,</a:t>
            </a:r>
            <a:r>
              <a:rPr lang="en-US" sz="25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oxy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90900"/>
            <a:ext cx="65913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Hình chỉ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tử, không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5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/>
        </p:spPr>
      </p:sp>
      <p:sp>
        <p:nvSpPr>
          <p:cNvPr id="14" name="Text 11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Caffeine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nhỏ;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thụ</a:t>
            </a:r>
            <a:r>
              <a:rPr lang="en-US" sz="24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adenosine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ít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adenosine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"phanh"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0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phân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255946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0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17/44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7ed13f35-ed39-4e53-9c0b-840d53f5dff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Chiếc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phanh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Adenosine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endParaRPr lang="en-US" sz="2700" dirty="0"/>
          </a:p>
        </p:txBody>
      </p:sp>
      <p:sp>
        <p:nvSpPr>
          <p:cNvPr id="7" name="Connector line-1792652282600-849905932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Hoạt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lại,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buồn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</a:t>
            </a:r>
            <a:endParaRPr lang="en-US" sz="2700" dirty="0"/>
          </a:p>
        </p:txBody>
      </p:sp>
      <p:sp>
        <p:nvSpPr>
          <p:cNvPr id="12" name="Connector line-1792652282604-207924322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Caffeine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 thể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ấy,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endParaRPr lang="en-US" sz="2550" dirty="0"/>
          </a:p>
        </p:txBody>
      </p:sp>
      <p:sp>
        <p:nvSpPr>
          <p:cNvPr id="17" name="Connector line-1792652282608-758386307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Ít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trống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adenosine, phanh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700" dirty="0" spc="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endParaRPr lang="en-US" sz="2700" dirty="0"/>
          </a:p>
        </p:txBody>
      </p:sp>
      <p:sp>
        <p:nvSpPr>
          <p:cNvPr id="22" name="Connector line-1792652282611-828998100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Hoạt</a:t>
            </a:r>
            <a:r>
              <a:rPr lang="en-US" sz="21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1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lên;</a:t>
            </a: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adrenaline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21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1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63764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f3d02d06-e6fd-452d-8707-bf3fad310a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Caffeine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dopamine: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giáo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nêu,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caffeine,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"như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hầu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thuốc",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 khoái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chuột,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caffeine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glutamate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caffeine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 thể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D2/D3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850" b="1" dirty="0" spc="-1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Câu</a:t>
            </a:r>
            <a:r>
              <a:rPr lang="en-US" sz="19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cần</a:t>
            </a:r>
            <a:r>
              <a:rPr lang="en-US" sz="195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kiểm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"như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hầu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thuốc,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caffeine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dopamine"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595312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Nhãn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6410325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thuyết,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71583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55dbc047-4267-499e-89a2-e594a24c83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Chuột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Chuột</a:t>
            </a:r>
            <a:r>
              <a:rPr lang="en-US" sz="4200" dirty="0" spc="-3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(vi</a:t>
            </a: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thấu</a:t>
            </a:r>
            <a:r>
              <a:rPr lang="en-US" sz="4200" dirty="0" spc="-2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</a:t>
            </a:r>
            <a:r>
              <a:rPr lang="en-US" sz="31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glutamate</a:t>
            </a:r>
            <a:r>
              <a:rPr lang="en-US" sz="31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31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1C4236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(PET)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D2/D3</a:t>
            </a:r>
            <a:r>
              <a:rPr lang="en-US" sz="31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bèo</a:t>
            </a:r>
            <a:r>
              <a:rPr lang="en-US" sz="31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sẫm</a:t>
            </a:r>
            <a:r>
              <a:rPr lang="en-US" sz="31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31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</a:t>
            </a:r>
            <a:r>
              <a:rPr lang="en-US" sz="2850" dirty="0" spc="3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85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8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adenosine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79401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f0434a4e-ad85-4bdb-aec1-a0fde398da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THC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endocannabinoid</a:t>
            </a:r>
            <a:endParaRPr lang="en-US" sz="5700" dirty="0"/>
          </a:p>
        </p:txBody>
      </p:sp>
      <p:sp>
        <p:nvSpPr>
          <p:cNvPr id="3" name="Connector line-1792652285317-140193488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14575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Connector line-1792652285317-753169703"/>
          <p:cNvSpPr/>
          <p:nvPr/>
        </p:nvSpPr>
        <p:spPr>
          <a:xfrm flipV="1">
            <a:off x="2562225" y="523875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Giữa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thập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niên 1960: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THC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tách</a:t>
            </a:r>
            <a:r>
              <a:rPr lang="en-US" sz="27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0070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Connector line-1792652285319-603051930"/>
          <p:cNvSpPr/>
          <p:nvPr/>
        </p:nvSpPr>
        <p:spPr>
          <a:xfrm>
            <a:off x="5848350" y="605790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400550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1992: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tách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anandamide từ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lợn,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cannabinoid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Connector line-1792652285321-289215597"/>
          <p:cNvSpPr/>
          <p:nvPr/>
        </p:nvSpPr>
        <p:spPr>
          <a:xfrm flipV="1">
            <a:off x="9144000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6675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Khoảng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THC:</a:t>
            </a:r>
            <a:r>
              <a:rPr lang="en-US" sz="25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CB1, CB2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2-AG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9200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4" name="Connector line-1792652285324-488456794"/>
          <p:cNvSpPr/>
          <p:nvPr/>
        </p:nvSpPr>
        <p:spPr>
          <a:xfrm>
            <a:off x="1243965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2325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2002: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CB1 làm trung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tiểu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nhắt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5478125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Connector line-1792652285326-814178974"/>
          <p:cNvSpPr/>
          <p:nvPr/>
        </p:nvSpPr>
        <p:spPr>
          <a:xfrm flipV="1">
            <a:off x="15725775" y="523875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26845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2020: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 thống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THC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máu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87219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a0cde02c-4614-4b34-bc86-75cbe321dd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r>
              <a:rPr lang="en-US" sz="210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(nhóm)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919" rIns="0" bIns="-16919" rtlCol="0" anchor="t"/>
          <a:lstStyle/>
          <a:p>
            <a:pPr algn="l" indent="0" marL="0">
              <a:lnSpc>
                <a:spcPts val="3026"/>
              </a:lnSpc>
              <a:buNone/>
            </a:pPr>
            <a:r>
              <a:rPr lang="en-US" sz="2421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Cannabinoid;</a:t>
            </a:r>
            <a:r>
              <a:rPr lang="en-US" sz="2421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421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421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421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421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delta-9-tetrahydrocannabinol</a:t>
            </a:r>
            <a:r>
              <a:rPr lang="en-US" sz="2421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(THC)</a:t>
            </a:r>
            <a:r>
              <a:rPr lang="en-US" sz="2421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26"/>
              </a:lnSpc>
              <a:buNone/>
            </a:pPr>
            <a:r>
              <a:rPr lang="en-US" sz="2421" dirty="0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421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Đích</a:t>
            </a: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tử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Thụ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CB1 của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anandamide: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 cAMP,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4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protein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kinase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A, giảm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phóng</a:t>
            </a:r>
            <a:r>
              <a:rPr lang="en-US" sz="24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r>
              <a:rPr lang="en-US" sz="24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Mạch/vùng</a:t>
            </a:r>
            <a:r>
              <a:rPr lang="en-US" sz="21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giáo</a:t>
            </a:r>
            <a:r>
              <a:rPr lang="en-US" sz="24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trình,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CB1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4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gần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khắp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não;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thưởng,</a:t>
            </a:r>
            <a:r>
              <a:rPr lang="en-US" sz="24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GABA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CB1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kìm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hãm</a:t>
            </a:r>
            <a:r>
              <a:rPr lang="en-US" sz="24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Tác</a:t>
            </a:r>
            <a:r>
              <a:rPr lang="en-US" sz="21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dụng</a:t>
            </a: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Giảm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dễ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 chung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mạng;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thưởng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gỡ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cái hãm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Dùng</a:t>
            </a:r>
            <a:r>
              <a:rPr lang="en-US" sz="18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lâu:</a:t>
            </a:r>
            <a:r>
              <a:rPr lang="en-US" sz="18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</a:t>
            </a:r>
            <a:r>
              <a:rPr lang="en-US" sz="18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nạp,</a:t>
            </a: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 thuộc,</a:t>
            </a:r>
            <a:r>
              <a:rPr lang="en-US" sz="18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NIDA: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nạp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hội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 hai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 chí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rối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sử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 cần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[S11]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2100" dirty="0" spc="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100" dirty="0" spc="1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Đừng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khoa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 CB1</a:t>
            </a:r>
            <a:r>
              <a:rPr lang="en-US" sz="24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anandamide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[S7]</a:t>
            </a:r>
            <a:r>
              <a:rPr lang="en-US" sz="2400" dirty="0" spc="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[S8]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THC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gắn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CB1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chuỗi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GABA/dopamine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giáo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nêu.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thuộc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[S11]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95038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780743f8-0a25-4aa0-80bc-aac83a0b39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57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endocannabinoid</a:t>
            </a:r>
            <a:endParaRPr lang="en-US" sz="5700" dirty="0"/>
          </a:p>
        </p:txBody>
      </p:sp>
      <p:sp>
        <p:nvSpPr>
          <p:cNvPr id="3" name="Connector line-1792652287205-589848031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4" name="Connector line-1792652287206-877247685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Connector line-1792652287206-540788887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Connector line-1792652287206-889189188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CB1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synapse, nơron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endocannabinoid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Endocannabinoid</a:t>
            </a:r>
            <a:r>
              <a:rPr lang="en-US" sz="2550" b="1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CB1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Nơron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02856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9c3aebf6-796c-4d11-baa2-01e699fbab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THC</a:t>
            </a:r>
            <a:r>
              <a:rPr lang="en-US" sz="57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mượn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 của cơ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Thụ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cannabinoid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khắp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tử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tự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anandamide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CB1,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giảm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protein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kinase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kali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canxi,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 giải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endocannabinoid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âu,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cảm,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 và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Giáo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CB1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anandamide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595312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Giáo</a:t>
            </a:r>
            <a:r>
              <a:rPr lang="en-US" sz="19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trình</a:t>
            </a: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nêu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6410325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THC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CB1,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0674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048f0b0e-58a3-4e77-b3c9-ab4501bd74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giáo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máu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não: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mắt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xích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máu não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 khi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tính: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 thống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ủng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hộ,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đảo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kiêng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Nguyên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CB1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 động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mạch: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nêu,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Giảm</a:t>
            </a:r>
            <a:r>
              <a:rPr lang="en-US" sz="3000" dirty="0" spc="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máu</a:t>
            </a:r>
            <a:r>
              <a:rPr lang="en-US" sz="30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300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kém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 ý,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nhớ,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tập: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có liên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quan,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[S10]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918493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25/44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846675e4-9a1e-4106-8fac-6685eb99c4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Opioid: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r>
              <a:rPr lang="en-US" sz="210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(nhóm)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Opioid: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nhiên,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bán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hợp;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gồm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thuốc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[S12]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Đích</a:t>
            </a: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tử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Thụ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opioid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mu,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delta,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kappa,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khắp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[S12]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Mạch/vùng</a:t>
            </a:r>
            <a:r>
              <a:rPr lang="en-US" sz="21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Nơron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tâm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hấp,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thưởng;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GABA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5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VTA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thụ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[S12]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Tác</a:t>
            </a:r>
            <a:r>
              <a:rPr lang="en-US" sz="21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dụng</a:t>
            </a: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dễ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 thích</a:t>
            </a:r>
            <a:r>
              <a:rPr lang="en-US" sz="24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nơron;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bớt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</a:t>
            </a:r>
            <a:r>
              <a:rPr lang="en-US" sz="240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đau;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400" dirty="0" spc="-4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VTA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 GABA</a:t>
            </a:r>
            <a:r>
              <a:rPr lang="en-US" sz="24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 [S12] [S16]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Dùng</a:t>
            </a:r>
            <a:r>
              <a:rPr lang="en-US" sz="18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lâu:</a:t>
            </a:r>
            <a:r>
              <a:rPr lang="en-US" sz="18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</a:t>
            </a:r>
            <a:r>
              <a:rPr lang="en-US" sz="18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nạp,</a:t>
            </a:r>
            <a:r>
              <a:rPr lang="en-US" sz="18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 thuộc,</a:t>
            </a:r>
            <a:r>
              <a:rPr lang="en-US" sz="18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cAMP</a:t>
            </a:r>
            <a:r>
              <a:rPr lang="en-US" sz="240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bù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lại;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 opioid thì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cơn thèm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4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NIDA: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dung nạp,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 thuộc,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hội</a:t>
            </a:r>
            <a:r>
              <a:rPr lang="en-US" sz="240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cai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[S12]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2100" dirty="0" spc="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100" dirty="0" spc="1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Đừng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khoa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thụ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thể;</a:t>
            </a:r>
            <a:r>
              <a:rPr lang="en-US" sz="2550" dirty="0" spc="-5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VTA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chuột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[S16]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.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khoái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thở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[S12]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[S16]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26311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4107927e-327d-4ea8-bcdb-759cb84b12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hãm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mái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bụng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Opioid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6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VTA</a:t>
            </a:r>
            <a:endParaRPr lang="en-US" sz="2700" dirty="0"/>
          </a:p>
        </p:txBody>
      </p:sp>
      <p:sp>
        <p:nvSpPr>
          <p:cNvPr id="7" name="Connector line-1792652360031-908533901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Nơron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phóng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 hơn</a:t>
            </a:r>
            <a:endParaRPr lang="en-US" sz="2700" dirty="0"/>
          </a:p>
        </p:txBody>
      </p:sp>
      <p:sp>
        <p:nvSpPr>
          <p:cNvPr id="12" name="Connector line-1792652360034-674967188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Nơron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bớt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hãm</a:t>
            </a:r>
            <a:endParaRPr lang="en-US" sz="2700" dirty="0"/>
          </a:p>
        </p:txBody>
      </p:sp>
      <p:sp>
        <p:nvSpPr>
          <p:cNvPr id="17" name="Connector line-1792652360037-726204410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Nhân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accumbens nhận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 hơn</a:t>
            </a:r>
            <a:endParaRPr lang="en-US" sz="2700" dirty="0"/>
          </a:p>
        </p:txBody>
      </p:sp>
      <p:sp>
        <p:nvSpPr>
          <p:cNvPr id="22" name="Connector line-1792652360040-595966641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Tín hiệu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34129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d324c606-d8fb-48f0-b0c3-a3589f9b9f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Opioid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opioid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 thể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phiện,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opioid</a:t>
            </a:r>
            <a:r>
              <a:rPr lang="en-US" sz="28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(endorphin,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enkephalin,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dynorphin),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đau,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đói,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khát,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Opioid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heroin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morphine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opiate),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các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thụ</a:t>
            </a:r>
            <a:r>
              <a:rPr lang="en-US" sz="28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mu,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delta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kappa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ion,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 tính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Nội</a:t>
            </a: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sinh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endorphin,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enkephalin,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dynorphin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595312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Từ</a:t>
            </a: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ngoài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6410325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gắn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 các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ấy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(opiate)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41948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ca7a81cc-272b-4fef-9342-6fd00b6996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Opioid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opioid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Nội</a:t>
            </a:r>
            <a:r>
              <a:rPr lang="en-US" sz="42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tự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đau, đói,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khát,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4200" dirty="0" spc="-2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heroin,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morphine;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mu,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delta,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kappa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 cũng dùng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850" dirty="0" spc="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căng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nhiên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 ở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gốc,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 ở</a:t>
            </a:r>
            <a:r>
              <a:rPr lang="en-US" sz="28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49766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faecd137-05d6-48c9-8da2-86da6f6013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thụ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thể,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Đau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 truyền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tủy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não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Hô</a:t>
            </a: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hấp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thụ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7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thở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Căng</a:t>
            </a:r>
            <a:r>
              <a:rPr lang="en-US" sz="300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thẳng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Thưởng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thụ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57585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5cac1a10-696f-4dd9-b264-5eea470be2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hãm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GABA</a:t>
            </a:r>
            <a:endParaRPr lang="en-US" sz="5700" dirty="0"/>
          </a:p>
        </p:txBody>
      </p:sp>
      <p:sp>
        <p:nvSpPr>
          <p:cNvPr id="3" name="Connector line-1792652363721-943183819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4" name="Connector line-1792652363721-690238840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Connector line-1792652363721-878892258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Connector line-1792652363721-622551418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33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VTA: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dopamine,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 accumbens: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Nơron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GABA: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hãm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Opioid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hãm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(theo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trình)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65403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36b222c8-f12e-4fe3-8393-612decf0b5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Nhân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accumbens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mặt cắt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652364939-1032685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7489" y="2438400"/>
            <a:ext cx="7607321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sách;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 Hình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Nucleus</a:t>
            </a:r>
            <a:r>
              <a:rPr lang="en-US" sz="2187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accumbens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nhân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accumbens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 nhân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Orbital</a:t>
            </a:r>
            <a:r>
              <a:rPr lang="en-US" sz="2187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frontal</a:t>
            </a:r>
            <a:r>
              <a:rPr lang="en-US" sz="2187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cortex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ổ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262C4A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mắt.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22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(VTA)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accumbens;</a:t>
            </a:r>
            <a:r>
              <a:rPr lang="en-US" sz="22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VTA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cho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373221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2" name="Shape 49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32/44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b3e8e5cd-de97-430a-b6a7-24d6bb26fe7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57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chung,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chuột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1988,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(opioid,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rượu,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nicotine,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amphetamine,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cocaine) làm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đuôi,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nhân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accumbens;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hệ viền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lạm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48000"/>
            <a:ext cx="4438650" cy="22193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Chuột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2630150" y="595312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1950" dirty="0" spc="1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630150" y="6410325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chất,</a:t>
            </a:r>
            <a:r>
              <a:rPr lang="en-US" sz="24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81040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33/44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e42ec148-b8cf-47fb-bcdb-b293a68b39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57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chung,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57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Rượu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vẻ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enzyme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(giáo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Caffeine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chuột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tăng,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tăng;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Cần</a:t>
            </a:r>
            <a:r>
              <a:rPr lang="en-US" sz="30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gỡ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 có CB1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(giáo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nêu)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Opioid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VTA,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chuột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 [S16]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788858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4" name="Shape 5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4a775af0-31b8-4533-8f20-7584a31709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Dung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nạp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Dung nạp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thích nghi,</a:t>
            </a:r>
            <a:r>
              <a:rPr lang="en-US" sz="31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315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</a:t>
            </a: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chỉ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chất;</a:t>
            </a:r>
            <a:r>
              <a:rPr lang="en-US" sz="31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cai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nghi,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thân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rối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 lệ thuộc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rối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996676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4a9f0148-e733-4d39-9eb4-7168ecc537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Dùng,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nghi,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cai</a:t>
            </a:r>
            <a:endParaRPr lang="en-US" sz="5700" dirty="0"/>
          </a:p>
        </p:txBody>
      </p:sp>
      <p:sp>
        <p:nvSpPr>
          <p:cNvPr id="3" name="Connector line-1792652424708-997536069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14575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Connector line-1792652424709-112949071"/>
          <p:cNvSpPr/>
          <p:nvPr/>
        </p:nvSpPr>
        <p:spPr>
          <a:xfrm flipV="1">
            <a:off x="2562225" y="523875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8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cấp: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 hiệu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0070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Connector line-1792652424711-303984373"/>
          <p:cNvSpPr/>
          <p:nvPr/>
        </p:nvSpPr>
        <p:spPr>
          <a:xfrm>
            <a:off x="5848350" y="605790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400550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Thích nghi: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chỉnh, ví dụ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NMDA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hơn,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cAMP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bù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1" name="Connector line-1792652424713-231186163"/>
          <p:cNvSpPr/>
          <p:nvPr/>
        </p:nvSpPr>
        <p:spPr>
          <a:xfrm flipV="1">
            <a:off x="9144000" y="523875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6675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Dung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nạp: cùng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219200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4" name="Connector line-1792652424714-979476590"/>
          <p:cNvSpPr/>
          <p:nvPr/>
        </p:nvSpPr>
        <p:spPr>
          <a:xfrm>
            <a:off x="12439650" y="605790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2325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Cai: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lộ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ra,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 dụ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glutamate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tăng,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khả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 sản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cAMP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5478125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7" name="Connector line-1792652424716-27292226"/>
          <p:cNvSpPr/>
          <p:nvPr/>
        </p:nvSpPr>
        <p:spPr>
          <a:xfrm flipV="1">
            <a:off x="15725775" y="523875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26845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5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Lâu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dài: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thưởng,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căng thẳng,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bền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[S13] [S17]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04495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6" name="Shape 5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8cd99880-48ec-4030-9fc3-a644be1f5c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Rối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lệ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4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Rối</a:t>
            </a:r>
            <a:r>
              <a:rPr lang="en-US" sz="28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(substance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disorder)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kiểu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DSM-5;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nạp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chí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NIDA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nghiện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nặng: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tính,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phát,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cưỡng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bức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kiểm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48000"/>
            <a:ext cx="4438650" cy="22193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Mức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nhẹ,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vừa,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nặng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2630150" y="5972175"/>
            <a:ext cx="4438650" cy="22193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Nghiện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dạng nặng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NIDA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412313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37/44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21b7fd37-1b82-4d5d-a81d-8285f39083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Nghiện:</a:t>
            </a: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381125"/>
          </a:xfrm>
          <a:prstGeom prst="roundRect">
            <a:avLst>
              <a:gd name="adj" fmla="val 15172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Say/hưng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phấn: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391025"/>
            <a:ext cx="15125700" cy="1381125"/>
          </a:xfrm>
          <a:prstGeom prst="roundRect">
            <a:avLst>
              <a:gd name="adj" fmla="val 15172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391025"/>
            <a:ext cx="14363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Cai/cảm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tính: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924550"/>
            <a:ext cx="13792200" cy="1381125"/>
          </a:xfrm>
          <a:prstGeom prst="roundRect">
            <a:avLst>
              <a:gd name="adj" fmla="val 15172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924550"/>
            <a:ext cx="13030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Bận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tâm/mong</a:t>
            </a:r>
            <a:r>
              <a:rPr lang="en-US" sz="28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(thèm):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vùng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7458075"/>
            <a:ext cx="12458700" cy="1381125"/>
          </a:xfrm>
          <a:prstGeom prst="roundRect">
            <a:avLst>
              <a:gd name="adj" fmla="val 15172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7458075"/>
            <a:ext cx="11696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muộn: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glutamate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620131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38/44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6e464f08-0c0e-4d81-a79c-ffb2642303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Rượu</a:t>
            </a:r>
            <a:r>
              <a:rPr lang="en-US" sz="30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30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chất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kích thích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nêu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chế;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 thần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Caffeine</a:t>
            </a:r>
            <a:r>
              <a:rPr lang="en-US" sz="3000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phải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thuốc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cai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Caffeine</a:t>
            </a:r>
            <a:r>
              <a:rPr lang="en-US" sz="25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tăng dopamine</a:t>
            </a:r>
            <a:r>
              <a:rPr lang="en-US" sz="25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như</a:t>
            </a:r>
            <a:r>
              <a:rPr lang="en-US" sz="25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mọi</a:t>
            </a:r>
            <a:r>
              <a:rPr lang="en-US" sz="255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chất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chuột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tăng,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Cần</a:t>
            </a: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</a:t>
            </a:r>
            <a:r>
              <a:rPr lang="en-US" sz="30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00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gây</a:t>
            </a:r>
            <a:r>
              <a:rPr lang="en-US" sz="300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</a:t>
            </a: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thuộc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NIDA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 sử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cai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Cần</a:t>
            </a:r>
            <a:r>
              <a:rPr lang="en-US" sz="25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</a:t>
            </a:r>
            <a:r>
              <a:rPr lang="en-US" sz="2550" dirty="0" spc="-1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hỏng</a:t>
            </a:r>
            <a:r>
              <a:rPr lang="en-US" sz="25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mạch</a:t>
            </a:r>
            <a:r>
              <a:rPr lang="en-US" sz="25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máu</a:t>
            </a:r>
            <a:r>
              <a:rPr lang="en-US" sz="2550" dirty="0" spc="-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nên</a:t>
            </a:r>
            <a:r>
              <a:rPr lang="en-US" sz="2550" dirty="0" spc="-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r>
              <a:rPr lang="en-US" sz="2550" dirty="0" spc="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trí</a:t>
            </a:r>
            <a:r>
              <a:rPr lang="en-US" sz="255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nhớ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Opioid</a:t>
            </a:r>
            <a:r>
              <a:rPr lang="en-US" sz="30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300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gây</a:t>
            </a:r>
            <a:r>
              <a:rPr lang="en-US" sz="30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khoái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thụ thể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đau,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thở,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 [S6]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27950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dd66f00b-e4e7-4a80-ac3d-05189128ec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 thể chất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Dung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nạp,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cai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rối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69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6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35768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6" name="Shape 44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40/44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480f2e54-b47e-4534-bb21-8e1236c8ce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của giáo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thận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caffeine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dopamine,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 [S6]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850" b="1" dirty="0" spc="-1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CB1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não;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 khi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 tính có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CB1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nguồn</a:t>
            </a:r>
            <a:r>
              <a:rPr lang="en-US" sz="28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 liên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Caffeine</a:t>
            </a:r>
            <a:r>
              <a:rPr lang="en-US" sz="195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tăng dopamine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đang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5686425"/>
            <a:ext cx="5048250" cy="2695575"/>
          </a:xfrm>
          <a:prstGeom prst="roundRect">
            <a:avLst>
              <a:gd name="adj" fmla="val 7774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568642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595312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Mất</a:t>
            </a:r>
            <a:r>
              <a:rPr lang="en-US" sz="195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CB1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195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195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mạch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6410325"/>
            <a:ext cx="4438650" cy="178117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[S11]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43586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466dd5b5-d334-4a7d-b28d-713ecb185b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Bốn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chất,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27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đích: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NMDA,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adenosine,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CB1,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opioid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7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tốc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não;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gan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nạp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endocannabinoid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synapse</a:t>
            </a:r>
            <a:r>
              <a:rPr lang="en-US" sz="22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chiều;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22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THC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CB1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Mạch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255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giống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hệt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nhau;</a:t>
            </a:r>
            <a:r>
              <a:rPr lang="en-US" sz="25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caffeine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Dung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nạp,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 thể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chất,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cai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rối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 sử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khái niệm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Nghiện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 nhiều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mạch,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 [S16] [S17]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451405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Shape 62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42/44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b9a2a998-9cb7-4aef-aac4-147c9adf55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ý: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chế,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phải</a:t>
            </a:r>
            <a:r>
              <a:rPr lang="en-US" sz="57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khuyên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</a:t>
            </a:r>
            <a:r>
              <a:rPr lang="en-US" sz="57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liều,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dùng,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pha</a:t>
            </a:r>
            <a:r>
              <a:rPr lang="en-US" sz="31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trộn,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mua,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hại</a:t>
            </a:r>
            <a:r>
              <a:rPr lang="en-US" sz="31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pháp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95925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1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 chế,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1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khuyến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khích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sĩ,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Cai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nguy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hiểm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 theo dõi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659223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5" name="Shape 63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43/44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e4003beb-59f6-45c5-8cc6-65c03982b4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 Biological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5.5,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5.2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Pharmacokinetics,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2024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Abrahao,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Salinas,</a:t>
            </a:r>
            <a:r>
              <a:rPr lang="en-US" sz="16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Lovinger,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Alcohol and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2017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Hermann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glutamate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cai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rượu,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Solinas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caffeine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chuột,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2002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Volkow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caffeine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D2/D3 ở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16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Transl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Devane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anandamide,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1992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Mechoulam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Parker,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endocannabinoid, Annu</a:t>
            </a:r>
            <a:r>
              <a:rPr lang="en-US" sz="16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2013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Yoshida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CB1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ngược,</a:t>
            </a:r>
            <a:r>
              <a:rPr lang="en-US" sz="16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2002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Ogunbiyi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 sự, THC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NIDA,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Cannabis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(Marijuana),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2026-10-21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NIDA,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Opioids,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2026-10-21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NIDA,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Drug Misuse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Addiction,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2020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NIAAA,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Understanding Alcohol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Disorder,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2025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Chiara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Imperato,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PNAS,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1988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Johnson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North,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1992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Koob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9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Volkow,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Neurocircuitry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addiction,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Kalivas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Volkow,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Neural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basis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addiction,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2005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867042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1" name="Text 9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44/44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3" name="Moda image moda-export-watermark-79f5eca0-1a01-4b29-9809-cf3d521b30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2026-10-22T07:02:40Z</dcterms:created>
  <dcterms:modified xsi:type="dcterms:W3CDTF">2026-10-22T07:02:40Z</dcterms:modified>
</cp:coreProperties>
</file>