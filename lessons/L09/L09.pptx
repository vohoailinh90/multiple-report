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18288000" cy="10287000"/>
  <p:notesSz cx="10287000" cy="18288000"/>
  <p:embeddedFontLst>
    <p:embeddedFont>
      <p:font typeface="Be Vietnam Pro"/>
      <p:regular r:id="rId58"/>
      <p:bold r:id="rId55"/>
    </p:embeddedFont>
    <p:embeddedFont>
      <p:font typeface="Bricolage Grotesque ExtraBold"/>
      <p:regular r:id="rId56"/>
    </p:embeddedFont>
    <p:embeddedFont>
      <p:font typeface="Be Vietnam Pro SemiBold"/>
      <p:regular r:id="rId57"/>
    </p:embeddedFont>
    <p:embeddedFont>
      <p:font typeface="Be Vietnam Pro ExtraBold"/>
      <p:regular r:id="rId59"/>
    </p:embeddedFont>
    <p:embeddedFont>
      <p:font typeface="Be Vietnam Pro Medium"/>
      <p:regular r:id="rId6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Relationship Id="rId55" Type="http://schemas.openxmlformats.org/officeDocument/2006/relationships/font" Target="fonts/font1.fntdata"/><Relationship Id="rId56" Type="http://schemas.openxmlformats.org/officeDocument/2006/relationships/font" Target="fonts/font2.fntdata"/><Relationship Id="rId57" Type="http://schemas.openxmlformats.org/officeDocument/2006/relationships/font" Target="fonts/font3.fntdata"/><Relationship Id="rId58" Type="http://schemas.openxmlformats.org/officeDocument/2006/relationships/font" Target="fonts/font4.fntdata"/><Relationship Id="rId59" Type="http://schemas.openxmlformats.org/officeDocument/2006/relationships/font" Target="fonts/font5.fntdata"/><Relationship Id="rId60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e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e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jpe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39000" y="2857500"/>
            <a:ext cx="11049000" cy="4953000"/>
          </a:xfrm>
          <a:custGeom>
            <a:avLst/>
            <a:gdLst/>
            <a:ahLst/>
            <a:cxnLst/>
            <a:rect l="l" t="t" r="r" b="b"/>
            <a:pathLst>
              <a:path w="11049000" h="4953000">
                <a:moveTo>
                  <a:pt x="0" y="2476500"/>
                </a:moveTo>
                <a:lnTo>
                  <a:pt x="4000500" y="2476500"/>
                </a:lnTo>
                <a:lnTo>
                  <a:pt x="4667250" y="0"/>
                </a:lnTo>
                <a:lnTo>
                  <a:pt x="5619750" y="4953000"/>
                </a:lnTo>
                <a:lnTo>
                  <a:pt x="6572250" y="1143000"/>
                </a:lnTo>
                <a:lnTo>
                  <a:pt x="7239000" y="2476500"/>
                </a:lnTo>
                <a:lnTo>
                  <a:pt x="11049000" y="2476500"/>
                </a:lnTo>
              </a:path>
            </a:pathLst>
          </a:custGeom>
          <a:ln w="66675">
            <a:solidFill>
              <a:srgbClr val="3DD6A0">
                <a:alpha val="16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spc="4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NÃO</a:t>
            </a:r>
            <a:r>
              <a:rPr lang="en-US" sz="2100" b="1" spc="44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b="1" spc="44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100" b="1" spc="44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b="1" spc="4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L09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14400" y="1619250"/>
            <a:ext cx="14287500" cy="381000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Cảm</a:t>
            </a:r>
            <a:r>
              <a:rPr lang="en-US" sz="81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xúc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81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8100" dirty="0" spc="-8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mạch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thần</a:t>
            </a: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kinh</a:t>
            </a:r>
            <a:endParaRPr lang="en-US" sz="8100" dirty="0"/>
          </a:p>
        </p:txBody>
      </p:sp>
      <p:sp>
        <p:nvSpPr>
          <p:cNvPr id="5" name="Text 3"/>
          <p:cNvSpPr/>
          <p:nvPr/>
        </p:nvSpPr>
        <p:spPr>
          <a:xfrm>
            <a:off x="914400" y="5619750"/>
            <a:ext cx="1333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0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Sợ, giận,</a:t>
            </a:r>
            <a:r>
              <a:rPr lang="en-US" sz="3300" dirty="0" spc="-25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yêu</a:t>
            </a:r>
            <a:r>
              <a:rPr lang="en-US" sz="3300" dirty="0" spc="4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thương,</a:t>
            </a:r>
            <a:r>
              <a:rPr lang="en-US" sz="3300" dirty="0" spc="14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đau</a:t>
            </a:r>
            <a:r>
              <a:rPr lang="en-US" sz="3300" dirty="0" spc="-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buồn: mỗi cảm xúc</a:t>
            </a:r>
            <a:r>
              <a:rPr lang="en-US" sz="3300" dirty="0" spc="-10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3300" dirty="0" spc="-23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3300" dirty="0" spc="1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mạch</a:t>
            </a:r>
            <a:r>
              <a:rPr lang="en-US" sz="3300" dirty="0" spc="-2" kern="0">
                <a:solidFill>
                  <a:srgbClr val="FFB454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nào?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914400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1100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Ham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5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5095875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62575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Sợ</a:t>
            </a:r>
            <a:r>
              <a:rPr lang="en-US" sz="25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giận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277350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44050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-8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55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thương</a:t>
            </a:r>
            <a:r>
              <a:rPr lang="en-US" sz="25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bó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3458825" y="7429500"/>
            <a:ext cx="3914775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25525" y="7429500"/>
            <a:ext cx="3381375" cy="16192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Đau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buồn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7151b594-8288-4fb4-a2d0-d0ea8f8c9c9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Khi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5700" dirty="0" spc="-6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sợ,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giận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r>
              <a:rPr lang="en-US" sz="57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người,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</a:t>
            </a:r>
            <a:r>
              <a:rPr lang="en-US" sz="57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đang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57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mạng</a:t>
            </a:r>
            <a:r>
              <a:rPr lang="en-US" sz="5700" dirty="0" spc="-6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lưới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xúc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 nằm</a:t>
            </a:r>
            <a:r>
              <a:rPr lang="en-US" sz="69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gọn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vùng: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phản</a:t>
            </a:r>
            <a:r>
              <a:rPr lang="en-US" sz="69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xúc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huy</a:t>
            </a:r>
            <a:r>
              <a:rPr lang="en-US" sz="69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1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mạng</a:t>
            </a:r>
            <a:r>
              <a:rPr lang="en-US" sz="6900" dirty="0" spc="-79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lưới</a:t>
            </a:r>
            <a:r>
              <a:rPr lang="en-US" sz="6900" dirty="0" spc="-2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trải</a:t>
            </a:r>
            <a:r>
              <a:rPr lang="en-US" sz="6900" dirty="0" spc="-1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gần</a:t>
            </a:r>
            <a:r>
              <a:rPr lang="en-US" sz="69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khắp não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-4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[S1]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1485900" y="7429500"/>
            <a:ext cx="1581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7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7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7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270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700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7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7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27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9" name="Shape 7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L09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02/48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7" name="Moda image moda-export-watermark-bfd87e7f-e067-4700-8c40-3550758e228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 cảm</a:t>
            </a:r>
            <a:r>
              <a:rPr lang="en-US" sz="57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xúc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giáo</a:t>
            </a:r>
            <a:r>
              <a:rPr lang="en-US" sz="57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trình, ba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xuyên</a:t>
            </a:r>
            <a:r>
              <a:rPr lang="en-US" sz="57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suốt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Sáu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ham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muốn,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thích,</a:t>
            </a:r>
            <a:r>
              <a:rPr lang="en-US" sz="25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sợ,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giận,</a:t>
            </a:r>
            <a:r>
              <a:rPr lang="en-US" sz="2550" dirty="0" spc="-2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5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thương,</a:t>
            </a:r>
            <a:r>
              <a:rPr lang="en-US" sz="2550" dirty="0" spc="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đau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buồn</a:t>
            </a:r>
            <a:r>
              <a:rPr lang="en-US" sz="25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65151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65151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0" name="Text 8"/>
          <p:cNvSpPr/>
          <p:nvPr/>
        </p:nvSpPr>
        <p:spPr>
          <a:xfrm>
            <a:off x="68961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68961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Đang</a:t>
            </a: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tranh</a:t>
            </a: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896100" y="60007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 cảm</a:t>
            </a:r>
            <a:r>
              <a:rPr lang="en-US" sz="25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 [S7]</a:t>
            </a:r>
            <a:r>
              <a:rPr lang="en-US" sz="25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5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25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5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21158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1158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5" name="Text 13"/>
          <p:cNvSpPr/>
          <p:nvPr/>
        </p:nvSpPr>
        <p:spPr>
          <a:xfrm>
            <a:off x="124968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124968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Mạch</a:t>
            </a:r>
            <a:r>
              <a:rPr lang="en-US" sz="27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kinh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2496800" y="60007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ở</a:t>
            </a:r>
            <a:r>
              <a:rPr lang="en-US" sz="25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chuột,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môi</a:t>
            </a:r>
            <a:r>
              <a:rPr lang="en-US" sz="25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 accumbens</a:t>
            </a:r>
            <a:r>
              <a:rPr lang="en-US" sz="25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[S14]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 [S7]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 [S14]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317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2" name="Shape 20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L09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03/48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9" name="Moda image moda-export-watermark-7c1ab6c6-d038-45d6-8d15-c38a7692e58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Khoa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học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thần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kinh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</a:t>
            </a:r>
            <a:r>
              <a:rPr lang="en-US" sz="57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xúc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nghiên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cứu</a:t>
            </a:r>
            <a:r>
              <a:rPr lang="en-US" sz="57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b="1" dirty="0" spc="-8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Khoa</a:t>
            </a:r>
            <a:r>
              <a:rPr lang="en-US" sz="2850" b="1" dirty="0" spc="-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85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thần</a:t>
            </a:r>
            <a:r>
              <a:rPr lang="en-US" sz="2850" b="1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kinh</a:t>
            </a:r>
            <a:r>
              <a:rPr lang="en-US" sz="2850" b="1" dirty="0" spc="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 xúc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(affective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neuroscience)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 não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thần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kinh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8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850" dirty="0" spc="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 như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Izard: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nét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mặt,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85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thần</a:t>
            </a:r>
            <a:r>
              <a:rPr lang="en-US" sz="2850" b="1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kinh tự</a:t>
            </a:r>
            <a:r>
              <a:rPr lang="en-US" sz="2850" b="1" dirty="0" spc="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 nhận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 quan,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thúc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Ngành này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thước</a:t>
            </a:r>
            <a:r>
              <a:rPr lang="en-US" sz="28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8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được,</a:t>
            </a:r>
            <a:r>
              <a:rPr lang="en-US" sz="28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kiểm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8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8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hỏi,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mơ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Đo</a:t>
            </a:r>
            <a:r>
              <a:rPr lang="en-US" sz="1950" dirty="0" spc="-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cơ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thể, hệ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chủ,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nhận,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thôi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thúc hành động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Dùng</a:t>
            </a:r>
            <a:r>
              <a:rPr lang="en-US" sz="1950" dirty="0" spc="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để</a:t>
            </a:r>
            <a:r>
              <a:rPr lang="en-US" sz="1950" dirty="0" spc="-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làm</a:t>
            </a:r>
            <a:r>
              <a:rPr lang="en-US" sz="1950" dirty="0" spc="-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biến</a:t>
            </a:r>
            <a:r>
              <a:rPr lang="en-US" sz="24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mơ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hồ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bốn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</a:t>
            </a:r>
            <a:r>
              <a:rPr lang="en-US" sz="240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</a:t>
            </a:r>
            <a:r>
              <a:rPr lang="en-US" sz="24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8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Mức</a:t>
            </a:r>
            <a:r>
              <a:rPr lang="en-US" sz="1950" dirty="0" spc="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chắc</a:t>
            </a:r>
            <a:r>
              <a:rPr lang="en-US" sz="1950" dirty="0" spc="-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chắn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giáo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khoa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08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L09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04/48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3042ee8a-7021-4dfd-ba99-dbcdaf69818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Đo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</a:t>
            </a:r>
            <a:r>
              <a:rPr lang="en-US" sz="57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xúc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57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Ở</a:t>
            </a:r>
            <a:r>
              <a:rPr lang="en-US" sz="270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EEG,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fMRI</a:t>
            </a:r>
            <a:r>
              <a:rPr lang="en-US" sz="255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</a:t>
            </a:r>
            <a:r>
              <a:rPr lang="en-US" sz="25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thương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5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511492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511492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0" name="Text 8"/>
          <p:cNvSpPr/>
          <p:nvPr/>
        </p:nvSpPr>
        <p:spPr>
          <a:xfrm>
            <a:off x="549592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49592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49592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fMRI</a:t>
            </a:r>
            <a:r>
              <a:rPr lang="en-US" sz="25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5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5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-2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</a:t>
            </a:r>
            <a:r>
              <a:rPr lang="en-US" sz="25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1545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931545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5" name="Text 13"/>
          <p:cNvSpPr/>
          <p:nvPr/>
        </p:nvSpPr>
        <p:spPr>
          <a:xfrm>
            <a:off x="969645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969645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Ở động</a:t>
            </a:r>
            <a:r>
              <a:rPr lang="en-US" sz="2700" b="1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69645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cấy</a:t>
            </a:r>
            <a:r>
              <a:rPr lang="en-US" sz="2550" dirty="0" spc="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5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cực,</a:t>
            </a:r>
            <a:r>
              <a:rPr lang="en-US" sz="2550" dirty="0" spc="-2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5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</a:t>
            </a:r>
            <a:r>
              <a:rPr lang="en-US" sz="25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thương,</a:t>
            </a:r>
            <a:r>
              <a:rPr lang="en-US" sz="255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hormone</a:t>
            </a:r>
            <a:r>
              <a:rPr lang="en-US" sz="25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351597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351597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20" name="Text 18"/>
          <p:cNvSpPr/>
          <p:nvPr/>
        </p:nvSpPr>
        <p:spPr>
          <a:xfrm>
            <a:off x="1389697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1389697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Kích thích</a:t>
            </a:r>
            <a:r>
              <a:rPr lang="en-US" sz="270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389697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</a:t>
            </a:r>
            <a:r>
              <a:rPr lang="en-US" sz="2550" dirty="0" spc="-2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</a:t>
            </a:r>
            <a:r>
              <a:rPr lang="en-US" sz="25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5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tránh</a:t>
            </a:r>
            <a:r>
              <a:rPr lang="en-US" sz="25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thích,</a:t>
            </a:r>
            <a:r>
              <a:rPr lang="en-US" sz="25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thưởng</a:t>
            </a:r>
            <a:r>
              <a:rPr lang="en-US" sz="25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5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phạt</a:t>
            </a:r>
            <a:r>
              <a:rPr lang="en-US" sz="25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 [S4]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698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9" name="Shape 27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L09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05/48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4" name="Moda image moda-export-watermark-03e5e3fa-d974-45c8-bedd-031f9b47e15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Cảm</a:t>
            </a:r>
            <a:r>
              <a:rPr lang="en-US" sz="57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xúc</a:t>
            </a:r>
            <a:r>
              <a:rPr lang="en-US" sz="5700" dirty="0" spc="-5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(emotion)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 cảm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giác</a:t>
            </a:r>
            <a:r>
              <a:rPr lang="en-US" sz="57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(feeling)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F3DFB8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Cảm</a:t>
            </a:r>
            <a:r>
              <a:rPr lang="en-US" sz="42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xúc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phản</a:t>
            </a:r>
            <a:r>
              <a:rPr lang="en-US" sz="3150" dirty="0" spc="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31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31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1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 vi, cơ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31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thần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kinh;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3150" dirty="0" spc="-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xảy</a:t>
            </a:r>
            <a:r>
              <a:rPr lang="en-US" sz="3150" dirty="0" spc="-4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31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1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3150" dirty="0" spc="-4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CFE8E2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Cảm giác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trải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31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31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thức,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31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315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kể;</a:t>
            </a:r>
            <a:r>
              <a:rPr lang="en-US" sz="31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LeDoux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31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rằng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mạch sinh</a:t>
            </a:r>
            <a:r>
              <a:rPr lang="en-US" sz="31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tồn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1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315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3150" dirty="0" spc="-4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E8E0CF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429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Cảm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nhận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nội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thân</a:t>
            </a:r>
            <a:r>
              <a:rPr lang="en-US" sz="28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(interoception)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 thể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nền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</a:t>
            </a:r>
            <a:r>
              <a:rPr lang="en-US" sz="285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giác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quan,</a:t>
            </a:r>
            <a:r>
              <a:rPr lang="en-US" sz="28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28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Craig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[S15]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[S15]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889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L09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06/48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4" name="Moda image moda-export-watermark-0c457b91-3adc-4d45-9f68-b92746389e8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Những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cấu</a:t>
            </a:r>
            <a:r>
              <a:rPr lang="en-US" sz="57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trúc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tham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</a:t>
            </a:r>
            <a:r>
              <a:rPr lang="en-US" sz="57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xử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</a:t>
            </a:r>
            <a:r>
              <a:rPr lang="en-US" sz="57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xúc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8953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2C3040"/>
            </a:solidFill>
            <a:prstDash val="solid"/>
          </a:ln>
        </p:spPr>
      </p:sp>
      <p:pic>
        <p:nvPicPr>
          <p:cNvPr id="4" name="Moda image rect-1792597030924-27679355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87489" y="2438400"/>
            <a:ext cx="7607321" cy="571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 Noba,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BY-NC-SA;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Hove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 Martinez,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(chương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10)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0248900" y="224790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1E212B"/>
          </a:solidFill>
          <a:ln/>
        </p:spPr>
      </p:sp>
      <p:sp>
        <p:nvSpPr>
          <p:cNvPr id="7" name="Shape 4"/>
          <p:cNvSpPr/>
          <p:nvPr/>
        </p:nvSpPr>
        <p:spPr>
          <a:xfrm>
            <a:off x="10248900" y="22479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8" name="Text 5"/>
          <p:cNvSpPr/>
          <p:nvPr/>
        </p:nvSpPr>
        <p:spPr>
          <a:xfrm>
            <a:off x="10591800" y="234315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16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Amygdala</a:t>
            </a:r>
            <a:endParaRPr lang="en-US" sz="2187" dirty="0"/>
          </a:p>
        </p:txBody>
      </p:sp>
      <p:sp>
        <p:nvSpPr>
          <p:cNvPr id="9" name="Text 6"/>
          <p:cNvSpPr/>
          <p:nvPr/>
        </p:nvSpPr>
        <p:spPr>
          <a:xfrm>
            <a:off x="10591800" y="258127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hạnh nhân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0248900" y="321945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1E212B"/>
          </a:solidFill>
          <a:ln/>
        </p:spPr>
      </p:sp>
      <p:sp>
        <p:nvSpPr>
          <p:cNvPr id="11" name="Shape 8"/>
          <p:cNvSpPr/>
          <p:nvPr/>
        </p:nvSpPr>
        <p:spPr>
          <a:xfrm>
            <a:off x="10248900" y="321945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2" name="Text 9"/>
          <p:cNvSpPr/>
          <p:nvPr/>
        </p:nvSpPr>
        <p:spPr>
          <a:xfrm>
            <a:off x="10591800" y="331470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Periaqueductal</a:t>
            </a:r>
            <a:r>
              <a:rPr lang="en-US" sz="2187" dirty="0" spc="-9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gray</a:t>
            </a:r>
            <a:endParaRPr lang="en-US" sz="2187" dirty="0"/>
          </a:p>
        </p:txBody>
      </p:sp>
      <p:sp>
        <p:nvSpPr>
          <p:cNvPr id="13" name="Text 10"/>
          <p:cNvSpPr/>
          <p:nvPr/>
        </p:nvSpPr>
        <p:spPr>
          <a:xfrm>
            <a:off x="10591800" y="355282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chất</a:t>
            </a:r>
            <a:r>
              <a:rPr lang="en-US" sz="2550" dirty="0" spc="-2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xám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quanh</a:t>
            </a:r>
            <a:r>
              <a:rPr lang="en-US" sz="25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cống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10248900" y="4191000"/>
            <a:ext cx="7124700" cy="838200"/>
          </a:xfrm>
          <a:prstGeom prst="roundRect">
            <a:avLst>
              <a:gd name="adj" fmla="val 22727"/>
            </a:avLst>
          </a:prstGeom>
          <a:solidFill>
            <a:srgbClr val="1E212B"/>
          </a:solidFill>
          <a:ln/>
        </p:spPr>
      </p:sp>
      <p:sp>
        <p:nvSpPr>
          <p:cNvPr id="15" name="Shape 12"/>
          <p:cNvSpPr/>
          <p:nvPr/>
        </p:nvSpPr>
        <p:spPr>
          <a:xfrm>
            <a:off x="10248900" y="4191000"/>
            <a:ext cx="114300" cy="8382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6" name="Text 13"/>
          <p:cNvSpPr/>
          <p:nvPr/>
        </p:nvSpPr>
        <p:spPr>
          <a:xfrm>
            <a:off x="10591800" y="4286250"/>
            <a:ext cx="65913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87" dirty="0" spc="-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Nucleus</a:t>
            </a:r>
            <a:r>
              <a:rPr lang="en-US" sz="2187" dirty="0" spc="-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accumbens</a:t>
            </a:r>
            <a:endParaRPr lang="en-US" sz="2187" dirty="0"/>
          </a:p>
        </p:txBody>
      </p:sp>
      <p:sp>
        <p:nvSpPr>
          <p:cNvPr id="17" name="Text 14"/>
          <p:cNvSpPr/>
          <p:nvPr/>
        </p:nvSpPr>
        <p:spPr>
          <a:xfrm>
            <a:off x="10591800" y="4524375"/>
            <a:ext cx="6591300" cy="466725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nhân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accumbens</a:t>
            </a:r>
            <a:endParaRPr lang="en-US" sz="2550" dirty="0"/>
          </a:p>
        </p:txBody>
      </p:sp>
      <p:sp>
        <p:nvSpPr>
          <p:cNvPr id="18" name="Shape 15"/>
          <p:cNvSpPr/>
          <p:nvPr/>
        </p:nvSpPr>
        <p:spPr>
          <a:xfrm>
            <a:off x="10248900" y="5162550"/>
            <a:ext cx="7124700" cy="3181350"/>
          </a:xfrm>
          <a:prstGeom prst="roundRect">
            <a:avLst>
              <a:gd name="adj" fmla="val 5988"/>
            </a:avLst>
          </a:prstGeom>
          <a:solidFill>
            <a:srgbClr val="4A2A24"/>
          </a:solidFill>
          <a:ln/>
        </p:spPr>
      </p:sp>
      <p:sp>
        <p:nvSpPr>
          <p:cNvPr id="19" name="Text 16"/>
          <p:cNvSpPr/>
          <p:nvPr/>
        </p:nvSpPr>
        <p:spPr>
          <a:xfrm>
            <a:off x="10553700" y="5429250"/>
            <a:ext cx="6515100" cy="26479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 cấu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 tham gia, phần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5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 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5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25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5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 cảm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 ở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5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sau.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5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rằng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5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550" dirty="0"/>
          </a:p>
        </p:txBody>
      </p:sp>
      <p:sp>
        <p:nvSpPr>
          <p:cNvPr id="20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2079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8" name="Shape 25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2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3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4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5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Text 6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L09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07/48</a:t>
            </a:r>
            <a:endParaRPr lang="en-US" sz="1800" dirty="0"/>
          </a:p>
        </p:txBody>
      </p:sp>
      <p:sp>
        <p:nvSpPr>
          <p:cNvPr id="70" name="Shape 6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1" name="Moda image moda-export-watermark-6c33d7ed-5c30-4a8f-85c7-a86effa061b4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Panksepp:</a:t>
            </a:r>
            <a:r>
              <a:rPr lang="en-US" sz="57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bảy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 cảm</a:t>
            </a:r>
            <a:r>
              <a:rPr lang="en-US" sz="57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xúc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thủy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b="1" dirty="0" spc="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Jaak</a:t>
            </a:r>
            <a:r>
              <a:rPr lang="en-US" sz="2850" b="1" dirty="0" spc="-2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Panksepp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rằng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loài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vú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 cảm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8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dương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âm,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[S7]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bảy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hệ,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hoa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lẫn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thường: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SEEKING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(tìm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kiếm),</a:t>
            </a:r>
            <a:r>
              <a:rPr lang="en-US" sz="28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RAGE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(giận</a:t>
            </a:r>
            <a:r>
              <a:rPr lang="en-US" sz="2850" dirty="0" spc="4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dữ),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FEAR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(sợ),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LUST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(dục),</a:t>
            </a:r>
            <a:r>
              <a:rPr lang="en-US" sz="28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CARE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(chăm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sóc),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PANIC/GRIEF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(hoảng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 ly,</a:t>
            </a:r>
            <a:r>
              <a:rPr lang="en-US" sz="28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đau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buồn),</a:t>
            </a:r>
            <a:r>
              <a:rPr lang="en-US" sz="2850" dirty="0" spc="-4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PLAY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(chơi)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[S7]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chứng: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 thích</a:t>
            </a:r>
            <a:r>
              <a:rPr lang="en-US" sz="2850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8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850" dirty="0" spc="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xúc;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mạch nằm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vùng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loài;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thôi thúc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chơi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đùa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chuột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3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vỏ</a:t>
            </a:r>
            <a:r>
              <a:rPr lang="en-US" sz="2850" b="1" dirty="0" spc="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850" b="1" dirty="0" spc="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(neocortex)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sớm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[S7]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8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Mức</a:t>
            </a:r>
            <a:r>
              <a:rPr lang="en-US" sz="1950" dirty="0" spc="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chắc</a:t>
            </a:r>
            <a:r>
              <a:rPr lang="en-US" sz="1950" dirty="0" spc="-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chắn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giả</a:t>
            </a:r>
            <a:r>
              <a:rPr lang="en-US" sz="24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thuyết;</a:t>
            </a:r>
            <a:r>
              <a:rPr lang="en-US" sz="24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LeDoux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phản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bác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[S12]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Nền</a:t>
            </a:r>
            <a:r>
              <a:rPr lang="en-US" sz="1950" dirty="0" spc="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của</a:t>
            </a:r>
            <a:r>
              <a:rPr lang="en-US" sz="1950" dirty="0" spc="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giáo trình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mục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10.2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dẫn</a:t>
            </a:r>
            <a:r>
              <a:rPr lang="en-US" sz="24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Panksepp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 lần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nói</a:t>
            </a:r>
            <a:r>
              <a:rPr lang="en-US" sz="24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vỏ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240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vô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270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Shape 2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L09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08/48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1101c0ee-72ff-411a-af45-7321a3727c6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tầng</a:t>
            </a:r>
            <a:r>
              <a:rPr lang="en-US" sz="57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xử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</a:t>
            </a:r>
            <a:r>
              <a:rPr lang="en-US" sz="57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xúc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57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Panksepp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16459200" cy="1619250"/>
          </a:xfrm>
          <a:prstGeom prst="roundRect">
            <a:avLst>
              <a:gd name="adj" fmla="val 12941"/>
            </a:avLst>
          </a:prstGeom>
          <a:solidFill>
            <a:srgbClr val="4A3A22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95400" y="2857500"/>
            <a:ext cx="156972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7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tam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cấp: suy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nghĩ, nghiền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ngẫm,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850" b="1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chỉnh,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</a:t>
            </a:r>
            <a:r>
              <a:rPr lang="en-US" sz="285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8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581150" y="4629150"/>
            <a:ext cx="15125700" cy="1619250"/>
          </a:xfrm>
          <a:prstGeom prst="roundRect">
            <a:avLst>
              <a:gd name="adj" fmla="val 12941"/>
            </a:avLst>
          </a:prstGeom>
          <a:solidFill>
            <a:srgbClr val="1C4236"/>
          </a:solidFill>
          <a:ln w="38100">
            <a:solidFill>
              <a:srgbClr val="3D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62150" y="4629150"/>
            <a:ext cx="143637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7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cấp:</a:t>
            </a: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r>
              <a:rPr lang="en-US" sz="28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nhớ,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850" b="1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nỗi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</a:t>
            </a:r>
            <a:r>
              <a:rPr lang="en-US" sz="28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2247900" y="6400800"/>
            <a:ext cx="13792200" cy="1619250"/>
          </a:xfrm>
          <a:prstGeom prst="roundRect">
            <a:avLst>
              <a:gd name="adj" fmla="val 12941"/>
            </a:avLst>
          </a:prstGeom>
          <a:solidFill>
            <a:srgbClr val="4A2A24"/>
          </a:solidFill>
          <a:ln w="38100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28900" y="6400800"/>
            <a:ext cx="130302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7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Tầng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cấp:</a:t>
            </a:r>
            <a:r>
              <a:rPr lang="en-US" sz="28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8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 xúc bẩm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850" b="1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8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8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460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9" name="Shape 17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Text 5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L09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09/48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0" name="Moda image moda-export-watermark-fe401025-7937-4161-8bc6-71bb20f405c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Barrett: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</a:t>
            </a:r>
            <a:r>
              <a:rPr lang="en-US" sz="57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xúc</a:t>
            </a:r>
            <a:r>
              <a:rPr lang="en-US" sz="5700" dirty="0" spc="-7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kiến</a:t>
            </a:r>
            <a:r>
              <a:rPr lang="en-US" sz="57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tạo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Lisa</a:t>
            </a:r>
            <a:r>
              <a:rPr lang="en-US" sz="2850" b="1" dirty="0" spc="-2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Feldman</a:t>
            </a:r>
            <a:r>
              <a:rPr lang="en-US" sz="2850" b="1" dirty="0" spc="-1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Barrett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rằng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nhìn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</a:t>
            </a:r>
            <a:r>
              <a:rPr lang="en-US" sz="2850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điển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8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các từ cảm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quen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8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850" dirty="0" spc="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vân</a:t>
            </a:r>
            <a:r>
              <a:rPr lang="en-US" sz="28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[S9]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5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cảm xúc</a:t>
            </a:r>
            <a:r>
              <a:rPr lang="en-US" sz="285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285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(constructed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emotion)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 niệm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 loại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 giác,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8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8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[S9]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'Sợ'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phạm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8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850" dirty="0" spc="-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nhau,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 chung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nơron;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mạch khác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8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[S9]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8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Mức</a:t>
            </a:r>
            <a:r>
              <a:rPr lang="en-US" sz="1950" dirty="0" spc="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chắc</a:t>
            </a:r>
            <a:r>
              <a:rPr lang="en-US" sz="1950" dirty="0" spc="-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chắn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giả</a:t>
            </a:r>
            <a:r>
              <a:rPr lang="en-US" sz="24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thuyết,</a:t>
            </a:r>
            <a:r>
              <a:rPr lang="en-US" sz="24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đang</a:t>
            </a:r>
            <a:r>
              <a:rPr lang="en-US" sz="24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tranh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luận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Thoái</a:t>
            </a:r>
            <a:r>
              <a:rPr lang="en-US" sz="1950" dirty="0" spc="-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hóa</a:t>
            </a:r>
            <a:r>
              <a:rPr lang="en-US" sz="1950" dirty="0" spc="-8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(degeneracy)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nhiều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mạch,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cùng</a:t>
            </a:r>
            <a:r>
              <a:rPr lang="en-US" sz="24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400" dirty="0" spc="-2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kiến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tạo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 có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nghĩa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 giả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[S9]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651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Shape 2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L09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10/48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cffaa961-d8fb-407f-a0b7-c80ce2fb98c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Lindquist</a:t>
            </a:r>
            <a:r>
              <a:rPr lang="en-US" sz="57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cộng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sự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2012: phân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tích</a:t>
            </a:r>
            <a:r>
              <a:rPr lang="en-US" sz="57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gộp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ảnh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chụp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não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6670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8700" dirty="0"/>
          </a:p>
        </p:txBody>
      </p:sp>
      <p:sp>
        <p:nvSpPr>
          <p:cNvPr id="4" name="Shape 2"/>
          <p:cNvSpPr/>
          <p:nvPr/>
        </p:nvSpPr>
        <p:spPr>
          <a:xfrm>
            <a:off x="2724150" y="27622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7622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Ít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3000" dirty="0" spc="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chứng</a:t>
            </a:r>
            <a:r>
              <a:rPr lang="en-US" sz="300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rằng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mỗi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loại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xúc</a:t>
            </a:r>
            <a:r>
              <a:rPr lang="en-US" sz="3000" dirty="0" spc="1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vị</a:t>
            </a:r>
            <a:r>
              <a:rPr lang="en-US" sz="30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quán</a:t>
            </a:r>
            <a:r>
              <a:rPr lang="en-US" sz="300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3000" dirty="0" spc="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đặc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hiệu</a:t>
            </a:r>
            <a:r>
              <a:rPr lang="en-US" sz="30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vào</a:t>
            </a:r>
            <a:r>
              <a:rPr lang="en-US" sz="30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vùng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riêng</a:t>
            </a:r>
            <a:r>
              <a:rPr lang="en-US" sz="30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[S8]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42100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8700" dirty="0"/>
          </a:p>
        </p:txBody>
      </p:sp>
      <p:sp>
        <p:nvSpPr>
          <p:cNvPr id="7" name="Shape 5"/>
          <p:cNvSpPr/>
          <p:nvPr/>
        </p:nvSpPr>
        <p:spPr>
          <a:xfrm>
            <a:off x="2724150" y="43053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43053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tập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vùng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3000" dirty="0" spc="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tương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tác,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cũng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 xúc,</a:t>
            </a:r>
            <a:r>
              <a:rPr lang="en-US" sz="30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hoạt</a:t>
            </a:r>
            <a:r>
              <a:rPr lang="en-US" sz="30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300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30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loại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xúc</a:t>
            </a:r>
            <a:r>
              <a:rPr lang="en-US" sz="30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[S8]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575310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8700" dirty="0"/>
          </a:p>
        </p:txBody>
      </p:sp>
      <p:sp>
        <p:nvSpPr>
          <p:cNvPr id="10" name="Shape 8"/>
          <p:cNvSpPr/>
          <p:nvPr/>
        </p:nvSpPr>
        <p:spPr>
          <a:xfrm>
            <a:off x="2724150" y="584835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84835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Hạnh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</a:t>
            </a:r>
            <a:r>
              <a:rPr lang="en-US" sz="30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hoạt</a:t>
            </a:r>
            <a:r>
              <a:rPr lang="en-US" sz="30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30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nhìn</a:t>
            </a:r>
            <a:r>
              <a:rPr lang="en-US" sz="30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nét</a:t>
            </a:r>
            <a:r>
              <a:rPr lang="en-US" sz="30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mặt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sợ,</a:t>
            </a:r>
            <a:r>
              <a:rPr lang="en-US" sz="3000" dirty="0" spc="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nhưng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cũng</a:t>
            </a:r>
            <a:r>
              <a:rPr lang="en-US" sz="30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xúc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khác: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đặc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hiệu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sợ</a:t>
            </a:r>
            <a:r>
              <a:rPr lang="en-US" sz="30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[S8]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7296150"/>
            <a:ext cx="1619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700" dirty="0" spc="6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8700" dirty="0"/>
          </a:p>
        </p:txBody>
      </p:sp>
      <p:sp>
        <p:nvSpPr>
          <p:cNvPr id="13" name="Shape 11"/>
          <p:cNvSpPr/>
          <p:nvPr/>
        </p:nvSpPr>
        <p:spPr>
          <a:xfrm>
            <a:off x="2724150" y="7391400"/>
            <a:ext cx="1464945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3105150" y="7391400"/>
            <a:ext cx="14001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Tự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nêu</a:t>
            </a:r>
            <a:r>
              <a:rPr lang="en-US" sz="300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giới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hạn:</a:t>
            </a:r>
            <a:r>
              <a:rPr lang="en-US" sz="30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fMRI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 thể bỏ</a:t>
            </a:r>
            <a:r>
              <a:rPr lang="en-US" sz="30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sót</a:t>
            </a:r>
            <a:r>
              <a:rPr lang="en-US" sz="30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chuyên</a:t>
            </a:r>
            <a:r>
              <a:rPr lang="en-US" sz="30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biệt</a:t>
            </a:r>
            <a:r>
              <a:rPr lang="en-US" sz="30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3000" dirty="0" spc="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mức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mạch</a:t>
            </a:r>
            <a:r>
              <a:rPr lang="en-US" sz="30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nhỏ hơn</a:t>
            </a:r>
            <a:r>
              <a:rPr lang="en-US" sz="30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[S8]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841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7" name="Shape 25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L09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11/48</a:t>
            </a:r>
            <a:endParaRPr lang="en-US" sz="1800" dirty="0"/>
          </a:p>
        </p:txBody>
      </p:sp>
      <p:sp>
        <p:nvSpPr>
          <p:cNvPr id="65" name="Shape 6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6" name="Moda image moda-export-watermark-0ab330b3-7a32-46f1-a14e-88d95bcf0b3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nói</a:t>
            </a:r>
            <a:r>
              <a:rPr lang="en-US" sz="57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gì:</a:t>
            </a:r>
            <a:r>
              <a:rPr lang="en-US" sz="57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57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57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những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mạch</a:t>
            </a:r>
            <a:r>
              <a:rPr lang="en-US" sz="5700" dirty="0" spc="-6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dưới</a:t>
            </a:r>
            <a:r>
              <a:rPr lang="en-US" sz="5700" dirty="0" spc="-6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vỏ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Cảm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7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Panksepp</a:t>
            </a:r>
            <a:r>
              <a:rPr lang="en-US" sz="2550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mạch</a:t>
            </a:r>
            <a:r>
              <a:rPr lang="en-US" sz="25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55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nhận,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mọi</a:t>
            </a:r>
            <a:r>
              <a:rPr lang="en-US" sz="25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loài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vú</a:t>
            </a:r>
            <a:r>
              <a:rPr lang="en-US" sz="25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65151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65151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68961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68961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Kiến tạo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896100" y="60007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Lindquist</a:t>
            </a:r>
            <a:r>
              <a:rPr lang="en-US" sz="255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Barrett</a:t>
            </a:r>
            <a:r>
              <a:rPr lang="en-US" sz="2550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chúng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thao</a:t>
            </a:r>
            <a:r>
              <a:rPr lang="en-US" sz="25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bản,</a:t>
            </a:r>
            <a:r>
              <a:rPr lang="en-US" sz="25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5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dirty="0" spc="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550" dirty="0" spc="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5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 [S8]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21158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1158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4968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124968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LeDoux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2496800" y="60007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mạch</a:t>
            </a:r>
            <a:r>
              <a:rPr lang="en-US" sz="25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5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tồn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550" dirty="0" spc="-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550" dirty="0" spc="-3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giác; ông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phê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</a:t>
            </a:r>
            <a:r>
              <a:rPr lang="en-US" sz="25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5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5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giác</a:t>
            </a:r>
            <a:r>
              <a:rPr lang="en-US" sz="25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 [S12]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032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1" name="Shape 29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L09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12/48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9" name="Moda image moda-export-watermark-52f744ef-7466-49b6-9b4e-d1120950f54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Ham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muốn: cảm</a:t>
            </a:r>
            <a:r>
              <a:rPr lang="en-US" sz="57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xúc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5700" dirty="0" spc="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57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tìm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Ham</a:t>
            </a:r>
            <a:r>
              <a:rPr lang="en-US" sz="28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(desire)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thèm,</a:t>
            </a:r>
            <a:r>
              <a:rPr lang="en-US" sz="2850" dirty="0" spc="4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thưởng.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850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'muốn'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(wanting),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'tìm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kiếm'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(seeking)</a:t>
            </a:r>
            <a:r>
              <a:rPr lang="en-US" sz="28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hệ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hoạt,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r>
              <a:rPr lang="en-US" sz="28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tỏ</a:t>
            </a:r>
            <a:r>
              <a:rPr lang="en-US" sz="285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hăng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hái, quan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tò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mò; nó thúc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85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8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ăn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ngon,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tình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 thích dễ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chịu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hệ</a:t>
            </a: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yếu,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85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</a:t>
            </a:r>
            <a:r>
              <a:rPr lang="en-US" sz="28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trông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chán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nản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8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8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Mức</a:t>
            </a:r>
            <a:r>
              <a:rPr lang="en-US" sz="1950" dirty="0" spc="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chắc</a:t>
            </a:r>
            <a:r>
              <a:rPr lang="en-US" sz="195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chắn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giáo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khoa (mô</a:t>
            </a:r>
            <a:r>
              <a:rPr lang="en-US" sz="24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tả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hành vi)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Làm</a:t>
            </a:r>
            <a:r>
              <a:rPr lang="en-US" sz="195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gì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thúc</a:t>
            </a:r>
            <a:r>
              <a:rPr lang="en-US" sz="2400" dirty="0" spc="2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tìm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phần</a:t>
            </a:r>
            <a:r>
              <a:rPr lang="en-US" sz="24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thưởng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muốn không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 là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thích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222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1" name="Shape 2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L09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13/48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a69b7e62-7c6a-47c1-87ab-43162e79143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Ham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muốn: thẻ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 sơ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Mạch</a:t>
            </a:r>
            <a:r>
              <a:rPr lang="en-US" sz="2100" dirty="0" spc="-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chính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Vùng</a:t>
            </a:r>
            <a:r>
              <a:rPr lang="en-US" sz="255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dưới</a:t>
            </a:r>
            <a:r>
              <a:rPr lang="en-US" sz="2550" dirty="0" spc="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đồi</a:t>
            </a:r>
            <a:r>
              <a:rPr lang="en-US" sz="25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bên,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hạnh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nhân,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nhân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accumbens,</a:t>
            </a:r>
            <a:r>
              <a:rPr lang="en-US" sz="255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vỏ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</a:t>
            </a:r>
            <a:r>
              <a:rPr lang="en-US" sz="255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trán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[S2]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Chất</a:t>
            </a:r>
            <a:r>
              <a:rPr lang="en-US" sz="2100" dirty="0" spc="-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liên</a:t>
            </a:r>
            <a:r>
              <a:rPr lang="en-US" sz="2100" dirty="0" spc="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quan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Dopamine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</a:t>
            </a:r>
            <a:r>
              <a:rPr lang="en-US" sz="2550" dirty="0" spc="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đường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trung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-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viền</a:t>
            </a:r>
            <a:r>
              <a:rPr lang="en-US" sz="2550" dirty="0" spc="-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trung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-</a:t>
            </a:r>
            <a:r>
              <a:rPr lang="en-US" sz="255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vỏ</a:t>
            </a:r>
            <a:r>
              <a:rPr lang="en-US" sz="255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(xem</a:t>
            </a:r>
            <a:r>
              <a:rPr lang="en-US" sz="2550" dirty="0" spc="-3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L03,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L10)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[S2]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38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Vai</a:t>
            </a:r>
            <a:r>
              <a:rPr lang="en-US" sz="2100" dirty="0" spc="-9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trò</a:t>
            </a:r>
            <a:r>
              <a:rPr lang="en-US" sz="2100" dirty="0" spc="-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thích</a:t>
            </a:r>
            <a:r>
              <a:rPr lang="en-US" sz="2100" dirty="0" spc="-5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nghi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7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Tạo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hào</a:t>
            </a:r>
            <a:r>
              <a:rPr lang="en-US" sz="2550" dirty="0" spc="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hứng,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ý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nghĩa, mong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chờ;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đẩy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con</a:t>
            </a:r>
            <a:r>
              <a:rPr lang="en-US" sz="2550" dirty="0" spc="-2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vật</a:t>
            </a:r>
            <a:r>
              <a:rPr lang="en-US" sz="2550" dirty="0" spc="3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tìm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thứ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nó cần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[S2]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Khi</a:t>
            </a:r>
            <a:r>
              <a:rPr lang="en-US" sz="2100" dirty="0" spc="-8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mất</a:t>
            </a:r>
            <a:r>
              <a:rPr lang="en-US" sz="2100" dirty="0" spc="-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cân</a:t>
            </a:r>
            <a:r>
              <a:rPr lang="en-US" sz="2100" dirty="0" spc="-5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bằng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Quá</a:t>
            </a:r>
            <a:r>
              <a:rPr lang="en-US" sz="240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yếu: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chán</a:t>
            </a:r>
            <a:r>
              <a:rPr lang="en-US" sz="24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nản;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liều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cao</a:t>
            </a:r>
            <a:r>
              <a:rPr lang="en-US" sz="24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thuốc</a:t>
            </a:r>
            <a:r>
              <a:rPr lang="en-US" sz="240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đồng</a:t>
            </a:r>
            <a:r>
              <a:rPr lang="en-US" sz="2400" dirty="0" spc="-1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vận</a:t>
            </a:r>
            <a:r>
              <a:rPr lang="en-US" sz="24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dopamine: thôi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thúc</a:t>
            </a:r>
            <a:r>
              <a:rPr lang="en-US" sz="2400" dirty="0" spc="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cưỡng</a:t>
            </a:r>
            <a:r>
              <a:rPr lang="en-US" sz="2400" dirty="0" spc="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bức,</a:t>
            </a:r>
            <a:r>
              <a:rPr lang="en-US" sz="24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ít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khoái</a:t>
            </a:r>
            <a:r>
              <a:rPr lang="en-US" sz="24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cảm</a:t>
            </a:r>
            <a:r>
              <a:rPr lang="en-US" sz="2400" dirty="0" spc="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000"/>
              </a:lnSpc>
              <a:buNone/>
            </a:pPr>
            <a:r>
              <a:rPr lang="en-US" sz="24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[S2]</a:t>
            </a:r>
            <a:r>
              <a:rPr lang="en-US" sz="24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[S10]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Khác</a:t>
            </a:r>
            <a:r>
              <a:rPr lang="en-US" sz="2100" dirty="0" spc="-5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cảm</a:t>
            </a:r>
            <a:r>
              <a:rPr lang="en-US" sz="2100" dirty="0" spc="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giác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Đo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bằng việc con</a:t>
            </a:r>
            <a:r>
              <a:rPr lang="en-US" sz="2550" dirty="0" spc="-2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vật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chịu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làm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việc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bao nhiêu</a:t>
            </a:r>
            <a:r>
              <a:rPr lang="en-US" sz="2550" dirty="0" spc="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để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phần</a:t>
            </a:r>
            <a:r>
              <a:rPr lang="en-US" sz="25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thưởng,</a:t>
            </a:r>
            <a:r>
              <a:rPr lang="en-US" sz="255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tức</a:t>
            </a:r>
            <a:r>
              <a:rPr lang="en-US" sz="2550" dirty="0" spc="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đo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hành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[S2]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206817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6817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1244917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2100" dirty="0" spc="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2100" dirty="0" spc="-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44917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"Điện</a:t>
            </a:r>
            <a:r>
              <a:rPr lang="en-US" sz="2550" dirty="0" spc="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cực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khoái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cảm" có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lẽ</a:t>
            </a:r>
            <a:r>
              <a:rPr lang="en-US" sz="255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tạo</a:t>
            </a:r>
            <a:r>
              <a:rPr lang="en-US" sz="2550" dirty="0" spc="-2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ra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muốn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nhiều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hơn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thích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[S10]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413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2" name="Shape 40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L09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14/48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8" name="Moda image moda-export-watermark-ba1861a5-cbc3-46ca-8c9b-f10f6734429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Mạch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ham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muốn</a:t>
            </a:r>
            <a:endParaRPr lang="en-US" sz="5700" dirty="0"/>
          </a:p>
        </p:txBody>
      </p:sp>
      <p:sp>
        <p:nvSpPr>
          <p:cNvPr id="3" name="Connector line-1792597116769-285417218"/>
          <p:cNvSpPr/>
          <p:nvPr/>
        </p:nvSpPr>
        <p:spPr>
          <a:xfrm flipH="1" flipV="1">
            <a:off x="3619500" y="3619500"/>
            <a:ext cx="5524500" cy="2000250"/>
          </a:xfrm>
          <a:prstGeom prst="line">
            <a:avLst/>
          </a:prstGeom>
          <a:noFill/>
          <a:ln w="57150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4" name="Connector line-1792597116769-552837176"/>
          <p:cNvSpPr/>
          <p:nvPr/>
        </p:nvSpPr>
        <p:spPr>
          <a:xfrm flipV="1">
            <a:off x="9144000" y="3619500"/>
            <a:ext cx="5524500" cy="2000250"/>
          </a:xfrm>
          <a:prstGeom prst="line">
            <a:avLst/>
          </a:prstGeom>
          <a:noFill/>
          <a:ln w="57150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5" name="Connector line-1792597116769-666836074"/>
          <p:cNvSpPr/>
          <p:nvPr/>
        </p:nvSpPr>
        <p:spPr>
          <a:xfrm flipH="1">
            <a:off x="3619500" y="5619750"/>
            <a:ext cx="5524500" cy="2000250"/>
          </a:xfrm>
          <a:prstGeom prst="line">
            <a:avLst/>
          </a:prstGeom>
          <a:noFill/>
          <a:ln w="5715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6" name="Connector line-1792597116769-590518795"/>
          <p:cNvSpPr/>
          <p:nvPr/>
        </p:nvSpPr>
        <p:spPr>
          <a:xfrm>
            <a:off x="9144000" y="5619750"/>
            <a:ext cx="5524500" cy="2000250"/>
          </a:xfrm>
          <a:prstGeom prst="line">
            <a:avLst/>
          </a:prstGeom>
          <a:noFill/>
          <a:ln w="57150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953250" y="4191000"/>
            <a:ext cx="4381500" cy="28575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8" name="Text 6"/>
          <p:cNvSpPr/>
          <p:nvPr/>
        </p:nvSpPr>
        <p:spPr>
          <a:xfrm>
            <a:off x="7239000" y="4476750"/>
            <a:ext cx="3810000" cy="2286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ctr"/>
          <a:lstStyle/>
          <a:p>
            <a:pPr algn="ctr" indent="0" marL="0">
              <a:lnSpc>
                <a:spcPts val="3630"/>
              </a:lnSpc>
              <a:buNone/>
            </a:pPr>
            <a:r>
              <a:rPr lang="en-US" sz="3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Mạch</a:t>
            </a:r>
            <a:r>
              <a:rPr lang="en-US" sz="3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ham</a:t>
            </a: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muốn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1047750" y="28575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47625">
            <a:solidFill>
              <a:srgbClr val="FFB4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33500" y="28575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Vùng</a:t>
            </a:r>
            <a:r>
              <a:rPr lang="en-US" sz="2550" b="1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đồi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bên: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chuột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nhấn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kích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5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96750" y="28575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47625">
            <a:solidFill>
              <a:srgbClr val="3D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82500" y="28575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Dopamine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55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047750" y="685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47625">
            <a:solidFill>
              <a:srgbClr val="FF6A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33500" y="685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Hạnh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nhân,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accumbens: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ham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12096750" y="685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1E212B"/>
          </a:solidFill>
          <a:ln w="47625">
            <a:solidFill>
              <a:srgbClr val="7C9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82500" y="685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7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Vỏ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trái: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mạnh hơn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ham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muốn,</a:t>
            </a:r>
            <a:r>
              <a:rPr lang="en-US" sz="2550" b="1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hứng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thú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603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3" name="Shape 3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L09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15/48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f8254692-2ab4-4e1b-8084-fec09b07567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món</a:t>
            </a:r>
            <a:r>
              <a:rPr lang="en-US" sz="57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ngon,</a:t>
            </a:r>
            <a:r>
              <a:rPr lang="en-US" sz="57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trán</a:t>
            </a:r>
            <a:r>
              <a:rPr lang="en-US" sz="57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trái</a:t>
            </a:r>
            <a:r>
              <a:rPr lang="en-US" sz="57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hoạt</a:t>
            </a:r>
            <a:r>
              <a:rPr lang="en-US" sz="57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8953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DDD5C1"/>
            </a:solidFill>
            <a:prstDash val="solid"/>
          </a:ln>
        </p:spPr>
      </p:sp>
      <p:pic>
        <p:nvPicPr>
          <p:cNvPr id="4" name="Moda image rect-1792597119219-28238919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26926" y="2438400"/>
            <a:ext cx="5728447" cy="571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 Noba,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Public Domain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sách;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Hove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Martinez,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(chương 10)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0248900" y="2247900"/>
            <a:ext cx="712470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7" name="Shape 4"/>
          <p:cNvSpPr/>
          <p:nvPr/>
        </p:nvSpPr>
        <p:spPr>
          <a:xfrm>
            <a:off x="10248900" y="2247900"/>
            <a:ext cx="114300" cy="990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8" name="Text 5"/>
          <p:cNvSpPr/>
          <p:nvPr/>
        </p:nvSpPr>
        <p:spPr>
          <a:xfrm>
            <a:off x="10591800" y="2343150"/>
            <a:ext cx="6591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Hình</a:t>
            </a:r>
            <a:r>
              <a:rPr lang="en-US" sz="2250" dirty="0" spc="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minh</a:t>
            </a:r>
            <a:r>
              <a:rPr lang="en-US" sz="2250" dirty="0" spc="-6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họa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0591800" y="2647950"/>
            <a:ext cx="6591300" cy="5524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nhìn</a:t>
            </a:r>
            <a:r>
              <a:rPr lang="en-US" sz="25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món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ăn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hấp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dẫn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0248900" y="3390900"/>
            <a:ext cx="712470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11" name="Shape 8"/>
          <p:cNvSpPr/>
          <p:nvPr/>
        </p:nvSpPr>
        <p:spPr>
          <a:xfrm>
            <a:off x="10248900" y="3390900"/>
            <a:ext cx="114300" cy="9906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2" name="Text 9"/>
          <p:cNvSpPr/>
          <p:nvPr/>
        </p:nvSpPr>
        <p:spPr>
          <a:xfrm>
            <a:off x="10591800" y="3486150"/>
            <a:ext cx="6591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Bằng</a:t>
            </a:r>
            <a:r>
              <a:rPr lang="en-US" sz="2250" dirty="0" spc="19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chứng</a:t>
            </a:r>
            <a:r>
              <a:rPr lang="en-US" sz="2250" dirty="0" spc="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ở</a:t>
            </a:r>
            <a:r>
              <a:rPr lang="en-US" sz="2250" dirty="0" spc="1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người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0591800" y="3790950"/>
            <a:ext cx="6591300" cy="5524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tương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</a:t>
            </a:r>
            <a:r>
              <a:rPr lang="en-US" sz="25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EEG,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fMRI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10248900" y="4533900"/>
            <a:ext cx="7124700" cy="3810000"/>
          </a:xfrm>
          <a:prstGeom prst="roundRect">
            <a:avLst>
              <a:gd name="adj" fmla="val 5000"/>
            </a:avLst>
          </a:prstGeom>
          <a:solidFill>
            <a:srgbClr val="DDE3FA"/>
          </a:solidFill>
          <a:ln/>
        </p:spPr>
      </p:sp>
      <p:sp>
        <p:nvSpPr>
          <p:cNvPr id="15" name="Text 12"/>
          <p:cNvSpPr/>
          <p:nvPr/>
        </p:nvSpPr>
        <p:spPr>
          <a:xfrm>
            <a:off x="10553700" y="4800600"/>
            <a:ext cx="6515100" cy="32766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Ở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vật,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2550" b="1" dirty="0" spc="-3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vỏ</a:t>
            </a:r>
            <a:r>
              <a:rPr lang="en-US" sz="255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550" b="1" dirty="0" spc="-9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 trái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mạnh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khi ham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hứng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thú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550" dirty="0" spc="-7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Trẻ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 2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tuổi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nếm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nước</a:t>
            </a:r>
            <a:r>
              <a:rPr lang="en-US" sz="25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đường;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5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vậy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món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miệng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550" dirty="0"/>
          </a:p>
        </p:txBody>
      </p:sp>
      <p:sp>
        <p:nvSpPr>
          <p:cNvPr id="16" name="Text 1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3794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3" name="Shape 30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Text 62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L09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16/48</a:t>
            </a:r>
            <a:endParaRPr lang="en-US" sz="1800" dirty="0"/>
          </a:p>
        </p:txBody>
      </p:sp>
      <p:sp>
        <p:nvSpPr>
          <p:cNvPr id="66" name="Shape 6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7" name="Moda image moda-export-watermark-dcf7442f-b179-4374-94cc-fde155b9a54c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Thích:</a:t>
            </a:r>
            <a:r>
              <a:rPr lang="en-US" sz="57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khoái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 khi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r>
              <a:rPr lang="en-US" sz="5700" dirty="0" spc="-7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b="1" dirty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Thích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(liking)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khoái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thưởng.</a:t>
            </a:r>
            <a:r>
              <a:rPr lang="en-US" sz="28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ham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thưởng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850" dirty="0" spc="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nó,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 trúc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thưởng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ham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trẻ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vật,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tốc</a:t>
            </a:r>
            <a:r>
              <a:rPr lang="en-US" sz="28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liếm,</a:t>
            </a:r>
            <a:r>
              <a:rPr lang="en-US" sz="285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thè</a:t>
            </a:r>
            <a:r>
              <a:rPr lang="en-US" sz="28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lưỡi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nét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vui;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8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 sàng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850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8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thưởng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850" dirty="0" spc="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xảy</a:t>
            </a:r>
            <a:r>
              <a:rPr lang="en-US" sz="2850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850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[S10]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8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Mức</a:t>
            </a:r>
            <a:r>
              <a:rPr lang="en-US" sz="1950" dirty="0" spc="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chắc</a:t>
            </a:r>
            <a:r>
              <a:rPr lang="en-US" sz="195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chắn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8992" rIns="0" bIns="-18992" rtlCol="0" anchor="t"/>
          <a:lstStyle/>
          <a:p>
            <a:pPr algn="l" indent="0" marL="0">
              <a:lnSpc>
                <a:spcPts val="2921"/>
              </a:lnSpc>
              <a:buNone/>
            </a:pPr>
            <a:r>
              <a:rPr lang="en-US" sz="2394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giáo</a:t>
            </a:r>
            <a:r>
              <a:rPr lang="en-US" sz="2394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khoa,</a:t>
            </a:r>
            <a:r>
              <a:rPr lang="en-US" sz="2394" dirty="0" spc="-3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2394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</a:t>
            </a:r>
            <a:r>
              <a:rPr lang="en-US" sz="2394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chủ</a:t>
            </a:r>
            <a:r>
              <a:rPr lang="en-US" sz="2394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yếu</a:t>
            </a:r>
            <a:r>
              <a:rPr lang="en-US" sz="2394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2394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chuột</a:t>
            </a:r>
            <a:endParaRPr lang="en-US" sz="2394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Đo</a:t>
            </a:r>
            <a:r>
              <a:rPr lang="en-US" sz="1950" dirty="0" spc="-5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bằng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nét</a:t>
            </a:r>
            <a:r>
              <a:rPr lang="en-US" sz="24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mặt</a:t>
            </a:r>
            <a:r>
              <a:rPr lang="en-US" sz="24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vị</a:t>
            </a:r>
            <a:r>
              <a:rPr lang="en-US" sz="2400" dirty="0" spc="-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ngọt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Xem</a:t>
            </a:r>
            <a:r>
              <a:rPr lang="en-US" sz="1950" dirty="0" spc="-7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thêm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cơ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chế</a:t>
            </a: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dopamine</a:t>
            </a:r>
            <a:r>
              <a:rPr lang="en-US" sz="24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400" dirty="0" spc="-3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L05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984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5" name="Shape 3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L09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17/48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2aa03447-fd87-4d64-b3d7-5b360c0e65c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Mạch</a:t>
            </a:r>
            <a:r>
              <a:rPr lang="en-US" sz="5700" dirty="0" spc="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điểm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nóng</a:t>
            </a:r>
            <a:r>
              <a:rPr lang="en-US" sz="57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khoái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" y="3714750"/>
            <a:ext cx="647700" cy="6477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1920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Kích</a:t>
            </a:r>
            <a:r>
              <a:rPr lang="en-US" sz="21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thích thụ</a:t>
            </a:r>
            <a:r>
              <a:rPr lang="en-US" sz="21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21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mu-opioid ở</a:t>
            </a:r>
            <a:r>
              <a:rPr lang="en-US" sz="2100" dirty="0" spc="1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điểm</a:t>
            </a:r>
            <a:r>
              <a:rPr lang="en-US" sz="21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nóng</a:t>
            </a:r>
            <a:r>
              <a:rPr lang="en-US" sz="21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</a:t>
            </a:r>
            <a:r>
              <a:rPr lang="en-US" sz="21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accumbens</a:t>
            </a:r>
            <a:r>
              <a:rPr lang="en-US" sz="21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(ở</a:t>
            </a:r>
            <a:r>
              <a:rPr lang="en-US" sz="21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chuột,</a:t>
            </a:r>
            <a:r>
              <a:rPr lang="en-US" sz="21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khoảng</a:t>
            </a:r>
            <a:r>
              <a:rPr lang="en-US" sz="21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10%</a:t>
            </a:r>
            <a:r>
              <a:rPr lang="en-US" sz="21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21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tích</a:t>
            </a:r>
            <a:r>
              <a:rPr lang="en-US" sz="21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nhân) [S10]</a:t>
            </a:r>
            <a:endParaRPr lang="en-US" sz="2100" dirty="0"/>
          </a:p>
        </p:txBody>
      </p:sp>
      <p:sp>
        <p:nvSpPr>
          <p:cNvPr id="7" name="Connector line-1792597121181-985848198"/>
          <p:cNvSpPr/>
          <p:nvPr/>
        </p:nvSpPr>
        <p:spPr>
          <a:xfrm>
            <a:off x="461010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20065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3714750"/>
            <a:ext cx="647700" cy="6477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550545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Chặn opioid ở</a:t>
            </a:r>
            <a:r>
              <a:rPr lang="en-US" sz="255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550" dirty="0" spc="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điểm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thì</a:t>
            </a:r>
            <a:r>
              <a:rPr lang="en-US" sz="25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kích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thích</a:t>
            </a:r>
            <a:r>
              <a:rPr lang="en-US" sz="2550" dirty="0" spc="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điểm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kia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 còn</a:t>
            </a:r>
            <a:r>
              <a:rPr lang="en-US" sz="25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tăng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thích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[S10]</a:t>
            </a:r>
            <a:endParaRPr lang="en-US" sz="2550" dirty="0"/>
          </a:p>
        </p:txBody>
      </p:sp>
      <p:sp>
        <p:nvSpPr>
          <p:cNvPr id="12" name="Connector line-1792597121185-40418947"/>
          <p:cNvSpPr/>
          <p:nvPr/>
        </p:nvSpPr>
        <p:spPr>
          <a:xfrm>
            <a:off x="8886825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477375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63125" y="3714750"/>
            <a:ext cx="647700" cy="647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5" name="Text 13"/>
          <p:cNvSpPr/>
          <p:nvPr/>
        </p:nvSpPr>
        <p:spPr>
          <a:xfrm>
            <a:off x="97631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782175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Phản</a:t>
            </a:r>
            <a:r>
              <a:rPr lang="en-US" sz="2700" dirty="0" spc="3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ứng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thích</a:t>
            </a:r>
            <a:r>
              <a:rPr lang="en-US" sz="27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vị</a:t>
            </a:r>
            <a:r>
              <a:rPr lang="en-US" sz="270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ngọt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tăng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ít</a:t>
            </a: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gấp</a:t>
            </a:r>
            <a:r>
              <a:rPr lang="en-US" sz="2700" dirty="0" spc="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đôi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[S10]</a:t>
            </a:r>
            <a:endParaRPr lang="en-US" sz="2700" dirty="0"/>
          </a:p>
        </p:txBody>
      </p:sp>
      <p:sp>
        <p:nvSpPr>
          <p:cNvPr id="17" name="Connector line-1792597121188-108662622"/>
          <p:cNvSpPr/>
          <p:nvPr/>
        </p:nvSpPr>
        <p:spPr>
          <a:xfrm>
            <a:off x="1316355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375410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039850" y="3714750"/>
            <a:ext cx="647700" cy="6477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20" name="Text 18"/>
          <p:cNvSpPr/>
          <p:nvPr/>
        </p:nvSpPr>
        <p:spPr>
          <a:xfrm>
            <a:off x="140398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405890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Điểm lạnh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phía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sau: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cùng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kích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thích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27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giảm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thích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[S10]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1751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1" name="Shape 39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L09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18/48</a:t>
            </a:r>
            <a:endParaRPr lang="en-US" sz="1800" dirty="0"/>
          </a:p>
        </p:txBody>
      </p:sp>
      <p:sp>
        <p:nvSpPr>
          <p:cNvPr id="72" name="Shape 7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3" name="Moda image moda-export-watermark-a87458aa-528b-493b-998c-6b8e270e95d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Thích: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 hồ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sơ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Mạch</a:t>
            </a:r>
            <a:r>
              <a:rPr lang="en-US" sz="2100" dirty="0" spc="-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chính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Điểm</a:t>
            </a:r>
            <a:r>
              <a:rPr lang="en-US" sz="24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nóng</a:t>
            </a:r>
            <a:r>
              <a:rPr lang="en-US" sz="24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nhỏ</a:t>
            </a:r>
            <a:r>
              <a:rPr lang="en-US" sz="240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trong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nhân</a:t>
            </a:r>
            <a:r>
              <a:rPr lang="en-US" sz="24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accumbens</a:t>
            </a:r>
            <a:r>
              <a:rPr lang="en-US" sz="240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400" dirty="0" spc="-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nhạt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cầu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bụng;</a:t>
            </a:r>
            <a:r>
              <a:rPr lang="en-US" sz="2400" dirty="0" spc="-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vỏ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</a:t>
            </a:r>
            <a:r>
              <a:rPr lang="en-US" sz="240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trán</a:t>
            </a:r>
            <a:r>
              <a:rPr lang="en-US" sz="24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ổ</a:t>
            </a:r>
            <a:r>
              <a:rPr lang="en-US" sz="240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mắt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biểu</a:t>
            </a:r>
            <a:r>
              <a:rPr lang="en-US" sz="24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diễn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khoái</a:t>
            </a:r>
            <a:r>
              <a:rPr lang="en-US" sz="24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cảm</a:t>
            </a:r>
            <a:r>
              <a:rPr lang="en-US" sz="24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000"/>
              </a:lnSpc>
              <a:buNone/>
            </a:pPr>
            <a:r>
              <a:rPr lang="en-US" sz="24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[S2]</a:t>
            </a:r>
            <a:r>
              <a:rPr lang="en-US" sz="24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[S10]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Chất</a:t>
            </a:r>
            <a:r>
              <a:rPr lang="en-US" sz="2100" dirty="0" spc="-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liên</a:t>
            </a:r>
            <a:r>
              <a:rPr lang="en-US" sz="2100" dirty="0" spc="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quan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Opioid</a:t>
            </a:r>
            <a:r>
              <a:rPr lang="en-US" sz="2550" dirty="0" spc="-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endocannabinoid</a:t>
            </a:r>
            <a:r>
              <a:rPr lang="en-US" sz="2550" dirty="0" spc="-1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(xem</a:t>
            </a:r>
            <a:r>
              <a:rPr lang="en-US" sz="2550" dirty="0" spc="-3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L03)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[S2]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38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Vai</a:t>
            </a:r>
            <a:r>
              <a:rPr lang="en-US" sz="2100" dirty="0" spc="-9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trò</a:t>
            </a:r>
            <a:r>
              <a:rPr lang="en-US" sz="2100" dirty="0" spc="-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thích</a:t>
            </a:r>
            <a:r>
              <a:rPr lang="en-US" sz="2100" dirty="0" spc="-5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nghi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Khoái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cảm</a:t>
            </a:r>
            <a:r>
              <a:rPr lang="en-US" sz="2550" dirty="0" spc="-3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rất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khác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nhau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kích</a:t>
            </a:r>
            <a:r>
              <a:rPr lang="en-US" sz="255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hoạt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mạch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giống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nhau,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như một</a:t>
            </a:r>
            <a:r>
              <a:rPr lang="en-US" sz="255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đồng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tiền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chung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[S10]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Khi</a:t>
            </a:r>
            <a:r>
              <a:rPr lang="en-US" sz="2100" dirty="0" spc="-8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mất</a:t>
            </a:r>
            <a:r>
              <a:rPr lang="en-US" sz="2100" dirty="0" spc="-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cân</a:t>
            </a:r>
            <a:r>
              <a:rPr lang="en-US" sz="2100" dirty="0" spc="-5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bằng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Mất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khoái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cảm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(anhedonia);</a:t>
            </a:r>
            <a:r>
              <a:rPr lang="en-US" sz="255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chuột,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hỏng</a:t>
            </a:r>
            <a:r>
              <a:rPr lang="en-US" sz="2550" dirty="0" spc="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điểm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nóng</a:t>
            </a:r>
            <a:r>
              <a:rPr lang="en-US" sz="255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nhạt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cầu bụng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làm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vị</a:t>
            </a:r>
            <a:r>
              <a:rPr lang="en-US" sz="2550" dirty="0" spc="-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ngọt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thành</a:t>
            </a:r>
            <a:r>
              <a:rPr lang="en-US" sz="2550" dirty="0" spc="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đáng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ghê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[S10]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Khác</a:t>
            </a:r>
            <a:r>
              <a:rPr lang="en-US" sz="2100" dirty="0" spc="-5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cảm</a:t>
            </a:r>
            <a:r>
              <a:rPr lang="en-US" sz="2100" dirty="0" spc="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giác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Phản</a:t>
            </a:r>
            <a:r>
              <a:rPr lang="en-US" sz="2550" dirty="0" spc="2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ứng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thích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</a:t>
            </a:r>
            <a:r>
              <a:rPr lang="en-US" sz="255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vô</a:t>
            </a:r>
            <a:r>
              <a:rPr lang="en-US" sz="2550" dirty="0" spc="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thức;</a:t>
            </a:r>
            <a:r>
              <a:rPr lang="en-US" sz="2550" dirty="0" spc="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điểm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tự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chấm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 lệch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do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cách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hỏi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[S10]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206817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6817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1244917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2100" dirty="0" spc="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2100" dirty="0" spc="-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44917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Dopamine không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phải</a:t>
            </a:r>
            <a:r>
              <a:rPr lang="en-US" sz="255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chất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khoái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cảm: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bằng</a:t>
            </a:r>
            <a:r>
              <a:rPr lang="en-US" sz="2550" dirty="0" spc="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chứng</a:t>
            </a:r>
            <a:r>
              <a:rPr lang="en-US" sz="2550" dirty="0" spc="-1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xem</a:t>
            </a:r>
            <a:r>
              <a:rPr lang="en-US" sz="2550" dirty="0" spc="-4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L05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[S10]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3656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7" name="Shape 4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L09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19/48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8" name="Moda image moda-export-watermark-2d30edc8-1baa-4aff-9bb2-bb3b467d1d6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Muốn</a:t>
            </a:r>
            <a:r>
              <a:rPr lang="en-US" sz="57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thích:</a:t>
            </a:r>
            <a:r>
              <a:rPr lang="en-US" sz="57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nhau, mạch khác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F3DFB8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Muốn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31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31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31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việc</a:t>
            </a:r>
            <a:r>
              <a:rPr lang="en-US" sz="31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31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thưởng;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31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31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rộng,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31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</a:t>
            </a:r>
            <a:r>
              <a:rPr lang="en-US" sz="31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3150" dirty="0" spc="-4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31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CFE8E2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Thích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31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31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nét</a:t>
            </a:r>
            <a:r>
              <a:rPr lang="en-US" sz="31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mặt,</a:t>
            </a:r>
            <a:r>
              <a:rPr lang="en-US" sz="31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tốc</a:t>
            </a:r>
            <a:r>
              <a:rPr lang="en-US" sz="31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liếm</a:t>
            </a:r>
            <a:r>
              <a:rPr lang="en-US" sz="31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31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ngọt;</a:t>
            </a:r>
            <a:r>
              <a:rPr lang="en-US" sz="31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31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31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31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nóng</a:t>
            </a:r>
            <a:r>
              <a:rPr lang="en-US" sz="31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31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3150" dirty="0" spc="-4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31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 [S10]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E8E0CF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429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6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Tách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khỏi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nhau:</a:t>
            </a:r>
            <a:r>
              <a:rPr lang="en-US" sz="28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người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nghiện</a:t>
            </a:r>
            <a:r>
              <a:rPr lang="en-US" sz="28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thường</a:t>
            </a:r>
            <a:r>
              <a:rPr lang="en-US" sz="28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vẫn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thèm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</a:t>
            </a:r>
            <a:r>
              <a:rPr lang="en-US" sz="28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biết</a:t>
            </a:r>
            <a:r>
              <a:rPr lang="en-US" sz="28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thứ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</a:t>
            </a:r>
            <a:r>
              <a:rPr lang="en-US" sz="28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sẵn</a:t>
            </a:r>
            <a:r>
              <a:rPr lang="en-US" sz="28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sẽ</a:t>
            </a:r>
            <a:r>
              <a:rPr lang="en-US" sz="28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850" dirty="0" spc="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đem</a:t>
            </a:r>
            <a:r>
              <a:rPr lang="en-US" sz="28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28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khoái</a:t>
            </a:r>
            <a:r>
              <a:rPr lang="en-US" sz="28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 [S2];</a:t>
            </a:r>
            <a:r>
              <a:rPr lang="en-US" sz="28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cơ chế</a:t>
            </a:r>
            <a:r>
              <a:rPr lang="en-US" sz="28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dopamine</a:t>
            </a:r>
            <a:r>
              <a:rPr lang="en-US" sz="285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xem</a:t>
            </a:r>
            <a:r>
              <a:rPr lang="en-US" sz="2850" dirty="0" spc="-3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L05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556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4" name="Shape 32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L09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20/48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4" name="Moda image moda-export-watermark-57d75ef5-9e09-4f0f-8cba-4d5fe6c6cca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6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Sợ:</a:t>
            </a:r>
            <a:r>
              <a:rPr lang="en-US" sz="5700" dirty="0" spc="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đứng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im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bỏ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Sợ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(fear)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chịu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thúc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đẩy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</a:t>
            </a:r>
            <a:r>
              <a:rPr lang="en-US" sz="28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tránh</a:t>
            </a:r>
            <a:r>
              <a:rPr lang="en-US" sz="28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tình huống có thể</a:t>
            </a:r>
            <a:r>
              <a:rPr lang="en-US" sz="285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hại</a:t>
            </a:r>
            <a:r>
              <a:rPr lang="en-US" sz="28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 nhẹ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8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85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3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đứng</a:t>
            </a:r>
            <a:r>
              <a:rPr lang="en-US" sz="2850" b="1" dirty="0" spc="5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(freezing),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 mạnh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8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8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LeDoux tổng</a:t>
            </a:r>
            <a:r>
              <a:rPr lang="en-US" sz="2850" dirty="0" spc="-4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8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rằng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hạnh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phần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8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8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 nhận,</a:t>
            </a:r>
            <a:r>
              <a:rPr lang="en-US" sz="2850" dirty="0" spc="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hiện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85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8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sợ,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nhờ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2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8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850" b="1" dirty="0" spc="-8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85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nỗi sợ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(fear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conditioning)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[S11]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8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Mức</a:t>
            </a:r>
            <a:r>
              <a:rPr lang="en-US" sz="1950" dirty="0" spc="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chắc</a:t>
            </a:r>
            <a:r>
              <a:rPr lang="en-US" sz="195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chắn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giáo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khoa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240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vật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Đo</a:t>
            </a:r>
            <a:r>
              <a:rPr lang="en-US" sz="1950" dirty="0" spc="-5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bằng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đứng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im,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bỏ</a:t>
            </a:r>
            <a:r>
              <a:rPr lang="en-US" sz="24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chạy,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phản</a:t>
            </a:r>
            <a:r>
              <a:rPr lang="en-US" sz="2400" dirty="0" spc="2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ứng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cơ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Cấu</a:t>
            </a:r>
            <a:r>
              <a:rPr lang="en-US" sz="1950" dirty="0" spc="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trúc</a:t>
            </a:r>
            <a:r>
              <a:rPr lang="en-US" sz="1950" dirty="0" spc="-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hạnh nhân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2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xem</a:t>
            </a:r>
            <a:r>
              <a:rPr lang="en-US" sz="2400" dirty="0" spc="-3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L07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[S11]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746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9" name="Shape 3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L09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21/48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f9f4997f-7fae-4bc8-8c0d-405005fb9a2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6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Sợ: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 sơ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Mạch</a:t>
            </a:r>
            <a:r>
              <a:rPr lang="en-US" sz="2100" dirty="0" spc="-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chính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Nhân trung tâm hạnh nhân → chất xám quanh cống não ở não giữa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[S2]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Chất</a:t>
            </a:r>
            <a:r>
              <a:rPr lang="en-US" sz="2100" dirty="0" spc="-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liên</a:t>
            </a:r>
            <a:r>
              <a:rPr lang="en-US" sz="2100" dirty="0" spc="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quan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Glutamate,</a:t>
            </a:r>
            <a:r>
              <a:rPr lang="en-US" sz="24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CRF,</a:t>
            </a:r>
            <a:r>
              <a:rPr lang="en-US" sz="2400" dirty="0" spc="-3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ACTH,</a:t>
            </a:r>
            <a:r>
              <a:rPr lang="en-US" sz="240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neuropeptide;</a:t>
            </a:r>
            <a:r>
              <a:rPr lang="en-US" sz="240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benzodiazepine</a:t>
            </a:r>
            <a:r>
              <a:rPr lang="en-US" sz="2400" dirty="0" spc="1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ức</a:t>
            </a:r>
            <a:r>
              <a:rPr lang="en-US" sz="24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chế;</a:t>
            </a:r>
            <a:r>
              <a:rPr lang="en-US" sz="240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noradrenaline</a:t>
            </a:r>
            <a:r>
              <a:rPr lang="en-US" sz="24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củng</a:t>
            </a:r>
            <a:r>
              <a:rPr lang="en-US" sz="24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cố</a:t>
            </a:r>
            <a:r>
              <a:rPr lang="en-US" sz="24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ký</a:t>
            </a:r>
            <a:r>
              <a:rPr lang="en-US" sz="2400" dirty="0" spc="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ức</a:t>
            </a:r>
            <a:r>
              <a:rPr lang="en-US" sz="240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000"/>
              </a:lnSpc>
              <a:buNone/>
            </a:pPr>
            <a:r>
              <a:rPr lang="en-US" sz="24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[S2]</a:t>
            </a:r>
            <a:r>
              <a:rPr lang="en-US" sz="24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[S6]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38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Vai</a:t>
            </a:r>
            <a:r>
              <a:rPr lang="en-US" sz="2100" dirty="0" spc="-9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trò</a:t>
            </a:r>
            <a:r>
              <a:rPr lang="en-US" sz="2100" dirty="0" spc="-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thích</a:t>
            </a:r>
            <a:r>
              <a:rPr lang="en-US" sz="2100" dirty="0" spc="-5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nghi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Học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tín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hiệu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báo nguy:</a:t>
            </a:r>
            <a:r>
              <a:rPr lang="en-US" sz="25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âm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thanh</a:t>
            </a:r>
            <a:r>
              <a:rPr lang="en-US" sz="2550" dirty="0" spc="-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vô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nghĩa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thành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tín hiệu nguy hiểm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[S12]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Khi</a:t>
            </a:r>
            <a:r>
              <a:rPr lang="en-US" sz="2100" dirty="0" spc="-8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mất</a:t>
            </a:r>
            <a:r>
              <a:rPr lang="en-US" sz="2100" dirty="0" spc="-4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cân</a:t>
            </a:r>
            <a:r>
              <a:rPr lang="en-US" sz="2100" dirty="0" spc="-5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bằng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Hỏng</a:t>
            </a:r>
            <a:r>
              <a:rPr lang="en-US" sz="24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hạnh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nhân</a:t>
            </a:r>
            <a:r>
              <a:rPr lang="en-US" sz="24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hoặc</a:t>
            </a:r>
            <a:r>
              <a:rPr lang="en-US" sz="24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hải</a:t>
            </a:r>
            <a:r>
              <a:rPr lang="en-US" sz="24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mã</a:t>
            </a:r>
            <a:r>
              <a:rPr lang="en-US" sz="24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bụng:</a:t>
            </a:r>
            <a:r>
              <a:rPr lang="en-US" sz="24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cản</a:t>
            </a:r>
            <a:r>
              <a:rPr lang="en-US" sz="2400" dirty="0" spc="-2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trở</a:t>
            </a:r>
            <a:r>
              <a:rPr lang="en-US" sz="240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học</a:t>
            </a:r>
            <a:r>
              <a:rPr lang="en-US" sz="24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sợ;</a:t>
            </a:r>
            <a:r>
              <a:rPr lang="en-US" sz="240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ghi</a:t>
            </a:r>
            <a:r>
              <a:rPr lang="en-US" sz="24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nhớ</a:t>
            </a:r>
            <a:r>
              <a:rPr lang="en-US" sz="24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quá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mạnh</a:t>
            </a:r>
            <a:r>
              <a:rPr lang="en-US" sz="24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</a:t>
            </a:r>
            <a:r>
              <a:rPr lang="en-US" sz="240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góp</a:t>
            </a:r>
            <a:r>
              <a:rPr lang="en-US" sz="24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phần</a:t>
            </a:r>
            <a:r>
              <a:rPr lang="en-US" sz="240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vào</a:t>
            </a:r>
            <a:r>
              <a:rPr lang="en-US" sz="24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lo âu,</a:t>
            </a:r>
            <a:r>
              <a:rPr lang="en-US" sz="2400" dirty="0" spc="-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PTSD</a:t>
            </a:r>
            <a:r>
              <a:rPr lang="en-US" sz="24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000"/>
              </a:lnSpc>
              <a:buNone/>
            </a:pPr>
            <a:r>
              <a:rPr lang="en-US" sz="24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[S2]</a:t>
            </a:r>
            <a:r>
              <a:rPr lang="en-US" sz="24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[S6]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Khác</a:t>
            </a:r>
            <a:r>
              <a:rPr lang="en-US" sz="2100" dirty="0" spc="-5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cảm</a:t>
            </a:r>
            <a:r>
              <a:rPr lang="en-US" sz="2100" dirty="0" spc="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giác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Mạch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phòng</a:t>
            </a:r>
            <a:r>
              <a:rPr lang="en-US" sz="2550" dirty="0" spc="-2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vệ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550" dirty="0" spc="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trực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tiếp</a:t>
            </a:r>
            <a:r>
              <a:rPr lang="en-US" sz="2550" dirty="0" spc="-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gây</a:t>
            </a:r>
            <a:r>
              <a:rPr lang="en-US" sz="2550" dirty="0" spc="-2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ra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cảm</a:t>
            </a:r>
            <a:r>
              <a:rPr lang="en-US" sz="255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giác</a:t>
            </a:r>
            <a:r>
              <a:rPr lang="en-US" sz="2550" dirty="0" spc="-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sợ,</a:t>
            </a:r>
            <a:r>
              <a:rPr lang="en-US" sz="2550" dirty="0" spc="-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theo</a:t>
            </a:r>
            <a:r>
              <a:rPr lang="en-US" sz="255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LeDoux</a:t>
            </a:r>
            <a:r>
              <a:rPr lang="en-US" sz="255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[S12]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206817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E8E0CF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6817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1244917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2100" dirty="0" spc="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2100" dirty="0" spc="-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44917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Hạnh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nhân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phải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trung</a:t>
            </a:r>
            <a:r>
              <a:rPr lang="en-US" sz="255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tâm</a:t>
            </a:r>
            <a:r>
              <a:rPr lang="en-US" sz="2550" dirty="0" spc="-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sợ</a:t>
            </a:r>
            <a:r>
              <a:rPr lang="en-US" sz="255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hãi: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nó</a:t>
            </a:r>
            <a:r>
              <a:rPr lang="en-US" sz="255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phản</a:t>
            </a:r>
            <a:r>
              <a:rPr lang="en-US" sz="2550" dirty="0" spc="27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ứng</a:t>
            </a:r>
            <a:r>
              <a:rPr lang="en-US" sz="255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với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cái</a:t>
            </a:r>
            <a:r>
              <a:rPr lang="en-US" sz="255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mới,</a:t>
            </a:r>
            <a:r>
              <a:rPr lang="en-US" sz="255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cái khó</a:t>
            </a:r>
            <a:r>
              <a:rPr lang="en-US" sz="2550" dirty="0" spc="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đoán</a:t>
            </a:r>
            <a:r>
              <a:rPr lang="en-US" sz="255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[S8]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4937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0" name="Shape 4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L09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22/48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8" name="Moda image moda-export-watermark-87da701b-8062-48aa-abcb-8ccf4a803da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con</a:t>
            </a:r>
            <a:r>
              <a:rPr lang="en-US" sz="5700" dirty="0" spc="-5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đường</a:t>
            </a:r>
            <a:r>
              <a:rPr lang="en-US" sz="5700" dirty="0" spc="-5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hạnh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</a:t>
            </a:r>
            <a:r>
              <a:rPr lang="en-US" sz="5700" dirty="0" spc="-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(kết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57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r>
              <a:rPr lang="en-US" sz="5700" dirty="0" spc="-7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vật)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876300" y="2762250"/>
            <a:ext cx="4191000" cy="800100"/>
          </a:xfrm>
          <a:prstGeom prst="roundRect">
            <a:avLst>
              <a:gd name="adj" fmla="val 23810"/>
            </a:avLst>
          </a:prstGeom>
          <a:solidFill>
            <a:srgbClr val="FFB454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2762250"/>
            <a:ext cx="419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Giác</a:t>
            </a: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quan</a:t>
            </a:r>
            <a:r>
              <a:rPr lang="en-US" sz="255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(mắt)</a:t>
            </a:r>
            <a:endParaRPr lang="en-US" sz="2550" dirty="0"/>
          </a:p>
        </p:txBody>
      </p:sp>
      <p:sp>
        <p:nvSpPr>
          <p:cNvPr id="5" name="Connector line-1792597206028-500345332"/>
          <p:cNvSpPr/>
          <p:nvPr/>
        </p:nvSpPr>
        <p:spPr>
          <a:xfrm>
            <a:off x="2971800" y="3562350"/>
            <a:ext cx="0" cy="5391150"/>
          </a:xfrm>
          <a:prstGeom prst="line">
            <a:avLst/>
          </a:prstGeom>
          <a:noFill/>
          <a:ln w="38100">
            <a:solidFill>
              <a:srgbClr val="2C3040"/>
            </a:solidFill>
            <a:prstDash val="lgDash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4991100" y="2762250"/>
            <a:ext cx="4191000" cy="800100"/>
          </a:xfrm>
          <a:prstGeom prst="roundRect">
            <a:avLst>
              <a:gd name="adj" fmla="val 23810"/>
            </a:avLst>
          </a:prstGeom>
          <a:solidFill>
            <a:srgbClr val="3DD6A0"/>
          </a:solidFill>
          <a:ln/>
        </p:spPr>
      </p:sp>
      <p:sp>
        <p:nvSpPr>
          <p:cNvPr id="7" name="Text 5"/>
          <p:cNvSpPr/>
          <p:nvPr/>
        </p:nvSpPr>
        <p:spPr>
          <a:xfrm>
            <a:off x="4991100" y="2762250"/>
            <a:ext cx="419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Đồi</a:t>
            </a:r>
            <a:r>
              <a:rPr lang="en-US" sz="25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thị</a:t>
            </a:r>
            <a:endParaRPr lang="en-US" sz="2550" dirty="0"/>
          </a:p>
        </p:txBody>
      </p:sp>
      <p:sp>
        <p:nvSpPr>
          <p:cNvPr id="8" name="Connector line-1792597206030-276107356"/>
          <p:cNvSpPr/>
          <p:nvPr/>
        </p:nvSpPr>
        <p:spPr>
          <a:xfrm>
            <a:off x="7086600" y="3562350"/>
            <a:ext cx="0" cy="5391150"/>
          </a:xfrm>
          <a:prstGeom prst="line">
            <a:avLst/>
          </a:prstGeom>
          <a:noFill/>
          <a:ln w="38100">
            <a:solidFill>
              <a:srgbClr val="2C3040"/>
            </a:solidFill>
            <a:prstDash val="lgDash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105900" y="2762250"/>
            <a:ext cx="4191000" cy="800100"/>
          </a:xfrm>
          <a:prstGeom prst="roundRect">
            <a:avLst>
              <a:gd name="adj" fmla="val 23810"/>
            </a:avLst>
          </a:prstGeom>
          <a:solidFill>
            <a:srgbClr val="FF6A4D"/>
          </a:solidFill>
          <a:ln/>
        </p:spPr>
      </p:sp>
      <p:sp>
        <p:nvSpPr>
          <p:cNvPr id="10" name="Text 8"/>
          <p:cNvSpPr/>
          <p:nvPr/>
        </p:nvSpPr>
        <p:spPr>
          <a:xfrm>
            <a:off x="9105900" y="2762250"/>
            <a:ext cx="419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8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Vỏ</a:t>
            </a:r>
            <a:r>
              <a:rPr lang="en-US" sz="25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não</a:t>
            </a:r>
            <a:r>
              <a:rPr lang="en-US" sz="25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thị</a:t>
            </a:r>
            <a:r>
              <a:rPr lang="en-US" sz="255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giác</a:t>
            </a:r>
            <a:endParaRPr lang="en-US" sz="2550" dirty="0"/>
          </a:p>
        </p:txBody>
      </p:sp>
      <p:sp>
        <p:nvSpPr>
          <p:cNvPr id="11" name="Connector line-1792597206032-807762455"/>
          <p:cNvSpPr/>
          <p:nvPr/>
        </p:nvSpPr>
        <p:spPr>
          <a:xfrm>
            <a:off x="11201400" y="3562350"/>
            <a:ext cx="0" cy="5391150"/>
          </a:xfrm>
          <a:prstGeom prst="line">
            <a:avLst/>
          </a:prstGeom>
          <a:noFill/>
          <a:ln w="38100">
            <a:solidFill>
              <a:srgbClr val="2C3040"/>
            </a:solidFill>
            <a:prstDash val="lgDash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3220700" y="2762250"/>
            <a:ext cx="4191000" cy="800100"/>
          </a:xfrm>
          <a:prstGeom prst="roundRect">
            <a:avLst>
              <a:gd name="adj" fmla="val 23810"/>
            </a:avLst>
          </a:prstGeom>
          <a:solidFill>
            <a:srgbClr val="7C93FF"/>
          </a:solidFill>
          <a:ln/>
        </p:spPr>
      </p:sp>
      <p:sp>
        <p:nvSpPr>
          <p:cNvPr id="13" name="Text 11"/>
          <p:cNvSpPr/>
          <p:nvPr/>
        </p:nvSpPr>
        <p:spPr>
          <a:xfrm>
            <a:off x="13220700" y="2762250"/>
            <a:ext cx="419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Hạnh</a:t>
            </a:r>
            <a:r>
              <a:rPr lang="en-US" sz="255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nhân</a:t>
            </a:r>
            <a:endParaRPr lang="en-US" sz="2550" dirty="0"/>
          </a:p>
        </p:txBody>
      </p:sp>
      <p:sp>
        <p:nvSpPr>
          <p:cNvPr id="14" name="Connector line-1792597206035-731470410"/>
          <p:cNvSpPr/>
          <p:nvPr/>
        </p:nvSpPr>
        <p:spPr>
          <a:xfrm>
            <a:off x="15316200" y="3562350"/>
            <a:ext cx="0" cy="5391150"/>
          </a:xfrm>
          <a:prstGeom prst="line">
            <a:avLst/>
          </a:prstGeom>
          <a:noFill/>
          <a:ln w="38100">
            <a:solidFill>
              <a:srgbClr val="2C3040"/>
            </a:solidFill>
            <a:prstDash val="lgDash"/>
            <a:headEnd type="none"/>
            <a:tailEnd type="none"/>
          </a:ln>
        </p:spPr>
      </p:sp>
      <p:sp>
        <p:nvSpPr>
          <p:cNvPr id="15" name="Connector line-1792597206035-343942272"/>
          <p:cNvSpPr/>
          <p:nvPr/>
        </p:nvSpPr>
        <p:spPr>
          <a:xfrm>
            <a:off x="2971800" y="4667250"/>
            <a:ext cx="4114800" cy="0"/>
          </a:xfrm>
          <a:prstGeom prst="line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067050" y="3867150"/>
            <a:ext cx="3924300" cy="762000"/>
          </a:xfrm>
          <a:prstGeom prst="rect">
            <a:avLst/>
          </a:prstGeom>
          <a:noFill/>
          <a:ln/>
        </p:spPr>
        <p:txBody>
          <a:bodyPr wrap="square" lIns="0" tIns="15747" rIns="0" bIns="-15747" rtlCol="0" anchor="b"/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8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1.</a:t>
            </a:r>
            <a:r>
              <a:rPr lang="en-US" sz="18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Tín</a:t>
            </a:r>
            <a:r>
              <a:rPr lang="en-US" sz="18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hiệu</a:t>
            </a:r>
            <a:r>
              <a:rPr lang="en-US" sz="18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giác</a:t>
            </a:r>
            <a:r>
              <a:rPr lang="en-US" sz="18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quan</a:t>
            </a:r>
            <a:r>
              <a:rPr lang="en-US" sz="18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(với</a:t>
            </a:r>
            <a:r>
              <a:rPr lang="en-US" sz="18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con</a:t>
            </a:r>
            <a:r>
              <a:rPr lang="en-US" sz="18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rắn:</a:t>
            </a:r>
            <a:r>
              <a:rPr lang="en-US" sz="18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từ</a:t>
            </a:r>
            <a:r>
              <a:rPr lang="en-US" sz="18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mắt)</a:t>
            </a:r>
            <a:r>
              <a:rPr lang="en-US" sz="1800" dirty="0" spc="-1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</a:t>
            </a:r>
            <a:r>
              <a:rPr lang="en-US" sz="18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đồi</a:t>
            </a:r>
            <a:r>
              <a:rPr lang="en-US" sz="18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thị [S2]</a:t>
            </a:r>
            <a:endParaRPr lang="en-US" sz="1800" dirty="0"/>
          </a:p>
        </p:txBody>
      </p:sp>
      <p:sp>
        <p:nvSpPr>
          <p:cNvPr id="17" name="Connector line-1792597206038-393993190"/>
          <p:cNvSpPr/>
          <p:nvPr/>
        </p:nvSpPr>
        <p:spPr>
          <a:xfrm>
            <a:off x="7086600" y="5953125"/>
            <a:ext cx="822960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181850" y="5153025"/>
            <a:ext cx="8039100" cy="76200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b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2.</a:t>
            </a:r>
            <a:r>
              <a:rPr lang="en-US" sz="22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Đồi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thị</a:t>
            </a:r>
            <a:r>
              <a:rPr lang="en-US" sz="2250" dirty="0" spc="4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gửi</a:t>
            </a:r>
            <a:r>
              <a:rPr lang="en-US" sz="22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thẳng</a:t>
            </a:r>
            <a:r>
              <a:rPr lang="en-US" sz="22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tới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hạnh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nhân: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nhanh,</a:t>
            </a:r>
            <a:r>
              <a:rPr lang="en-US" sz="2250" dirty="0" spc="-2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kém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chính</a:t>
            </a:r>
            <a:r>
              <a:rPr lang="en-US" sz="225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xác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[S2]</a:t>
            </a:r>
            <a:endParaRPr lang="en-US" sz="2250" dirty="0"/>
          </a:p>
        </p:txBody>
      </p:sp>
      <p:sp>
        <p:nvSpPr>
          <p:cNvPr id="19" name="Connector line-1792597206041-481318349"/>
          <p:cNvSpPr/>
          <p:nvPr/>
        </p:nvSpPr>
        <p:spPr>
          <a:xfrm>
            <a:off x="7086600" y="7239000"/>
            <a:ext cx="4114800" cy="0"/>
          </a:xfrm>
          <a:prstGeom prst="line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7181850" y="6438900"/>
            <a:ext cx="3924300" cy="762000"/>
          </a:xfrm>
          <a:prstGeom prst="rect">
            <a:avLst/>
          </a:prstGeom>
          <a:noFill/>
          <a:ln/>
        </p:spPr>
        <p:txBody>
          <a:bodyPr wrap="square" lIns="0" tIns="19683" rIns="0" bIns="-19683" rtlCol="0" anchor="b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3.</a:t>
            </a:r>
            <a:r>
              <a:rPr lang="en-US" sz="22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Đồi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thị</a:t>
            </a:r>
            <a:r>
              <a:rPr lang="en-US" sz="2250" dirty="0" spc="4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gửi</a:t>
            </a:r>
            <a:r>
              <a:rPr lang="en-US" sz="22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lên</a:t>
            </a:r>
            <a:r>
              <a:rPr lang="en-US" sz="225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vỏ</a:t>
            </a:r>
            <a:r>
              <a:rPr lang="en-US" sz="22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22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thị</a:t>
            </a:r>
            <a:r>
              <a:rPr lang="en-US" sz="22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giác</a:t>
            </a:r>
            <a:r>
              <a:rPr lang="en-US" sz="22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[S2]</a:t>
            </a:r>
            <a:endParaRPr lang="en-US" sz="2250" dirty="0"/>
          </a:p>
        </p:txBody>
      </p:sp>
      <p:sp>
        <p:nvSpPr>
          <p:cNvPr id="21" name="Connector line-1792597206043-103077713"/>
          <p:cNvSpPr/>
          <p:nvPr/>
        </p:nvSpPr>
        <p:spPr>
          <a:xfrm>
            <a:off x="11201400" y="8524875"/>
            <a:ext cx="41148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1296650" y="7724775"/>
            <a:ext cx="3924300" cy="762000"/>
          </a:xfrm>
          <a:prstGeom prst="rect">
            <a:avLst/>
          </a:prstGeom>
          <a:noFill/>
          <a:ln/>
        </p:spPr>
        <p:txBody>
          <a:bodyPr wrap="square" lIns="0" tIns="15747" rIns="0" bIns="-15747" rtlCol="0" anchor="b"/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8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4.</a:t>
            </a:r>
            <a:r>
              <a:rPr lang="en-US" sz="1800" dirty="0" spc="-2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Vỏ</a:t>
            </a:r>
            <a:r>
              <a:rPr lang="en-US" sz="18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</a:t>
            </a:r>
            <a:r>
              <a:rPr lang="en-US" sz="1800" dirty="0" spc="3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gửi</a:t>
            </a:r>
            <a:r>
              <a:rPr lang="en-US" sz="18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tiếp tới</a:t>
            </a:r>
            <a:r>
              <a:rPr lang="en-US" sz="18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hạnh</a:t>
            </a:r>
            <a:r>
              <a:rPr lang="en-US" sz="18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nhân: chậm,</a:t>
            </a:r>
            <a:r>
              <a:rPr lang="en-US" sz="18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chính</a:t>
            </a:r>
            <a:r>
              <a:rPr lang="en-US" sz="18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xác</a:t>
            </a:r>
            <a:r>
              <a:rPr lang="en-US" sz="18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hơn</a:t>
            </a:r>
            <a:r>
              <a:rPr lang="en-US" sz="18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[S2]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[S16]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127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7" name="Shape 45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L09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23/48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4" name="Moda image moda-export-watermark-388f8d47-1447-4a6c-ad8f-bd3f5fb13ab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Con</a:t>
            </a:r>
            <a:r>
              <a:rPr lang="en-US" sz="57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rắn: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phản</a:t>
            </a:r>
            <a:r>
              <a:rPr lang="en-US" sz="57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5700" dirty="0" spc="-6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kịp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r>
              <a:rPr lang="en-US" sz="57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8953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DDD5C1"/>
            </a:solidFill>
            <a:prstDash val="solid"/>
          </a:ln>
        </p:spPr>
      </p:sp>
      <p:pic>
        <p:nvPicPr>
          <p:cNvPr id="4" name="Moda image rect-1792597207821-82181899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33650" y="2438400"/>
            <a:ext cx="5715000" cy="571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 Noba,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Public Domain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sách;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Hove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Martinez,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(chương 10)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0248900" y="2247900"/>
            <a:ext cx="712470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7" name="Shape 4"/>
          <p:cNvSpPr/>
          <p:nvPr/>
        </p:nvSpPr>
        <p:spPr>
          <a:xfrm>
            <a:off x="10248900" y="2247900"/>
            <a:ext cx="114300" cy="990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8" name="Text 5"/>
          <p:cNvSpPr/>
          <p:nvPr/>
        </p:nvSpPr>
        <p:spPr>
          <a:xfrm>
            <a:off x="10591800" y="2247900"/>
            <a:ext cx="65913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Hình chỉ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minh</a:t>
            </a:r>
            <a:r>
              <a:rPr lang="en-US" sz="255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họa,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550" dirty="0" spc="-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vẽ</a:t>
            </a:r>
            <a:r>
              <a:rPr lang="en-US" sz="25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đường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dẫn</a:t>
            </a:r>
            <a:r>
              <a:rPr lang="en-US" sz="25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truyền</a:t>
            </a:r>
            <a:endParaRPr lang="en-US" sz="2550" dirty="0"/>
          </a:p>
        </p:txBody>
      </p:sp>
      <p:sp>
        <p:nvSpPr>
          <p:cNvPr id="9" name="Shape 6"/>
          <p:cNvSpPr/>
          <p:nvPr/>
        </p:nvSpPr>
        <p:spPr>
          <a:xfrm>
            <a:off x="10248900" y="3390900"/>
            <a:ext cx="712470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10" name="Shape 7"/>
          <p:cNvSpPr/>
          <p:nvPr/>
        </p:nvSpPr>
        <p:spPr>
          <a:xfrm>
            <a:off x="10248900" y="3390900"/>
            <a:ext cx="114300" cy="9906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1" name="Text 8"/>
          <p:cNvSpPr/>
          <p:nvPr/>
        </p:nvSpPr>
        <p:spPr>
          <a:xfrm>
            <a:off x="10591800" y="3486150"/>
            <a:ext cx="6591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7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Nghiên</a:t>
            </a:r>
            <a:r>
              <a:rPr lang="en-US" sz="2250" dirty="0" spc="38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cứu</a:t>
            </a:r>
            <a:r>
              <a:rPr lang="en-US" sz="2250" dirty="0" spc="-5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gốc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10591800" y="3790950"/>
            <a:ext cx="6591300" cy="5524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chuột,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âm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thanh</a:t>
            </a:r>
            <a:endParaRPr lang="en-US" sz="2550" dirty="0"/>
          </a:p>
        </p:txBody>
      </p:sp>
      <p:sp>
        <p:nvSpPr>
          <p:cNvPr id="13" name="Shape 10"/>
          <p:cNvSpPr/>
          <p:nvPr/>
        </p:nvSpPr>
        <p:spPr>
          <a:xfrm>
            <a:off x="10248900" y="4533900"/>
            <a:ext cx="7124700" cy="3810000"/>
          </a:xfrm>
          <a:prstGeom prst="roundRect">
            <a:avLst>
              <a:gd name="adj" fmla="val 5000"/>
            </a:avLst>
          </a:prstGeom>
          <a:solidFill>
            <a:srgbClr val="DDE3FA"/>
          </a:solidFill>
          <a:ln/>
        </p:spPr>
      </p:sp>
      <p:sp>
        <p:nvSpPr>
          <p:cNvPr id="14" name="Text 11"/>
          <p:cNvSpPr/>
          <p:nvPr/>
        </p:nvSpPr>
        <p:spPr>
          <a:xfrm>
            <a:off x="10553700" y="4800600"/>
            <a:ext cx="6515100" cy="32766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5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còn,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'nhận</a:t>
            </a:r>
            <a:r>
              <a:rPr lang="en-US" sz="24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ra'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nó,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120"/>
              </a:lnSpc>
              <a:buNone/>
            </a:pP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4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rắn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120"/>
              </a:lnSpc>
              <a:buNone/>
            </a:pPr>
            <a:r>
              <a:rPr lang="en-US" sz="240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hạnh</a:t>
            </a:r>
            <a:r>
              <a:rPr lang="en-US" sz="24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 Nghiên</a:t>
            </a:r>
            <a:r>
              <a:rPr lang="en-US" sz="240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4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ý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ở</a:t>
            </a: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chuột,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âm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thanh </a:t>
            </a:r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[S16]</a:t>
            </a:r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[S16]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5318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0" name="Shape 37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Text 61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L09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24/48</a:t>
            </a:r>
            <a:endParaRPr lang="en-US" sz="1800" dirty="0"/>
          </a:p>
        </p:txBody>
      </p:sp>
      <p:sp>
        <p:nvSpPr>
          <p:cNvPr id="65" name="Shape 6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6" name="Moda image moda-export-watermark-946b0662-ed85-403d-9977-7e96a7d32627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Đừng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hiểu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nhầm</a:t>
            </a:r>
            <a:r>
              <a:rPr lang="en-US" sz="5700" dirty="0" spc="-6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sợ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trung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hạnh nhân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5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5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550" dirty="0" spc="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55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cực</a:t>
            </a:r>
            <a:r>
              <a:rPr lang="en-US" sz="25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65151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65151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0" name="Text 8"/>
          <p:cNvSpPr/>
          <p:nvPr/>
        </p:nvSpPr>
        <p:spPr>
          <a:xfrm>
            <a:off x="68961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68961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Sợ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hạnh nhân</a:t>
            </a: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896100" y="60007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chuẩn</a:t>
            </a:r>
            <a:r>
              <a:rPr lang="en-US" sz="25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5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giảm</a:t>
            </a:r>
            <a:r>
              <a:rPr lang="en-US" sz="25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5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hạnh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5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21158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1158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5" name="Text 13"/>
          <p:cNvSpPr/>
          <p:nvPr/>
        </p:nvSpPr>
        <p:spPr>
          <a:xfrm>
            <a:off x="124968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124968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Sợ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b="1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2496800" y="60007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đứng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-2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255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xảy</a:t>
            </a:r>
            <a:r>
              <a:rPr lang="en-US" sz="2550" dirty="0" spc="-3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không có lối</a:t>
            </a:r>
            <a:r>
              <a:rPr lang="en-US" sz="25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thoát</a:t>
            </a:r>
            <a:r>
              <a:rPr lang="en-US" sz="25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[S12]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 [S12]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508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4" name="Shape 42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L09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25/48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9" name="Moda image moda-export-watermark-7aba7b53-6c64-4268-82b8-d90abb1988d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Giận: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</a:t>
            </a:r>
            <a:r>
              <a:rPr lang="en-US" sz="57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xúc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tiến</a:t>
            </a:r>
            <a:r>
              <a:rPr lang="en-US" sz="5700" dirty="0" spc="-5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57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tấn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b="1" dirty="0" spc="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Giận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(rage)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chịu,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phấn, thúc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đẩy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tấn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bị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khơi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 khi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trở,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đau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 giữ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chặt;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lãnh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thổ,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-4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kẻ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xâm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Mạch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giận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mạch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ham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muốn, nên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thưởng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mong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đến,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8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thể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nổi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giận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giận,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vỏ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</a:t>
            </a:r>
            <a:r>
              <a:rPr lang="en-US" sz="28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trái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tăng,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ham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8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Mức</a:t>
            </a:r>
            <a:r>
              <a:rPr lang="en-US" sz="1950" dirty="0" spc="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chắc</a:t>
            </a:r>
            <a:r>
              <a:rPr lang="en-US" sz="1950" dirty="0" spc="-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chắn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giáo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khoa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240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vật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6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Hướng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tiến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tới,</a:t>
            </a: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giống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ham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muốn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1950" dirty="0" spc="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1950" dirty="0" spc="-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phải</a:t>
            </a:r>
            <a:r>
              <a:rPr lang="en-US" sz="24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mặt</a:t>
            </a:r>
            <a:r>
              <a:rPr lang="en-US" sz="24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trái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sợ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699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4" name="Shape 4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L09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26/48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5fb76dda-aae2-4884-9ded-0517d948037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Giận: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 hồ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sơ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Mạch</a:t>
            </a:r>
            <a:r>
              <a:rPr lang="en-US" sz="2100" dirty="0" spc="-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chính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55" rIns="0" bIns="-17755" rtlCol="0" anchor="t"/>
          <a:lstStyle/>
          <a:p>
            <a:pPr algn="l" indent="0" marL="0">
              <a:lnSpc>
                <a:spcPts val="3179"/>
              </a:lnSpc>
              <a:buNone/>
            </a:pPr>
            <a:r>
              <a:rPr lang="en-US" sz="2543" dirty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Hạnh nhân giữa → những phần nhất định của vùng dưới đồi → chất xám quanh cống não </a:t>
            </a:r>
            <a:pPr algn="l" indent="0" marL="0">
              <a:lnSpc>
                <a:spcPts val="3179"/>
              </a:lnSpc>
              <a:buNone/>
            </a:pPr>
            <a:r>
              <a:rPr lang="en-US" sz="2543" dirty="0" spc="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[S2]</a:t>
            </a:r>
            <a:endParaRPr lang="en-US" sz="2543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Chất</a:t>
            </a:r>
            <a:r>
              <a:rPr lang="en-US" sz="2100" dirty="0" spc="-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liên</a:t>
            </a:r>
            <a:r>
              <a:rPr lang="en-US" sz="2100" dirty="0" spc="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quan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Chưa</a:t>
            </a:r>
            <a:r>
              <a:rPr lang="en-US" sz="2550" dirty="0" spc="-2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rõ;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chất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quan</a:t>
            </a:r>
            <a:r>
              <a:rPr lang="en-US" sz="255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trọng;</a:t>
            </a:r>
            <a:r>
              <a:rPr lang="en-US" sz="2550" dirty="0" spc="-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testosterone,</a:t>
            </a:r>
            <a:r>
              <a:rPr lang="en-US" sz="255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vasopressin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tham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gia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[S2]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38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Vai</a:t>
            </a:r>
            <a:r>
              <a:rPr lang="en-US" sz="2100" dirty="0" spc="-9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trò</a:t>
            </a:r>
            <a:r>
              <a:rPr lang="en-US" sz="2100" dirty="0" spc="-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thích</a:t>
            </a:r>
            <a:r>
              <a:rPr lang="en-US" sz="2100" dirty="0" spc="-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nghi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Xung</a:t>
            </a:r>
            <a:r>
              <a:rPr lang="en-US" sz="2550" dirty="0" spc="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đột</a:t>
            </a:r>
            <a:r>
              <a:rPr lang="en-US" sz="2550" dirty="0" spc="-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về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lãnh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thổ,</a:t>
            </a:r>
            <a:r>
              <a:rPr lang="en-US" sz="255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thức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ăn,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bạn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tình;</a:t>
            </a:r>
            <a:r>
              <a:rPr lang="en-US" sz="255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thường</a:t>
            </a:r>
            <a:r>
              <a:rPr lang="en-US" sz="2550" dirty="0" spc="-3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kết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thúc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bằng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nghi</a:t>
            </a:r>
            <a:r>
              <a:rPr lang="en-US" sz="255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thức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[S5]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Khi</a:t>
            </a:r>
            <a:r>
              <a:rPr lang="en-US" sz="2100" dirty="0" spc="-8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mất</a:t>
            </a:r>
            <a:r>
              <a:rPr lang="en-US" sz="2100" dirty="0" spc="-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cân</a:t>
            </a:r>
            <a:r>
              <a:rPr lang="en-US" sz="2100" dirty="0" spc="-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bằng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Giáo</a:t>
            </a:r>
            <a:r>
              <a:rPr lang="en-US" sz="255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trình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mô</a:t>
            </a:r>
            <a:r>
              <a:rPr lang="en-US" sz="2550" dirty="0" spc="-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tả</a:t>
            </a:r>
            <a:r>
              <a:rPr lang="en-US" sz="2550" dirty="0" spc="-2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rõ;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kích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thích</a:t>
            </a:r>
            <a:r>
              <a:rPr lang="en-US" sz="2550" dirty="0" spc="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điện</a:t>
            </a:r>
            <a:r>
              <a:rPr lang="en-US" sz="255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vài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vùng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</a:t>
            </a:r>
            <a:r>
              <a:rPr lang="en-US" sz="25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2550" dirty="0" spc="2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từng</a:t>
            </a:r>
            <a:r>
              <a:rPr lang="en-US" sz="2550" dirty="0" spc="-2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gây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bộc</a:t>
            </a:r>
            <a:r>
              <a:rPr lang="en-US" sz="255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phát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hung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hăng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[S5]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Khác</a:t>
            </a:r>
            <a:r>
              <a:rPr lang="en-US" sz="2100" dirty="0" spc="-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cảm</a:t>
            </a:r>
            <a:r>
              <a:rPr lang="en-US" sz="2100" dirty="0" spc="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giác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Suy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luận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55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255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viết: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bằng</a:t>
            </a:r>
            <a:r>
              <a:rPr lang="en-US" sz="2550" dirty="0" spc="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chứng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chủ</a:t>
            </a:r>
            <a:r>
              <a:rPr lang="en-US" sz="2550" dirty="0" spc="-2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yếu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hành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</a:t>
            </a:r>
            <a:r>
              <a:rPr lang="en-US" sz="255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tấn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công</a:t>
            </a:r>
            <a:r>
              <a:rPr lang="en-US" sz="25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</a:t>
            </a:r>
            <a:r>
              <a:rPr lang="en-US" sz="2550" dirty="0" spc="-2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vật,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 phải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cảm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giác</a:t>
            </a:r>
            <a:r>
              <a:rPr lang="en-US" sz="2550" dirty="0" spc="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bực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206817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6817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25" name="Text 23"/>
          <p:cNvSpPr/>
          <p:nvPr/>
        </p:nvSpPr>
        <p:spPr>
          <a:xfrm>
            <a:off x="1244917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2100" dirty="0" spc="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210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44917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Không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có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quan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hệ một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-</a:t>
            </a:r>
            <a:r>
              <a:rPr lang="en-US" sz="255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một</a:t>
            </a:r>
            <a:r>
              <a:rPr lang="en-US" sz="2550" dirty="0" spc="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giữa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hormone</a:t>
            </a:r>
            <a:r>
              <a:rPr lang="en-US" sz="2550" dirty="0" spc="-2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hành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</a:t>
            </a:r>
            <a:r>
              <a:rPr lang="en-US" sz="2550" dirty="0" spc="-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gây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hấn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[S5]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889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5" name="Shape 5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L09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27/48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8" name="Moda image moda-export-watermark-f9b80690-07e8-4c9b-b726-a28d1a063e0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Mạch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giận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nằm cạnh mạch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sợ</a:t>
            </a:r>
            <a:r>
              <a:rPr lang="en-US" sz="57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</a:t>
            </a:r>
            <a:r>
              <a:rPr lang="en-US" sz="5700" dirty="0" spc="-7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ham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muốn</a:t>
            </a:r>
            <a:endParaRPr lang="en-US" sz="5700" dirty="0"/>
          </a:p>
        </p:txBody>
      </p:sp>
      <p:sp>
        <p:nvSpPr>
          <p:cNvPr id="3" name="Connector line-1792597251983-198431528"/>
          <p:cNvSpPr/>
          <p:nvPr/>
        </p:nvSpPr>
        <p:spPr>
          <a:xfrm flipH="1" flipV="1">
            <a:off x="3619500" y="3619500"/>
            <a:ext cx="5524500" cy="200025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4" name="Connector line-1792597251983-573031968"/>
          <p:cNvSpPr/>
          <p:nvPr/>
        </p:nvSpPr>
        <p:spPr>
          <a:xfrm flipV="1">
            <a:off x="9144000" y="3619500"/>
            <a:ext cx="5524500" cy="200025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5" name="Connector line-1792597251983-326285714"/>
          <p:cNvSpPr/>
          <p:nvPr/>
        </p:nvSpPr>
        <p:spPr>
          <a:xfrm flipH="1">
            <a:off x="3619500" y="5619750"/>
            <a:ext cx="5524500" cy="200025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6" name="Connector line-1792597251984-483834830"/>
          <p:cNvSpPr/>
          <p:nvPr/>
        </p:nvSpPr>
        <p:spPr>
          <a:xfrm>
            <a:off x="9144000" y="5619750"/>
            <a:ext cx="5524500" cy="200025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953250" y="4191000"/>
            <a:ext cx="4381500" cy="28575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7239000" y="4476750"/>
            <a:ext cx="3810000" cy="2286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ctr"/>
          <a:lstStyle/>
          <a:p>
            <a:pPr algn="ctr" indent="0" marL="0">
              <a:lnSpc>
                <a:spcPts val="3630"/>
              </a:lnSpc>
              <a:buNone/>
            </a:pPr>
            <a:r>
              <a:rPr lang="en-US" sz="3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Mạch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giận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1047750" y="28575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33500" y="28575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Hạnh nhân giữa → vùng dưới đồi → chất xám quanh cống não [S2]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96750" y="28575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82500" y="28575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 sợ: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550" b="1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047750" y="685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E847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33500" y="685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Mạch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ham muốn: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thưởng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mong</a:t>
            </a:r>
            <a:r>
              <a:rPr lang="en-US" sz="25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5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giận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12096750" y="685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1F3F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82500" y="685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Vasopressin: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canh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 bạn</a:t>
            </a:r>
            <a:r>
              <a:rPr lang="en-US" sz="25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chuột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thảo</a:t>
            </a:r>
            <a:r>
              <a:rPr lang="en-US" sz="255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080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6" name="Shape 4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L09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28/48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3fcf181e-9eca-4c92-bf57-6a4be690921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Giận</a:t>
            </a:r>
            <a:r>
              <a:rPr lang="en-US" sz="5700" dirty="0" spc="-6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5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sợ:</a:t>
            </a:r>
            <a:r>
              <a:rPr lang="en-US" sz="57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gần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r>
              <a:rPr lang="en-US" sz="57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nhưng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khác</a:t>
            </a:r>
            <a:r>
              <a:rPr lang="en-US" sz="57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hướng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4A3A22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Sợ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né tránh; nhân trung tâm hạnh nhân → chất xám quanh cống não; benzodiazepine ức chế [S2]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1C4236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Giận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tiến tới, tấn công; hạnh nhân giữa → vùng dưới đồi → chất xám quanh cống não; opioid ức chế [S2]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429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Cả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</a:t>
            </a:r>
            <a:r>
              <a:rPr lang="en-US" sz="28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chịu,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mạng</a:t>
            </a:r>
            <a:r>
              <a:rPr lang="en-US" sz="28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nằm</a:t>
            </a:r>
            <a:r>
              <a:rPr lang="en-US" sz="28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gần</a:t>
            </a: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nhau</a:t>
            </a:r>
            <a:r>
              <a:rPr lang="en-US" sz="2850" dirty="0" spc="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nhưng</a:t>
            </a:r>
            <a:r>
              <a:rPr lang="en-US" sz="28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tách</a:t>
            </a:r>
            <a:r>
              <a:rPr lang="en-US" sz="285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riêng [S2]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270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3" name="Shape 41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L09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29/48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4" name="Moda image moda-export-watermark-6527dd65-0b6d-45a9-ad14-f60ab065c97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0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Yêu</a:t>
            </a:r>
            <a:r>
              <a:rPr lang="en-US" sz="5700" dirty="0" spc="-5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thương</a:t>
            </a:r>
            <a:r>
              <a:rPr lang="en-US" sz="57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gắn</a:t>
            </a:r>
            <a:r>
              <a:rPr lang="en-US" sz="57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bó: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chăm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sóc</a:t>
            </a:r>
            <a:r>
              <a:rPr lang="en-US" sz="57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7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chăm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sóc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4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Với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</a:t>
            </a:r>
            <a:r>
              <a:rPr lang="en-US" sz="28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xã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 như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người,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bó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loài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85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cực: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3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yêu</a:t>
            </a:r>
            <a:r>
              <a:rPr lang="en-US" sz="2850" b="1" dirty="0" spc="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thương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ấm áp,</a:t>
            </a:r>
            <a:r>
              <a:rPr lang="en-US" sz="28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trìu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mến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thúc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đẩy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chăm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(mẹ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chăm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con)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thúc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đẩy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chăm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(con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bám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mẹ)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chăm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850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lưng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giường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dải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tận,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chồng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lấn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ham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tình dục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chuột,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hormone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quanh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 sinh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lẽ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8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vượt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nỗi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chuột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[S5]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8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Mức</a:t>
            </a:r>
            <a:r>
              <a:rPr lang="en-US" sz="1950" dirty="0" spc="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chắc</a:t>
            </a:r>
            <a:r>
              <a:rPr lang="en-US" sz="1950" dirty="0" spc="-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chắn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giáo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khoa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động</a:t>
            </a:r>
            <a:r>
              <a:rPr lang="en-US" sz="240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vật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Hai</a:t>
            </a:r>
            <a:r>
              <a:rPr lang="en-US" sz="1950" dirty="0" spc="-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loại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chăm</a:t>
            </a:r>
            <a:r>
              <a:rPr lang="en-US" sz="24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sóc</a:t>
            </a:r>
            <a:r>
              <a:rPr lang="en-US" sz="240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chăm</a:t>
            </a:r>
            <a:r>
              <a:rPr lang="en-US" sz="24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sóc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Tranh</a:t>
            </a:r>
            <a:r>
              <a:rPr lang="en-US" sz="1950" dirty="0" spc="-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cãi</a:t>
            </a:r>
            <a:r>
              <a:rPr lang="en-US" sz="1950" dirty="0" spc="-6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oxytocin</a:t>
            </a:r>
            <a:r>
              <a:rPr lang="en-US" sz="1950" dirty="0" spc="-2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1950" dirty="0" spc="-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tin</a:t>
            </a:r>
            <a:r>
              <a:rPr lang="en-US" sz="1950" dirty="0" spc="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tưởng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L10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61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8" name="Shape 4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L09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30/48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a752e2c9-e5e8-49de-83a9-3c82350e49d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Chuột</a:t>
            </a:r>
            <a:r>
              <a:rPr lang="en-US" sz="57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đồng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thảo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nguyên: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57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57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gắn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bó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8953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DDD5C1"/>
            </a:solidFill>
            <a:prstDash val="solid"/>
          </a:ln>
        </p:spPr>
      </p:sp>
      <p:pic>
        <p:nvPicPr>
          <p:cNvPr id="4" name="Moda image rect-1792597296599-14680049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27452" y="2438400"/>
            <a:ext cx="7527396" cy="571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</a:t>
            </a:r>
            <a:r>
              <a:rPr lang="en-US" sz="165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Todd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Ahern,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1650" dirty="0" spc="-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sách;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Hove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Martinez,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 (chương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6)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0248900" y="2247900"/>
            <a:ext cx="712470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7" name="Shape 4"/>
          <p:cNvSpPr/>
          <p:nvPr/>
        </p:nvSpPr>
        <p:spPr>
          <a:xfrm>
            <a:off x="10248900" y="2247900"/>
            <a:ext cx="114300" cy="9906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8" name="Text 5"/>
          <p:cNvSpPr/>
          <p:nvPr/>
        </p:nvSpPr>
        <p:spPr>
          <a:xfrm>
            <a:off x="10591800" y="2343150"/>
            <a:ext cx="6591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3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Prairie</a:t>
            </a:r>
            <a:r>
              <a:rPr lang="en-US" sz="2250" dirty="0" spc="-17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vole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0591800" y="2647950"/>
            <a:ext cx="6591300" cy="552450"/>
          </a:xfrm>
          <a:prstGeom prst="rect">
            <a:avLst/>
          </a:prstGeom>
          <a:noFill/>
          <a:ln/>
        </p:spPr>
        <p:txBody>
          <a:bodyPr wrap="square" lIns="0" tIns="12571" rIns="0" bIns="-12571" rtlCol="0" anchor="ctr"/>
          <a:lstStyle/>
          <a:p>
            <a:pPr algn="l" indent="0" marL="0">
              <a:lnSpc>
                <a:spcPts val="2587"/>
              </a:lnSpc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chuột</a:t>
            </a:r>
            <a:r>
              <a:rPr lang="en-US" sz="22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đồng thảo</a:t>
            </a:r>
            <a:r>
              <a:rPr lang="en-US" sz="22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nguyên</a:t>
            </a:r>
            <a:r>
              <a:rPr lang="en-US" sz="22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(loài</a:t>
            </a:r>
            <a:r>
              <a:rPr lang="en-US" sz="22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2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ảnh)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10248900" y="3390900"/>
            <a:ext cx="712470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11" name="Shape 8"/>
          <p:cNvSpPr/>
          <p:nvPr/>
        </p:nvSpPr>
        <p:spPr>
          <a:xfrm>
            <a:off x="10248900" y="3390900"/>
            <a:ext cx="114300" cy="990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12" name="Text 9"/>
          <p:cNvSpPr/>
          <p:nvPr/>
        </p:nvSpPr>
        <p:spPr>
          <a:xfrm>
            <a:off x="10591800" y="3486150"/>
            <a:ext cx="6591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3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Meadow</a:t>
            </a:r>
            <a:r>
              <a:rPr lang="en-US" sz="2250" dirty="0" spc="-18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vole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0591800" y="3790950"/>
            <a:ext cx="6591300" cy="5524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chuột</a:t>
            </a:r>
            <a:r>
              <a:rPr lang="en-US" sz="25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đồng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cỏ, không</a:t>
            </a:r>
            <a:r>
              <a:rPr lang="en-US" sz="2550" dirty="0" spc="-3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255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đôi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10248900" y="4533900"/>
            <a:ext cx="7124700" cy="3810000"/>
          </a:xfrm>
          <a:prstGeom prst="roundRect">
            <a:avLst>
              <a:gd name="adj" fmla="val 5000"/>
            </a:avLst>
          </a:prstGeom>
          <a:solidFill>
            <a:srgbClr val="F8D9D0"/>
          </a:solidFill>
          <a:ln/>
        </p:spPr>
      </p:sp>
      <p:sp>
        <p:nvSpPr>
          <p:cNvPr id="15" name="Text 12"/>
          <p:cNvSpPr/>
          <p:nvPr/>
        </p:nvSpPr>
        <p:spPr>
          <a:xfrm>
            <a:off x="10553700" y="4800600"/>
            <a:ext cx="6515100" cy="32766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Chuột</a:t>
            </a: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thảo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40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đôi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r>
              <a:rPr lang="en-US" sz="24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chăm con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120"/>
              </a:lnSpc>
              <a:buNone/>
            </a:pPr>
            <a:r>
              <a:rPr lang="en-US" sz="2400" dirty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[S5]</a:t>
            </a:r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120"/>
              </a:lnSpc>
              <a:buNone/>
            </a:pPr>
            <a:r>
              <a:rPr lang="en-US" sz="2400" b="1" dirty="0" spc="-9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oxytocin</a:t>
            </a:r>
            <a:pPr algn="l" indent="0" marL="0">
              <a:lnSpc>
                <a:spcPts val="3120"/>
              </a:lnSpc>
              <a:buNone/>
            </a:pP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 cái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bó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hơn, chặn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thụ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giảm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bó;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con</a:t>
            </a:r>
            <a:r>
              <a:rPr lang="en-US" sz="24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đực,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120"/>
              </a:lnSpc>
              <a:buNone/>
            </a:pPr>
            <a:r>
              <a:rPr lang="en-US" sz="2400" b="1" dirty="0" spc="-1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vasopressin</a:t>
            </a:r>
            <a:pPr algn="l" indent="0" marL="0">
              <a:lnSpc>
                <a:spcPts val="3120"/>
              </a:lnSpc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</a:t>
            </a:r>
            <a:pPr algn="l" indent="0" marL="0">
              <a:lnSpc>
                <a:spcPts val="3120"/>
              </a:lnSpc>
              <a:buNone/>
            </a:pPr>
            <a:r>
              <a:rPr lang="en-US" sz="2400" dirty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[S5]</a:t>
            </a:r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400" dirty="0" spc="-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thụ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vasopressin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chuột</a:t>
            </a:r>
            <a:r>
              <a:rPr lang="en-US" sz="24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cỏ,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loài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đôi,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chúng có hành</a:t>
            </a: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40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đôi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120"/>
              </a:lnSpc>
              <a:buNone/>
            </a:pPr>
            <a:r>
              <a:rPr lang="en-US" sz="2400" dirty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[S13]</a:t>
            </a:r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66516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48" name="Shape 45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8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Text 62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L09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31/48</a:t>
            </a:r>
            <a:endParaRPr lang="en-US" sz="1800" dirty="0"/>
          </a:p>
        </p:txBody>
      </p:sp>
      <p:sp>
        <p:nvSpPr>
          <p:cNvPr id="66" name="Shape 6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7" name="Moda image moda-export-watermark-80085e49-1d0d-4b16-865b-9be0843747cd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5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Kết</a:t>
            </a:r>
            <a:r>
              <a:rPr lang="en-US" sz="57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đôi</a:t>
            </a:r>
            <a:r>
              <a:rPr lang="en-US" sz="57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thế nào</a:t>
            </a:r>
            <a:r>
              <a:rPr lang="en-US" sz="57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(mô</a:t>
            </a:r>
            <a:r>
              <a:rPr lang="en-US" sz="57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5700" dirty="0" spc="-3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chuột)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00150" y="3714750"/>
            <a:ext cx="647700" cy="6477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1920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Giao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phối: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vùng</a:t>
            </a:r>
            <a:r>
              <a:rPr lang="en-US" sz="2700" dirty="0" spc="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dưới</a:t>
            </a:r>
            <a:r>
              <a:rPr lang="en-US" sz="27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đồi</a:t>
            </a:r>
            <a:r>
              <a:rPr lang="en-US" sz="270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tiết</a:t>
            </a:r>
            <a:r>
              <a:rPr lang="en-US" sz="27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oxytocin,</a:t>
            </a:r>
            <a:r>
              <a:rPr lang="en-US" sz="27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vasopressin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[S5]</a:t>
            </a:r>
            <a:endParaRPr lang="en-US" sz="2700" dirty="0"/>
          </a:p>
        </p:txBody>
      </p:sp>
      <p:sp>
        <p:nvSpPr>
          <p:cNvPr id="7" name="Connector line-1792597297621-3497144"/>
          <p:cNvSpPr/>
          <p:nvPr/>
        </p:nvSpPr>
        <p:spPr>
          <a:xfrm>
            <a:off x="461010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20065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0" y="3714750"/>
            <a:ext cx="647700" cy="6477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550545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Gắn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thụ</a:t>
            </a:r>
            <a:r>
              <a:rPr lang="en-US" sz="27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thể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hệ</a:t>
            </a:r>
            <a:r>
              <a:rPr lang="en-US" sz="27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thưởng: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accumbens,</a:t>
            </a:r>
            <a:r>
              <a:rPr lang="en-US" sz="270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nhạt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bụng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[S13]</a:t>
            </a:r>
            <a:endParaRPr lang="en-US" sz="2700" dirty="0"/>
          </a:p>
        </p:txBody>
      </p:sp>
      <p:sp>
        <p:nvSpPr>
          <p:cNvPr id="12" name="Connector line-1792597297624-184756439"/>
          <p:cNvSpPr/>
          <p:nvPr/>
        </p:nvSpPr>
        <p:spPr>
          <a:xfrm>
            <a:off x="8886825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477375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763125" y="3714750"/>
            <a:ext cx="647700" cy="6477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5" name="Text 13"/>
          <p:cNvSpPr/>
          <p:nvPr/>
        </p:nvSpPr>
        <p:spPr>
          <a:xfrm>
            <a:off x="9763125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782175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Tính</a:t>
            </a:r>
            <a:r>
              <a:rPr lang="en-US" sz="27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dẻo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nối</a:t>
            </a:r>
            <a:r>
              <a:rPr lang="en-US" sz="27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tín hiệu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bạn</a:t>
            </a:r>
            <a:r>
              <a:rPr lang="en-US" sz="2700" dirty="0" spc="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đời</a:t>
            </a:r>
            <a:r>
              <a:rPr lang="en-US" sz="2700" dirty="0" spc="-1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phần</a:t>
            </a:r>
            <a:r>
              <a:rPr lang="en-US" sz="27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thưởng</a:t>
            </a:r>
            <a:r>
              <a:rPr lang="en-US" sz="27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[S13]</a:t>
            </a:r>
            <a:endParaRPr lang="en-US" sz="2700" dirty="0"/>
          </a:p>
        </p:txBody>
      </p:sp>
      <p:sp>
        <p:nvSpPr>
          <p:cNvPr id="17" name="Connector line-1792597297627-305109323"/>
          <p:cNvSpPr/>
          <p:nvPr/>
        </p:nvSpPr>
        <p:spPr>
          <a:xfrm>
            <a:off x="13163550" y="533400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3754100" y="3429000"/>
            <a:ext cx="3619500" cy="38100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 w="28575">
            <a:solidFill>
              <a:srgbClr val="2C30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039850" y="3714750"/>
            <a:ext cx="647700" cy="6477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20" name="Text 18"/>
          <p:cNvSpPr/>
          <p:nvPr/>
        </p:nvSpPr>
        <p:spPr>
          <a:xfrm>
            <a:off x="14039850" y="3714750"/>
            <a:ext cx="6477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4058900" y="4572000"/>
            <a:ext cx="3009900" cy="24765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t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5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Kết</a:t>
            </a:r>
            <a:r>
              <a:rPr lang="en-US" sz="27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quả:</a:t>
            </a:r>
            <a:r>
              <a:rPr lang="en-US" sz="2700" dirty="0" spc="4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ưu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tiên ở</a:t>
            </a:r>
            <a:r>
              <a:rPr lang="en-US" sz="27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gần</a:t>
            </a:r>
            <a:r>
              <a:rPr lang="en-US" sz="27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bạn</a:t>
            </a:r>
            <a:r>
              <a:rPr lang="en-US" sz="2700" dirty="0" spc="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đời</a:t>
            </a:r>
            <a:r>
              <a:rPr lang="en-US" sz="27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[S13]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8421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5" name="Shape 53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Text 69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L09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32/48</a:t>
            </a:r>
            <a:endParaRPr lang="en-US" sz="1800" dirty="0"/>
          </a:p>
        </p:txBody>
      </p:sp>
      <p:sp>
        <p:nvSpPr>
          <p:cNvPr id="72" name="Shape 7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3" name="Moda image moda-export-watermark-ad201336-203d-4e1c-8ebf-1a1f6fe36de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0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Yêu</a:t>
            </a:r>
            <a:r>
              <a:rPr lang="en-US" sz="57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thương: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 hồ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sơ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Mạch</a:t>
            </a:r>
            <a:r>
              <a:rPr lang="en-US" sz="2100" dirty="0" spc="-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chính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Vùng</a:t>
            </a:r>
            <a:r>
              <a:rPr lang="en-US" sz="255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trước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thị,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nhân</a:t>
            </a:r>
            <a:r>
              <a:rPr lang="en-US" sz="2550" dirty="0" spc="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giường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dải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tận;</a:t>
            </a:r>
            <a:r>
              <a:rPr lang="en-US" sz="2550" dirty="0" spc="-3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kết</a:t>
            </a:r>
            <a:r>
              <a:rPr lang="en-US" sz="2550" dirty="0" spc="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đôi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dùng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nhân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accumbens,</a:t>
            </a:r>
            <a:r>
              <a:rPr lang="en-US" sz="2550" dirty="0" spc="-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nhạt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cầu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bụng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[S2]</a:t>
            </a: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[S13]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Chất</a:t>
            </a:r>
            <a:r>
              <a:rPr lang="en-US" sz="2100" dirty="0" spc="-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liên</a:t>
            </a:r>
            <a:r>
              <a:rPr lang="en-US" sz="2100" dirty="0" spc="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quan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Oxytocin,</a:t>
            </a:r>
            <a:r>
              <a:rPr lang="en-US" sz="255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vasopressin,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opioid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nội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sinh,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dopamine</a:t>
            </a:r>
            <a:r>
              <a:rPr lang="en-US" sz="2550" dirty="0" spc="-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(xem</a:t>
            </a:r>
            <a:r>
              <a:rPr lang="en-US" sz="2550" dirty="0" spc="-3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L03,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L10)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[S2]</a:t>
            </a: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[S13]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38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Vai</a:t>
            </a:r>
            <a:r>
              <a:rPr lang="en-US" sz="2100" dirty="0" spc="-9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trò</a:t>
            </a:r>
            <a:r>
              <a:rPr lang="en-US" sz="2100" dirty="0" spc="-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thích</a:t>
            </a:r>
            <a:r>
              <a:rPr lang="en-US" sz="2100" dirty="0" spc="-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nghi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Chăm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con</a:t>
            </a:r>
            <a:r>
              <a:rPr lang="en-US" sz="2550" dirty="0" spc="-2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quyết</a:t>
            </a:r>
            <a:r>
              <a:rPr lang="en-US" sz="2550" dirty="0" spc="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định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sự</a:t>
            </a:r>
            <a:r>
              <a:rPr lang="en-US" sz="255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sống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con non;</a:t>
            </a:r>
            <a:r>
              <a:rPr lang="en-US" sz="2550" dirty="0" spc="-3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kết</a:t>
            </a:r>
            <a:r>
              <a:rPr lang="en-US" sz="2550" dirty="0" spc="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đôi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nối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bạn</a:t>
            </a:r>
            <a:r>
              <a:rPr lang="en-US" sz="2550" dirty="0" spc="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đời</a:t>
            </a:r>
            <a:r>
              <a:rPr lang="en-US" sz="255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với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hệ</a:t>
            </a:r>
            <a:r>
              <a:rPr lang="en-US" sz="255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thưởng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[S5] [S13]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Khi</a:t>
            </a:r>
            <a:r>
              <a:rPr lang="en-US" sz="2100" dirty="0" spc="-8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mất</a:t>
            </a:r>
            <a:r>
              <a:rPr lang="en-US" sz="2100" dirty="0" spc="-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cân</a:t>
            </a:r>
            <a:r>
              <a:rPr lang="en-US" sz="2100" dirty="0" spc="-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bằng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Ở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chuột,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thụ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</a:t>
            </a:r>
            <a:r>
              <a:rPr lang="en-US" sz="25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oxytocin</a:t>
            </a:r>
            <a:r>
              <a:rPr lang="en-US" sz="2550" dirty="0" spc="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nhân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accumbens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liên quan</a:t>
            </a:r>
            <a:r>
              <a:rPr lang="en-US" sz="255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đến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khả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năng</a:t>
            </a:r>
            <a:r>
              <a:rPr lang="en-US" sz="2550" dirty="0" spc="-3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kết</a:t>
            </a:r>
            <a:r>
              <a:rPr lang="en-US" sz="2550" dirty="0" spc="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đôi</a:t>
            </a:r>
            <a:r>
              <a:rPr lang="en-US" sz="255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sau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cách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ly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[S13]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Khác</a:t>
            </a:r>
            <a:r>
              <a:rPr lang="en-US" sz="2100" dirty="0" spc="-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cảm</a:t>
            </a:r>
            <a:r>
              <a:rPr lang="en-US" sz="2100" dirty="0" spc="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giác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Tình</a:t>
            </a:r>
            <a:r>
              <a:rPr lang="en-US" sz="2550" dirty="0" spc="-2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yêu</a:t>
            </a:r>
            <a:r>
              <a:rPr lang="en-US" sz="25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còn</a:t>
            </a:r>
            <a:r>
              <a:rPr lang="en-US" sz="255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gồm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ký</a:t>
            </a:r>
            <a:r>
              <a:rPr lang="en-US" sz="2550" dirty="0" spc="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ức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chung</a:t>
            </a:r>
            <a:r>
              <a:rPr lang="en-US" sz="2550" dirty="0" spc="-2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nghĩ</a:t>
            </a:r>
            <a:r>
              <a:rPr lang="en-US" sz="2550" dirty="0" spc="-2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về</a:t>
            </a:r>
            <a:r>
              <a:rPr lang="en-US" sz="255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tương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lai,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nhờ</a:t>
            </a:r>
            <a:r>
              <a:rPr lang="en-US" sz="255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vỏ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não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[S13]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206817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6817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25" name="Text 23"/>
          <p:cNvSpPr/>
          <p:nvPr/>
        </p:nvSpPr>
        <p:spPr>
          <a:xfrm>
            <a:off x="1244917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2100" dirty="0" spc="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210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44917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5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Kết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quả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chuột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55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chuyển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thẳng</a:t>
            </a:r>
            <a:r>
              <a:rPr lang="en-US" sz="255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sang</a:t>
            </a:r>
            <a:r>
              <a:rPr lang="en-US" sz="2550" dirty="0" spc="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người;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hiểu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lầm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"hormone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tình</a:t>
            </a:r>
            <a:r>
              <a:rPr lang="en-US" sz="2550" dirty="0" spc="-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yêu"</a:t>
            </a:r>
            <a:r>
              <a:rPr lang="en-US" sz="255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xem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L10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[S13]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032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61" name="Shape 5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L09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33/48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8" name="Moda image moda-export-watermark-3f9d1675-d0ff-4b5b-ab0f-17b06eb0a4d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Đau</a:t>
            </a:r>
            <a:r>
              <a:rPr lang="en-US" sz="57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buồn</a:t>
            </a:r>
            <a:r>
              <a:rPr lang="en-US" sz="5700" dirty="0" spc="-6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</a:t>
            </a:r>
            <a:r>
              <a:rPr lang="en-US" sz="57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đơn: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57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gắn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bó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cắt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thần kinh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bó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nhạy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 ly;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chúng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8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8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đau</a:t>
            </a:r>
            <a:r>
              <a:rPr lang="en-US" sz="28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đớn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1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đau</a:t>
            </a:r>
            <a:r>
              <a:rPr lang="en-US" sz="285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buồn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(grief),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hoảng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loạn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con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non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thú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vú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mẹ,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chúng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85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tiếng</a:t>
            </a:r>
            <a:r>
              <a:rPr lang="en-US" sz="285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kêu</a:t>
            </a:r>
            <a:r>
              <a:rPr lang="en-US" sz="28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đau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khổ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khóc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Mạch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bó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 mạch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8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tiếng</a:t>
            </a:r>
            <a:r>
              <a:rPr lang="en-US" sz="285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kêu</a:t>
            </a:r>
            <a:r>
              <a:rPr lang="en-US" sz="28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kích thích</a:t>
            </a:r>
            <a:r>
              <a:rPr lang="en-US" sz="2850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Panksepp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PANIC/GRIEF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[S7]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8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Mức</a:t>
            </a:r>
            <a:r>
              <a:rPr lang="en-US" sz="1950" dirty="0" spc="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chắc</a:t>
            </a:r>
            <a:r>
              <a:rPr lang="en-US" sz="1950" dirty="0" spc="-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chắn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hành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giáo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khoa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Giả</a:t>
            </a:r>
            <a:r>
              <a:rPr lang="en-US" sz="1950" dirty="0" spc="-13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thuyết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hoảng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loạn</a:t>
            </a:r>
            <a:r>
              <a:rPr lang="en-US" sz="2400" dirty="0" spc="-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đau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buồn chung</a:t>
            </a:r>
            <a:r>
              <a:rPr lang="en-US" sz="24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hệ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Đo</a:t>
            </a:r>
            <a:r>
              <a:rPr lang="en-US" sz="1950" dirty="0" spc="-5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bằng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tiếng</a:t>
            </a:r>
            <a:r>
              <a:rPr lang="en-US" sz="2400" dirty="0" spc="-2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kêu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chia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ly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 [S7]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223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2" name="Shape 5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L09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34/48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2dd3eea4-7b0c-48ab-8e9e-ba95caea7fc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Mạch</a:t>
            </a:r>
            <a:r>
              <a:rPr lang="en-US" sz="57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đau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khổ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chia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ly</a:t>
            </a:r>
            <a:endParaRPr lang="en-US" sz="5700" dirty="0"/>
          </a:p>
        </p:txBody>
      </p:sp>
      <p:sp>
        <p:nvSpPr>
          <p:cNvPr id="3" name="Connector line-1792597342322-508144588"/>
          <p:cNvSpPr/>
          <p:nvPr/>
        </p:nvSpPr>
        <p:spPr>
          <a:xfrm flipH="1" flipV="1">
            <a:off x="3619500" y="3619500"/>
            <a:ext cx="5524500" cy="200025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none"/>
          </a:ln>
        </p:spPr>
      </p:sp>
      <p:sp>
        <p:nvSpPr>
          <p:cNvPr id="4" name="Connector line-1792597342322-787160795"/>
          <p:cNvSpPr/>
          <p:nvPr/>
        </p:nvSpPr>
        <p:spPr>
          <a:xfrm flipV="1">
            <a:off x="9144000" y="3619500"/>
            <a:ext cx="5524500" cy="2000250"/>
          </a:xfrm>
          <a:prstGeom prst="line">
            <a:avLst/>
          </a:prstGeom>
          <a:noFill/>
          <a:ln w="57150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5" name="Connector line-1792597342322-309425117"/>
          <p:cNvSpPr/>
          <p:nvPr/>
        </p:nvSpPr>
        <p:spPr>
          <a:xfrm flipH="1">
            <a:off x="3619500" y="5619750"/>
            <a:ext cx="5524500" cy="2000250"/>
          </a:xfrm>
          <a:prstGeom prst="line">
            <a:avLst/>
          </a:prstGeom>
          <a:noFill/>
          <a:ln w="57150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6" name="Connector line-1792597342322-697458768"/>
          <p:cNvSpPr/>
          <p:nvPr/>
        </p:nvSpPr>
        <p:spPr>
          <a:xfrm>
            <a:off x="9144000" y="5619750"/>
            <a:ext cx="5524500" cy="2000250"/>
          </a:xfrm>
          <a:prstGeom prst="line">
            <a:avLst/>
          </a:prstGeom>
          <a:noFill/>
          <a:ln w="57150">
            <a:solidFill>
              <a:srgbClr val="1F3FD1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953250" y="4191000"/>
            <a:ext cx="4381500" cy="28575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7239000" y="4476750"/>
            <a:ext cx="3810000" cy="22860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ctr"/>
          <a:lstStyle/>
          <a:p>
            <a:pPr algn="ctr" indent="0" marL="0">
              <a:lnSpc>
                <a:spcPts val="3630"/>
              </a:lnSpc>
              <a:buNone/>
            </a:pPr>
            <a:r>
              <a:rPr lang="en-US" sz="3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Mạch</a:t>
            </a:r>
            <a:r>
              <a:rPr lang="en-US" sz="33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đau</a:t>
            </a: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khổ</a:t>
            </a: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chia</a:t>
            </a: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ly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1047750" y="28575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33500" y="28575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Chất</a:t>
            </a:r>
            <a:r>
              <a:rPr lang="en-US" sz="25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xám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quanh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cống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não: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5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đau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96750" y="28575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82500" y="28575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Đồi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550" b="1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lưng</a:t>
            </a:r>
            <a:r>
              <a:rPr lang="en-US" sz="25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giữa,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vách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bụng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047750" y="685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E847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33500" y="685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Vùng</a:t>
            </a:r>
            <a:r>
              <a:rPr lang="en-US" sz="25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</a:t>
            </a:r>
            <a:r>
              <a:rPr lang="en-US" sz="2550" b="1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lưng,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5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giường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dải tận: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mạch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chăm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12096750" y="6858000"/>
            <a:ext cx="5143500" cy="152400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47625">
            <a:solidFill>
              <a:srgbClr val="1F3F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82500" y="6858000"/>
            <a:ext cx="4572000" cy="152400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ctr" indent="0" marL="0">
              <a:lnSpc>
                <a:spcPts val="2933"/>
              </a:lnSpc>
              <a:buNone/>
            </a:pPr>
            <a:r>
              <a:rPr lang="en-US" sz="2550" b="1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dịu: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opiate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sinh,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oxytocin, prolactin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4136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3" name="Shape 5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L09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35/48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7102e07b-5e88-4d97-80f7-afacb074f6e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Đau</a:t>
            </a:r>
            <a:r>
              <a:rPr lang="en-US" sz="57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buồn: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hồ sơ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Mạch</a:t>
            </a:r>
            <a:r>
              <a:rPr lang="en-US" sz="2100" dirty="0" spc="-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chính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Bắt</a:t>
            </a:r>
            <a:r>
              <a:rPr lang="en-US" sz="2550" dirty="0" spc="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đầu</a:t>
            </a:r>
            <a:r>
              <a:rPr lang="en-US" sz="25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chất</a:t>
            </a:r>
            <a:r>
              <a:rPr lang="en-US" sz="255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xám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quanh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cống não,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gần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vùng</a:t>
            </a:r>
            <a:r>
              <a:rPr lang="en-US" sz="2550" dirty="0" spc="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đau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</a:t>
            </a:r>
            <a:r>
              <a:rPr lang="en-US" sz="255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xác;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</a:t>
            </a:r>
            <a:r>
              <a:rPr lang="en-US" sz="2550" dirty="0" spc="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đồi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thị</a:t>
            </a:r>
            <a:r>
              <a:rPr lang="en-US" sz="2550" dirty="0" spc="2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lưng</a:t>
            </a:r>
            <a:r>
              <a:rPr lang="en-US" sz="2550" dirty="0" spc="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giữa,</a:t>
            </a:r>
            <a:r>
              <a:rPr lang="en-US" sz="2550" dirty="0" spc="-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vách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bụng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[S2]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8652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648652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686752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Chất</a:t>
            </a:r>
            <a:r>
              <a:rPr lang="en-US" sz="2100" dirty="0" spc="-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liên</a:t>
            </a:r>
            <a:r>
              <a:rPr lang="en-US" sz="2100" dirty="0" spc="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quan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86752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Opiate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nội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sinh,</a:t>
            </a:r>
            <a:r>
              <a:rPr lang="en-US" sz="255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oxytocin, prolactin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ngăn</a:t>
            </a:r>
            <a:r>
              <a:rPr lang="en-US" sz="2550" dirty="0" spc="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đau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khổ chia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ly</a:t>
            </a:r>
            <a:r>
              <a:rPr lang="en-US" sz="255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(xem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L10)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[S2]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2068175" y="272415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68175" y="272415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9175" y="293370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38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Vai</a:t>
            </a:r>
            <a:r>
              <a:rPr lang="en-US" sz="2100" dirty="0" spc="-9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trò</a:t>
            </a:r>
            <a:r>
              <a:rPr lang="en-US" sz="2100" dirty="0" spc="-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thích</a:t>
            </a:r>
            <a:r>
              <a:rPr lang="en-US" sz="2100" dirty="0" spc="-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nghi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449175" y="344805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Tiếng</a:t>
            </a:r>
            <a:r>
              <a:rPr lang="en-US" sz="2550" dirty="0" spc="-2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kêu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giúp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con</a:t>
            </a:r>
            <a:r>
              <a:rPr lang="en-US" sz="255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non</a:t>
            </a:r>
            <a:r>
              <a:rPr lang="en-US" sz="2550" dirty="0" spc="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tìm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lại; khó chịu khi</a:t>
            </a:r>
            <a:r>
              <a:rPr lang="en-US" sz="2550" dirty="0" spc="-2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xa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thúc</a:t>
            </a:r>
            <a:r>
              <a:rPr lang="en-US" sz="255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quay</a:t>
            </a:r>
            <a:r>
              <a:rPr lang="en-US" sz="2550" dirty="0" spc="-2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về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[S2]</a:t>
            </a: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[S13]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14400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16" name="Shape 14"/>
          <p:cNvSpPr/>
          <p:nvPr/>
        </p:nvSpPr>
        <p:spPr>
          <a:xfrm>
            <a:off x="914400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Khi</a:t>
            </a:r>
            <a:r>
              <a:rPr lang="en-US" sz="2100" dirty="0" spc="-8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mất</a:t>
            </a:r>
            <a:r>
              <a:rPr lang="en-US" sz="2100" dirty="0" spc="-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cân</a:t>
            </a:r>
            <a:r>
              <a:rPr lang="en-US" sz="2100" dirty="0" spc="-5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bằng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95400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Chuột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mất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bạn</a:t>
            </a:r>
            <a:r>
              <a:rPr lang="en-US" sz="2550" dirty="0" spc="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đời:</a:t>
            </a:r>
            <a:r>
              <a:rPr lang="en-US" sz="2550" dirty="0" spc="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đối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phó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thụ</a:t>
            </a:r>
            <a:r>
              <a:rPr lang="en-US" sz="2550" dirty="0" spc="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động,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trục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căng thẳng</a:t>
            </a:r>
            <a:r>
              <a:rPr lang="en-US" sz="25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tăng,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nhạy</a:t>
            </a:r>
            <a:r>
              <a:rPr lang="en-US" sz="2550" dirty="0" spc="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đau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hơn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3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[S13]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648652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8652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1" name="Text 19"/>
          <p:cNvSpPr/>
          <p:nvPr/>
        </p:nvSpPr>
        <p:spPr>
          <a:xfrm>
            <a:off x="686752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Khác</a:t>
            </a:r>
            <a:r>
              <a:rPr lang="en-US" sz="2100" dirty="0" spc="-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cảm</a:t>
            </a:r>
            <a:r>
              <a:rPr lang="en-US" sz="2100" dirty="0" spc="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giác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86752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Suy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luận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55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2550" dirty="0" spc="-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viết:</a:t>
            </a:r>
            <a:r>
              <a:rPr lang="en-US" sz="255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ở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chuột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</a:t>
            </a:r>
            <a:r>
              <a:rPr lang="en-US" sz="2550" dirty="0" spc="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đo</a:t>
            </a:r>
            <a:r>
              <a:rPr lang="en-US" sz="2550" dirty="0" spc="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tiếng</a:t>
            </a:r>
            <a:r>
              <a:rPr lang="en-US" sz="2550" dirty="0" spc="-2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kêu,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sự</a:t>
            </a:r>
            <a:r>
              <a:rPr lang="en-US" sz="255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bất</a:t>
            </a:r>
            <a:r>
              <a:rPr lang="en-US" sz="2550" dirty="0" spc="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động,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hormone;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550" dirty="0" spc="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đo</a:t>
            </a:r>
            <a:r>
              <a:rPr lang="en-US" sz="2550" dirty="0" spc="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nỗi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nhớ</a:t>
            </a:r>
            <a:endParaRPr lang="en-US" sz="2550" dirty="0"/>
          </a:p>
        </p:txBody>
      </p:sp>
      <p:sp>
        <p:nvSpPr>
          <p:cNvPr id="23" name="Shape 21"/>
          <p:cNvSpPr/>
          <p:nvPr/>
        </p:nvSpPr>
        <p:spPr>
          <a:xfrm>
            <a:off x="12068175" y="5829300"/>
            <a:ext cx="5305425" cy="2838450"/>
          </a:xfrm>
          <a:prstGeom prst="roundRect">
            <a:avLst>
              <a:gd name="adj" fmla="val 8054"/>
            </a:avLst>
          </a:prstGeom>
          <a:solidFill>
            <a:srgbClr val="1E212B"/>
          </a:solidFill>
          <a:ln/>
        </p:spPr>
      </p:sp>
      <p:sp>
        <p:nvSpPr>
          <p:cNvPr id="24" name="Shape 22"/>
          <p:cNvSpPr/>
          <p:nvPr/>
        </p:nvSpPr>
        <p:spPr>
          <a:xfrm>
            <a:off x="12068175" y="5829300"/>
            <a:ext cx="114300" cy="28384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25" name="Text 23"/>
          <p:cNvSpPr/>
          <p:nvPr/>
        </p:nvSpPr>
        <p:spPr>
          <a:xfrm>
            <a:off x="12449175" y="6038850"/>
            <a:ext cx="46958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Đừng</a:t>
            </a:r>
            <a:r>
              <a:rPr lang="en-US" sz="2100" dirty="0" spc="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hiểu</a:t>
            </a:r>
            <a:r>
              <a:rPr lang="en-US" sz="210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nhầm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2449175" y="6553200"/>
            <a:ext cx="4695825" cy="19621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-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Opiate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"có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thể"</a:t>
            </a:r>
            <a:r>
              <a:rPr lang="en-US" sz="2550" dirty="0" spc="-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gây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nghiện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vì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giống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cảm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giác</a:t>
            </a:r>
            <a:r>
              <a:rPr lang="en-US" sz="2550" dirty="0" spc="-2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xã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hội: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chỉ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giả</a:t>
            </a:r>
            <a:r>
              <a:rPr lang="en-US" sz="2550" dirty="0" spc="-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thuyết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</a:t>
            </a:r>
            <a:pPr algn="l" indent="0" marL="0">
              <a:lnSpc>
                <a:spcPts val="3188"/>
              </a:lnSpc>
              <a:buNone/>
            </a:pPr>
            <a:r>
              <a:rPr lang="en-US" sz="2550" dirty="0" spc="-4" kern="0">
                <a:solidFill>
                  <a:srgbClr val="9AA0B5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[S2]</a:t>
            </a:r>
            <a:endParaRPr lang="en-US" sz="2550" dirty="0"/>
          </a:p>
        </p:txBody>
      </p:sp>
      <p:sp>
        <p:nvSpPr>
          <p:cNvPr id="27" name="Text 2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76041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64" name="Shape 6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6" name="Text 7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L09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36/48</a:t>
            </a:r>
            <a:endParaRPr lang="en-US" sz="1800" dirty="0"/>
          </a:p>
        </p:txBody>
      </p:sp>
      <p:sp>
        <p:nvSpPr>
          <p:cNvPr id="77" name="Shape 7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8" name="Moda image moda-export-watermark-6fd80c71-d8de-4867-9b99-e2062a0002e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Mất</a:t>
            </a:r>
            <a:r>
              <a:rPr lang="en-US" sz="57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57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đời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ở</a:t>
            </a:r>
            <a:r>
              <a:rPr lang="en-US" sz="57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chuột</a:t>
            </a:r>
            <a:r>
              <a:rPr lang="en-US" sz="57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đồng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thảo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Hành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phó thụ</a:t>
            </a:r>
            <a:r>
              <a:rPr lang="en-US" sz="25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-2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</a:t>
            </a:r>
            <a:r>
              <a:rPr lang="en-US" sz="2550" dirty="0" spc="-1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trầm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5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511492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511492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0" name="Text 8"/>
          <p:cNvSpPr/>
          <p:nvPr/>
        </p:nvSpPr>
        <p:spPr>
          <a:xfrm>
            <a:off x="549592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49592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549592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trục căng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r>
              <a:rPr lang="en-US" sz="25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tăng</a:t>
            </a:r>
            <a:r>
              <a:rPr lang="en-US" sz="25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55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động,</a:t>
            </a:r>
            <a:r>
              <a:rPr lang="en-US" sz="25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nhạy</a:t>
            </a:r>
            <a:r>
              <a:rPr lang="en-US" sz="2550" dirty="0" spc="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đau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5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15450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9315450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5" name="Text 13"/>
          <p:cNvSpPr/>
          <p:nvPr/>
        </p:nvSpPr>
        <p:spPr>
          <a:xfrm>
            <a:off x="9696450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9696450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2700" b="1" dirty="0" spc="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696450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tách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anh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em</a:t>
            </a:r>
            <a:r>
              <a:rPr lang="en-US" sz="25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ruột</a:t>
            </a:r>
            <a:r>
              <a:rPr lang="en-US" sz="25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hiệu</a:t>
            </a:r>
            <a:r>
              <a:rPr lang="en-US" sz="2550" dirty="0" spc="2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5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13515975" y="3048000"/>
            <a:ext cx="3857625" cy="4953000"/>
          </a:xfrm>
          <a:prstGeom prst="roundRect">
            <a:avLst>
              <a:gd name="adj" fmla="val 6914"/>
            </a:avLst>
          </a:prstGeom>
          <a:solidFill>
            <a:srgbClr val="1E212B"/>
          </a:solidFill>
          <a:ln/>
        </p:spPr>
      </p:sp>
      <p:sp>
        <p:nvSpPr>
          <p:cNvPr id="19" name="Shape 17"/>
          <p:cNvSpPr/>
          <p:nvPr/>
        </p:nvSpPr>
        <p:spPr>
          <a:xfrm>
            <a:off x="13515975" y="3048000"/>
            <a:ext cx="3857625" cy="1524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20" name="Text 18"/>
          <p:cNvSpPr/>
          <p:nvPr/>
        </p:nvSpPr>
        <p:spPr>
          <a:xfrm>
            <a:off x="13896975" y="3543300"/>
            <a:ext cx="309562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04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13896975" y="4857750"/>
            <a:ext cx="309562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7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xuất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13896975" y="6000750"/>
            <a:ext cx="3095625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CRF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giảm</a:t>
            </a:r>
            <a:r>
              <a:rPr lang="en-US" sz="25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oxytocin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accumbens</a:t>
            </a:r>
            <a:r>
              <a:rPr lang="en-US" sz="25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7794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61" name="Shape 59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L09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2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37/48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4" name="Moda image moda-export-watermark-dad13cdb-47bc-4fea-bda7-82cc6600e82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cấu</a:t>
            </a:r>
            <a:r>
              <a:rPr lang="en-US" sz="57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trúc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57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tổ</a:t>
            </a:r>
            <a:r>
              <a:rPr lang="en-US" sz="57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nhân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Giáo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rằng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hạnh nhân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nhân</a:t>
            </a:r>
            <a:r>
              <a:rPr lang="en-US" sz="285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accumbens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8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1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</a:t>
            </a:r>
            <a:r>
              <a:rPr lang="en-US" sz="2850" b="1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(complex),</a:t>
            </a:r>
            <a:r>
              <a:rPr lang="en-US" sz="28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nhân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[S4]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 chụp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8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8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xâm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8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vật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[S4]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 nhân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L07,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tắc: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 trúc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phận,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8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Mức</a:t>
            </a:r>
            <a:r>
              <a:rPr lang="en-US" sz="1950" dirty="0" spc="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chắc</a:t>
            </a:r>
            <a:r>
              <a:rPr lang="en-US" sz="1950" dirty="0" spc="-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chắn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giáo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khoa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6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Hệ</a:t>
            </a:r>
            <a:r>
              <a:rPr lang="en-US" sz="1950" dirty="0" spc="0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quả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vùng,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Hồ</a:t>
            </a:r>
            <a:r>
              <a:rPr lang="en-US" sz="1950" dirty="0" spc="-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sơ</a:t>
            </a:r>
            <a:r>
              <a:rPr lang="en-US" sz="1950" dirty="0" spc="17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từng</a:t>
            </a:r>
            <a:r>
              <a:rPr lang="en-US" sz="1950" dirty="0" spc="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cấu trúc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4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L07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985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6" name="Shape 5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L09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38/48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81939263-1150-4bc5-9210-107a9bf6a21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Cùng</a:t>
            </a:r>
            <a:r>
              <a:rPr lang="en-US" sz="57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5700" dirty="0" spc="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vùng,</a:t>
            </a:r>
            <a:r>
              <a:rPr lang="en-US" sz="57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</a:t>
            </a:r>
            <a:r>
              <a:rPr lang="en-US" sz="57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xúc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7622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7622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7622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Hạnh</a:t>
            </a:r>
            <a:r>
              <a:rPr lang="en-US" sz="3000" dirty="0" spc="-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nhân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27622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ham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muốn,</a:t>
            </a: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sợ,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giận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2291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42291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2291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8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Chất</a:t>
            </a:r>
            <a:r>
              <a:rPr lang="en-US" sz="3000" dirty="0" spc="-2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xám</a:t>
            </a:r>
            <a:r>
              <a:rPr lang="en-US" sz="3000" dirty="0" spc="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quanh</a:t>
            </a:r>
            <a:r>
              <a:rPr lang="en-US" sz="3000" dirty="0" spc="-1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cống</a:t>
            </a:r>
            <a:r>
              <a:rPr lang="en-US" sz="3000" dirty="0" spc="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não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81900" y="42291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sợ,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giận,</a:t>
            </a:r>
            <a:r>
              <a:rPr lang="en-US" sz="27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đau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buồn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69595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569595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9595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4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Nhân</a:t>
            </a:r>
            <a:r>
              <a:rPr lang="en-US" sz="3000" dirty="0" spc="6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giường</a:t>
            </a:r>
            <a:r>
              <a:rPr lang="en-US" sz="3000" dirty="0" spc="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của</a:t>
            </a:r>
            <a:r>
              <a:rPr lang="en-US" sz="3000" dirty="0" spc="-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dải</a:t>
            </a:r>
            <a:r>
              <a:rPr lang="en-US" sz="3000" dirty="0" spc="-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tận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581900" y="569595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chăm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con,</a:t>
            </a:r>
            <a:r>
              <a:rPr lang="en-US" sz="27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đau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khổ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 ly [S2]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14400" y="7162800"/>
            <a:ext cx="16459200" cy="1333500"/>
          </a:xfrm>
          <a:prstGeom prst="roundRect">
            <a:avLst>
              <a:gd name="adj" fmla="val 14286"/>
            </a:avLst>
          </a:prstGeom>
          <a:solidFill>
            <a:srgbClr val="1E212B"/>
          </a:solidFill>
          <a:ln w="19050">
            <a:solidFill>
              <a:srgbClr val="2C3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7162800"/>
            <a:ext cx="133350" cy="13335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7162800"/>
            <a:ext cx="5905500" cy="1333500"/>
          </a:xfrm>
          <a:prstGeom prst="rect">
            <a:avLst/>
          </a:prstGeom>
          <a:noFill/>
          <a:ln/>
        </p:spPr>
        <p:txBody>
          <a:bodyPr wrap="square" lIns="0" tIns="16720" rIns="0" bIns="-16720" rtlCol="0" anchor="ctr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 spc="-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Nhân</a:t>
            </a:r>
            <a:r>
              <a:rPr lang="en-US" sz="300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accumbens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81900" y="7162800"/>
            <a:ext cx="9525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ham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muốn,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thích,</a:t>
            </a:r>
            <a:r>
              <a:rPr lang="en-US" sz="27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bó</a:t>
            </a:r>
            <a:r>
              <a:rPr lang="en-US" sz="27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đôi</a:t>
            </a:r>
            <a:r>
              <a:rPr lang="en-US" sz="27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lứa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175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9" name="Shape 57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Text 66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L09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39/48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70" name="Moda image moda-export-watermark-19c93831-bfa6-4ab1-9b67-7a01bb7d46a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57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do</a:t>
            </a:r>
            <a:r>
              <a:rPr lang="en-US" sz="57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nghi</a:t>
            </a:r>
            <a:r>
              <a:rPr lang="en-US" sz="57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"vùng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57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trung</a:t>
            </a:r>
            <a:r>
              <a:rPr lang="en-US" sz="5700" dirty="0" spc="-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tâm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</a:t>
            </a:r>
            <a:r>
              <a:rPr lang="en-US" sz="57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xúc</a:t>
            </a:r>
            <a:r>
              <a:rPr lang="en-US" sz="5700" dirty="0" spc="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Y"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E8E0CF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5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 nhân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nhau</a:t>
            </a:r>
            <a:r>
              <a:rPr lang="en-US" sz="25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65151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65151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68961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68961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896100" y="60007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hạnh nhân</a:t>
            </a:r>
            <a:r>
              <a:rPr lang="en-US" sz="25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255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sợ,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550" dirty="0" spc="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định,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vui</a:t>
            </a:r>
            <a:r>
              <a:rPr lang="en-US" sz="25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 [S8]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21158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1158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4968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124968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mạch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2496800" y="60007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Barrett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25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mạch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viền</a:t>
            </a:r>
            <a:r>
              <a:rPr lang="en-US" sz="2550" dirty="0" spc="-1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5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[S9];</a:t>
            </a:r>
            <a:r>
              <a:rPr lang="en-US" sz="25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Panksepp</a:t>
            </a:r>
            <a:r>
              <a:rPr lang="en-US" sz="255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55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ngược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[S4]</a:t>
            </a:r>
            <a:r>
              <a:rPr lang="en-US" sz="18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[S7]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[S9]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[S10]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366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59" name="Shape 57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L09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40/48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9" name="Moda image moda-export-watermark-1129939d-5664-4498-aacf-853a0ee4752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570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chất,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4A3A22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Opioid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37160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tăng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thích,</a:t>
            </a:r>
            <a:r>
              <a:rPr lang="en-US" sz="31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31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giận,</a:t>
            </a:r>
            <a:r>
              <a:rPr lang="en-US" sz="31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ngăn</a:t>
            </a:r>
            <a:r>
              <a:rPr lang="en-US" sz="31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đau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khổ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31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ly</a:t>
            </a:r>
            <a:r>
              <a:rPr lang="en-US" sz="31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9315450" y="2857500"/>
            <a:ext cx="8058150" cy="4191000"/>
          </a:xfrm>
          <a:prstGeom prst="roundRect">
            <a:avLst>
              <a:gd name="adj" fmla="val 6364"/>
            </a:avLst>
          </a:prstGeom>
          <a:solidFill>
            <a:srgbClr val="1C4236"/>
          </a:solidFill>
          <a:ln/>
        </p:spPr>
      </p:sp>
      <p:sp>
        <p:nvSpPr>
          <p:cNvPr id="8" name="Shape 6"/>
          <p:cNvSpPr/>
          <p:nvPr/>
        </p:nvSpPr>
        <p:spPr>
          <a:xfrm>
            <a:off x="9315450" y="2857500"/>
            <a:ext cx="133350" cy="41910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9" name="Text 7"/>
          <p:cNvSpPr/>
          <p:nvPr/>
        </p:nvSpPr>
        <p:spPr>
          <a:xfrm>
            <a:off x="9772650" y="3200400"/>
            <a:ext cx="714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3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Vasopressin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72650" y="428625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liên</a:t>
            </a:r>
            <a:r>
              <a:rPr lang="en-US" sz="31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315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giận</a:t>
            </a:r>
            <a:r>
              <a:rPr lang="en-US" sz="31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15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31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31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bó</a:t>
            </a:r>
            <a:r>
              <a:rPr lang="en-US" sz="31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đôi</a:t>
            </a:r>
            <a:r>
              <a:rPr lang="en-US" sz="315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lứa</a:t>
            </a:r>
            <a:r>
              <a:rPr lang="en-US" sz="31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 [S13]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914400" y="7429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7429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Một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</a:t>
            </a:r>
            <a:r>
              <a:rPr lang="en-US" sz="28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xúc</a:t>
            </a: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cũng dùng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nhiều</a:t>
            </a:r>
            <a:r>
              <a:rPr lang="en-US" sz="28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chất:</a:t>
            </a:r>
            <a:r>
              <a:rPr lang="en-US" sz="28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gắn bó</a:t>
            </a: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85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oxytocin,</a:t>
            </a:r>
            <a:r>
              <a:rPr lang="en-US" sz="2850" dirty="0" spc="-1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vasopressin,</a:t>
            </a:r>
            <a:r>
              <a:rPr lang="en-US" sz="28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opioid,</a:t>
            </a:r>
            <a:r>
              <a:rPr lang="en-US" sz="28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dopamine</a:t>
            </a:r>
            <a:r>
              <a:rPr lang="en-US" sz="2850" dirty="0" spc="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[S2]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[S13]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[S13]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8556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5" name="Shape 53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L09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41/48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4" name="Moda image moda-export-watermark-105cedfd-b607-4e89-8be4-4970a6a0045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Kinh</a:t>
            </a:r>
            <a:r>
              <a:rPr lang="en-US" sz="57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nghiệm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57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chỉnh</a:t>
            </a:r>
            <a:r>
              <a:rPr lang="en-US" sz="57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mạch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</a:t>
            </a:r>
            <a:r>
              <a:rPr lang="en-US" sz="57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xúc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819400"/>
            <a:ext cx="95250" cy="55054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762250"/>
            <a:ext cx="10572750" cy="5619750"/>
          </a:xfrm>
          <a:prstGeom prst="rect">
            <a:avLst/>
          </a:prstGeom>
          <a:noFill/>
          <a:ln/>
        </p:spPr>
        <p:txBody>
          <a:bodyPr wrap="square" lIns="0" tIns="10843" rIns="0" bIns="-10843" rtlCol="0" anchor="t"/>
          <a:lstStyle/>
          <a:p>
            <a:pPr algn="l" indent="0" marL="0">
              <a:lnSpc>
                <a:spcPts val="3848"/>
              </a:lnSpc>
              <a:buNone/>
            </a:pP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Phản</a:t>
            </a:r>
            <a:r>
              <a:rPr lang="en-US" sz="285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 thể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kinh</a:t>
            </a:r>
            <a:r>
              <a:rPr lang="en-US" sz="285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[S3]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tóm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'nơron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8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xung thì nối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nhau':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850" dirty="0" spc="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85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cảnh,</a:t>
            </a:r>
            <a:r>
              <a:rPr lang="en-US" sz="28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850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8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[S3]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b="1" dirty="0" spc="-3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vỏ</a:t>
            </a:r>
            <a:r>
              <a:rPr lang="en-US" sz="2850" b="1" dirty="0" spc="-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(shell)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accumbens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8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8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ăn,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</a:t>
            </a:r>
            <a:r>
              <a:rPr lang="en-US" sz="28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sợ;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chụp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não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[S3]</a:t>
            </a:r>
            <a:pPr algn="l" indent="0" marL="0">
              <a:lnSpc>
                <a:spcPts val="3848"/>
              </a:lnSpc>
              <a:buNone/>
            </a:pP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2325350" y="2762250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6" name="Shape 4"/>
          <p:cNvSpPr/>
          <p:nvPr/>
        </p:nvSpPr>
        <p:spPr>
          <a:xfrm>
            <a:off x="12325350" y="2762250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12630150" y="3028950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8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Mức</a:t>
            </a:r>
            <a:r>
              <a:rPr lang="en-US" sz="1950" dirty="0" spc="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chắc</a:t>
            </a:r>
            <a:r>
              <a:rPr lang="en-US" sz="1950" dirty="0" spc="-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chắn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630150" y="3486150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thực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nghiệm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chuột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2325350" y="47148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0" name="Shape 8"/>
          <p:cNvSpPr/>
          <p:nvPr/>
        </p:nvSpPr>
        <p:spPr>
          <a:xfrm>
            <a:off x="12325350" y="47148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12630150" y="49815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Ở</a:t>
            </a:r>
            <a:r>
              <a:rPr lang="en-US" sz="1950" dirty="0" spc="7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người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630150" y="54387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thấy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phân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chia</a:t>
            </a:r>
            <a:r>
              <a:rPr lang="en-US" sz="24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- sau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325350" y="6657975"/>
            <a:ext cx="5048250" cy="1724025"/>
          </a:xfrm>
          <a:prstGeom prst="roundRect">
            <a:avLst>
              <a:gd name="adj" fmla="val 12155"/>
            </a:avLst>
          </a:prstGeom>
          <a:solidFill>
            <a:srgbClr val="E8E0C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325350" y="6657975"/>
            <a:ext cx="5048250" cy="9525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630150" y="6924675"/>
            <a:ext cx="44386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Cơ</a:t>
            </a:r>
            <a:r>
              <a:rPr lang="en-US" sz="1950" dirty="0" spc="-4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chế</a:t>
            </a:r>
            <a:r>
              <a:rPr lang="en-US" sz="1950" dirty="0" spc="-10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synapse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2630150" y="7381875"/>
            <a:ext cx="4438650" cy="809625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2928"/>
              </a:lnSpc>
              <a:buNone/>
            </a:pPr>
            <a:r>
              <a:rPr lang="en-US" sz="2400" dirty="0" spc="-4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L02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747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0" name="Shape 58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Text 64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L09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42/48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7dacedeb-fcb3-4b91-af11-ef09d5fd1bc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Khoảng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90%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16459200" cy="3429000"/>
          </a:xfrm>
          <a:prstGeom prst="rect">
            <a:avLst/>
          </a:prstGeom>
          <a:noFill/>
          <a:ln/>
        </p:spPr>
        <p:txBody>
          <a:bodyPr wrap="square" lIns="0" tIns="228600" rIns="0" bIns="-228600" rtlCol="0" anchor="ctr"/>
          <a:lstStyle/>
          <a:p>
            <a:pPr algn="l" indent="0" marL="0">
              <a:lnSpc>
                <a:spcPts val="22500"/>
              </a:lnSpc>
              <a:buNone/>
            </a:pPr>
            <a:r>
              <a:rPr lang="en-US" sz="22500" dirty="0" spc="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90%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914400" y="60960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15852" rIns="0" bIns="-15852" rtlCol="0" anchor="t"/>
          <a:lstStyle/>
          <a:p>
            <a:pPr algn="l" indent="0" marL="0">
              <a:lnSpc>
                <a:spcPts val="3278"/>
              </a:lnSpc>
              <a:buNone/>
            </a:pPr>
            <a:r>
              <a:rPr lang="en-US" sz="28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Chuột</a:t>
            </a:r>
            <a:r>
              <a:rPr lang="en-US" sz="2850" dirty="0" spc="-1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8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môi</a:t>
            </a:r>
            <a:r>
              <a:rPr lang="en-US" sz="285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trường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căng thẳng:</a:t>
            </a:r>
            <a:r>
              <a:rPr lang="en-US" sz="28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khoảng</a:t>
            </a: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90%</a:t>
            </a:r>
            <a:r>
              <a:rPr lang="en-US" sz="285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vỏ</a:t>
            </a:r>
            <a:r>
              <a:rPr lang="en-US" sz="2850" dirty="0" spc="-9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ngoài</a:t>
            </a: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(shell)</a:t>
            </a:r>
            <a:r>
              <a:rPr lang="en-US" sz="28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nhân</a:t>
            </a: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accumbens</a:t>
            </a:r>
            <a:r>
              <a:rPr lang="en-US" sz="28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2850" dirty="0" spc="-2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</a:t>
            </a:r>
            <a:r>
              <a:rPr lang="en-US" sz="28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hành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</a:t>
            </a:r>
            <a:r>
              <a:rPr lang="en-US" sz="285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sợ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khi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bị làm gián</a:t>
            </a:r>
            <a:r>
              <a:rPr lang="en-US" sz="2850" dirty="0" spc="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đoạn</a:t>
            </a:r>
            <a:r>
              <a:rPr lang="en-US" sz="285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glutamate</a:t>
            </a:r>
            <a:r>
              <a:rPr lang="en-US" sz="285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tại</a:t>
            </a:r>
            <a:r>
              <a:rPr lang="en-US" sz="28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chỗ</a:t>
            </a:r>
            <a:r>
              <a:rPr lang="en-US" sz="28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[S3]</a:t>
            </a:r>
            <a:r>
              <a:rPr lang="en-US" sz="28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[S14]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914400" y="7429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18392" rIns="0" bIns="-18392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Môi</a:t>
            </a:r>
            <a:r>
              <a:rPr lang="en-US" sz="33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trường</a:t>
            </a:r>
            <a:r>
              <a:rPr lang="en-US" sz="33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nhà</a:t>
            </a:r>
            <a:r>
              <a:rPr lang="en-US" sz="3300" dirty="0" spc="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ưa</a:t>
            </a:r>
            <a:r>
              <a:rPr lang="en-US" sz="33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thích:</a:t>
            </a:r>
            <a:r>
              <a:rPr lang="en-US" sz="33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khoảng</a:t>
            </a:r>
            <a:r>
              <a:rPr lang="en-US" sz="33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90%</a:t>
            </a:r>
            <a:r>
              <a:rPr lang="en-US" sz="3300" dirty="0" spc="-2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vỏ</a:t>
            </a:r>
            <a:r>
              <a:rPr lang="en-US" sz="3300" dirty="0" spc="-1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ngoài</a:t>
            </a:r>
            <a:r>
              <a:rPr lang="en-US" sz="33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3300" dirty="0" spc="-3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ra</a:t>
            </a:r>
            <a:r>
              <a:rPr lang="en-US" sz="33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hành vi ham</a:t>
            </a:r>
            <a:r>
              <a:rPr lang="en-US" sz="33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muốn</a:t>
            </a:r>
            <a:r>
              <a:rPr lang="en-US" sz="3300" dirty="0" spc="-2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33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cùng</a:t>
            </a:r>
            <a:r>
              <a:rPr lang="en-US" sz="330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phép</a:t>
            </a:r>
            <a:r>
              <a:rPr lang="en-US" sz="33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thử</a:t>
            </a:r>
            <a:r>
              <a:rPr lang="en-US" sz="33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[S3]</a:t>
            </a:r>
            <a:r>
              <a:rPr lang="en-US" sz="33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[S14]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[S14]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937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0" name="Shape 48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L09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43/48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7" name="Moda image moda-export-watermark-eb5f40b4-48e2-4c48-9e1c-004068a1737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Nơron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phát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xung</a:t>
            </a:r>
            <a:r>
              <a:rPr lang="en-US" sz="57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thì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</a:t>
            </a:r>
            <a:r>
              <a:rPr lang="en-US" sz="5700" dirty="0" spc="-7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57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247900"/>
            <a:ext cx="8953500" cy="609600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28575">
            <a:solidFill>
              <a:srgbClr val="DDD5C1"/>
            </a:solidFill>
            <a:prstDash val="solid"/>
          </a:ln>
        </p:spPr>
      </p:sp>
      <p:pic>
        <p:nvPicPr>
          <p:cNvPr id="4" name="Moda image rect-1792597416915-53717167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33650" y="2438400"/>
            <a:ext cx="5715000" cy="571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8477250"/>
            <a:ext cx="16459200" cy="495300"/>
          </a:xfrm>
          <a:prstGeom prst="rect">
            <a:avLst/>
          </a:prstGeom>
          <a:noFill/>
          <a:ln/>
        </p:spPr>
        <p:txBody>
          <a:bodyPr wrap="square" lIns="0" tIns="14435" rIns="0" bIns="-14435" rtlCol="0" anchor="t"/>
          <a:lstStyle/>
          <a:p>
            <a:pPr algn="l" indent="0" marL="0">
              <a:lnSpc>
                <a:spcPts val="1815"/>
              </a:lnSpc>
              <a:buNone/>
            </a:pP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Hình: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Flickr,</a:t>
            </a:r>
            <a:r>
              <a:rPr lang="en-US" sz="16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giấy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CC</a:t>
            </a:r>
            <a:r>
              <a:rPr lang="en-US" sz="1650" dirty="0" spc="-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6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sách;</a:t>
            </a:r>
            <a:r>
              <a:rPr lang="en-US" sz="165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Hove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Martinez,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(chương 10)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10248900" y="2247900"/>
            <a:ext cx="712470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7" name="Shape 4"/>
          <p:cNvSpPr/>
          <p:nvPr/>
        </p:nvSpPr>
        <p:spPr>
          <a:xfrm>
            <a:off x="10248900" y="2247900"/>
            <a:ext cx="114300" cy="9906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8" name="Text 5"/>
          <p:cNvSpPr/>
          <p:nvPr/>
        </p:nvSpPr>
        <p:spPr>
          <a:xfrm>
            <a:off x="10591800" y="2343150"/>
            <a:ext cx="6591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7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Neurons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0591800" y="2647950"/>
            <a:ext cx="6591300" cy="5524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nơron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0248900" y="3390900"/>
            <a:ext cx="712470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11" name="Shape 8"/>
          <p:cNvSpPr/>
          <p:nvPr/>
        </p:nvSpPr>
        <p:spPr>
          <a:xfrm>
            <a:off x="10248900" y="3390900"/>
            <a:ext cx="114300" cy="9906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2" name="Text 9"/>
          <p:cNvSpPr/>
          <p:nvPr/>
        </p:nvSpPr>
        <p:spPr>
          <a:xfrm>
            <a:off x="10591800" y="3486150"/>
            <a:ext cx="6591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Glia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10591800" y="3790950"/>
            <a:ext cx="6591300" cy="552450"/>
          </a:xfrm>
          <a:prstGeom prst="rect">
            <a:avLst/>
          </a:prstGeom>
          <a:noFill/>
          <a:ln/>
        </p:spPr>
        <p:txBody>
          <a:bodyPr wrap="square" lIns="0" tIns="14180" rIns="0" bIns="-14180" rtlCol="0" anchor="ctr"/>
          <a:lstStyle/>
          <a:p>
            <a:pPr algn="l" indent="0" marL="0">
              <a:lnSpc>
                <a:spcPts val="2933"/>
              </a:lnSpc>
              <a:buNone/>
            </a:pPr>
            <a:r>
              <a:rPr lang="en-US" sz="25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tế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bào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thần</a:t>
            </a:r>
            <a:r>
              <a:rPr lang="en-US" sz="25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kinh</a:t>
            </a:r>
            <a:r>
              <a:rPr lang="en-US" sz="255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đệm</a:t>
            </a:r>
            <a:endParaRPr lang="en-US" sz="2550" dirty="0"/>
          </a:p>
        </p:txBody>
      </p:sp>
      <p:sp>
        <p:nvSpPr>
          <p:cNvPr id="14" name="Shape 11"/>
          <p:cNvSpPr/>
          <p:nvPr/>
        </p:nvSpPr>
        <p:spPr>
          <a:xfrm>
            <a:off x="10248900" y="4533900"/>
            <a:ext cx="7124700" cy="3810000"/>
          </a:xfrm>
          <a:prstGeom prst="roundRect">
            <a:avLst>
              <a:gd name="adj" fmla="val 5000"/>
            </a:avLst>
          </a:prstGeom>
          <a:solidFill>
            <a:srgbClr val="DDE3FA"/>
          </a:solidFill>
          <a:ln/>
        </p:spPr>
      </p:sp>
      <p:sp>
        <p:nvSpPr>
          <p:cNvPr id="15" name="Text 12"/>
          <p:cNvSpPr/>
          <p:nvPr/>
        </p:nvSpPr>
        <p:spPr>
          <a:xfrm>
            <a:off x="10553700" y="4800600"/>
            <a:ext cx="6515100" cy="32766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huỳnh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2550" b="1" dirty="0" spc="-1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nơron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2550" b="1" dirty="0" spc="-8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tế</a:t>
            </a:r>
            <a:r>
              <a:rPr lang="en-US" sz="2550" b="1" dirty="0" spc="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bào</a:t>
            </a:r>
            <a:r>
              <a:rPr lang="en-US" sz="2550" b="1" dirty="0" spc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thần</a:t>
            </a:r>
            <a:r>
              <a:rPr lang="en-US" sz="255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kinh</a:t>
            </a:r>
            <a:r>
              <a:rPr lang="en-US" sz="255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(glia),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 ý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dẻo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[S3]</a:t>
            </a:r>
            <a:pPr algn="l" indent="0" marL="0">
              <a:lnSpc>
                <a:spcPts val="3315"/>
              </a:lnSpc>
              <a:buNone/>
            </a:pPr>
            <a:r>
              <a:rPr lang="en-US" sz="25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.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nhân accumbens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cho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xúc;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bào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dày</a:t>
            </a:r>
            <a:r>
              <a:rPr lang="en-US" sz="25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đặc.</a:t>
            </a:r>
            <a:endParaRPr lang="en-US" sz="2550" dirty="0"/>
          </a:p>
        </p:txBody>
      </p:sp>
      <p:sp>
        <p:nvSpPr>
          <p:cNvPr id="16" name="Text 13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8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5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39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1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7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49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1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2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3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4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5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6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7"/>
          <p:cNvSpPr/>
          <p:nvPr/>
        </p:nvSpPr>
        <p:spPr>
          <a:xfrm>
            <a:off x="9128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1" name="Shape 58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59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0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1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5" name="Text 62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L09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44/48</a:t>
            </a:r>
            <a:endParaRPr lang="en-US" sz="1800" dirty="0"/>
          </a:p>
        </p:txBody>
      </p:sp>
      <p:sp>
        <p:nvSpPr>
          <p:cNvPr id="66" name="Shape 6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7" name="Moda image moda-export-watermark-272b1735-502d-47fd-8324-66696eb9a8e2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ví dụ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kinh</a:t>
            </a: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nghiệm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57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cảm</a:t>
            </a:r>
            <a:r>
              <a:rPr lang="en-US" sz="57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xúc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Bàn</a:t>
            </a: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phím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295400" y="60007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môi</a:t>
            </a:r>
            <a:r>
              <a:rPr lang="en-US" sz="25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 lại</a:t>
            </a:r>
            <a:r>
              <a:rPr lang="en-US" sz="25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ham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55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vùng</a:t>
            </a:r>
            <a:r>
              <a:rPr lang="en-US" sz="25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nhân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accumbens</a:t>
            </a:r>
            <a:r>
              <a:rPr lang="en-US" sz="25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[S14]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65151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65151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0" name="Text 8"/>
          <p:cNvSpPr/>
          <p:nvPr/>
        </p:nvSpPr>
        <p:spPr>
          <a:xfrm>
            <a:off x="68961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68961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Chăm</a:t>
            </a:r>
            <a:r>
              <a:rPr lang="en-US" sz="27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6896100" y="60007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chuột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5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hằng</a:t>
            </a:r>
            <a:r>
              <a:rPr lang="en-US" sz="255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5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chuột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 dần có hành</a:t>
            </a:r>
            <a:r>
              <a:rPr lang="en-US" sz="25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chăm</a:t>
            </a:r>
            <a:r>
              <a:rPr lang="en-US" sz="25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sóc</a:t>
            </a:r>
            <a:r>
              <a:rPr lang="en-US" sz="25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[S5]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2115800" y="3048000"/>
            <a:ext cx="52578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115800" y="3048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</p:sp>
      <p:sp>
        <p:nvSpPr>
          <p:cNvPr id="15" name="Text 13"/>
          <p:cNvSpPr/>
          <p:nvPr/>
        </p:nvSpPr>
        <p:spPr>
          <a:xfrm>
            <a:off x="12496800" y="354330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1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7200" dirty="0"/>
          </a:p>
        </p:txBody>
      </p:sp>
      <p:sp>
        <p:nvSpPr>
          <p:cNvPr id="16" name="Text 14"/>
          <p:cNvSpPr/>
          <p:nvPr/>
        </p:nvSpPr>
        <p:spPr>
          <a:xfrm>
            <a:off x="12496800" y="485775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8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Ký</a:t>
            </a:r>
            <a:r>
              <a:rPr lang="en-US" sz="2700" b="1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2496800" y="6000750"/>
            <a:ext cx="44958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noradrenaline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hạnh</a:t>
            </a:r>
            <a:r>
              <a:rPr lang="en-US" sz="25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 củng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5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ức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5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xúc;</a:t>
            </a:r>
            <a:r>
              <a:rPr lang="en-US" sz="25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55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góp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-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5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</a:t>
            </a:r>
            <a:r>
              <a:rPr lang="en-US" sz="25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âu</a:t>
            </a:r>
            <a:r>
              <a:rPr lang="en-US" sz="25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[S6]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 [S5] [S6]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[S14]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318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64" name="Shape 62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L09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45/48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9" name="Moda image moda-export-watermark-7c088386-ff69-4b66-be7a-0ae23de5cea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Điều</a:t>
            </a:r>
            <a:r>
              <a:rPr lang="en-US" sz="57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57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5700" dirty="0"/>
          </a:p>
        </p:txBody>
      </p:sp>
      <p:sp>
        <p:nvSpPr>
          <p:cNvPr id="3" name="Text 1"/>
          <p:cNvSpPr/>
          <p:nvPr/>
        </p:nvSpPr>
        <p:spPr>
          <a:xfrm>
            <a:off x="914400" y="23812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7745" dirty="0"/>
          </a:p>
        </p:txBody>
      </p:sp>
      <p:sp>
        <p:nvSpPr>
          <p:cNvPr id="4" name="Shape 2"/>
          <p:cNvSpPr/>
          <p:nvPr/>
        </p:nvSpPr>
        <p:spPr>
          <a:xfrm>
            <a:off x="2724150" y="24765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3105150" y="24765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Cảm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xúc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mạng</a:t>
            </a:r>
            <a:r>
              <a:rPr lang="en-US" sz="3000" dirty="0" spc="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lưới</a:t>
            </a:r>
            <a:r>
              <a:rPr lang="en-US" sz="30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trải</a:t>
            </a:r>
            <a:r>
              <a:rPr lang="en-US" sz="30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gần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khắp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não,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nằm</a:t>
            </a:r>
            <a:r>
              <a:rPr lang="en-US" sz="30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30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vùng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[S1]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36766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7745" dirty="0"/>
          </a:p>
        </p:txBody>
      </p:sp>
      <p:sp>
        <p:nvSpPr>
          <p:cNvPr id="7" name="Shape 5"/>
          <p:cNvSpPr/>
          <p:nvPr/>
        </p:nvSpPr>
        <p:spPr>
          <a:xfrm>
            <a:off x="2724150" y="37719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3105150" y="37719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Có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xúc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cơ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bản</a:t>
            </a:r>
            <a:r>
              <a:rPr lang="en-US" sz="30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hay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0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tranh</a:t>
            </a:r>
            <a:r>
              <a:rPr lang="en-US" sz="30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luận</a:t>
            </a:r>
            <a:r>
              <a:rPr lang="en-US" sz="30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đang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mở</a:t>
            </a:r>
            <a:r>
              <a:rPr lang="en-US" sz="30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[S7] [S8]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49720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7745" dirty="0"/>
          </a:p>
        </p:txBody>
      </p:sp>
      <p:sp>
        <p:nvSpPr>
          <p:cNvPr id="10" name="Shape 8"/>
          <p:cNvSpPr/>
          <p:nvPr/>
        </p:nvSpPr>
        <p:spPr>
          <a:xfrm>
            <a:off x="2724150" y="50673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3105150" y="50673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Ham muốn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thích: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dopamine</a:t>
            </a:r>
            <a:r>
              <a:rPr lang="en-US" sz="30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muốn,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opioid</a:t>
            </a:r>
            <a:r>
              <a:rPr lang="en-US" sz="30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thích</a:t>
            </a:r>
            <a:r>
              <a:rPr lang="en-US" sz="30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[S2]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[S10]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62674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7745" dirty="0"/>
          </a:p>
        </p:txBody>
      </p:sp>
      <p:sp>
        <p:nvSpPr>
          <p:cNvPr id="13" name="Shape 11"/>
          <p:cNvSpPr/>
          <p:nvPr/>
        </p:nvSpPr>
        <p:spPr>
          <a:xfrm>
            <a:off x="2724150" y="63627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14" name="Text 12"/>
          <p:cNvSpPr/>
          <p:nvPr/>
        </p:nvSpPr>
        <p:spPr>
          <a:xfrm>
            <a:off x="3105150" y="63627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Sợ, giận,</a:t>
            </a:r>
            <a:r>
              <a:rPr lang="en-US" sz="3000" dirty="0" spc="-2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yêu</a:t>
            </a:r>
            <a:r>
              <a:rPr lang="en-US" sz="30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thương,</a:t>
            </a:r>
            <a:r>
              <a:rPr lang="en-US" sz="3000" dirty="0" spc="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đau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buồn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mạch</a:t>
            </a:r>
            <a:r>
              <a:rPr lang="en-US" sz="3000" dirty="0" spc="1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dưới</a:t>
            </a:r>
            <a:r>
              <a:rPr lang="en-US" sz="300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vỏ</a:t>
            </a: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chồng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lấn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nhau</a:t>
            </a:r>
            <a:r>
              <a:rPr lang="en-US" sz="300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[S2]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4400" y="7562850"/>
            <a:ext cx="161925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745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7745" dirty="0"/>
          </a:p>
        </p:txBody>
      </p:sp>
      <p:sp>
        <p:nvSpPr>
          <p:cNvPr id="16" name="Shape 14"/>
          <p:cNvSpPr/>
          <p:nvPr/>
        </p:nvSpPr>
        <p:spPr>
          <a:xfrm>
            <a:off x="2724150" y="7658100"/>
            <a:ext cx="14649450" cy="990600"/>
          </a:xfrm>
          <a:prstGeom prst="roundRect">
            <a:avLst>
              <a:gd name="adj" fmla="val 19231"/>
            </a:avLst>
          </a:prstGeom>
          <a:solidFill>
            <a:srgbClr val="E8E0CF"/>
          </a:solidFill>
          <a:ln/>
        </p:spPr>
      </p:sp>
      <p:sp>
        <p:nvSpPr>
          <p:cNvPr id="17" name="Text 15"/>
          <p:cNvSpPr/>
          <p:nvPr/>
        </p:nvSpPr>
        <p:spPr>
          <a:xfrm>
            <a:off x="3105150" y="7658100"/>
            <a:ext cx="14001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Kinh</a:t>
            </a:r>
            <a:r>
              <a:rPr lang="en-US" sz="30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nghiệm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 thể</a:t>
            </a:r>
            <a:r>
              <a:rPr lang="en-US" sz="30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chỉnh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lại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mạch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cảm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xúc,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ít</a:t>
            </a:r>
            <a:r>
              <a:rPr lang="en-US" sz="3000" dirty="0" spc="-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</a:t>
            </a:r>
            <a:r>
              <a:rPr lang="en-US" sz="30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ở</a:t>
            </a:r>
            <a:r>
              <a:rPr lang="en-US" sz="30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chuột</a:t>
            </a:r>
            <a:r>
              <a:rPr lang="en-US" sz="30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[S14]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14400" y="8991600"/>
            <a:ext cx="16459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[S1]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 [S7]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[S8] [S10] [S14]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9509125" y="9556750"/>
            <a:ext cx="127000" cy="127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5" name="Shape 63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14161C">
              <a:alpha val="28000"/>
            </a:srgbClr>
          </a:solidFill>
          <a:ln/>
        </p:spPr>
      </p:sp>
      <p:sp>
        <p:nvSpPr>
          <p:cNvPr id="67" name="Text 65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L09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46/48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9" name="Moda image moda-export-watermark-df17d42a-98f4-4309-bda7-5b1ff590a52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Lưu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9527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4" name="Text 2"/>
          <p:cNvSpPr/>
          <p:nvPr/>
        </p:nvSpPr>
        <p:spPr>
          <a:xfrm>
            <a:off x="1485900" y="2857500"/>
            <a:ext cx="15811500" cy="4191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ctr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giải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thích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69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chế,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7728"/>
              </a:lnSpc>
              <a:buNone/>
            </a:pPr>
            <a:r>
              <a:rPr lang="en-US" sz="690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6900" dirty="0" spc="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-3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6900" dirty="0" spc="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khuyên</a:t>
            </a:r>
            <a:r>
              <a:rPr lang="en-US" sz="6900" dirty="0" spc="-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</a:t>
            </a:r>
            <a:r>
              <a:rPr lang="en-US" sz="6900" dirty="0" spc="-29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tế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1485900" y="7429500"/>
            <a:ext cx="1581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opioid,</a:t>
            </a:r>
            <a:r>
              <a:rPr lang="en-US" sz="27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benzodiazepine</a:t>
            </a:r>
            <a:r>
              <a:rPr lang="en-US" sz="27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thuốc</a:t>
            </a:r>
            <a:r>
              <a:rPr lang="en-US" sz="27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700" dirty="0" spc="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</a:t>
            </a:r>
            <a:r>
              <a:rPr lang="en-US" sz="27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7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1485900" y="8096250"/>
            <a:ext cx="1581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Hoảng</a:t>
            </a:r>
            <a:r>
              <a:rPr lang="en-US" sz="27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loạn,</a:t>
            </a:r>
            <a:r>
              <a:rPr lang="en-US" sz="2700" dirty="0" spc="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đau</a:t>
            </a:r>
            <a:r>
              <a:rPr lang="en-US" sz="27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buồn</a:t>
            </a:r>
            <a:r>
              <a:rPr lang="en-US" sz="2700" dirty="0" spc="-3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kéo</a:t>
            </a:r>
            <a:r>
              <a:rPr lang="en-US" sz="27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dài,</a:t>
            </a:r>
            <a:r>
              <a:rPr lang="en-US" sz="27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7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</a:t>
            </a:r>
            <a:r>
              <a:rPr lang="en-US" sz="27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hại: tìm</a:t>
            </a:r>
            <a:r>
              <a:rPr lang="en-US" sz="2700" dirty="0" spc="-2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7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7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chuyên</a:t>
            </a:r>
            <a:r>
              <a:rPr lang="en-US" sz="27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môn</a:t>
            </a:r>
            <a:r>
              <a:rPr lang="en-US" sz="2700" dirty="0" spc="-2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6996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54" name="Shape 52"/>
          <p:cNvSpPr/>
          <p:nvPr/>
        </p:nvSpPr>
        <p:spPr>
          <a:xfrm>
            <a:off x="990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L09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47/48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57" name="Moda image moda-export-watermark-c6872086-5bef-4cd9-8745-5523a5faa75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80975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Nguồn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tham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khảo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914400" y="2571750"/>
            <a:ext cx="8039100" cy="676275"/>
          </a:xfrm>
          <a:prstGeom prst="roundRect">
            <a:avLst>
              <a:gd name="adj" fmla="val 22535"/>
            </a:avLst>
          </a:prstGeom>
          <a:solidFill>
            <a:srgbClr val="1E212B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571750"/>
            <a:ext cx="876300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2057400" y="2571750"/>
            <a:ext cx="6667500" cy="676275"/>
          </a:xfrm>
          <a:prstGeom prst="rect">
            <a:avLst/>
          </a:prstGeom>
          <a:noFill/>
          <a:ln/>
        </p:spPr>
        <p:txBody>
          <a:bodyPr wrap="square" lIns="0" tIns="6603" rIns="0" bIns="-6603" rtlCol="0" anchor="ctr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Hove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Martinez, Biological</a:t>
            </a:r>
            <a:r>
              <a:rPr lang="en-US" sz="18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Psychology,</a:t>
            </a:r>
            <a:r>
              <a:rPr lang="en-US" sz="18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10.1</a:t>
            </a:r>
            <a:r>
              <a:rPr lang="en-US" sz="180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Affective</a:t>
            </a:r>
            <a:r>
              <a:rPr lang="en-US" sz="18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Neuroscience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3362325"/>
            <a:ext cx="8039100" cy="676275"/>
          </a:xfrm>
          <a:prstGeom prst="roundRect">
            <a:avLst>
              <a:gd name="adj" fmla="val 22535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362325"/>
            <a:ext cx="876300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2057400" y="3362325"/>
            <a:ext cx="6667500" cy="676275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Hove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 Martinez, mục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10.2</a:t>
            </a:r>
            <a:r>
              <a:rPr lang="en-US" sz="21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Basic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Emotions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14400" y="4152900"/>
            <a:ext cx="8039100" cy="676275"/>
          </a:xfrm>
          <a:prstGeom prst="roundRect">
            <a:avLst>
              <a:gd name="adj" fmla="val 22535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4152900"/>
            <a:ext cx="876300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S3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2057400" y="4152900"/>
            <a:ext cx="6667500" cy="676275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Hove</a:t>
            </a:r>
            <a:r>
              <a:rPr lang="en-US" sz="21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 Martinez, mục</a:t>
            </a:r>
            <a:r>
              <a:rPr lang="en-US" sz="21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10.3 Plasticity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14400" y="4933950"/>
            <a:ext cx="8039100" cy="676275"/>
          </a:xfrm>
          <a:prstGeom prst="roundRect">
            <a:avLst>
              <a:gd name="adj" fmla="val 22535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933950"/>
            <a:ext cx="876300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S4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2057400" y="4933950"/>
            <a:ext cx="6667500" cy="676275"/>
          </a:xfrm>
          <a:prstGeom prst="rect">
            <a:avLst/>
          </a:prstGeom>
          <a:noFill/>
          <a:ln/>
        </p:spPr>
        <p:txBody>
          <a:bodyPr wrap="square" lIns="0" tIns="6603" rIns="0" bIns="-6603" rtlCol="0" anchor="ctr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Hove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Martinez,</a:t>
            </a:r>
            <a:r>
              <a:rPr lang="en-US" sz="18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10.4</a:t>
            </a:r>
            <a:r>
              <a:rPr lang="en-US" sz="18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Brain</a:t>
            </a:r>
            <a:r>
              <a:rPr lang="en-US" sz="18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Structures</a:t>
            </a:r>
            <a:r>
              <a:rPr lang="en-US" sz="18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have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Multiple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Functions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" y="5724525"/>
            <a:ext cx="8039100" cy="676275"/>
          </a:xfrm>
          <a:prstGeom prst="roundRect">
            <a:avLst>
              <a:gd name="adj" fmla="val 22535"/>
            </a:avLst>
          </a:prstGeom>
          <a:solidFill>
            <a:srgbClr val="1E212B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5724525"/>
            <a:ext cx="876300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S5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2057400" y="5724525"/>
            <a:ext cx="6667500" cy="676275"/>
          </a:xfrm>
          <a:prstGeom prst="rect">
            <a:avLst/>
          </a:prstGeom>
          <a:noFill/>
          <a:ln/>
        </p:spPr>
        <p:txBody>
          <a:bodyPr wrap="square" lIns="0" tIns="6603" rIns="0" bIns="-6603" rtlCol="0" anchor="ctr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Hove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Martinez,</a:t>
            </a:r>
            <a:r>
              <a:rPr lang="en-US" sz="18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 6.4</a:t>
            </a:r>
            <a:r>
              <a:rPr lang="en-US" sz="18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Aggression</a:t>
            </a:r>
            <a:r>
              <a:rPr lang="en-US" sz="18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</a:t>
            </a:r>
            <a:r>
              <a:rPr lang="en-US" sz="18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Parental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Behaviors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4400" y="6515100"/>
            <a:ext cx="8039100" cy="676275"/>
          </a:xfrm>
          <a:prstGeom prst="roundRect">
            <a:avLst>
              <a:gd name="adj" fmla="val 22535"/>
            </a:avLst>
          </a:prstGeom>
          <a:solidFill>
            <a:srgbClr val="1E212B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6515100"/>
            <a:ext cx="876300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S6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2057400" y="6515100"/>
            <a:ext cx="6667500" cy="676275"/>
          </a:xfrm>
          <a:prstGeom prst="rect">
            <a:avLst/>
          </a:prstGeom>
          <a:noFill/>
          <a:ln/>
        </p:spPr>
        <p:txBody>
          <a:bodyPr wrap="square" lIns="0" tIns="6603" rIns="0" bIns="-6603" rtlCol="0" anchor="ctr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Hove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Martinez,</a:t>
            </a:r>
            <a:r>
              <a:rPr lang="en-US" sz="18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8.3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Emotional</a:t>
            </a:r>
            <a:r>
              <a:rPr lang="en-US" sz="18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Memories</a:t>
            </a:r>
            <a:r>
              <a:rPr lang="en-US" sz="18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(Amygdala)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7296150"/>
            <a:ext cx="8039100" cy="676275"/>
          </a:xfrm>
          <a:prstGeom prst="roundRect">
            <a:avLst>
              <a:gd name="adj" fmla="val 22535"/>
            </a:avLst>
          </a:prstGeom>
          <a:solidFill>
            <a:srgbClr val="1E212B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7296150"/>
            <a:ext cx="876300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6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S7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2057400" y="7296150"/>
            <a:ext cx="6667500" cy="676275"/>
          </a:xfrm>
          <a:prstGeom prst="rect">
            <a:avLst/>
          </a:prstGeom>
          <a:noFill/>
          <a:ln/>
        </p:spPr>
        <p:txBody>
          <a:bodyPr wrap="square" lIns="0" tIns="7703" rIns="0" bIns="-7703" rtlCol="0" anchor="ctr"/>
          <a:lstStyle/>
          <a:p>
            <a:pPr algn="l" indent="0" marL="0">
              <a:lnSpc>
                <a:spcPts val="2478"/>
              </a:lnSpc>
              <a:buNone/>
            </a:pPr>
            <a:r>
              <a:rPr lang="en-US" sz="21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Panksepp,</a:t>
            </a:r>
            <a:r>
              <a:rPr lang="en-US" sz="21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PLoS</a:t>
            </a:r>
            <a:r>
              <a:rPr lang="en-US" sz="21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ONE, 2011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14400" y="8086725"/>
            <a:ext cx="8039100" cy="676275"/>
          </a:xfrm>
          <a:prstGeom prst="roundRect">
            <a:avLst>
              <a:gd name="adj" fmla="val 22535"/>
            </a:avLst>
          </a:prstGeom>
          <a:solidFill>
            <a:srgbClr val="1E212B"/>
          </a:solidFill>
          <a:ln/>
        </p:spPr>
      </p:sp>
      <p:sp>
        <p:nvSpPr>
          <p:cNvPr id="25" name="Text 23"/>
          <p:cNvSpPr/>
          <p:nvPr/>
        </p:nvSpPr>
        <p:spPr>
          <a:xfrm>
            <a:off x="1143000" y="8086725"/>
            <a:ext cx="876300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S8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2057400" y="8086725"/>
            <a:ext cx="6667500" cy="676275"/>
          </a:xfrm>
          <a:prstGeom prst="rect">
            <a:avLst/>
          </a:prstGeom>
          <a:noFill/>
          <a:ln/>
        </p:spPr>
        <p:txBody>
          <a:bodyPr wrap="square" lIns="0" tIns="6606" rIns="0" bIns="-6606" rtlCol="0" anchor="ctr"/>
          <a:lstStyle/>
          <a:p>
            <a:pPr algn="l" indent="0" marL="0">
              <a:lnSpc>
                <a:spcPts val="2119"/>
              </a:lnSpc>
              <a:buNone/>
            </a:pPr>
            <a:r>
              <a:rPr lang="en-US" sz="1796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Lindquist,</a:t>
            </a:r>
            <a:r>
              <a:rPr lang="en-US" sz="1796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Wager,</a:t>
            </a:r>
            <a:r>
              <a:rPr lang="en-US" sz="1796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Kober,</a:t>
            </a:r>
            <a:r>
              <a:rPr lang="en-US" sz="1796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Bliss-Moreau</a:t>
            </a:r>
            <a:r>
              <a:rPr lang="en-US" sz="1796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796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Barrett, Behavioral</a:t>
            </a:r>
            <a:r>
              <a:rPr lang="en-US" sz="1796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</a:t>
            </a:r>
            <a:r>
              <a:rPr lang="en-US" sz="1796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Brain</a:t>
            </a:r>
            <a:r>
              <a:rPr lang="en-US" sz="1796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Sciences,</a:t>
            </a:r>
            <a:r>
              <a:rPr lang="en-US" sz="1796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2012</a:t>
            </a:r>
            <a:endParaRPr lang="en-US" sz="1796" dirty="0"/>
          </a:p>
        </p:txBody>
      </p:sp>
      <p:sp>
        <p:nvSpPr>
          <p:cNvPr id="27" name="Shape 25"/>
          <p:cNvSpPr/>
          <p:nvPr/>
        </p:nvSpPr>
        <p:spPr>
          <a:xfrm>
            <a:off x="9334500" y="2571750"/>
            <a:ext cx="8039100" cy="676275"/>
          </a:xfrm>
          <a:prstGeom prst="roundRect">
            <a:avLst>
              <a:gd name="adj" fmla="val 22535"/>
            </a:avLst>
          </a:prstGeom>
          <a:solidFill>
            <a:srgbClr val="1E212B"/>
          </a:solidFill>
          <a:ln/>
        </p:spPr>
      </p:sp>
      <p:sp>
        <p:nvSpPr>
          <p:cNvPr id="28" name="Text 26"/>
          <p:cNvSpPr/>
          <p:nvPr/>
        </p:nvSpPr>
        <p:spPr>
          <a:xfrm>
            <a:off x="9563100" y="2571750"/>
            <a:ext cx="876300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S9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0477500" y="2571750"/>
            <a:ext cx="6667500" cy="676275"/>
          </a:xfrm>
          <a:prstGeom prst="rect">
            <a:avLst/>
          </a:prstGeom>
          <a:noFill/>
          <a:ln/>
        </p:spPr>
        <p:txBody>
          <a:bodyPr wrap="square" lIns="0" tIns="6603" rIns="0" bIns="-6603" rtlCol="0" anchor="ctr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Barrett,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 theory</a:t>
            </a:r>
            <a:r>
              <a:rPr lang="en-US" sz="18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</a:t>
            </a:r>
            <a:r>
              <a:rPr lang="en-US" sz="18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constructed</a:t>
            </a:r>
            <a:r>
              <a:rPr lang="en-US" sz="18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emotion,</a:t>
            </a:r>
            <a:r>
              <a:rPr lang="en-US" sz="18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Soc</a:t>
            </a:r>
            <a:r>
              <a:rPr lang="en-US" sz="18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Cogn</a:t>
            </a:r>
            <a:r>
              <a:rPr lang="en-US" sz="1800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Affect</a:t>
            </a:r>
            <a:r>
              <a:rPr lang="en-US" sz="18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Neurosci,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2017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334500" y="3362325"/>
            <a:ext cx="8039100" cy="676275"/>
          </a:xfrm>
          <a:prstGeom prst="roundRect">
            <a:avLst>
              <a:gd name="adj" fmla="val 22535"/>
            </a:avLst>
          </a:prstGeom>
          <a:solidFill>
            <a:srgbClr val="1E212B"/>
          </a:solidFill>
          <a:ln/>
        </p:spPr>
      </p:sp>
      <p:sp>
        <p:nvSpPr>
          <p:cNvPr id="31" name="Text 29"/>
          <p:cNvSpPr/>
          <p:nvPr/>
        </p:nvSpPr>
        <p:spPr>
          <a:xfrm>
            <a:off x="9563100" y="3362325"/>
            <a:ext cx="876300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S10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10477500" y="3362325"/>
            <a:ext cx="6667500" cy="676275"/>
          </a:xfrm>
          <a:prstGeom prst="rect">
            <a:avLst/>
          </a:prstGeom>
          <a:noFill/>
          <a:ln/>
        </p:spPr>
        <p:txBody>
          <a:bodyPr wrap="square" lIns="0" tIns="6603" rIns="0" bIns="-6603" rtlCol="0" anchor="ctr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Berridge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Kringelbach,</a:t>
            </a:r>
            <a:r>
              <a:rPr lang="en-US" sz="18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Pleasure</a:t>
            </a:r>
            <a:r>
              <a:rPr lang="en-US" sz="18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systems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</a:t>
            </a:r>
            <a:r>
              <a:rPr lang="en-US" sz="18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brain,</a:t>
            </a:r>
            <a:r>
              <a:rPr lang="en-US" sz="18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Neuron,</a:t>
            </a:r>
            <a:r>
              <a:rPr lang="en-US" sz="18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2015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334500" y="4152900"/>
            <a:ext cx="8039100" cy="676275"/>
          </a:xfrm>
          <a:prstGeom prst="roundRect">
            <a:avLst>
              <a:gd name="adj" fmla="val 22535"/>
            </a:avLst>
          </a:prstGeom>
          <a:solidFill>
            <a:srgbClr val="1E212B"/>
          </a:solidFill>
          <a:ln/>
        </p:spPr>
      </p:sp>
      <p:sp>
        <p:nvSpPr>
          <p:cNvPr id="34" name="Text 32"/>
          <p:cNvSpPr/>
          <p:nvPr/>
        </p:nvSpPr>
        <p:spPr>
          <a:xfrm>
            <a:off x="9563100" y="4152900"/>
            <a:ext cx="876300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S11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0477500" y="4152900"/>
            <a:ext cx="6667500" cy="676275"/>
          </a:xfrm>
          <a:prstGeom prst="rect">
            <a:avLst/>
          </a:prstGeom>
          <a:noFill/>
          <a:ln/>
        </p:spPr>
        <p:txBody>
          <a:bodyPr wrap="square" lIns="0" tIns="6603" rIns="0" bIns="-6603" rtlCol="0" anchor="ctr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LeDoux,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Emotion</a:t>
            </a:r>
            <a:r>
              <a:rPr lang="en-US" sz="18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circuits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</a:t>
            </a:r>
            <a:r>
              <a:rPr lang="en-US" sz="18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brain,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Annual</a:t>
            </a:r>
            <a:r>
              <a:rPr lang="en-US" sz="180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</a:t>
            </a:r>
            <a:r>
              <a:rPr lang="en-US" sz="18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</a:t>
            </a:r>
            <a:r>
              <a:rPr lang="en-US" sz="18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Neuroscience,</a:t>
            </a:r>
            <a:r>
              <a:rPr lang="en-US" sz="18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2000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9334500" y="4933950"/>
            <a:ext cx="8039100" cy="676275"/>
          </a:xfrm>
          <a:prstGeom prst="roundRect">
            <a:avLst>
              <a:gd name="adj" fmla="val 22535"/>
            </a:avLst>
          </a:prstGeom>
          <a:solidFill>
            <a:srgbClr val="1E212B"/>
          </a:solidFill>
          <a:ln/>
        </p:spPr>
      </p:sp>
      <p:sp>
        <p:nvSpPr>
          <p:cNvPr id="37" name="Text 35"/>
          <p:cNvSpPr/>
          <p:nvPr/>
        </p:nvSpPr>
        <p:spPr>
          <a:xfrm>
            <a:off x="9563100" y="4933950"/>
            <a:ext cx="876300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S12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10477500" y="4933950"/>
            <a:ext cx="6667500" cy="676275"/>
          </a:xfrm>
          <a:prstGeom prst="rect">
            <a:avLst/>
          </a:prstGeom>
          <a:noFill/>
          <a:ln/>
        </p:spPr>
        <p:txBody>
          <a:bodyPr wrap="square" lIns="0" tIns="6603" rIns="0" bIns="-6603" rtlCol="0" anchor="ctr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LeDoux,</a:t>
            </a:r>
            <a:r>
              <a:rPr lang="en-US" sz="18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Rethinking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emotional</a:t>
            </a:r>
            <a:r>
              <a:rPr lang="en-US" sz="18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brain,</a:t>
            </a:r>
            <a:r>
              <a:rPr lang="en-US" sz="18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Neuron,</a:t>
            </a:r>
            <a:r>
              <a:rPr lang="en-US" sz="18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2012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9334500" y="5724525"/>
            <a:ext cx="8039100" cy="676275"/>
          </a:xfrm>
          <a:prstGeom prst="roundRect">
            <a:avLst>
              <a:gd name="adj" fmla="val 22535"/>
            </a:avLst>
          </a:prstGeom>
          <a:solidFill>
            <a:srgbClr val="1E212B"/>
          </a:solidFill>
          <a:ln/>
        </p:spPr>
      </p:sp>
      <p:sp>
        <p:nvSpPr>
          <p:cNvPr id="40" name="Text 38"/>
          <p:cNvSpPr/>
          <p:nvPr/>
        </p:nvSpPr>
        <p:spPr>
          <a:xfrm>
            <a:off x="9563100" y="5724525"/>
            <a:ext cx="876300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S13</a:t>
            </a:r>
            <a:endParaRPr lang="en-US" sz="1950" dirty="0"/>
          </a:p>
        </p:txBody>
      </p:sp>
      <p:sp>
        <p:nvSpPr>
          <p:cNvPr id="41" name="Text 39"/>
          <p:cNvSpPr/>
          <p:nvPr/>
        </p:nvSpPr>
        <p:spPr>
          <a:xfrm>
            <a:off x="10477500" y="5724525"/>
            <a:ext cx="6667500" cy="676275"/>
          </a:xfrm>
          <a:prstGeom prst="rect">
            <a:avLst/>
          </a:prstGeom>
          <a:noFill/>
          <a:ln/>
        </p:spPr>
        <p:txBody>
          <a:bodyPr wrap="square" lIns="0" tIns="6603" rIns="0" bIns="-6603" rtlCol="0" anchor="ctr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Walum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800" dirty="0" spc="-2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Young,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</a:t>
            </a:r>
            <a:r>
              <a:rPr lang="en-US" sz="18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neural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mechanisms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</a:t>
            </a:r>
            <a:r>
              <a:rPr lang="en-US" sz="18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circuitry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 the pair</a:t>
            </a:r>
            <a:r>
              <a:rPr lang="en-US" sz="18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bond,</a:t>
            </a:r>
            <a:r>
              <a:rPr lang="en-US" sz="18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</a:t>
            </a:r>
            <a:r>
              <a:rPr lang="en-US" sz="1800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</a:t>
            </a:r>
            <a:r>
              <a:rPr lang="en-US" sz="18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Neurosci,</a:t>
            </a:r>
            <a:r>
              <a:rPr lang="en-US" sz="18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2018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9334500" y="6515100"/>
            <a:ext cx="8039100" cy="676275"/>
          </a:xfrm>
          <a:prstGeom prst="roundRect">
            <a:avLst>
              <a:gd name="adj" fmla="val 22535"/>
            </a:avLst>
          </a:prstGeom>
          <a:solidFill>
            <a:srgbClr val="1E212B"/>
          </a:solidFill>
          <a:ln/>
        </p:spPr>
      </p:sp>
      <p:sp>
        <p:nvSpPr>
          <p:cNvPr id="43" name="Text 41"/>
          <p:cNvSpPr/>
          <p:nvPr/>
        </p:nvSpPr>
        <p:spPr>
          <a:xfrm>
            <a:off x="9563100" y="6515100"/>
            <a:ext cx="876300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S14</a:t>
            </a:r>
            <a:endParaRPr lang="en-US" sz="1950" dirty="0"/>
          </a:p>
        </p:txBody>
      </p:sp>
      <p:sp>
        <p:nvSpPr>
          <p:cNvPr id="44" name="Text 42"/>
          <p:cNvSpPr/>
          <p:nvPr/>
        </p:nvSpPr>
        <p:spPr>
          <a:xfrm>
            <a:off x="10477500" y="6515100"/>
            <a:ext cx="6667500" cy="676275"/>
          </a:xfrm>
          <a:prstGeom prst="rect">
            <a:avLst/>
          </a:prstGeom>
          <a:noFill/>
          <a:ln/>
        </p:spPr>
        <p:txBody>
          <a:bodyPr wrap="square" lIns="0" tIns="7153" rIns="0" bIns="-7153" rtlCol="0" anchor="ctr"/>
          <a:lstStyle/>
          <a:p>
            <a:pPr algn="l" indent="0" marL="0">
              <a:lnSpc>
                <a:spcPts val="2301"/>
              </a:lnSpc>
              <a:buNone/>
            </a:pPr>
            <a:r>
              <a:rPr lang="en-US" sz="19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Reynolds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Berridge,</a:t>
            </a:r>
            <a:r>
              <a:rPr lang="en-US" sz="19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Nature</a:t>
            </a:r>
            <a:r>
              <a:rPr lang="en-US" sz="19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Neuroscience,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2008</a:t>
            </a:r>
            <a:endParaRPr lang="en-US" sz="1950" dirty="0"/>
          </a:p>
        </p:txBody>
      </p:sp>
      <p:sp>
        <p:nvSpPr>
          <p:cNvPr id="45" name="Shape 43"/>
          <p:cNvSpPr/>
          <p:nvPr/>
        </p:nvSpPr>
        <p:spPr>
          <a:xfrm>
            <a:off x="9334500" y="7296150"/>
            <a:ext cx="8039100" cy="676275"/>
          </a:xfrm>
          <a:prstGeom prst="roundRect">
            <a:avLst>
              <a:gd name="adj" fmla="val 22535"/>
            </a:avLst>
          </a:prstGeom>
          <a:solidFill>
            <a:srgbClr val="1E212B"/>
          </a:solidFill>
          <a:ln/>
        </p:spPr>
      </p:sp>
      <p:sp>
        <p:nvSpPr>
          <p:cNvPr id="46" name="Text 44"/>
          <p:cNvSpPr/>
          <p:nvPr/>
        </p:nvSpPr>
        <p:spPr>
          <a:xfrm>
            <a:off x="9563100" y="7296150"/>
            <a:ext cx="876300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S15</a:t>
            </a:r>
            <a:endParaRPr lang="en-US" sz="1950" dirty="0"/>
          </a:p>
        </p:txBody>
      </p:sp>
      <p:sp>
        <p:nvSpPr>
          <p:cNvPr id="47" name="Text 45"/>
          <p:cNvSpPr/>
          <p:nvPr/>
        </p:nvSpPr>
        <p:spPr>
          <a:xfrm>
            <a:off x="10477500" y="7296150"/>
            <a:ext cx="6667500" cy="676275"/>
          </a:xfrm>
          <a:prstGeom prst="rect">
            <a:avLst/>
          </a:prstGeom>
          <a:noFill/>
          <a:ln/>
        </p:spPr>
        <p:txBody>
          <a:bodyPr wrap="square" lIns="0" tIns="6603" rIns="0" bIns="-6603" rtlCol="0" anchor="ctr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Craig,</a:t>
            </a:r>
            <a:r>
              <a:rPr lang="en-US" sz="18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How</a:t>
            </a:r>
            <a:r>
              <a:rPr lang="en-US" sz="18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18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you</a:t>
            </a:r>
            <a:r>
              <a:rPr lang="en-US" sz="18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feel?</a:t>
            </a:r>
            <a:r>
              <a:rPr lang="en-US" sz="18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Interoception,</a:t>
            </a:r>
            <a:r>
              <a:rPr lang="en-US" sz="18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</a:t>
            </a:r>
            <a:r>
              <a:rPr lang="en-US" sz="1800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</a:t>
            </a:r>
            <a:r>
              <a:rPr lang="en-US" sz="18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Neurosci,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2002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9334500" y="8086725"/>
            <a:ext cx="8039100" cy="676275"/>
          </a:xfrm>
          <a:prstGeom prst="roundRect">
            <a:avLst>
              <a:gd name="adj" fmla="val 22535"/>
            </a:avLst>
          </a:prstGeom>
          <a:solidFill>
            <a:srgbClr val="1E212B"/>
          </a:solidFill>
          <a:ln/>
        </p:spPr>
      </p:sp>
      <p:sp>
        <p:nvSpPr>
          <p:cNvPr id="49" name="Text 47"/>
          <p:cNvSpPr/>
          <p:nvPr/>
        </p:nvSpPr>
        <p:spPr>
          <a:xfrm>
            <a:off x="9563100" y="8086725"/>
            <a:ext cx="876300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S16</a:t>
            </a:r>
            <a:endParaRPr lang="en-US" sz="1950" dirty="0"/>
          </a:p>
        </p:txBody>
      </p:sp>
      <p:sp>
        <p:nvSpPr>
          <p:cNvPr id="50" name="Text 48"/>
          <p:cNvSpPr/>
          <p:nvPr/>
        </p:nvSpPr>
        <p:spPr>
          <a:xfrm>
            <a:off x="10477500" y="8086725"/>
            <a:ext cx="6667500" cy="676275"/>
          </a:xfrm>
          <a:prstGeom prst="rect">
            <a:avLst/>
          </a:prstGeom>
          <a:noFill/>
          <a:ln/>
        </p:spPr>
        <p:txBody>
          <a:bodyPr wrap="square" lIns="0" tIns="6603" rIns="0" bIns="-6603" rtlCol="0" anchor="ctr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Hove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&amp;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Martinez,</a:t>
            </a:r>
            <a:r>
              <a:rPr lang="en-US" sz="18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 10.7</a:t>
            </a:r>
            <a:r>
              <a:rPr lang="en-US" sz="18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References</a:t>
            </a:r>
            <a:r>
              <a:rPr lang="en-US" sz="18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(nguồn</a:t>
            </a:r>
            <a:r>
              <a:rPr lang="en-US" sz="18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18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 mục</a:t>
            </a:r>
            <a:r>
              <a:rPr lang="en-US" sz="18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8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liệu)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95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114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33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152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171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190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209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228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247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266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285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304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323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342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361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381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400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419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438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457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476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2" name="Shape 70"/>
          <p:cNvSpPr/>
          <p:nvPr/>
        </p:nvSpPr>
        <p:spPr>
          <a:xfrm>
            <a:off x="495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3" name="Shape 71"/>
          <p:cNvSpPr/>
          <p:nvPr/>
        </p:nvSpPr>
        <p:spPr>
          <a:xfrm>
            <a:off x="514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4" name="Shape 72"/>
          <p:cNvSpPr/>
          <p:nvPr/>
        </p:nvSpPr>
        <p:spPr>
          <a:xfrm>
            <a:off x="533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5" name="Shape 73"/>
          <p:cNvSpPr/>
          <p:nvPr/>
        </p:nvSpPr>
        <p:spPr>
          <a:xfrm>
            <a:off x="552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571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7" name="Shape 75"/>
          <p:cNvSpPr/>
          <p:nvPr/>
        </p:nvSpPr>
        <p:spPr>
          <a:xfrm>
            <a:off x="590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8" name="Shape 76"/>
          <p:cNvSpPr/>
          <p:nvPr/>
        </p:nvSpPr>
        <p:spPr>
          <a:xfrm>
            <a:off x="6096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79" name="Shape 77"/>
          <p:cNvSpPr/>
          <p:nvPr/>
        </p:nvSpPr>
        <p:spPr>
          <a:xfrm>
            <a:off x="6286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0" name="Shape 78"/>
          <p:cNvSpPr/>
          <p:nvPr/>
        </p:nvSpPr>
        <p:spPr>
          <a:xfrm>
            <a:off x="6477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1" name="Shape 79"/>
          <p:cNvSpPr/>
          <p:nvPr/>
        </p:nvSpPr>
        <p:spPr>
          <a:xfrm>
            <a:off x="6667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2" name="Shape 80"/>
          <p:cNvSpPr/>
          <p:nvPr/>
        </p:nvSpPr>
        <p:spPr>
          <a:xfrm>
            <a:off x="6858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3" name="Shape 81"/>
          <p:cNvSpPr/>
          <p:nvPr/>
        </p:nvSpPr>
        <p:spPr>
          <a:xfrm>
            <a:off x="7048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7239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5" name="Shape 83"/>
          <p:cNvSpPr/>
          <p:nvPr/>
        </p:nvSpPr>
        <p:spPr>
          <a:xfrm>
            <a:off x="7429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7620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7810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8001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89" name="Shape 87"/>
          <p:cNvSpPr/>
          <p:nvPr/>
        </p:nvSpPr>
        <p:spPr>
          <a:xfrm>
            <a:off x="8191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0" name="Shape 88"/>
          <p:cNvSpPr/>
          <p:nvPr/>
        </p:nvSpPr>
        <p:spPr>
          <a:xfrm>
            <a:off x="8382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1" name="Shape 89"/>
          <p:cNvSpPr/>
          <p:nvPr/>
        </p:nvSpPr>
        <p:spPr>
          <a:xfrm>
            <a:off x="8572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2" name="Shape 90"/>
          <p:cNvSpPr/>
          <p:nvPr/>
        </p:nvSpPr>
        <p:spPr>
          <a:xfrm>
            <a:off x="8763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3" name="Shape 91"/>
          <p:cNvSpPr/>
          <p:nvPr/>
        </p:nvSpPr>
        <p:spPr>
          <a:xfrm>
            <a:off x="8953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4" name="Shape 92"/>
          <p:cNvSpPr/>
          <p:nvPr/>
        </p:nvSpPr>
        <p:spPr>
          <a:xfrm>
            <a:off x="9144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5" name="Shape 93"/>
          <p:cNvSpPr/>
          <p:nvPr/>
        </p:nvSpPr>
        <p:spPr>
          <a:xfrm>
            <a:off x="9334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6" name="Shape 94"/>
          <p:cNvSpPr/>
          <p:nvPr/>
        </p:nvSpPr>
        <p:spPr>
          <a:xfrm>
            <a:off x="95250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7" name="Shape 95"/>
          <p:cNvSpPr/>
          <p:nvPr/>
        </p:nvSpPr>
        <p:spPr>
          <a:xfrm>
            <a:off x="9715500" y="9572625"/>
            <a:ext cx="95250" cy="95250"/>
          </a:xfrm>
          <a:prstGeom prst="ellipse">
            <a:avLst/>
          </a:prstGeom>
          <a:solidFill>
            <a:srgbClr val="F3EEE3">
              <a:alpha val="28000"/>
            </a:srgbClr>
          </a:solidFill>
          <a:ln/>
        </p:spPr>
      </p:sp>
      <p:sp>
        <p:nvSpPr>
          <p:cNvPr id="98" name="Shape 96"/>
          <p:cNvSpPr/>
          <p:nvPr/>
        </p:nvSpPr>
        <p:spPr>
          <a:xfrm>
            <a:off x="9890125" y="9556750"/>
            <a:ext cx="127000" cy="127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99" name="Text 97"/>
          <p:cNvSpPr/>
          <p:nvPr/>
        </p:nvSpPr>
        <p:spPr>
          <a:xfrm>
            <a:off x="10287000" y="9467850"/>
            <a:ext cx="495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Multiple-report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L09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48/48</a:t>
            </a:r>
            <a:endParaRPr lang="en-US" sz="1800" dirty="0"/>
          </a:p>
        </p:txBody>
      </p:sp>
      <p:sp>
        <p:nvSpPr>
          <p:cNvPr id="100" name="Shape 9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01" name="Moda image moda-export-watermark-55b173e9-ca3a-4ff8-9eea-d7e80e03d74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2026-10-21T15:45:07Z</dcterms:created>
  <dcterms:modified xsi:type="dcterms:W3CDTF">2026-10-21T15:45:07Z</dcterms:modified>
</cp:coreProperties>
</file>