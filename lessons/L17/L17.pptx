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8288000" cy="10287000"/>
  <p:notesSz cx="10287000" cy="18288000"/>
  <p:embeddedFontLst>
    <p:embeddedFont>
      <p:font typeface="Be Vietnam Pro"/>
      <p:regular r:id="rId27"/>
      <p:bold r:id="rId24"/>
    </p:embeddedFont>
    <p:embeddedFont>
      <p:font typeface="Bricolage Grotesque ExtraBold"/>
      <p:regular r:id="rId25"/>
    </p:embeddedFont>
    <p:embeddedFont>
      <p:font typeface="Be Vietnam Pro SemiBold"/>
      <p:regular r:id="rId26"/>
    </p:embeddedFont>
    <p:embeddedFont>
      <p:font typeface="Be Vietnam Pro ExtraBold"/>
      <p:regular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font" Target="fonts/font1.fntdata"/><Relationship Id="rId25" Type="http://schemas.openxmlformats.org/officeDocument/2006/relationships/font" Target="fonts/font2.fntdata"/><Relationship Id="rId26" Type="http://schemas.openxmlformats.org/officeDocument/2006/relationships/font" Target="fonts/font3.fntdata"/><Relationship Id="rId27" Type="http://schemas.openxmlformats.org/officeDocument/2006/relationships/font" Target="fonts/font4.fntdata"/><Relationship Id="rId28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34500" y="952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7750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52525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2477750" y="952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362075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66850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621000" y="952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764000" y="1047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42975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382250" y="2381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52525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57300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525500" y="2381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66850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5716250" y="2476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668750" y="2381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2975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7750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430000" y="38100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257300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362075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573250" y="38100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1625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6764000" y="39052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9334500" y="52387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047750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2477750" y="52387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362075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466850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5621000" y="52387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6764000" y="53340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42975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382250" y="6667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52525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257300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3525500" y="6667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466850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5716250" y="676275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6668750" y="666750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942975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047750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1430000" y="8096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257300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362075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4573250" y="8096250"/>
            <a:ext cx="381000" cy="381000"/>
          </a:xfrm>
          <a:prstGeom prst="ellipse">
            <a:avLst/>
          </a:prstGeom>
          <a:solidFill>
            <a:srgbClr val="FFB454">
              <a:alpha val="2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571625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6764000" y="8191500"/>
            <a:ext cx="190500" cy="190500"/>
          </a:xfrm>
          <a:prstGeom prst="ellipse">
            <a:avLst/>
          </a:prstGeom>
          <a:solidFill>
            <a:srgbClr val="2C3040">
              <a:alpha val="22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</a:t>
            </a:r>
            <a:r>
              <a:rPr lang="en-US" sz="2100" b="1" spc="4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b="1" spc="4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endParaRPr lang="en-US" sz="2100" dirty="0"/>
          </a:p>
        </p:txBody>
      </p:sp>
      <p:sp>
        <p:nvSpPr>
          <p:cNvPr id="51" name="Text 49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Urea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AdBlue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biuret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cặn</a:t>
            </a:r>
            <a:endParaRPr lang="en-US" sz="8100" dirty="0"/>
          </a:p>
        </p:txBody>
      </p:sp>
      <p:sp>
        <p:nvSpPr>
          <p:cNvPr id="52" name="Text 50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Khi</a:t>
            </a:r>
            <a:r>
              <a:rPr lang="en-US" sz="3300" dirty="0" spc="-1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nóng</a:t>
            </a:r>
            <a:r>
              <a:rPr lang="en-US" sz="33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lên,</a:t>
            </a:r>
            <a:r>
              <a:rPr lang="en-US" sz="3300" dirty="0" spc="-2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urea</a:t>
            </a:r>
            <a:r>
              <a:rPr lang="en-US" sz="33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3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gì,</a:t>
            </a:r>
            <a:r>
              <a:rPr lang="en-US" sz="3300" dirty="0" spc="-2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3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3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nhiệt</a:t>
            </a:r>
            <a:r>
              <a:rPr lang="en-US" sz="3300" dirty="0" spc="1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33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300" dirty="0" spc="-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cặn</a:t>
            </a:r>
            <a:r>
              <a:rPr lang="en-US" sz="33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dễ</a:t>
            </a:r>
            <a:r>
              <a:rPr lang="en-US" sz="330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bám</a:t>
            </a:r>
            <a:r>
              <a:rPr lang="en-US" sz="3300" dirty="0" spc="-1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nhất?</a:t>
            </a:r>
            <a:endParaRPr lang="en-US" sz="3300" dirty="0"/>
          </a:p>
        </p:txBody>
      </p:sp>
      <p:sp>
        <p:nvSpPr>
          <p:cNvPr id="53" name="Shape 51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4FD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Urea</a:t>
            </a:r>
            <a:endParaRPr lang="en-US" sz="2550" dirty="0"/>
          </a:p>
        </p:txBody>
      </p:sp>
      <p:sp>
        <p:nvSpPr>
          <p:cNvPr id="55" name="Shape 53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4CD9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Biuret</a:t>
            </a:r>
            <a:endParaRPr lang="en-US" sz="2550" dirty="0"/>
          </a:p>
        </p:txBody>
      </p:sp>
      <p:sp>
        <p:nvSpPr>
          <p:cNvPr id="57" name="Shape 55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5C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Ammelide</a:t>
            </a:r>
            <a:endParaRPr lang="en-US" sz="2550" dirty="0"/>
          </a:p>
        </p:txBody>
      </p:sp>
      <p:sp>
        <p:nvSpPr>
          <p:cNvPr id="59" name="Shape 57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C084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Cyanuric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acid</a:t>
            </a:r>
            <a:endParaRPr lang="en-US" sz="255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5847cad0-8e89-44b2-adf1-4cec059354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AdBlue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SCR cần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</a:t>
            </a:r>
            <a:r>
              <a:rPr lang="en-US" sz="57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8953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3096703879-7616165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81150" y="2438400"/>
            <a:ext cx="7620000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z22,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BY-SA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3.0,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Wikimedia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Commons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(Hino</a:t>
            </a: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Standardized</a:t>
            </a:r>
            <a:r>
              <a:rPr lang="en-US" sz="16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Unit)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0248900" y="22479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</p:sp>
      <p:sp>
        <p:nvSpPr>
          <p:cNvPr id="7" name="Shape 4"/>
          <p:cNvSpPr/>
          <p:nvPr/>
        </p:nvSpPr>
        <p:spPr>
          <a:xfrm>
            <a:off x="10248900" y="22479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8" name="Text 5"/>
          <p:cNvSpPr/>
          <p:nvPr/>
        </p:nvSpPr>
        <p:spPr>
          <a:xfrm>
            <a:off x="10591800" y="23431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Phun</a:t>
            </a:r>
            <a:endParaRPr lang="en-US" sz="2187" dirty="0"/>
          </a:p>
        </p:txBody>
      </p:sp>
      <p:sp>
        <p:nvSpPr>
          <p:cNvPr id="9" name="Text 6"/>
          <p:cNvSpPr/>
          <p:nvPr/>
        </p:nvSpPr>
        <p:spPr>
          <a:xfrm>
            <a:off x="10591800" y="25812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AdBlue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ống</a:t>
            </a:r>
            <a:r>
              <a:rPr lang="en-US" sz="2550" dirty="0" spc="-3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xả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nóng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248900" y="321945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</p:sp>
      <p:sp>
        <p:nvSpPr>
          <p:cNvPr id="11" name="Shape 8"/>
          <p:cNvSpPr/>
          <p:nvPr/>
        </p:nvSpPr>
        <p:spPr>
          <a:xfrm>
            <a:off x="10248900" y="321945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2" name="Text 9"/>
          <p:cNvSpPr/>
          <p:nvPr/>
        </p:nvSpPr>
        <p:spPr>
          <a:xfrm>
            <a:off x="10591800" y="331470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Mục</a:t>
            </a:r>
            <a:r>
              <a:rPr lang="en-US" sz="2187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tiêu</a:t>
            </a:r>
            <a:endParaRPr lang="en-US" sz="2187" dirty="0"/>
          </a:p>
        </p:txBody>
      </p:sp>
      <p:sp>
        <p:nvSpPr>
          <p:cNvPr id="13" name="Text 10"/>
          <p:cNvSpPr/>
          <p:nvPr/>
        </p:nvSpPr>
        <p:spPr>
          <a:xfrm>
            <a:off x="10591800" y="355282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sinh</a:t>
            </a:r>
            <a:r>
              <a:rPr lang="en-US" sz="25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NH3</a:t>
            </a:r>
            <a:r>
              <a:rPr lang="en-US" sz="25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khử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NOx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0248900" y="41910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</p:sp>
      <p:sp>
        <p:nvSpPr>
          <p:cNvPr id="15" name="Shape 12"/>
          <p:cNvSpPr/>
          <p:nvPr/>
        </p:nvSpPr>
        <p:spPr>
          <a:xfrm>
            <a:off x="10248900" y="41910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6" name="Text 13"/>
          <p:cNvSpPr/>
          <p:nvPr/>
        </p:nvSpPr>
        <p:spPr>
          <a:xfrm>
            <a:off x="10591800" y="42862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4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Rủi</a:t>
            </a:r>
            <a:r>
              <a:rPr lang="en-US" sz="2187" dirty="0" spc="-1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ro</a:t>
            </a:r>
            <a:endParaRPr lang="en-US" sz="2187" dirty="0"/>
          </a:p>
        </p:txBody>
      </p:sp>
      <p:sp>
        <p:nvSpPr>
          <p:cNvPr id="17" name="Text 14"/>
          <p:cNvSpPr/>
          <p:nvPr/>
        </p:nvSpPr>
        <p:spPr>
          <a:xfrm>
            <a:off x="10591800" y="45243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urea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5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rắn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cặn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0248900" y="5162550"/>
            <a:ext cx="7124700" cy="3181350"/>
          </a:xfrm>
          <a:prstGeom prst="roundRect">
            <a:avLst>
              <a:gd name="adj" fmla="val 5988"/>
            </a:avLst>
          </a:prstGeom>
          <a:solidFill>
            <a:srgbClr val="CFE8E2"/>
          </a:solidFill>
          <a:ln/>
        </p:spPr>
      </p:sp>
      <p:sp>
        <p:nvSpPr>
          <p:cNvPr id="19" name="Text 16"/>
          <p:cNvSpPr/>
          <p:nvPr/>
        </p:nvSpPr>
        <p:spPr>
          <a:xfrm>
            <a:off x="10553700" y="5429250"/>
            <a:ext cx="6515100" cy="26479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AdBlue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535"/>
              </a:lnSpc>
              <a:buNone/>
            </a:pPr>
            <a:r>
              <a:rPr lang="en-US" sz="1950" b="1" dirty="0" spc="-14" kern="0">
                <a:solidFill>
                  <a:srgbClr val="E91EC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urea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32,5%</a:t>
            </a:r>
            <a:r>
              <a:rPr lang="en-US" sz="19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nước,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phun</a:t>
            </a:r>
            <a:r>
              <a:rPr lang="en-US" sz="19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19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diesel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[S7]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19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Urea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khử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</a:t>
            </a:r>
            <a:r>
              <a:rPr lang="en-US" sz="19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độc: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535"/>
              </a:lnSpc>
              <a:buNone/>
            </a:pPr>
            <a:r>
              <a:rPr lang="en-US" sz="195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NH3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535"/>
              </a:lnSpc>
              <a:buNone/>
            </a:pPr>
            <a:r>
              <a:rPr lang="en-US" sz="1950" b="1" dirty="0" spc="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SCR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NH3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NOx thành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nitơ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hơi</a:t>
            </a:r>
            <a:r>
              <a:rPr lang="en-US" sz="19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[S7]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19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bay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hơi</a:t>
            </a:r>
            <a:r>
              <a:rPr lang="en-US" sz="19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19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urea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chảy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khoảng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133°C,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19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9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19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Urea</a:t>
            </a:r>
            <a:r>
              <a:rPr lang="en-US" sz="19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9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NH3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HNCO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2535"/>
              </a:lnSpc>
              <a:buNone/>
            </a:pPr>
            <a:r>
              <a:rPr lang="en-US" sz="19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;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19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rắn,</a:t>
            </a:r>
            <a:r>
              <a:rPr lang="en-US" sz="19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cặn.</a:t>
            </a:r>
            <a:endParaRPr lang="en-US" sz="1950" dirty="0"/>
          </a:p>
        </p:txBody>
      </p:sp>
      <p:sp>
        <p:nvSpPr>
          <p:cNvPr id="20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 [S7]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152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0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Text 35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02/17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054873c-24f0-4c6c-80a9-1677b612fca3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chất: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 là ai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3096710535-7256636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438400"/>
            <a:ext cx="9715500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Wikimedia Commons,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domain: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Urea-2D.png;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Biuret_struct.svg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(Odysseus1479);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Ammelide.png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(Tsiaojian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lee);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Cyanuric_acid.svg</a:t>
            </a: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(Leyo)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FF4FD8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FF4FD8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Urea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7908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nguyên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liệu,</a:t>
            </a:r>
            <a:r>
              <a:rPr lang="en-US" sz="255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tốt,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550" dirty="0" spc="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NH3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8290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8290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4CD964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39243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4CD96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Biuret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3719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trung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gian,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5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urea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HNCO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4102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4102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FF5C5C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5054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F5C5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Ammelide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59531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cặn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bền,</a:t>
            </a: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chậm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1391900" y="69913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1E212B"/>
          </a:solidFill>
          <a:ln/>
        </p:spPr>
      </p:sp>
      <p:sp>
        <p:nvSpPr>
          <p:cNvPr id="19" name="Shape 16"/>
          <p:cNvSpPr/>
          <p:nvPr/>
        </p:nvSpPr>
        <p:spPr>
          <a:xfrm>
            <a:off x="11391900" y="69913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C084FF"/>
          </a:solidFill>
          <a:ln/>
        </p:spPr>
      </p:sp>
      <p:sp>
        <p:nvSpPr>
          <p:cNvPr id="20" name="Text 17"/>
          <p:cNvSpPr/>
          <p:nvPr/>
        </p:nvSpPr>
        <p:spPr>
          <a:xfrm>
            <a:off x="11734800" y="7086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C084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Cyanuric</a:t>
            </a:r>
            <a:r>
              <a:rPr lang="en-US" sz="2250" dirty="0" spc="7" kern="0">
                <a:solidFill>
                  <a:srgbClr val="C084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acid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1734800" y="75342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cặn</a:t>
            </a: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chính,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bền</a:t>
            </a:r>
            <a:endParaRPr lang="en-US" sz="2550" dirty="0"/>
          </a:p>
        </p:txBody>
      </p:sp>
      <p:sp>
        <p:nvSpPr>
          <p:cNvPr id="22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[S8]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381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Shape 2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Text 37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03/17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da5a67fc-c079-474c-99c6-6711751d4dba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57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biểu</a:t>
            </a: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đồ: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57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57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8953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3096755054-4606842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438400"/>
            <a:ext cx="8572500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5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16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(đọc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mắt,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±2%)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0248900" y="22479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</p:sp>
      <p:sp>
        <p:nvSpPr>
          <p:cNvPr id="7" name="Shape 4"/>
          <p:cNvSpPr/>
          <p:nvPr/>
        </p:nvSpPr>
        <p:spPr>
          <a:xfrm>
            <a:off x="10248900" y="22479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E91EC8"/>
          </a:solidFill>
          <a:ln/>
        </p:spPr>
      </p:sp>
      <p:sp>
        <p:nvSpPr>
          <p:cNvPr id="8" name="Text 5"/>
          <p:cNvSpPr/>
          <p:nvPr/>
        </p:nvSpPr>
        <p:spPr>
          <a:xfrm>
            <a:off x="10591800" y="23431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11" kern="0">
                <a:solidFill>
                  <a:srgbClr val="E91EC8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Urea</a:t>
            </a:r>
            <a:r>
              <a:rPr lang="en-US" sz="2187" dirty="0" spc="-5" kern="0">
                <a:solidFill>
                  <a:srgbClr val="E91EC8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(hồng)</a:t>
            </a:r>
            <a:endParaRPr lang="en-US" sz="2187" dirty="0"/>
          </a:p>
        </p:txBody>
      </p:sp>
      <p:sp>
        <p:nvSpPr>
          <p:cNvPr id="9" name="Text 6"/>
          <p:cNvSpPr/>
          <p:nvPr/>
        </p:nvSpPr>
        <p:spPr>
          <a:xfrm>
            <a:off x="10591800" y="25812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về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~250°C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248900" y="321945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</p:sp>
      <p:sp>
        <p:nvSpPr>
          <p:cNvPr id="11" name="Shape 8"/>
          <p:cNvSpPr/>
          <p:nvPr/>
        </p:nvSpPr>
        <p:spPr>
          <a:xfrm>
            <a:off x="10248900" y="321945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1B8A1B"/>
          </a:solidFill>
          <a:ln/>
        </p:spPr>
      </p:sp>
      <p:sp>
        <p:nvSpPr>
          <p:cNvPr id="12" name="Text 9"/>
          <p:cNvSpPr/>
          <p:nvPr/>
        </p:nvSpPr>
        <p:spPr>
          <a:xfrm>
            <a:off x="10591800" y="331470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9" kern="0">
                <a:solidFill>
                  <a:srgbClr val="1B8A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Biuret</a:t>
            </a:r>
            <a:r>
              <a:rPr lang="en-US" sz="2187" dirty="0" spc="-10" kern="0">
                <a:solidFill>
                  <a:srgbClr val="1B8A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(xanh</a:t>
            </a:r>
            <a:r>
              <a:rPr lang="en-US" sz="2187" dirty="0" spc="-4" kern="0">
                <a:solidFill>
                  <a:srgbClr val="1B8A1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lá)</a:t>
            </a:r>
            <a:endParaRPr lang="en-US" sz="2187" dirty="0"/>
          </a:p>
        </p:txBody>
      </p:sp>
      <p:sp>
        <p:nvSpPr>
          <p:cNvPr id="13" name="Text 10"/>
          <p:cNvSpPr/>
          <p:nvPr/>
        </p:nvSpPr>
        <p:spPr>
          <a:xfrm>
            <a:off x="10591800" y="355282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đỉnh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~28%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 190°C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0248900" y="41910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</p:sp>
      <p:sp>
        <p:nvSpPr>
          <p:cNvPr id="15" name="Shape 12"/>
          <p:cNvSpPr/>
          <p:nvPr/>
        </p:nvSpPr>
        <p:spPr>
          <a:xfrm>
            <a:off x="10248900" y="41910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6" name="Text 13"/>
          <p:cNvSpPr/>
          <p:nvPr/>
        </p:nvSpPr>
        <p:spPr>
          <a:xfrm>
            <a:off x="10591800" y="42862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Tím,</a:t>
            </a:r>
            <a:r>
              <a:rPr lang="en-US" sz="2187" dirty="0" spc="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đỏ</a:t>
            </a:r>
            <a:endParaRPr lang="en-US" sz="2187" dirty="0"/>
          </a:p>
        </p:txBody>
      </p:sp>
      <p:sp>
        <p:nvSpPr>
          <p:cNvPr id="17" name="Text 14"/>
          <p:cNvSpPr/>
          <p:nvPr/>
        </p:nvSpPr>
        <p:spPr>
          <a:xfrm>
            <a:off x="10591800" y="45243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cyanuric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acid,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ammelide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0248900" y="5162550"/>
            <a:ext cx="7124700" cy="3181350"/>
          </a:xfrm>
          <a:prstGeom prst="roundRect">
            <a:avLst>
              <a:gd name="adj" fmla="val 5988"/>
            </a:avLst>
          </a:prstGeom>
          <a:solidFill>
            <a:srgbClr val="DDE3FA"/>
          </a:solidFill>
          <a:ln/>
        </p:spPr>
      </p:sp>
      <p:sp>
        <p:nvSpPr>
          <p:cNvPr id="19" name="Text 16"/>
          <p:cNvSpPr/>
          <p:nvPr/>
        </p:nvSpPr>
        <p:spPr>
          <a:xfrm>
            <a:off x="10553700" y="5429250"/>
            <a:ext cx="6515100" cy="26479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9</a:t>
            </a:r>
            <a:r>
              <a:rPr lang="en-US" sz="2250" b="1" dirty="0" spc="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250" b="1" dirty="0" spc="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133, 190,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225,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250,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275,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325,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350,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400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450°C.</a:t>
            </a:r>
            <a:r>
              <a:rPr lang="en-US" sz="22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%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lượng,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urea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100%.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navy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b="1" dirty="0" spc="-9" kern="0">
                <a:solidFill>
                  <a:srgbClr val="1A237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total</a:t>
            </a:r>
            <a:r>
              <a:rPr lang="en-US" sz="2250" b="1" dirty="0" spc="-17" kern="0">
                <a:solidFill>
                  <a:srgbClr val="1A237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recovery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rắn;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 là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khí.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nhìn, nên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không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160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170°C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609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2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Text 35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04/17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bd309a2e-ccab-49d1-80f7-f232cf154d9f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133°C:</a:t>
            </a:r>
            <a:r>
              <a:rPr lang="en-US" sz="57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urea</a:t>
            </a:r>
            <a:r>
              <a:rPr lang="en-US" sz="57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vừa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nóng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chảy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3096825361-412102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438400"/>
            <a:ext cx="9715500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5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(đọc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mắt,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±2%)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Chiếm</a:t>
            </a:r>
            <a:r>
              <a:rPr lang="en-US" sz="2250" dirty="0" spc="4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ưu</a:t>
            </a:r>
            <a:r>
              <a:rPr lang="en-US" sz="22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thế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7908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urea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100%,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5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 0%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8290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8290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39243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Phản</a:t>
            </a:r>
            <a:r>
              <a:rPr lang="en-US" sz="2250" dirty="0" spc="2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ứng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3719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urea</a:t>
            </a:r>
            <a:r>
              <a:rPr lang="en-US" sz="25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rắn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25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urea</a:t>
            </a: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lỏng,</a:t>
            </a:r>
            <a:r>
              <a:rPr lang="en-US" sz="25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hủy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4102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4102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5054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Ý</a:t>
            </a:r>
            <a:r>
              <a:rPr lang="en-US" sz="225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nghĩa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59531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chưa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cặn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1391900" y="69913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1E212B"/>
          </a:solidFill>
          <a:ln/>
        </p:spPr>
      </p:sp>
      <p:sp>
        <p:nvSpPr>
          <p:cNvPr id="19" name="Shape 16"/>
          <p:cNvSpPr/>
          <p:nvPr/>
        </p:nvSpPr>
        <p:spPr>
          <a:xfrm>
            <a:off x="11391900" y="69913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0" name="Text 17"/>
          <p:cNvSpPr/>
          <p:nvPr/>
        </p:nvSpPr>
        <p:spPr>
          <a:xfrm>
            <a:off x="11734800" y="7086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Nước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1734800" y="75342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đã</a:t>
            </a:r>
            <a:r>
              <a:rPr lang="en-US" sz="25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bay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hơi</a:t>
            </a:r>
            <a:r>
              <a:rPr lang="en-US" sz="25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trước,</a:t>
            </a:r>
            <a:r>
              <a:rPr lang="en-US" sz="25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vẽ</a:t>
            </a:r>
            <a:endParaRPr lang="en-US" sz="2550" dirty="0"/>
          </a:p>
        </p:txBody>
      </p:sp>
      <p:sp>
        <p:nvSpPr>
          <p:cNvPr id="22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838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Shape 2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Text 37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05/17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fcc33c70-c8ab-41b1-bbd0-e5c642145e7f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160–170°C:</a:t>
            </a: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trống</a:t>
            </a:r>
            <a:r>
              <a:rPr lang="en-US" sz="57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57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133°C</a:t>
            </a:r>
            <a:r>
              <a:rPr lang="en-US" sz="300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(số</a:t>
            </a:r>
            <a:r>
              <a:rPr lang="en-US" sz="3000" dirty="0" spc="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Urea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100%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biuret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0%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100%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39814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9814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39814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160°C</a:t>
            </a:r>
            <a:r>
              <a:rPr lang="en-US" sz="3000" dirty="0" spc="1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(ước</a:t>
            </a:r>
            <a:r>
              <a:rPr lang="en-US" sz="30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tính)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39814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Urea</a:t>
            </a:r>
            <a:r>
              <a:rPr lang="en-US" sz="2700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~74%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biuret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~13%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~89%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2006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2006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2006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170°C</a:t>
            </a:r>
            <a:r>
              <a:rPr lang="en-US" sz="3000" dirty="0" spc="1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(ước</a:t>
            </a:r>
            <a:r>
              <a:rPr lang="en-US" sz="30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tính)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2006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Urea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~65%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biuret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~18%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~85%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64198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64198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4198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190°C</a:t>
            </a:r>
            <a:r>
              <a:rPr lang="en-US" sz="30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(số</a:t>
            </a:r>
            <a:r>
              <a:rPr lang="en-US" sz="300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đo)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64198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Urea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~46%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biuret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~28%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~77%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14400" y="76390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76390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6390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5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Cẩn</a:t>
            </a:r>
            <a:r>
              <a:rPr lang="en-US" sz="30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thận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1900" y="76390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điểm;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 cong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66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06/17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c2a1ccc8-6d28-4d7c-af42-9bfcafabe1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190°C: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biuret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57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đỉnh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8953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3096854253-7086720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438400"/>
            <a:ext cx="8572500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5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(đọc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mắt,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±2%)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0248900" y="22479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0248900" y="22479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5"/>
          <p:cNvSpPr/>
          <p:nvPr/>
        </p:nvSpPr>
        <p:spPr>
          <a:xfrm>
            <a:off x="10591800" y="23431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Giảm</a:t>
            </a:r>
            <a:endParaRPr lang="en-US" sz="2187" dirty="0"/>
          </a:p>
        </p:txBody>
      </p:sp>
      <p:sp>
        <p:nvSpPr>
          <p:cNvPr id="9" name="Text 6"/>
          <p:cNvSpPr/>
          <p:nvPr/>
        </p:nvSpPr>
        <p:spPr>
          <a:xfrm>
            <a:off x="10591800" y="25812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urea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~46%,</a:t>
            </a:r>
            <a:r>
              <a:rPr lang="en-US" sz="25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tổng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~77%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248900" y="321945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0248900" y="321945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2" name="Text 9"/>
          <p:cNvSpPr/>
          <p:nvPr/>
        </p:nvSpPr>
        <p:spPr>
          <a:xfrm>
            <a:off x="10591800" y="331470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5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Tăng</a:t>
            </a:r>
            <a:endParaRPr lang="en-US" sz="2187" dirty="0"/>
          </a:p>
        </p:txBody>
      </p:sp>
      <p:sp>
        <p:nvSpPr>
          <p:cNvPr id="13" name="Text 10"/>
          <p:cNvSpPr/>
          <p:nvPr/>
        </p:nvSpPr>
        <p:spPr>
          <a:xfrm>
            <a:off x="10591800" y="355282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biuret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~28%</a:t>
            </a:r>
            <a:r>
              <a:rPr lang="en-US" sz="255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(đỉnh)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0248900" y="41910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0248900" y="41910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6" name="Text 13"/>
          <p:cNvSpPr/>
          <p:nvPr/>
        </p:nvSpPr>
        <p:spPr>
          <a:xfrm>
            <a:off x="10591800" y="42862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Phản</a:t>
            </a:r>
            <a:r>
              <a:rPr lang="en-US" sz="2187" dirty="0" spc="2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ứng</a:t>
            </a:r>
            <a:endParaRPr lang="en-US" sz="2187" dirty="0"/>
          </a:p>
        </p:txBody>
      </p:sp>
      <p:sp>
        <p:nvSpPr>
          <p:cNvPr id="17" name="Text 14"/>
          <p:cNvSpPr/>
          <p:nvPr/>
        </p:nvSpPr>
        <p:spPr>
          <a:xfrm>
            <a:off x="10591800" y="45243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urea</a:t>
            </a:r>
            <a:r>
              <a:rPr lang="en-US" sz="25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cộng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HNCO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25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biuret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0248900" y="5162550"/>
            <a:ext cx="7124700" cy="3181350"/>
          </a:xfrm>
          <a:prstGeom prst="roundRect">
            <a:avLst>
              <a:gd name="adj" fmla="val 5988"/>
            </a:avLst>
          </a:prstGeom>
          <a:solidFill>
            <a:srgbClr val="4A2A24"/>
          </a:solidFill>
          <a:ln/>
        </p:spPr>
      </p:sp>
      <p:sp>
        <p:nvSpPr>
          <p:cNvPr id="19" name="Text 16"/>
          <p:cNvSpPr/>
          <p:nvPr/>
        </p:nvSpPr>
        <p:spPr>
          <a:xfrm>
            <a:off x="10553700" y="5429250"/>
            <a:ext cx="6515100" cy="26479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190°C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urea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~46%: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nửa.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b="1" dirty="0" spc="-12" kern="0">
                <a:solidFill>
                  <a:srgbClr val="4CD96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Biuret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đỉnh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~28%,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b="1" dirty="0" spc="-9" kern="0">
                <a:solidFill>
                  <a:srgbClr val="C084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cyanuric</a:t>
            </a:r>
            <a:r>
              <a:rPr lang="en-US" sz="2250" b="1" dirty="0" spc="7" kern="0">
                <a:solidFill>
                  <a:srgbClr val="C084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acid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(~2,5%)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b="1" dirty="0" spc="-1" kern="0">
                <a:solidFill>
                  <a:srgbClr val="FF5C5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ammelide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(~0,5%)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2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Urea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2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NH3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HNCO,</a:t>
            </a:r>
            <a:r>
              <a:rPr lang="en-US" sz="22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urea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HNCO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biuret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25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rắn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~77%: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23%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khí.</a:t>
            </a:r>
            <a:r>
              <a:rPr lang="en-US" sz="2250" dirty="0" spc="-7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biuret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[S4]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295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Text 35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07/17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9c0e425a-ad5b-43ca-9e4b-0f5d69dc258f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225–250°C: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cyanuric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acid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57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3097143319-8528926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438400"/>
            <a:ext cx="9715500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5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16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(đọc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mắt,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±2%)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Chiếm</a:t>
            </a:r>
            <a:r>
              <a:rPr lang="en-US" sz="2250" dirty="0" spc="4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ưu</a:t>
            </a:r>
            <a:r>
              <a:rPr lang="en-US" sz="22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thế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7908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cyanuric</a:t>
            </a:r>
            <a:r>
              <a:rPr lang="en-US" sz="25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acid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~22%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~23,5%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8290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8290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39243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Giảm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3719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biuret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~14%</a:t>
            </a:r>
            <a:r>
              <a:rPr lang="en-US" sz="25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~1%;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urea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~4,5%</a:t>
            </a:r>
            <a:r>
              <a:rPr lang="en-US" sz="25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~0,5%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4102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4102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5054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Phản</a:t>
            </a:r>
            <a:r>
              <a:rPr lang="en-US" sz="2250" dirty="0" spc="2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ứng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59531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0899" rIns="0" bIns="-10899" rtlCol="0" anchor="ctr"/>
          <a:lstStyle/>
          <a:p>
            <a:pPr algn="l" indent="0" marL="0">
              <a:lnSpc>
                <a:spcPts val="2242"/>
              </a:lnSpc>
              <a:buNone/>
            </a:pPr>
            <a:r>
              <a:rPr lang="en-US" sz="19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biuret</a:t>
            </a: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19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cyanuric</a:t>
            </a:r>
            <a:r>
              <a:rPr lang="en-US" sz="19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acid</a:t>
            </a:r>
            <a:r>
              <a:rPr lang="en-US" sz="19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ammelide;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HNCO</a:t>
            </a: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19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cyanuric</a:t>
            </a:r>
            <a:r>
              <a:rPr lang="en-US" sz="19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acid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11391900" y="69913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9" name="Shape 16"/>
          <p:cNvSpPr/>
          <p:nvPr/>
        </p:nvSpPr>
        <p:spPr>
          <a:xfrm>
            <a:off x="11391900" y="69913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20" name="Text 17"/>
          <p:cNvSpPr/>
          <p:nvPr/>
        </p:nvSpPr>
        <p:spPr>
          <a:xfrm>
            <a:off x="11734800" y="7086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Ý</a:t>
            </a:r>
            <a:r>
              <a:rPr lang="en-US" sz="225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nghĩa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1734800" y="75342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cặn</a:t>
            </a:r>
            <a:r>
              <a:rPr lang="en-US" sz="25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rắn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bền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đầu;</a:t>
            </a:r>
            <a:r>
              <a:rPr lang="en-US" sz="25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tổng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~43%</a:t>
            </a:r>
            <a:r>
              <a:rPr lang="en-US" sz="25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~30%</a:t>
            </a:r>
            <a:endParaRPr lang="en-US" sz="2550" dirty="0"/>
          </a:p>
        </p:txBody>
      </p:sp>
      <p:sp>
        <p:nvSpPr>
          <p:cNvPr id="22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524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Text 37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08/17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d62aabf7-d33b-4306-9ebf-28b28e04b07e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275–325°C: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cyanuric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acid</a:t>
            </a:r>
            <a:r>
              <a:rPr lang="en-US" sz="57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đỉnh</a:t>
            </a:r>
            <a:r>
              <a:rPr lang="en-US" sz="57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8953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2C3040"/>
            </a:solidFill>
            <a:prstDash val="solid"/>
          </a:ln>
        </p:spPr>
      </p:sp>
      <p:pic>
        <p:nvPicPr>
          <p:cNvPr id="4" name="Moda image rect-1793097602339-446924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438400"/>
            <a:ext cx="8572500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5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(đọc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mắt,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±2%)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0248900" y="22479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7" name="Shape 4"/>
          <p:cNvSpPr/>
          <p:nvPr/>
        </p:nvSpPr>
        <p:spPr>
          <a:xfrm>
            <a:off x="10248900" y="22479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5"/>
          <p:cNvSpPr/>
          <p:nvPr/>
        </p:nvSpPr>
        <p:spPr>
          <a:xfrm>
            <a:off x="10591800" y="23431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Chiếm</a:t>
            </a:r>
            <a:r>
              <a:rPr lang="en-US" sz="2187" dirty="0" spc="4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ưu</a:t>
            </a:r>
            <a:r>
              <a:rPr lang="en-US" sz="2187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thế</a:t>
            </a:r>
            <a:endParaRPr lang="en-US" sz="2187" dirty="0"/>
          </a:p>
        </p:txBody>
      </p:sp>
      <p:sp>
        <p:nvSpPr>
          <p:cNvPr id="9" name="Text 6"/>
          <p:cNvSpPr/>
          <p:nvPr/>
        </p:nvSpPr>
        <p:spPr>
          <a:xfrm>
            <a:off x="10591800" y="25812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cyanuric</a:t>
            </a:r>
            <a:r>
              <a:rPr lang="en-US" sz="25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acid</a:t>
            </a:r>
            <a:r>
              <a:rPr lang="en-US" sz="25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~24%</a:t>
            </a:r>
            <a:r>
              <a:rPr lang="en-US" sz="25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~15%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248900" y="321945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1" name="Shape 8"/>
          <p:cNvSpPr/>
          <p:nvPr/>
        </p:nvSpPr>
        <p:spPr>
          <a:xfrm>
            <a:off x="10248900" y="321945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9"/>
          <p:cNvSpPr/>
          <p:nvPr/>
        </p:nvSpPr>
        <p:spPr>
          <a:xfrm>
            <a:off x="10591800" y="331470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2187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còn</a:t>
            </a:r>
            <a:endParaRPr lang="en-US" sz="2187" dirty="0"/>
          </a:p>
        </p:txBody>
      </p:sp>
      <p:sp>
        <p:nvSpPr>
          <p:cNvPr id="13" name="Text 10"/>
          <p:cNvSpPr/>
          <p:nvPr/>
        </p:nvSpPr>
        <p:spPr>
          <a:xfrm>
            <a:off x="10591800" y="355282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urea</a:t>
            </a:r>
            <a:r>
              <a:rPr lang="en-US" sz="255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biuret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0248900" y="4191000"/>
            <a:ext cx="7124700" cy="838200"/>
          </a:xfrm>
          <a:prstGeom prst="roundRect">
            <a:avLst>
              <a:gd name="adj" fmla="val 22727"/>
            </a:avLst>
          </a:prstGeom>
          <a:solidFill>
            <a:srgbClr val="1E212B"/>
          </a:solidFill>
          <a:ln/>
        </p:spPr>
      </p:sp>
      <p:sp>
        <p:nvSpPr>
          <p:cNvPr id="15" name="Shape 12"/>
          <p:cNvSpPr/>
          <p:nvPr/>
        </p:nvSpPr>
        <p:spPr>
          <a:xfrm>
            <a:off x="10248900" y="4191000"/>
            <a:ext cx="114300" cy="838200"/>
          </a:xfrm>
          <a:prstGeom prst="roundRect">
            <a:avLst>
              <a:gd name="adj" fmla="val 50000"/>
            </a:avLst>
          </a:prstGeom>
          <a:solidFill>
            <a:srgbClr val="FF5C5C"/>
          </a:solidFill>
          <a:ln/>
        </p:spPr>
      </p:sp>
      <p:sp>
        <p:nvSpPr>
          <p:cNvPr id="16" name="Text 13"/>
          <p:cNvSpPr/>
          <p:nvPr/>
        </p:nvSpPr>
        <p:spPr>
          <a:xfrm>
            <a:off x="10591800" y="4286250"/>
            <a:ext cx="65913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87" dirty="0" spc="-6" kern="0">
                <a:solidFill>
                  <a:srgbClr val="FF5C5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Ammelide</a:t>
            </a:r>
            <a:endParaRPr lang="en-US" sz="2187" dirty="0"/>
          </a:p>
        </p:txBody>
      </p:sp>
      <p:sp>
        <p:nvSpPr>
          <p:cNvPr id="17" name="Text 14"/>
          <p:cNvSpPr/>
          <p:nvPr/>
        </p:nvSpPr>
        <p:spPr>
          <a:xfrm>
            <a:off x="10591800" y="4524375"/>
            <a:ext cx="6591300" cy="466725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~5,5%,</a:t>
            </a:r>
            <a:r>
              <a:rPr lang="en-US" sz="25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gần</a:t>
            </a:r>
            <a:r>
              <a:rPr lang="en-US" sz="25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0248900" y="5162550"/>
            <a:ext cx="7124700" cy="3181350"/>
          </a:xfrm>
          <a:prstGeom prst="roundRect">
            <a:avLst>
              <a:gd name="adj" fmla="val 5988"/>
            </a:avLst>
          </a:prstGeom>
          <a:solidFill>
            <a:srgbClr val="4A3A22"/>
          </a:solidFill>
          <a:ln/>
        </p:spPr>
      </p:sp>
      <p:sp>
        <p:nvSpPr>
          <p:cNvPr id="19" name="Text 16"/>
          <p:cNvSpPr/>
          <p:nvPr/>
        </p:nvSpPr>
        <p:spPr>
          <a:xfrm>
            <a:off x="10553700" y="5429250"/>
            <a:ext cx="6515100" cy="2647950"/>
          </a:xfrm>
          <a:prstGeom prst="rect">
            <a:avLst/>
          </a:prstGeom>
          <a:noFill/>
          <a:ln/>
        </p:spPr>
        <p:txBody>
          <a:bodyPr wrap="square" lIns="0" tIns="12118" rIns="0" bIns="-12118" rtlCol="0" anchor="t"/>
          <a:lstStyle/>
          <a:p>
            <a:pPr algn="l" indent="0" marL="0">
              <a:lnSpc>
                <a:spcPts val="2917"/>
              </a:lnSpc>
              <a:buNone/>
            </a:pPr>
            <a:r>
              <a:rPr lang="en-US" sz="2244" dirty="0" spc="-1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244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17"/>
              </a:lnSpc>
              <a:buNone/>
            </a:pPr>
            <a:r>
              <a:rPr lang="en-US" sz="2244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275°C</a:t>
            </a:r>
            <a:pPr algn="l" indent="0" marL="0">
              <a:lnSpc>
                <a:spcPts val="2917"/>
              </a:lnSpc>
              <a:buNone/>
            </a:pPr>
            <a:r>
              <a:rPr lang="en-US" sz="2244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urea</a:t>
            </a:r>
            <a:r>
              <a:rPr lang="en-US" sz="2244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44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biuret</a:t>
            </a:r>
            <a:r>
              <a:rPr lang="en-US" sz="2244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44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44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</a:t>
            </a:r>
            <a:r>
              <a:rPr lang="en-US" sz="2244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17"/>
              </a:lnSpc>
              <a:buNone/>
            </a:pPr>
            <a:r>
              <a:rPr lang="en-US" sz="2244" b="1" dirty="0" spc="-4" kern="0">
                <a:solidFill>
                  <a:srgbClr val="C084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Cyanuric</a:t>
            </a:r>
            <a:r>
              <a:rPr lang="en-US" sz="2244" b="1" dirty="0" spc="4" kern="0">
                <a:solidFill>
                  <a:srgbClr val="C084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acid</a:t>
            </a:r>
            <a:pPr algn="l" indent="0" marL="0">
              <a:lnSpc>
                <a:spcPts val="2917"/>
              </a:lnSpc>
              <a:buNone/>
            </a:pPr>
            <a:r>
              <a:rPr lang="en-US" sz="2244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</a:t>
            </a:r>
            <a:r>
              <a:rPr lang="en-US" sz="2244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đỉnh</a:t>
            </a:r>
            <a:r>
              <a:rPr lang="en-US" sz="2244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~24%</a:t>
            </a:r>
            <a:r>
              <a:rPr lang="en-US" sz="2244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44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tụt</a:t>
            </a:r>
            <a:r>
              <a:rPr lang="en-US" sz="2244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44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~15%</a:t>
            </a:r>
            <a:r>
              <a:rPr lang="en-US" sz="2244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44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325°C,</a:t>
            </a:r>
            <a:r>
              <a:rPr lang="en-US" sz="2244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</a:t>
            </a:r>
            <a:pPr algn="l" indent="0" marL="0">
              <a:lnSpc>
                <a:spcPts val="2917"/>
              </a:lnSpc>
              <a:buNone/>
            </a:pPr>
            <a:r>
              <a:rPr lang="en-US" sz="2244" b="1" dirty="0" spc="-5" kern="0">
                <a:solidFill>
                  <a:srgbClr val="FF5C5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ammelide</a:t>
            </a:r>
            <a:pPr algn="l" indent="0" marL="0">
              <a:lnSpc>
                <a:spcPts val="2917"/>
              </a:lnSpc>
              <a:buNone/>
            </a:pPr>
            <a:r>
              <a:rPr lang="en-US" sz="2244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244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yên</a:t>
            </a:r>
            <a:r>
              <a:rPr lang="en-US" sz="2244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~5,5%</a:t>
            </a:r>
            <a:r>
              <a:rPr lang="en-US" sz="2244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17"/>
              </a:lnSpc>
              <a:buNone/>
            </a:pPr>
            <a:r>
              <a:rPr lang="en-US" sz="2244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pPr algn="l" indent="0" marL="0">
              <a:lnSpc>
                <a:spcPts val="2917"/>
              </a:lnSpc>
              <a:buNone/>
            </a:pPr>
            <a:r>
              <a:rPr lang="en-US" sz="2244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244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Cyanuric</a:t>
            </a:r>
            <a:r>
              <a:rPr lang="en-US" sz="2244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acid</a:t>
            </a:r>
            <a:r>
              <a:rPr lang="en-US" sz="2244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244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 thăng</a:t>
            </a:r>
            <a:r>
              <a:rPr lang="en-US" sz="2244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hoa</a:t>
            </a:r>
            <a:r>
              <a:rPr lang="en-US" sz="2244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44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250–360°C</a:t>
            </a:r>
            <a:r>
              <a:rPr lang="en-US" sz="2244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917"/>
              </a:lnSpc>
              <a:buNone/>
            </a:pPr>
            <a:r>
              <a:rPr lang="en-US" sz="2244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[S4]</a:t>
            </a:r>
            <a:pPr algn="l" indent="0" marL="0">
              <a:lnSpc>
                <a:spcPts val="2917"/>
              </a:lnSpc>
              <a:buNone/>
            </a:pPr>
            <a:r>
              <a:rPr lang="en-US" sz="2244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244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244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244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rắn</a:t>
            </a:r>
            <a:r>
              <a:rPr lang="en-US" sz="2244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44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~30%</a:t>
            </a:r>
            <a:r>
              <a:rPr lang="en-US" sz="2244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44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~20%:</a:t>
            </a:r>
            <a:r>
              <a:rPr lang="en-US" sz="2244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44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44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44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bền,</a:t>
            </a:r>
            <a:r>
              <a:rPr lang="en-US" sz="2244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244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44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44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44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44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2244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44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tránh.</a:t>
            </a:r>
            <a:endParaRPr lang="en-US" sz="2244" dirty="0"/>
          </a:p>
        </p:txBody>
      </p:sp>
      <p:sp>
        <p:nvSpPr>
          <p:cNvPr id="20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752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7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Text 35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09/17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369144cd-c895-4b4a-be99-c4075c83ebcf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350–450°C: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cặn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gần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3097623966-6690690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438400"/>
            <a:ext cx="9715500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5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16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(đọc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mắt,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±2%)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Chiếm</a:t>
            </a:r>
            <a:r>
              <a:rPr lang="en-US" sz="2250" dirty="0" spc="4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ưu</a:t>
            </a:r>
            <a:r>
              <a:rPr lang="en-US" sz="225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thế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7908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ammelide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~5,5%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350°C,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~1%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400°C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8290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8290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39243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Giảm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3719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cyanuric</a:t>
            </a:r>
            <a:r>
              <a:rPr lang="en-US" sz="25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acid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~2%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~0;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ammelide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450°C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4102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4102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5054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Phản</a:t>
            </a:r>
            <a:r>
              <a:rPr lang="en-US" sz="2250" dirty="0" spc="2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ứng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59531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cyanuric</a:t>
            </a:r>
            <a:r>
              <a:rPr lang="en-US" sz="25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acid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thăng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hoa, ammelide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hủy</a:t>
            </a:r>
            <a:r>
              <a:rPr lang="en-US" sz="25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~360°C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1391900" y="69913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9" name="Shape 16"/>
          <p:cNvSpPr/>
          <p:nvPr/>
        </p:nvSpPr>
        <p:spPr>
          <a:xfrm>
            <a:off x="11391900" y="69913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0" name="Text 17"/>
          <p:cNvSpPr/>
          <p:nvPr/>
        </p:nvSpPr>
        <p:spPr>
          <a:xfrm>
            <a:off x="11734800" y="7086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Ý</a:t>
            </a:r>
            <a:r>
              <a:rPr lang="en-US" sz="225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nghĩa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1734800" y="75342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400°C</a:t>
            </a:r>
            <a:r>
              <a:rPr lang="en-US" sz="25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tổng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~2,5%</a:t>
            </a:r>
            <a:r>
              <a:rPr lang="en-US" sz="25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~1%</a:t>
            </a:r>
            <a:endParaRPr lang="en-US" sz="2550" dirty="0"/>
          </a:p>
        </p:txBody>
      </p:sp>
      <p:sp>
        <p:nvSpPr>
          <p:cNvPr id="22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2981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Text 37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10/17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358cc015-3b63-44ec-8cb7-78d7e9488c3c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57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ngoặt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thị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745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Biuret</a:t>
            </a:r>
            <a:r>
              <a:rPr lang="en-US" sz="3000" dirty="0" spc="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đỉnh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~28%</a:t>
            </a:r>
            <a:r>
              <a:rPr lang="en-US" sz="30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190°C,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~250°C:</a:t>
            </a:r>
            <a:r>
              <a:rPr lang="en-US" sz="30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urea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cạn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nên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nguồn,</a:t>
            </a:r>
            <a:r>
              <a:rPr lang="en-US" sz="30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biuret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hủy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36766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745" dirty="0"/>
          </a:p>
        </p:txBody>
      </p:sp>
      <p:sp>
        <p:nvSpPr>
          <p:cNvPr id="7" name="Shape 5"/>
          <p:cNvSpPr/>
          <p:nvPr/>
        </p:nvSpPr>
        <p:spPr>
          <a:xfrm>
            <a:off x="2724150" y="37719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7719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Cyanuric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acid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tăng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 ~2,5% (190°C)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~22%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(225°C), giữ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~22–24%</a:t>
            </a:r>
            <a:r>
              <a:rPr lang="en-US" sz="30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275°C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49720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745" dirty="0"/>
          </a:p>
        </p:txBody>
      </p:sp>
      <p:sp>
        <p:nvSpPr>
          <p:cNvPr id="10" name="Shape 8"/>
          <p:cNvSpPr/>
          <p:nvPr/>
        </p:nvSpPr>
        <p:spPr>
          <a:xfrm>
            <a:off x="2724150" y="50673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0673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Ammelide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chậm (~0,5%</a:t>
            </a:r>
            <a:r>
              <a:rPr lang="en-US" sz="30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~5,5%)</a:t>
            </a:r>
            <a:r>
              <a:rPr lang="en-US" sz="30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bền</a:t>
            </a:r>
            <a:r>
              <a:rPr lang="en-US" sz="30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350°C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62674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745" dirty="0"/>
          </a:p>
        </p:txBody>
      </p:sp>
      <p:sp>
        <p:nvSpPr>
          <p:cNvPr id="13" name="Shape 11"/>
          <p:cNvSpPr/>
          <p:nvPr/>
        </p:nvSpPr>
        <p:spPr>
          <a:xfrm>
            <a:off x="2724150" y="63627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63627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6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Total</a:t>
            </a:r>
            <a:r>
              <a:rPr lang="en-US" sz="300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recovery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giảm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100%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xuống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~1%: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rắn</a:t>
            </a:r>
            <a:r>
              <a:rPr lang="en-US" sz="30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chuyển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 khí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NH3,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HNCO, CO2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75628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7745" dirty="0"/>
          </a:p>
        </p:txBody>
      </p:sp>
      <p:sp>
        <p:nvSpPr>
          <p:cNvPr id="16" name="Shape 14"/>
          <p:cNvSpPr/>
          <p:nvPr/>
        </p:nvSpPr>
        <p:spPr>
          <a:xfrm>
            <a:off x="2724150" y="76581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76581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400°C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gần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cặn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(≤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~2,5%)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09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11/17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ce5bd1f1-e598-40e1-a470-faf8bd27f1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7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nhiệt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độ: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57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đóng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cặn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247900"/>
            <a:ext cx="10096500" cy="6096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</p:sp>
      <p:pic>
        <p:nvPicPr>
          <p:cNvPr id="4" name="Moda image rect-1793097671686-3062953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4900" y="2438400"/>
            <a:ext cx="9715500" cy="571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8477250"/>
            <a:ext cx="16459200" cy="495300"/>
          </a:xfrm>
          <a:prstGeom prst="rect">
            <a:avLst/>
          </a:prstGeom>
          <a:noFill/>
          <a:ln/>
        </p:spPr>
        <p:txBody>
          <a:bodyPr wrap="square" lIns="0" tIns="14435" rIns="0" bIns="-14435" rtlCol="0" anchor="t"/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Hình:</a:t>
            </a:r>
            <a:r>
              <a:rPr lang="en-US" sz="1650" dirty="0" spc="-5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16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S1</a:t>
            </a:r>
            <a:r>
              <a:rPr lang="en-US" sz="16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(đọc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mắt,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±2%)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11391900" y="22479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7" name="Shape 4"/>
          <p:cNvSpPr/>
          <p:nvPr/>
        </p:nvSpPr>
        <p:spPr>
          <a:xfrm>
            <a:off x="11391900" y="22479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8" name="Text 5"/>
          <p:cNvSpPr/>
          <p:nvPr/>
        </p:nvSpPr>
        <p:spPr>
          <a:xfrm>
            <a:off x="11734800" y="23431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133–190°C,</a:t>
            </a:r>
            <a:r>
              <a:rPr lang="en-US" sz="225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chú</a:t>
            </a:r>
            <a:r>
              <a:rPr lang="en-US" sz="22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ý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11734800" y="27908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urea</a:t>
            </a:r>
            <a:r>
              <a:rPr lang="en-US" sz="25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biuret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nhiều,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cặn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bền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1391900" y="38290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1" name="Shape 8"/>
          <p:cNvSpPr/>
          <p:nvPr/>
        </p:nvSpPr>
        <p:spPr>
          <a:xfrm>
            <a:off x="11391900" y="38290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2" name="Text 9"/>
          <p:cNvSpPr/>
          <p:nvPr/>
        </p:nvSpPr>
        <p:spPr>
          <a:xfrm>
            <a:off x="11734800" y="39243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190–325°C,</a:t>
            </a:r>
            <a:r>
              <a:rPr lang="en-US" sz="225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nguy</a:t>
            </a:r>
            <a:r>
              <a:rPr lang="en-US" sz="225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hiểm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1734800" y="43719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cyanuric</a:t>
            </a:r>
            <a:r>
              <a:rPr lang="en-US" sz="25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acid</a:t>
            </a:r>
            <a:r>
              <a:rPr lang="en-US" sz="25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~22–24%,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ammelide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~5,5%</a:t>
            </a:r>
            <a:endParaRPr lang="en-US" sz="2550" dirty="0"/>
          </a:p>
        </p:txBody>
      </p:sp>
      <p:sp>
        <p:nvSpPr>
          <p:cNvPr id="14" name="Shape 11"/>
          <p:cNvSpPr/>
          <p:nvPr/>
        </p:nvSpPr>
        <p:spPr>
          <a:xfrm>
            <a:off x="11391900" y="541020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5" name="Shape 12"/>
          <p:cNvSpPr/>
          <p:nvPr/>
        </p:nvSpPr>
        <p:spPr>
          <a:xfrm>
            <a:off x="11391900" y="541020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6" name="Text 13"/>
          <p:cNvSpPr/>
          <p:nvPr/>
        </p:nvSpPr>
        <p:spPr>
          <a:xfrm>
            <a:off x="11734800" y="550545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325–400°C,</a:t>
            </a:r>
            <a:r>
              <a:rPr lang="en-US" sz="2250" dirty="0" spc="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giảm</a:t>
            </a:r>
            <a:r>
              <a:rPr lang="en-US" sz="225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dần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1734800" y="595312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cyanuric</a:t>
            </a:r>
            <a:r>
              <a:rPr lang="en-US" sz="25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~0,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ammelide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endParaRPr lang="en-US" sz="2550" dirty="0"/>
          </a:p>
        </p:txBody>
      </p:sp>
      <p:sp>
        <p:nvSpPr>
          <p:cNvPr id="18" name="Shape 15"/>
          <p:cNvSpPr/>
          <p:nvPr/>
        </p:nvSpPr>
        <p:spPr>
          <a:xfrm>
            <a:off x="11391900" y="6991350"/>
            <a:ext cx="5981700" cy="1352550"/>
          </a:xfrm>
          <a:prstGeom prst="roundRect">
            <a:avLst>
              <a:gd name="adj" fmla="val 14085"/>
            </a:avLst>
          </a:prstGeom>
          <a:solidFill>
            <a:srgbClr val="E8E0CF"/>
          </a:solidFill>
          <a:ln/>
        </p:spPr>
      </p:sp>
      <p:sp>
        <p:nvSpPr>
          <p:cNvPr id="19" name="Shape 16"/>
          <p:cNvSpPr/>
          <p:nvPr/>
        </p:nvSpPr>
        <p:spPr>
          <a:xfrm>
            <a:off x="11391900" y="6991350"/>
            <a:ext cx="114300" cy="13525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20" name="Text 17"/>
          <p:cNvSpPr/>
          <p:nvPr/>
        </p:nvSpPr>
        <p:spPr>
          <a:xfrm>
            <a:off x="11734800" y="7086600"/>
            <a:ext cx="544830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≥400°C,</a:t>
            </a:r>
            <a:r>
              <a:rPr lang="en-US" sz="2250" dirty="0" spc="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an</a:t>
            </a:r>
            <a:r>
              <a:rPr lang="en-US" sz="225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toàn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1734800" y="7534275"/>
            <a:ext cx="5448300" cy="762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cặn</a:t>
            </a:r>
            <a:r>
              <a:rPr lang="en-US" sz="25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rắn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≤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~2,5%</a:t>
            </a:r>
            <a:endParaRPr lang="en-US" sz="2550" dirty="0"/>
          </a:p>
        </p:txBody>
      </p:sp>
      <p:sp>
        <p:nvSpPr>
          <p:cNvPr id="22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3438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Text 37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12/17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f580f8d2-2e3a-40cd-be9c-580c2929a9b8" descr="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Gợi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 cho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57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57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57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DNOx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phun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phun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</a:t>
            </a: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mixer</a:t>
            </a:r>
            <a:r>
              <a:rPr lang="en-US" sz="25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190–325°C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Strategy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phun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9592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Giọt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 vừa</a:t>
            </a:r>
            <a:r>
              <a:rPr lang="en-US" sz="25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tránh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bắn</a:t>
            </a: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Mixer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69645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Giúp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giọt</a:t>
            </a:r>
            <a:r>
              <a:rPr lang="en-US" sz="25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bay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hơi nhanh,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góc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255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giọt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đọng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sạch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nhiệt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9697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ống lên ≥400°C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55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cặn biến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67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13/17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399d4bce-ef03-4d00-9342-d49bf41f13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745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Urea</a:t>
            </a:r>
            <a:r>
              <a:rPr lang="en-US" sz="30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nóng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chảy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~133°C</a:t>
            </a:r>
            <a:r>
              <a:rPr lang="en-US" sz="30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tách</a:t>
            </a:r>
            <a:r>
              <a:rPr lang="en-US" sz="300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NH3</a:t>
            </a:r>
            <a:r>
              <a:rPr lang="en-US" sz="30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HNCO,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0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biuret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36766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745" dirty="0"/>
          </a:p>
        </p:txBody>
      </p:sp>
      <p:sp>
        <p:nvSpPr>
          <p:cNvPr id="7" name="Shape 5"/>
          <p:cNvSpPr/>
          <p:nvPr/>
        </p:nvSpPr>
        <p:spPr>
          <a:xfrm>
            <a:off x="2724150" y="37719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7719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Biuret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trạm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trung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gian:</a:t>
            </a:r>
            <a:r>
              <a:rPr lang="en-US" sz="300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đỉnh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~28%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190°C,</a:t>
            </a: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~250°C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49720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745" dirty="0"/>
          </a:p>
        </p:txBody>
      </p:sp>
      <p:sp>
        <p:nvSpPr>
          <p:cNvPr id="10" name="Shape 8"/>
          <p:cNvSpPr/>
          <p:nvPr/>
        </p:nvSpPr>
        <p:spPr>
          <a:xfrm>
            <a:off x="2724150" y="50673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0673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Cyanuric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acid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cặn chính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(~22–24%</a:t>
            </a:r>
            <a:r>
              <a:rPr lang="en-US" sz="30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225–275°C);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ammelide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ít</a:t>
            </a:r>
            <a:r>
              <a:rPr lang="en-US" sz="300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nhưng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bền</a:t>
            </a:r>
            <a:r>
              <a:rPr lang="en-US" sz="30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~350°C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62674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745" dirty="0"/>
          </a:p>
        </p:txBody>
      </p:sp>
      <p:sp>
        <p:nvSpPr>
          <p:cNvPr id="13" name="Shape 11"/>
          <p:cNvSpPr/>
          <p:nvPr/>
        </p:nvSpPr>
        <p:spPr>
          <a:xfrm>
            <a:off x="2724150" y="63627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63627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8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Tổng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30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rắn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giảm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 100%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xuống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~1%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vì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khí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7562850"/>
            <a:ext cx="161925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745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7745" dirty="0"/>
          </a:p>
        </p:txBody>
      </p:sp>
      <p:sp>
        <p:nvSpPr>
          <p:cNvPr id="16" name="Shape 14"/>
          <p:cNvSpPr/>
          <p:nvPr/>
        </p:nvSpPr>
        <p:spPr>
          <a:xfrm>
            <a:off x="2724150" y="7658100"/>
            <a:ext cx="14649450" cy="990600"/>
          </a:xfrm>
          <a:prstGeom prst="roundRect">
            <a:avLst>
              <a:gd name="adj" fmla="val 19231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7658100"/>
            <a:ext cx="14001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3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Vùng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nguy cơ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đóng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cặn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190–325°C;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~400°C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gần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sạch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895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14/17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26f19991-fe28-44f5-8db3-fed6af4159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 hỏi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thảo luận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Nếu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khí</a:t>
            </a:r>
            <a:r>
              <a:rPr lang="en-US" sz="69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xả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nóng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mixer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 ~250°C,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phun</a:t>
            </a:r>
            <a:r>
              <a:rPr lang="en-US" sz="6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1485900" y="7200900"/>
            <a:ext cx="1581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 nhiệt</a:t>
            </a:r>
            <a:r>
              <a:rPr lang="en-US" sz="270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nhiệt</a:t>
            </a:r>
            <a:r>
              <a:rPr lang="en-US" sz="270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khí?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485900" y="7715250"/>
            <a:ext cx="1581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</a:t>
            </a:r>
            <a:r>
              <a:rPr lang="en-US" sz="27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lái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3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</a:t>
            </a:r>
            <a:r>
              <a:rPr lang="en-US" sz="27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7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190–325°C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lâu?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485900" y="8229600"/>
            <a:ext cx="1581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7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cặn</a:t>
            </a:r>
            <a:r>
              <a:rPr lang="en-US" sz="27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thành,</a:t>
            </a:r>
            <a:r>
              <a:rPr lang="en-US" sz="27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regeneration</a:t>
            </a:r>
            <a:r>
              <a:rPr lang="en-US" sz="27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27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lâu?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124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15/17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bd6c997-a989-4157-b91d-3ab2d2ae2f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suy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4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4200" dirty="0" spc="-4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(S1)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31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31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31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total</a:t>
            </a:r>
            <a:r>
              <a:rPr lang="en-US" sz="31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recovery</a:t>
            </a:r>
            <a:r>
              <a:rPr lang="en-US" sz="31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</a:t>
            </a:r>
            <a:r>
              <a:rPr lang="en-US" sz="31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1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đo,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31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±2%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CFE8E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Suy</a:t>
            </a:r>
            <a:r>
              <a:rPr lang="en-US" sz="42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luận</a:t>
            </a:r>
            <a:r>
              <a:rPr lang="en-US" sz="42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2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9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31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ứng,</a:t>
            </a:r>
            <a:r>
              <a:rPr lang="en-US" sz="31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1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xấu,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31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ro,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biện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31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1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160,</a:t>
            </a:r>
            <a:r>
              <a:rPr lang="en-US" sz="31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170°C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Đây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nhiệt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urea</a:t>
            </a:r>
            <a:r>
              <a:rPr lang="en-US" sz="27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phòng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nghiệm:</a:t>
            </a:r>
            <a:r>
              <a:rPr lang="en-US" sz="27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70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xe,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tốc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nhiệt,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dòng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khí, xúc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7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dạng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giọt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phun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 giá</a:t>
            </a:r>
            <a:r>
              <a:rPr lang="en-US" sz="27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trị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khác</a:t>
            </a:r>
            <a:r>
              <a:rPr lang="en-US" sz="2700" dirty="0" spc="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700" dirty="0" spc="-5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Tổng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400°C</a:t>
            </a:r>
            <a:r>
              <a:rPr lang="en-US" sz="27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(~2,5%)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cao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tổng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bốn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chất</a:t>
            </a:r>
            <a:r>
              <a:rPr lang="en-US" sz="27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(~1%)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52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16/17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8d0f6f7f-28e7-4a97-9e31-6d8987715f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5717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25717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057400" y="25717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Biểu</a:t>
            </a:r>
            <a:r>
              <a:rPr lang="en-US" sz="21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"Source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number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3":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nhiệt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urea,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repo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(tác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giả, năm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14400" y="40195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40195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S2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2057400" y="40195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Koebel,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Strutz,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2003,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Ind. Eng.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Chem.</a:t>
            </a:r>
            <a:r>
              <a:rPr lang="en-US" sz="21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Res.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2093–2100, doi 10.1021/ie020950o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54673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4673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S3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2057400" y="54673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Schaber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cs.,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2004, Thermochimica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Acta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424,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131–142,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doi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10.1016/j.tca.2004.05.018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69151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69151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S4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057400" y="69151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Kuntz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cs.,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2021, Chem.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Eng.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Sci.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246,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116876,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doi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10.1016/j.ces.2021.116876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334500" y="25717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9563100" y="25717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S5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0477500" y="25717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cs.,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2021,</a:t>
            </a:r>
            <a:r>
              <a:rPr lang="en-US" sz="21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ACS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Omega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6(8),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5921–5932,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doi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10.1021/acsomega.1c00021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334500" y="40195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9563100" y="40195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S6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477500" y="40195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Eakle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cs.,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2016,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SAE</a:t>
            </a:r>
            <a:r>
              <a:rPr lang="en-US" sz="21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Technical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Paper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2016-01-2327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334500" y="54673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9563100" y="54673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S7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0477500" y="54673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Vauxhall,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What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technology?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(AdBlue,</a:t>
            </a:r>
            <a:r>
              <a:rPr lang="en-US" sz="21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urea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32,5%)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0" y="6915150"/>
            <a:ext cx="8039100" cy="13335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9563100" y="6915150"/>
            <a:ext cx="8763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S8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10477500" y="6915150"/>
            <a:ext cx="6667500" cy="133350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Wikimedia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Commons: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 public domain;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Hino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(z22,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CC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BY-SA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3.0)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581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4" name="Text 42"/>
          <p:cNvSpPr/>
          <p:nvPr/>
        </p:nvSpPr>
        <p:spPr>
          <a:xfrm>
            <a:off x="50292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L17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17/17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5ed21714-a51e-4535-9a98-73e8b5b97a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2026-10-27T10:42:58Z</dcterms:created>
  <dcterms:modified xsi:type="dcterms:W3CDTF">2026-10-27T10:42:58Z</dcterms:modified>
</cp:coreProperties>
</file>