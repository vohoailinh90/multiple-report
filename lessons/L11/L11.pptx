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8288000" cy="10287000"/>
  <p:notesSz cx="10287000" cy="18288000"/>
  <p:embeddedFontLst>
    <p:embeddedFont>
      <p:font typeface="Be Vietnam Pro"/>
      <p:regular r:id="rId58"/>
      <p:bold r:id="rId55"/>
    </p:embeddedFont>
    <p:embeddedFont>
      <p:font typeface="Bricolage Grotesque ExtraBold"/>
      <p:regular r:id="rId56"/>
    </p:embeddedFont>
    <p:embeddedFont>
      <p:font typeface="Be Vietnam Pro SemiBold"/>
      <p:regular r:id="rId57"/>
    </p:embeddedFont>
    <p:embeddedFont>
      <p:font typeface="Be Vietnam Pro ExtraBold"/>
      <p:regular r:id="rId59"/>
    </p:embeddedFont>
    <p:embeddedFont>
      <p:font typeface="Be Vietnam Pro Medium"/>
      <p:regular r:id="rId6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openxmlformats.org/officeDocument/2006/relationships/font" Target="fonts/font1.fntdata"/><Relationship Id="rId56" Type="http://schemas.openxmlformats.org/officeDocument/2006/relationships/font" Target="fonts/font2.fntdata"/><Relationship Id="rId57" Type="http://schemas.openxmlformats.org/officeDocument/2006/relationships/font" Target="fonts/font3.fntdata"/><Relationship Id="rId58" Type="http://schemas.openxmlformats.org/officeDocument/2006/relationships/font" Target="fonts/font4.fntdata"/><Relationship Id="rId59" Type="http://schemas.openxmlformats.org/officeDocument/2006/relationships/font" Target="fonts/font5.fntdata"/><Relationship Id="rId6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2857500"/>
            <a:ext cx="11049000" cy="4953000"/>
          </a:xfrm>
          <a:custGeom>
            <a:avLst/>
            <a:gdLst/>
            <a:ahLst/>
            <a:cxnLst/>
            <a:rect l="l" t="t" r="r" b="b"/>
            <a:pathLst>
              <a:path w="11049000" h="4953000">
                <a:moveTo>
                  <a:pt x="0" y="2476500"/>
                </a:moveTo>
                <a:lnTo>
                  <a:pt x="4000500" y="2476500"/>
                </a:lnTo>
                <a:lnTo>
                  <a:pt x="4667250" y="0"/>
                </a:lnTo>
                <a:lnTo>
                  <a:pt x="5619750" y="4953000"/>
                </a:lnTo>
                <a:lnTo>
                  <a:pt x="6572250" y="1143000"/>
                </a:lnTo>
                <a:lnTo>
                  <a:pt x="7239000" y="2476500"/>
                </a:lnTo>
                <a:lnTo>
                  <a:pt x="11049000" y="2476500"/>
                </a:lnTo>
              </a:path>
            </a:pathLst>
          </a:custGeom>
          <a:ln w="66675">
            <a:solidFill>
              <a:srgbClr val="3DD6A0">
                <a:alpha val="1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100" b="1" spc="4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Trí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hải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mã,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81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810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81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8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33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3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3300" dirty="0" spc="-3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3300" dirty="0" spc="1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3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330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33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8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5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chói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e27ed22e-936b-42b2-b590-4cb6623738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suýt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quên</a:t>
            </a:r>
            <a:r>
              <a:rPr lang="en-US" sz="69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bữa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hôm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qua,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6900" dirty="0" spc="-2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6900" dirty="0" spc="-4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 là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1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b28b20b1-7dea-43b4-98d4-fec5dc5d7a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57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Củng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 mã,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 giấc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chen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1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2ef1dd25-21a0-4d53-bd4d-e4ad6f6a64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Sơ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48698854-9972887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3922157"/>
            <a:ext cx="8572500" cy="27474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 Hình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8.2),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 theo mục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Attributions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Declarative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tường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5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Nondeclarative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tường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thuật,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ngầm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Working</a:t>
            </a:r>
            <a:r>
              <a:rPr lang="en-US" sz="2187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memory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thao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CFE8E2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dài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nhánh.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-2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1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1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(sự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niệm)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(việc</a:t>
            </a:r>
            <a:r>
              <a:rPr lang="en-US" sz="21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thân).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-2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1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tục,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mồi,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1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cảm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0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2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04/48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16749ac6-29a6-454c-b8dd-0c6e85acfb6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Tường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tường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3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8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</a:t>
            </a:r>
            <a:r>
              <a:rPr lang="en-US" sz="28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8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8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mồi,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dần,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quan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tiết,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mạnh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 cả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vui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Tường</a:t>
            </a: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thuật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nói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được;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4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tình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19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tường</a:t>
            </a: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thuật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thức;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thủ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tục,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mồi,</a:t>
            </a:r>
            <a:r>
              <a:rPr lang="en-US" sz="24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7859" rIns="0" bIns="-17859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"trí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bắp"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nói, cơ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25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9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599712d9-ab19-4c4c-bdd9-49c684074a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hóa: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biểu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diễn;</a:t>
            </a:r>
            <a:r>
              <a:rPr lang="en-US" sz="2700" dirty="0" spc="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ưu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</a:t>
            </a:r>
            <a:r>
              <a:rPr lang="en-US" sz="27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nổi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endParaRPr lang="en-US" sz="2700" dirty="0"/>
          </a:p>
        </p:txBody>
      </p:sp>
      <p:sp>
        <p:nvSpPr>
          <p:cNvPr id="7" name="Connector line-1792648700615-722492855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Củng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cố: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hạn;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700" dirty="0"/>
          </a:p>
        </p:txBody>
      </p:sp>
      <p:sp>
        <p:nvSpPr>
          <p:cNvPr id="12" name="Connector line-1792648700619-385255839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Truy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xuất: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gợi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bởi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70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endParaRPr lang="en-US" sz="2700" dirty="0"/>
          </a:p>
        </p:txBody>
      </p:sp>
      <p:sp>
        <p:nvSpPr>
          <p:cNvPr id="17" name="Connector line-1792648700623-505872092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chen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vào:</a:t>
            </a:r>
            <a:r>
              <a:rPr lang="en-US" sz="2700" dirty="0" spc="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ưu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 khi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hóa,</a:t>
            </a:r>
            <a:r>
              <a:rPr lang="en-US" sz="27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8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90b196ad-79c8-4ca5-b062-fc310c5ad3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Trí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3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8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 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hệ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nhẩm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xuôi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Giữ</a:t>
            </a:r>
            <a:r>
              <a:rPr lang="en-US" sz="1950" dirty="0" spc="-2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19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thao</a:t>
            </a: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dung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nhắc</a:t>
            </a: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dãy</a:t>
            </a:r>
            <a:r>
              <a:rPr lang="en-US" sz="19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xuôi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hạn,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Vỏ</a:t>
            </a:r>
            <a:r>
              <a:rPr lang="en-US" sz="195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r>
              <a:rPr lang="en-US" sz="19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trán</a:t>
            </a:r>
            <a:r>
              <a:rPr lang="en-US" sz="195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r>
              <a:rPr lang="en-US" sz="1950" dirty="0" spc="-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trọng</a:t>
            </a: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</a:t>
            </a:r>
            <a:r>
              <a:rPr lang="en-US" sz="19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nó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 sau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7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ec84bd69-655b-4597-b9e1-998116ecc3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Trạng</a:t>
            </a:r>
            <a:r>
              <a:rPr lang="en-US" sz="42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cùng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315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Bối</a:t>
            </a: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 ví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căn phòng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thích: cùng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bối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 một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động,</a:t>
            </a:r>
            <a:r>
              <a:rPr lang="en-US" sz="285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kéo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ức.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tượng,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mẹo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70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42ae63f5-b363-44e1-9318-30e054dc06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Hải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trải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 mã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khứu,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khứu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 mã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gian: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tòa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mới,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"tầng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một",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bối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thùy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trong;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4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H.M.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400" dirty="0" spc="-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L07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gắn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mãi mãi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60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fc164c7-719c-4eb2-94cc-ba7888a68e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Hải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mã: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2100" dirty="0" spc="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r>
              <a:rPr lang="en-US" sz="21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nhớ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Gắn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bối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cảnh,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cố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tường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thuật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2100" dirty="0" spc="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Người: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H.M.;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vật: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mê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cung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nước;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chụp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(xem</a:t>
            </a:r>
            <a:r>
              <a:rPr lang="en-US" sz="2550" dirty="0" spc="-3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L07)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noradrenaline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 nhân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giúp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cố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(xem</a:t>
            </a:r>
            <a:r>
              <a:rPr lang="en-US" sz="255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L03)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Khó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tường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thuật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(quên thuận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chiều),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ví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H.M.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 ký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mãi;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dần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ít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phụ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thuộc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[S8]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51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f540f4d3-eb7c-4221-984c-69ee85b646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648755845-498116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64087" y="2438400"/>
            <a:ext cx="5797126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 Hình 13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8.5),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Attributions;</a:t>
            </a:r>
            <a:r>
              <a:rPr lang="en-US" sz="16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Frankland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Bontempi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Cortical</a:t>
            </a:r>
            <a:r>
              <a:rPr lang="en-US" sz="22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modules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mô-đun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(hình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ảnh,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thanh,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5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kết)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Hippocampus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hải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mảnh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Time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gian;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mã–vỏ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2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25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đi,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2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841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11/48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d722b6e9-3d92-4eca-a02b-7ca7b45b2bb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H.M.: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mổ,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300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(phân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bậc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2005: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"chín"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não;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Lashley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(chuột):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300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hỏng;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dấu</a:t>
            </a:r>
            <a:r>
              <a:rPr lang="en-US" sz="30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vết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trải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hạn: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hình; có mô hình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(ví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dấu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vết),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32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12/48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ef04ee27-4c6c-44af-944f-7112d1c7e3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tái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(TMR)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562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562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25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học</a:t>
            </a:r>
            <a:endParaRPr lang="en-US" sz="2550" dirty="0"/>
          </a:p>
        </p:txBody>
      </p:sp>
      <p:sp>
        <p:nvSpPr>
          <p:cNvPr id="5" name="Connector line-1792648812927-266038190"/>
          <p:cNvSpPr/>
          <p:nvPr/>
        </p:nvSpPr>
        <p:spPr>
          <a:xfrm>
            <a:off x="36576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485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Gợi</a:t>
            </a: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ý</a:t>
            </a:r>
            <a:endParaRPr lang="en-US" sz="2550" dirty="0"/>
          </a:p>
        </p:txBody>
      </p:sp>
      <p:sp>
        <p:nvSpPr>
          <p:cNvPr id="8" name="Connector line-1792648812929-67966587"/>
          <p:cNvSpPr/>
          <p:nvPr/>
        </p:nvSpPr>
        <p:spPr>
          <a:xfrm>
            <a:off x="91440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534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2534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8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Ký</a:t>
            </a:r>
            <a:r>
              <a:rPr lang="en-US" sz="2550" dirty="0" spc="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ức</a:t>
            </a:r>
            <a:endParaRPr lang="en-US" sz="2550" dirty="0"/>
          </a:p>
        </p:txBody>
      </p:sp>
      <p:sp>
        <p:nvSpPr>
          <p:cNvPr id="11" name="Connector line-1792648812931-735269004"/>
          <p:cNvSpPr/>
          <p:nvPr/>
        </p:nvSpPr>
        <p:spPr>
          <a:xfrm>
            <a:off x="146304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12" name="Connector line-1792648812931-354591488"/>
          <p:cNvSpPr/>
          <p:nvPr/>
        </p:nvSpPr>
        <p:spPr>
          <a:xfrm>
            <a:off x="9144000" y="4667250"/>
            <a:ext cx="54864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39250" y="386715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Học: gợi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(âm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thanh,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mùi)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endParaRPr lang="en-US" sz="2250" dirty="0"/>
          </a:p>
        </p:txBody>
      </p:sp>
      <p:sp>
        <p:nvSpPr>
          <p:cNvPr id="14" name="Connector line-1792648812934-903169447"/>
          <p:cNvSpPr/>
          <p:nvPr/>
        </p:nvSpPr>
        <p:spPr>
          <a:xfrm>
            <a:off x="9144000" y="5953125"/>
            <a:ext cx="5486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239250" y="5153025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Ngủ: gợi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2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25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25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endParaRPr lang="en-US" sz="2250" dirty="0"/>
          </a:p>
        </p:txBody>
      </p:sp>
      <p:sp>
        <p:nvSpPr>
          <p:cNvPr id="16" name="Connector line-1792648812937-471540004"/>
          <p:cNvSpPr/>
          <p:nvPr/>
        </p:nvSpPr>
        <p:spPr>
          <a:xfrm>
            <a:off x="3657600" y="7239000"/>
            <a:ext cx="109728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752850" y="6438900"/>
            <a:ext cx="10782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Thức: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 lại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mục,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gợi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2250" dirty="0"/>
          </a:p>
        </p:txBody>
      </p:sp>
      <p:sp>
        <p:nvSpPr>
          <p:cNvPr id="18" name="Connector line-1792648812939-120036325"/>
          <p:cNvSpPr/>
          <p:nvPr/>
        </p:nvSpPr>
        <p:spPr>
          <a:xfrm>
            <a:off x="3657600" y="8524875"/>
            <a:ext cx="109728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752850" y="7724775"/>
            <a:ext cx="10782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sánh: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nhắc khi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 so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nhắc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2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13/48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0daecef9-ea74-4ab2-8af4-d5b143d104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Tái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ngủ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48814356-8650254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3118452"/>
            <a:ext cx="9715500" cy="43548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 Hình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8.6);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Wikipedia,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mục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Attributions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Encoding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hóa,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5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gợi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Consolidation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củng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gợi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Retrieval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truy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xuất,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gợi ý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413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14/48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af61f458-62f9-406f-a009-5c4469d020b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 củng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McGaugh,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thượng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phức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đáy</a:t>
            </a:r>
            <a:r>
              <a:rPr lang="en-US" sz="28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trung gian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Phelps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 nhân có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 của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 mã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r>
              <a:rPr lang="en-US" sz="1950" dirty="0" spc="-2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</a:t>
            </a: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4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L07;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sợ: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40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L09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7859" rIns="0" bIns="-17859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2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2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chỉnh</a:t>
            </a:r>
            <a:r>
              <a:rPr lang="en-US" sz="22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25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nơi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03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d263189f-2e61-4ba4-8824-f8c9f64675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củng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động: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hormone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căng thẳng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noradrenaline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endParaRPr lang="en-US" sz="2700" dirty="0"/>
          </a:p>
        </p:txBody>
      </p:sp>
      <p:sp>
        <p:nvSpPr>
          <p:cNvPr id="7" name="Connector line-1792648816704-152389639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nhân,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phức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đáy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bên: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endParaRPr lang="en-US" sz="2700" dirty="0"/>
          </a:p>
        </p:txBody>
      </p:sp>
      <p:sp>
        <p:nvSpPr>
          <p:cNvPr id="12" name="Connector line-1792648816707-364587992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27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ra: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đuôi,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 accumbens,</a:t>
            </a:r>
            <a:r>
              <a:rPr lang="en-US" sz="27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 hải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700" dirty="0"/>
          </a:p>
        </p:txBody>
      </p:sp>
      <p:sp>
        <p:nvSpPr>
          <p:cNvPr id="17" name="Connector line-1792648816710-174099652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Ký</a:t>
            </a:r>
            <a:r>
              <a:rPr lang="en-US" sz="27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(cơ chế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tiết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vật)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57e01553-d9c8-494f-9ece-faa97e89ed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nhân: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1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210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r>
              <a:rPr lang="en-US" sz="21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nhớ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Điều biến</a:t>
            </a:r>
            <a:r>
              <a:rPr lang="en-US" sz="25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mạnh củng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cố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 ở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khác;</a:t>
            </a:r>
            <a:r>
              <a:rPr lang="en-US" sz="2550" dirty="0" spc="2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ưu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 [S5]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210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Động</a:t>
            </a:r>
            <a:r>
              <a:rPr lang="en-US" sz="24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vật: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tiêm</a:t>
            </a:r>
            <a:r>
              <a:rPr lang="en-US" sz="24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noradrenaline vào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BLA,</a:t>
            </a:r>
            <a:r>
              <a:rPr lang="en-US" sz="24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4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nhân.</a:t>
            </a:r>
            <a:r>
              <a:rPr lang="en-US" sz="24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Người: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chụp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4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propranolol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400" dirty="0" spc="0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[S5] [S9]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21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Noradrenaline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hormone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căng thẳng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thượng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thận;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sơ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4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[S5]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hoặc</a:t>
            </a:r>
            <a:r>
              <a:rPr lang="en-US" sz="210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rối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loạn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Chuột: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 mờ ký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sợ;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stress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nặng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âu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[S6]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 ký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 xúc; vị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sợ: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3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L07,</a:t>
            </a:r>
            <a:r>
              <a:rPr lang="en-US" sz="2550" dirty="0" spc="-4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L09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 [S6] [S9]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984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68e6d9b5-9a2e-402a-8abe-8671e6d52f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lát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57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48819017-8687682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27379" y="2438400"/>
            <a:ext cx="5327542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Henry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Gray,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Anatomy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 Body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(1918), Public Domain;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8.3)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Coronal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lát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25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ngang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nhân,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tím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Lát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(coronal)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phẫu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(1918);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4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tím, nằm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 thái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xúc: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đáy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 củng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175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18/48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9ea151b6-8a95-494d-9d1a-87baec924b6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Động</a:t>
            </a:r>
            <a:r>
              <a:rPr lang="en-US" sz="4200" dirty="0" spc="-3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tiêm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 vào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BLA,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31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cận,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cố;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31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propranolol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truyện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31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truyện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tính;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1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luận:</a:t>
            </a:r>
            <a:r>
              <a:rPr lang="en-US" sz="28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quán;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8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thuốc</a:t>
            </a:r>
            <a:r>
              <a:rPr lang="en-US" sz="28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quan,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[S9]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65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2a3e9cd8-7bb2-422a-b24e-c0f82b30d3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57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chủ</a:t>
            </a:r>
            <a:r>
              <a:rPr lang="en-US" sz="6900" dirty="0" spc="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6900" dirty="0" spc="2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6900" dirty="0" spc="1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 củng</a:t>
            </a:r>
            <a:r>
              <a:rPr lang="en-US" sz="69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khác;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56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17bb7d07-de49-4462-9577-31e8b1a5e6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tạm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6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8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người: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nhất;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nhiều vùng,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bức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khảm,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vỏ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7859" rIns="0" bIns="-17859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trán;</a:t>
            </a:r>
            <a:r>
              <a:rPr lang="en-US" sz="22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2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hành:</a:t>
            </a:r>
            <a:r>
              <a:rPr lang="en-US" sz="22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2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L04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thao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 ký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46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84f405a8-9493-47dd-8ba0-733c4094fd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trán: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2100" dirty="0" spc="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r>
              <a:rPr lang="en-US" sz="21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nhớ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Giữ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thao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tạm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thời;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giữa-bụng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 quan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 dập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 [S10]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2100" dirty="0" spc="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Khỉ,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bệnh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 (người),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ghi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chuột,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chụp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 [S10] [S11]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4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L04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kém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nhiệm vụ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nhắc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ngược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dãy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dài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hạn;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"kiềm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chế"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đây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hẹp: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nỗi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sợ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[S10]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3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8f3af39f-c3e9-4034-8aee-269c7adfd7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ứng;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quỵ,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phình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 làm</a:t>
            </a:r>
            <a:r>
              <a:rPr lang="en-US" sz="27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Sa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sút</a:t>
            </a:r>
            <a:r>
              <a:rPr lang="en-US" sz="300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tuệ</a:t>
            </a:r>
            <a:r>
              <a:rPr lang="en-US" sz="30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trán–thái</a:t>
            </a:r>
            <a:r>
              <a:rPr lang="en-US" sz="30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dương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Chuột (dập</a:t>
            </a:r>
            <a:r>
              <a:rPr lang="en-US" sz="300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tắt)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infralimbic phát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30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(dập</a:t>
            </a:r>
            <a:r>
              <a:rPr lang="en-US" sz="30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tắt)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vmPFC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 trễ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2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fd45870b-fa2b-49b4-b720-83448f87a3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 hình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48872501-1974340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3056781"/>
            <a:ext cx="9715500" cy="4478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Casey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Henley,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mục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Attributions;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8.3)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Prefrontal</a:t>
            </a:r>
            <a:r>
              <a:rPr lang="en-US" sz="225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cortex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trán,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Frontal</a:t>
            </a:r>
            <a:r>
              <a:rPr lang="en-US" sz="225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lobe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thùy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trán,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25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 ở phần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31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24/48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74a7fb6c-e4a1-459c-a8e5-d070a8cc261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dập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chuột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562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562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Thí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nghiệm</a:t>
            </a:r>
            <a:endParaRPr lang="en-US" sz="2550" dirty="0"/>
          </a:p>
        </p:txBody>
      </p:sp>
      <p:sp>
        <p:nvSpPr>
          <p:cNvPr id="5" name="Connector line-1792649030505-207098430"/>
          <p:cNvSpPr/>
          <p:nvPr/>
        </p:nvSpPr>
        <p:spPr>
          <a:xfrm>
            <a:off x="36576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485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Chuột</a:t>
            </a:r>
            <a:endParaRPr lang="en-US" sz="2550" dirty="0"/>
          </a:p>
        </p:txBody>
      </p:sp>
      <p:sp>
        <p:nvSpPr>
          <p:cNvPr id="8" name="Connector line-1792649030508-642507629"/>
          <p:cNvSpPr/>
          <p:nvPr/>
        </p:nvSpPr>
        <p:spPr>
          <a:xfrm>
            <a:off x="91440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534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2534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8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Vỏ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infralimbic</a:t>
            </a:r>
            <a:endParaRPr lang="en-US" sz="2550" dirty="0"/>
          </a:p>
        </p:txBody>
      </p:sp>
      <p:sp>
        <p:nvSpPr>
          <p:cNvPr id="11" name="Connector line-1792649030511-701609247"/>
          <p:cNvSpPr/>
          <p:nvPr/>
        </p:nvSpPr>
        <p:spPr>
          <a:xfrm>
            <a:off x="146304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12" name="Connector line-1792649030511-233505898"/>
          <p:cNvSpPr/>
          <p:nvPr/>
        </p:nvSpPr>
        <p:spPr>
          <a:xfrm>
            <a:off x="3657600" y="4667250"/>
            <a:ext cx="54864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52850" y="386715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b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100" dirty="0" spc="-5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sợ:</a:t>
            </a:r>
            <a:r>
              <a:rPr lang="en-US" sz="21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sốc;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r>
              <a:rPr lang="en-US" sz="21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 sững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nghe</a:t>
            </a:r>
            <a:r>
              <a:rPr lang="en-US" sz="21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endParaRPr lang="en-US" sz="2100" dirty="0"/>
          </a:p>
        </p:txBody>
      </p:sp>
      <p:sp>
        <p:nvSpPr>
          <p:cNvPr id="14" name="Connector line-1792649030514-784980979"/>
          <p:cNvSpPr/>
          <p:nvPr/>
        </p:nvSpPr>
        <p:spPr>
          <a:xfrm>
            <a:off x="3657600" y="5629275"/>
            <a:ext cx="5486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752850" y="4829175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Dập</a:t>
            </a: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tắt: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 lại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sốc;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</a:t>
            </a:r>
            <a:r>
              <a:rPr lang="en-US" sz="225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</a:t>
            </a:r>
            <a:endParaRPr lang="en-US" sz="2250" dirty="0"/>
          </a:p>
        </p:txBody>
      </p:sp>
      <p:sp>
        <p:nvSpPr>
          <p:cNvPr id="16" name="Connector line-1792649030517-483428644"/>
          <p:cNvSpPr/>
          <p:nvPr/>
        </p:nvSpPr>
        <p:spPr>
          <a:xfrm>
            <a:off x="3657600" y="6591300"/>
            <a:ext cx="109728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752850" y="5791200"/>
            <a:ext cx="10782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Hôm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sau: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infralimbic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sự dập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2250" dirty="0"/>
          </a:p>
        </p:txBody>
      </p:sp>
      <p:sp>
        <p:nvSpPr>
          <p:cNvPr id="18" name="Connector line-1792649030520-994047350"/>
          <p:cNvSpPr/>
          <p:nvPr/>
        </p:nvSpPr>
        <p:spPr>
          <a:xfrm flipH="1">
            <a:off x="9144000" y="7562850"/>
            <a:ext cx="54864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239250" y="676275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b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10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21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xung</a:t>
            </a:r>
            <a:r>
              <a:rPr lang="en-US" sz="21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1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 sự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dập</a:t>
            </a:r>
            <a:r>
              <a:rPr lang="en-US" sz="21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2100" dirty="0"/>
          </a:p>
        </p:txBody>
      </p:sp>
      <p:sp>
        <p:nvSpPr>
          <p:cNvPr id="20" name="Connector line-1792649030522-339359655"/>
          <p:cNvSpPr/>
          <p:nvPr/>
        </p:nvSpPr>
        <p:spPr>
          <a:xfrm>
            <a:off x="3657600" y="8524875"/>
            <a:ext cx="109728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752850" y="7724775"/>
            <a:ext cx="10782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thích: kích thích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infralimbic</a:t>
            </a:r>
            <a:r>
              <a:rPr lang="en-US" sz="225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r>
              <a:rPr lang="en-US" sz="22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dập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25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sững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0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Shape 4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d1964ee8-9c00-4a2b-9d6b-dd53a8f588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Dập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Dập</a:t>
            </a:r>
            <a:r>
              <a:rPr lang="en-US" sz="285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(extinction):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 thanh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sốc,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dần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9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Pavlov,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850" b="1" dirty="0" spc="2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 phù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hợp: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infralimbic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 thanh khi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Cách</a:t>
            </a:r>
            <a:r>
              <a:rPr lang="en-US" sz="19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lặp lại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Giả</a:t>
            </a:r>
            <a:r>
              <a:rPr lang="en-US" sz="195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thuyết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Pavlov,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dập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nỗi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nhạt</a:t>
            </a:r>
            <a:r>
              <a:rPr lang="en-US" sz="24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9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afb953ce-cd93-4599-9825-f410ff548d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Dập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người: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vmPFC</a:t>
            </a:r>
            <a:endParaRPr lang="en-US" sz="5700" dirty="0"/>
          </a:p>
        </p:txBody>
      </p:sp>
      <p:sp>
        <p:nvSpPr>
          <p:cNvPr id="3" name="Connector line-1792649032540-92477242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" name="Connector line-1792649032540-600852639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5" name="Connector line-1792649032540-815167590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Connector line-1792649032540-450998571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Hạnh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33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vmPFC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 nhân: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tập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vmPFC: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ý: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có thể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88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3afefef-fd7d-4760-afb0-2e75df3890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Dập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Dập</a:t>
            </a:r>
            <a:r>
              <a:rPr lang="en-US" sz="4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"tín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 an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toàn";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vmPFC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(gợi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từ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chuột);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(giả</a:t>
            </a: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thuyết)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Xóa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nữa;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1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28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vậy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nỗi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nhạt</a:t>
            </a:r>
            <a:r>
              <a:rPr lang="en-US" sz="2850" dirty="0" spc="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liệu,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 ký</a:t>
            </a:r>
            <a:r>
              <a:rPr lang="en-US" sz="28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ban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 đã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xóa;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8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28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L12.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80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04066760-867f-4252-bdd0-2271e6e041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dập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Dập</a:t>
            </a:r>
            <a:r>
              <a:rPr lang="en-US" sz="69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9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70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6f8a4960-0e9d-43b9-979b-941d90aff4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củng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cố: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tạm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8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nhớ, dấu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3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tái</a:t>
            </a: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28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Quan</a:t>
            </a:r>
            <a:r>
              <a:rPr lang="en-US" sz="195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niệm</a:t>
            </a:r>
            <a:r>
              <a:rPr lang="en-US" sz="19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cũ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trữ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tuyến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 vẹn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Quan</a:t>
            </a:r>
            <a:r>
              <a:rPr lang="en-US" sz="19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niệm</a:t>
            </a:r>
            <a:r>
              <a:rPr lang="en-US" sz="19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5478" rIns="0" bIns="-15478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ký</a:t>
            </a:r>
            <a:r>
              <a:rPr lang="en-US" sz="19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19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động,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19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chút mỗi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"có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thể"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"luôn</a:t>
            </a: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luôn";</a:t>
            </a:r>
            <a:r>
              <a:rPr lang="en-US" sz="18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18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8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18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61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e723c0fa-106e-4a14-be67-e7a0aece48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chuột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Học: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sốc;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endParaRPr lang="en-US" sz="2700" dirty="0"/>
          </a:p>
        </p:txBody>
      </p:sp>
      <p:sp>
        <p:nvSpPr>
          <p:cNvPr id="7" name="Connector line-1792649085440-217020219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Nhắc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lại: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(sau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14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ngày)</a:t>
            </a:r>
            <a:endParaRPr lang="en-US" sz="2700" dirty="0"/>
          </a:p>
        </p:txBody>
      </p:sp>
      <p:sp>
        <p:nvSpPr>
          <p:cNvPr id="12" name="Connector line-1792649085445-782616682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thiệp: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tiêm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anisomycin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endParaRPr lang="en-US" sz="2700" dirty="0"/>
          </a:p>
        </p:txBody>
      </p:sp>
      <p:sp>
        <p:nvSpPr>
          <p:cNvPr id="17" name="Connector line-1792649085449-171252143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lại: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sợ;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nhắc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thì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1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64bff794-59f7-4661-81b8-5b34f8ee28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củng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endParaRPr lang="en-US" sz="5700" dirty="0"/>
          </a:p>
        </p:txBody>
      </p:sp>
      <p:sp>
        <p:nvSpPr>
          <p:cNvPr id="3" name="Connector line-1792649086426-523400972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383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Connector line-1792649086427-274523819"/>
          <p:cNvSpPr/>
          <p:nvPr/>
        </p:nvSpPr>
        <p:spPr>
          <a:xfrm flipV="1">
            <a:off x="22860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2000: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Nader,</a:t>
            </a:r>
            <a:r>
              <a:rPr lang="en-US" sz="19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Schafe,</a:t>
            </a:r>
            <a:r>
              <a:rPr lang="en-US" sz="19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LeDoux,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chuột: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thuốc sau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nhắc lại</a:t>
            </a: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19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19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7815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Connector line-1792649086429-307371338"/>
          <p:cNvSpPr/>
          <p:nvPr/>
        </p:nvSpPr>
        <p:spPr>
          <a:xfrm>
            <a:off x="502920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8481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2009: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Kindt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sự: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propranolol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nhắc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752475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Connector line-1792649086431-777324570"/>
          <p:cNvSpPr/>
          <p:nvPr/>
        </p:nvSpPr>
        <p:spPr>
          <a:xfrm flipV="1">
            <a:off x="7772400" y="523875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5913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12/2009: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Schiller</a:t>
            </a:r>
            <a:r>
              <a:rPr lang="en-US" sz="19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sự: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dập</a:t>
            </a:r>
            <a:r>
              <a:rPr lang="en-US" sz="19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cửa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sổ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tái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cố,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2679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Connector line-1792649086433-93961281"/>
          <p:cNvSpPr/>
          <p:nvPr/>
        </p:nvSpPr>
        <p:spPr>
          <a:xfrm>
            <a:off x="10515600" y="605790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3345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2018: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Schiller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addendum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0111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Connector line-1792649086436-219103524"/>
          <p:cNvSpPr/>
          <p:nvPr/>
        </p:nvSpPr>
        <p:spPr>
          <a:xfrm flipV="1">
            <a:off x="132588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20777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2020:</a:t>
            </a: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Chalkia</a:t>
            </a:r>
            <a:r>
              <a:rPr lang="en-US" sz="16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6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16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sự: kiểm</a:t>
            </a:r>
            <a:r>
              <a:rPr lang="en-US" sz="16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16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6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Schiller,</a:t>
            </a:r>
            <a:r>
              <a:rPr lang="en-US" sz="16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6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16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6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16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6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16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6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16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7543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Connector line-1792649086439-512680195"/>
          <p:cNvSpPr/>
          <p:nvPr/>
        </p:nvSpPr>
        <p:spPr>
          <a:xfrm>
            <a:off x="1600200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8209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2010</a:t>
            </a:r>
            <a:r>
              <a:rPr lang="en-US" sz="18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2022:</a:t>
            </a:r>
            <a:r>
              <a:rPr lang="en-US" sz="18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Muravieva</a:t>
            </a:r>
            <a:r>
              <a:rPr lang="en-US" sz="18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8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Alberini</a:t>
            </a: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(chuột);</a:t>
            </a:r>
            <a:r>
              <a:rPr lang="en-US" sz="18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Pigeon</a:t>
            </a:r>
            <a:r>
              <a:rPr lang="en-US" sz="18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8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(phân</a:t>
            </a:r>
            <a:r>
              <a:rPr lang="en-US" sz="18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r>
              <a:rPr lang="en-US" sz="18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8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42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5" name="Shape 5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0b558b0d-e6e9-496f-8dd7-d22f0b1c39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Schiller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(2009</a:t>
            </a:r>
            <a:r>
              <a:rPr lang="en-US" sz="57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57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tuyến)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Chalkia</a:t>
            </a:r>
            <a:r>
              <a:rPr lang="en-US" sz="57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(2020)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Schiller</a:t>
            </a:r>
            <a:r>
              <a:rPr lang="en-US" sz="360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(2009</a:t>
            </a:r>
            <a:r>
              <a:rPr lang="en-US" sz="3600" dirty="0" spc="-2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3600" dirty="0" spc="-1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dập</a:t>
            </a:r>
            <a:r>
              <a:rPr lang="en-US" sz="31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31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31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cố,</a:t>
            </a:r>
            <a:r>
              <a:rPr lang="en-US" sz="31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năm,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1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Chalkia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31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tính;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1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31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giống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Addendum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2018: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đầy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người,</a:t>
            </a:r>
            <a:r>
              <a:rPr lang="en-US" sz="28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dựa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85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85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8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</a:t>
            </a:r>
            <a:r>
              <a:rPr lang="en-US" sz="2850" dirty="0" spc="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85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32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3f2488a0-8167-4ee9-9a6b-7d6f6a39c7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Propranolol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Kindt,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Soeter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Vervliet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(2009)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thuốc: theo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uống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propranolol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hiện hành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cho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−0,51),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 là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Brunet;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Thiết</a:t>
            </a:r>
            <a:r>
              <a:rPr lang="en-US" sz="1950" dirty="0" spc="-2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(Kindt)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uống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propranolol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Pigeon</a:t>
            </a:r>
            <a:r>
              <a:rPr lang="en-US" sz="19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(2022)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7859" rIns="0" bIns="-17859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 thấy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lại;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Brunet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Muravieva</a:t>
            </a:r>
            <a:r>
              <a:rPr lang="en-US" sz="195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&amp;</a:t>
            </a:r>
            <a:r>
              <a:rPr lang="en-US" sz="19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Alberini</a:t>
            </a:r>
            <a:r>
              <a:rPr lang="en-US" sz="195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(2010)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ở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 [S18]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23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5836a7ef-5dff-4d2a-9c3b-a2c0765f95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Ở</a:t>
            </a:r>
            <a:r>
              <a:rPr lang="en-US" sz="57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người: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6900" dirty="0" spc="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6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r>
              <a:rPr lang="en-US" sz="6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13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4fce53fc-bbd8-45ea-9d40-55e5aff61b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57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chói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850" b="1" dirty="0" spc="2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chói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(flashbulb memory)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Brown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Kulik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(1977);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đọc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sốc.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sống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8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8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kiện.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11/9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[S16]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Thuật</a:t>
            </a:r>
            <a:r>
              <a:rPr lang="en-US" sz="19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ngữ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thường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Brown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Kulik,</a:t>
            </a:r>
            <a:r>
              <a:rPr lang="en-US" sz="24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1977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(chưa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Khung</a:t>
            </a:r>
            <a:r>
              <a:rPr lang="en-US" sz="19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1950" dirty="0" spc="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19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viết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động, tự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tin,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ký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chói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phải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04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67d93db7-824d-4a59-8695-635d7d6e3b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nghiên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11/9</a:t>
            </a:r>
            <a:endParaRPr lang="en-US" sz="5700" dirty="0"/>
          </a:p>
        </p:txBody>
      </p:sp>
      <p:sp>
        <p:nvSpPr>
          <p:cNvPr id="3" name="Connector line-1792649235393-365128489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Connector line-1792649235393-410586384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12/9/2001:</a:t>
            </a:r>
            <a:r>
              <a:rPr lang="en-US" sz="22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Talarico</a:t>
            </a:r>
            <a:r>
              <a:rPr lang="en-US" sz="22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Rubin: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54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22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Duke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ký</a:t>
            </a:r>
            <a:r>
              <a:rPr lang="en-US" sz="225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nghe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Connector line-1792649235396-198402135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1, 6,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32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tuần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sau: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Connector line-1792649235398-107699112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550" dirty="0" spc="-4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Trong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tuần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đầu: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Hirst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Connector line-1792649235401-801781396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11,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25, 119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sau: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khảo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sát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(Hirst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2550" dirty="0" spc="5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sự)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Connector line-1792649235403-919155498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22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mười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năm: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 tự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2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cao;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2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794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37/48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d16edc5b-5a1a-44d1-b050-6cfb470ed2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thứ,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nghiên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Sống</a:t>
            </a:r>
            <a:r>
              <a:rPr lang="en-US" sz="30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3000" dirty="0" spc="-2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(Talarico)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 đời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giảm ở ký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chói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Tự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tin</a:t>
            </a:r>
            <a:r>
              <a:rPr lang="en-US" sz="30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(Hirst)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Nhất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quán</a:t>
            </a:r>
            <a:r>
              <a:rPr lang="en-US" sz="3000" dirty="0" spc="-2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(Talarico)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 đời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thường;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Nhất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quán</a:t>
            </a:r>
            <a:r>
              <a:rPr lang="en-US" sz="30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(Hirst)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chói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985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8" name="Shape 56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38/48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5c553fab-971d-4a7b-ad80-128766d3f8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Sống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Sống</a:t>
            </a:r>
            <a:r>
              <a:rPr lang="en-US" sz="42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4200" dirty="0" spc="-4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42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nhớ;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Talarico: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1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chói;</a:t>
            </a:r>
            <a:r>
              <a:rPr lang="en-US" sz="31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Hirst: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31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Nhất</a:t>
            </a: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đó;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Talarico: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1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thường;</a:t>
            </a:r>
            <a:r>
              <a:rPr lang="en-US" sz="31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Hirst:</a:t>
            </a: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r>
              <a:rPr lang="en-US" sz="31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dự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1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</a:t>
            </a:r>
            <a:r>
              <a:rPr lang="en-US" sz="2850" dirty="0" spc="3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 dõi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dọc,</a:t>
            </a:r>
            <a:r>
              <a:rPr lang="en-US" sz="28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85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nghe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tin;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</a:t>
            </a:r>
            <a:r>
              <a:rPr lang="en-US" sz="28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850" dirty="0" spc="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285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kém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75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07665438-6613-43a9-80d8-63b8dfb416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r>
              <a:rPr lang="en-US" sz="57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chói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Sống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6900" dirty="0" spc="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 quán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chói không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6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 [S16] [S17]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66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5b8854ec-2b2e-4aa2-93ff-855fe07e96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</a:t>
            </a:r>
            <a:r>
              <a:rPr lang="en-US" sz="57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dẳng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Sự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động: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hormone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căng thẳng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noradrenaline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endParaRPr lang="en-US" sz="2700" dirty="0"/>
          </a:p>
        </p:txBody>
      </p:sp>
      <p:sp>
        <p:nvSpPr>
          <p:cNvPr id="7" name="Connector line-1792649239342-945400738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 (BLA):</a:t>
            </a:r>
            <a:r>
              <a:rPr lang="en-US" sz="27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700" dirty="0"/>
          </a:p>
        </p:txBody>
      </p:sp>
      <p:sp>
        <p:nvSpPr>
          <p:cNvPr id="12" name="Connector line-1792649239346-332998017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mạnh,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lợi</a:t>
            </a:r>
            <a:endParaRPr lang="en-US" sz="2700" dirty="0"/>
          </a:p>
        </p:txBody>
      </p:sp>
      <p:sp>
        <p:nvSpPr>
          <p:cNvPr id="17" name="Connector line-1792649239348-324269960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Căng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nặng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mãn tính: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 ký</a:t>
            </a:r>
            <a:r>
              <a:rPr lang="en-US" sz="27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chấn,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56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f9f8c507-bece-4ae7-a32b-2dabeba378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Căng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Roozendaal,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McEwen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Chattarji,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chốt,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mã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thành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 nặng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8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8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 noradrenaline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giữ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nhằm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tế;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19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hormone</a:t>
            </a: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căng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18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8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noradrenaline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18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1950" dirty="0" spc="1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quan;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6669" rIns="0" bIns="-16669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chế,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1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khuyên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tế;</a:t>
            </a:r>
            <a:r>
              <a:rPr lang="en-US" sz="21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L12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 [S16]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4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ae14eaa5-778f-4c31-aff7-4b46634c23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rút</a:t>
            </a:r>
            <a:r>
              <a:rPr lang="en-US" sz="57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300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trọng</a:t>
            </a:r>
            <a:r>
              <a:rPr lang="en-US" sz="30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Ở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người,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ban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 dự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PTSD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30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Duke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Hướng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 tái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tái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ngủ:</a:t>
            </a:r>
            <a:r>
              <a:rPr lang="en-US" sz="3000" dirty="0" spc="-3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lẫn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lộn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 [S16]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3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43/48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f74b8e45-0740-46ee-bfdd-c76024de27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Hạnh</a:t>
            </a:r>
            <a:r>
              <a:rPr lang="en-US" sz="30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r>
              <a:rPr lang="en-US" sz="30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0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cố;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giữ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Hải</a:t>
            </a:r>
            <a:r>
              <a:rPr lang="en-US" sz="30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giữ</a:t>
            </a: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Nhớ</a:t>
            </a:r>
            <a:r>
              <a:rPr lang="en-US" sz="3000" dirty="0" spc="-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000" dirty="0" spc="-1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phát</a:t>
            </a: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băng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lại;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Dập</a:t>
            </a:r>
            <a:r>
              <a:rPr lang="en-US" sz="30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tắt</a:t>
            </a:r>
            <a:r>
              <a:rPr lang="en-US" sz="30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000" dirty="0" spc="-3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xóa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Ký</a:t>
            </a:r>
            <a:r>
              <a:rPr lang="en-US" sz="3000" dirty="0" spc="2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ức</a:t>
            </a: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chói</a:t>
            </a: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r>
              <a:rPr lang="en-US" sz="3000" dirty="0" spc="-2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xác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Tái</a:t>
            </a:r>
            <a:r>
              <a:rPr lang="en-US" sz="30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củng</a:t>
            </a:r>
            <a:r>
              <a:rPr lang="en-US" sz="30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cố</a:t>
            </a:r>
            <a:r>
              <a:rPr lang="en-US" sz="3000" dirty="0" spc="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đã</a:t>
            </a:r>
            <a:r>
              <a:rPr lang="en-US" sz="3000" dirty="0" spc="1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chữa được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dấu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[S8]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[S14] [S16]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2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8c530675-b5b4-440f-8244-ceb5c53c14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chung: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trúc,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buộc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5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1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ee336db8-c5ed-409d-a10c-320565e0fe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đúng: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50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46/48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361b5378-7900-4699-b55a-3719f872b5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Trí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loại;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hóa,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cố,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 chủ</a:t>
            </a:r>
            <a:r>
              <a:rPr lang="en-US" sz="22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2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 cố; thuốc chẹn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beta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2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truyện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chuẩn: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 mã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đầu,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dựa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Dập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thêm,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xóa;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giữa-bụng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cố: chuột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gốc;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chói: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tin,</a:t>
            </a:r>
            <a:r>
              <a:rPr lang="en-US" sz="27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9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9" name="Shape 67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47/48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2" name="Moda image moda-export-watermark-40fadb8a-acdb-4552-92a6-8c0fd274b5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8.2</a:t>
            </a:r>
            <a:r>
              <a:rPr lang="en-US" sz="16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8.3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Structures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8.5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Stages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8.6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Reconsolidation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McGaugh,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amygdala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modulates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consolidation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memories,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Annu</a:t>
            </a:r>
            <a:r>
              <a:rPr lang="en-US" sz="16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2004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Roozendaal,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McEwen,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Chattarji, Stress,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amygdala,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16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Phelps,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emotion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 memory:</a:t>
            </a: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amygdala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hippocampal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complex,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Curr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Opin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Neurobiol,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2004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Frankland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Bontempi,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organization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recent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memories,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2005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Cahill và cộng sự, β-adrenergic activation and memory for emotional events, Nature, 1994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Milad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Quirk,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Neurons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medial</a:t>
            </a:r>
            <a:r>
              <a:rPr lang="en-US" sz="16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prefrontal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cortex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signal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 fear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extinction,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Phelps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Extinction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humans,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2004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Nader,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Schafe, LeDoux,</a:t>
            </a:r>
            <a:r>
              <a:rPr lang="en-US" sz="16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Fear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memories</a:t>
            </a: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require</a:t>
            </a:r>
            <a:r>
              <a:rPr lang="en-US" sz="16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protein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synthesis,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Schiller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Preventing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return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fear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 humans,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2009;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addendum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2018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Chalkia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verification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report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 Schiller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al.,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Cortex,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Kindt,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Soeter,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Vervliet,</a:t>
            </a: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Beyond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extinction,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 Neurosci,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Talarico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Rubin,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Confidence,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consistency,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characterizes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flashbulb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memories,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2003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5992" rIns="0" bIns="-5992" rtlCol="0" anchor="ctr"/>
          <a:lstStyle/>
          <a:p>
            <a:pPr algn="l" indent="0" marL="0">
              <a:lnSpc>
                <a:spcPts val="1943"/>
              </a:lnSpc>
              <a:buNone/>
            </a:pPr>
            <a:r>
              <a:rPr lang="en-US" sz="1646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Hirst</a:t>
            </a:r>
            <a:r>
              <a:rPr lang="en-US" sz="1646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46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 sự,</a:t>
            </a:r>
            <a:r>
              <a:rPr lang="en-US" sz="1646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ten-year</a:t>
            </a:r>
            <a:r>
              <a:rPr lang="en-US" sz="1646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follow-up</a:t>
            </a:r>
            <a:r>
              <a:rPr lang="en-US" sz="1646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46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r>
              <a:rPr lang="en-US" sz="1646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46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September</a:t>
            </a:r>
            <a:r>
              <a:rPr lang="en-US" sz="1646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11,</a:t>
            </a:r>
            <a:r>
              <a:rPr lang="en-US" sz="1646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JEP:</a:t>
            </a:r>
            <a:r>
              <a:rPr lang="en-US" sz="1646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General,</a:t>
            </a:r>
            <a:r>
              <a:rPr lang="en-US" sz="1646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endParaRPr lang="en-US" sz="1646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Pigeon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 phân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propranolol,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2022;</a:t>
            </a: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Muravieva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Alberini,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98901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5" name="Text 10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48/48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7" name="Moda image moda-export-watermark-733e6bd0-ffaa-4faa-bb45-610f58ad06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2026-10-22T06:09:53Z</dcterms:created>
  <dcterms:modified xsi:type="dcterms:W3CDTF">2026-10-22T06:09:53Z</dcterms:modified>
</cp:coreProperties>
</file>