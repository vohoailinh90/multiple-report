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8288000" cy="10287000"/>
  <p:notesSz cx="10287000" cy="18288000"/>
  <p:embeddedFontLst>
    <p:embeddedFont>
      <p:font typeface="Be Vietnam Pro"/>
      <p:regular r:id="rId42"/>
    </p:embeddedFont>
    <p:embeddedFont>
      <p:font typeface="Bricolage Grotesque"/>
      <p:bold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font" Target="fonts/font1.fntdata"/><Relationship Id="rId4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1-1.jpe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jpeg"/><Relationship Id="rId2" Type="http://schemas.openxmlformats.org/officeDocument/2006/relationships/image" Target="../media/image-5-1.jpeg"/><Relationship Id="rId3" Type="http://schemas.openxmlformats.org/officeDocument/2006/relationships/image" Target="../media/image-1-1.jpe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ohoailinh90/Multiple-report/blob/psychology/sample-and-coordination/psychology-knowledge/01-Sigmund-Freud/lessons/01-cuoc-doi-va-lich-su-phan-tam-hoc.md" TargetMode="External"/><Relationship Id="rId1" Type="http://schemas.openxmlformats.org/officeDocument/2006/relationships/image" Target="../media/image-34-1.jpeg"/><Relationship Id="rId2" Type="http://schemas.openxmlformats.org/officeDocument/2006/relationships/image" Target="../media/image-34-2.jpeg"/><Relationship Id="rId4" Type="http://schemas.openxmlformats.org/officeDocument/2006/relationships/image" Target="../media/image-34-3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ohoailinh90/Multiple-report/blob/psychology/sample-and-coordination/psychology-knowledge/01-Sigmund-Freud/lessons/01-cuoc-doi-va-lich-su-phan-tam-hoc.md" TargetMode="External"/><Relationship Id="rId2" Type="http://schemas.openxmlformats.org/officeDocument/2006/relationships/image" Target="../media/image-35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1500" y="0"/>
            <a:ext cx="6286500" cy="102870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19125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F01 / PSYCHOLOGY KNOWLEDGE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2190750"/>
            <a:ext cx="1057275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b="1" dirty="0" spc="-4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Freud</a:t>
            </a:r>
            <a:r>
              <a:rPr lang="en-US" sz="7500" b="1" dirty="0" spc="-8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7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sự</a:t>
            </a:r>
            <a:r>
              <a:rPr lang="en-US" sz="7500" b="1" dirty="0" spc="-5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ra</a:t>
            </a:r>
            <a:r>
              <a:rPr lang="en-US" sz="7500" b="1" dirty="0" spc="-1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đời</a:t>
            </a:r>
            <a:endParaRPr lang="en-US" sz="7500" dirty="0"/>
          </a:p>
          <a:p>
            <a:pPr algn="l" indent="0" marL="0">
              <a:buNone/>
            </a:pPr>
            <a:r>
              <a:rPr lang="en-US" sz="7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của phân</a:t>
            </a:r>
            <a:r>
              <a:rPr lang="en-US" sz="7500" b="1" dirty="0" spc="-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tâm</a:t>
            </a:r>
            <a:r>
              <a:rPr lang="en-US" sz="7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762000" y="5810250"/>
            <a:ext cx="104775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lắng</a:t>
            </a:r>
            <a:r>
              <a:rPr lang="en-US" sz="2475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75" dirty="0" spc="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475" dirty="0" spc="1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2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75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r>
              <a:rPr lang="en-US" sz="2475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-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3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-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475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2475" dirty="0" spc="-2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PR: bối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475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niệm,</a:t>
            </a:r>
            <a:r>
              <a:rPr lang="en-US" sz="2475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75" dirty="0" spc="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75" dirty="0" spc="-1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475" dirty="0" spc="-5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75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75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Anna</a:t>
            </a:r>
            <a:r>
              <a:rPr lang="en-US" sz="2475" dirty="0" spc="-1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O.,</a:t>
            </a:r>
            <a:r>
              <a:rPr lang="en-US" sz="2475" dirty="0" spc="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75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 học</a:t>
            </a:r>
            <a:r>
              <a:rPr lang="en-US" sz="2475" dirty="0" spc="-16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5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 Mỗi</a:t>
            </a:r>
            <a:r>
              <a:rPr lang="en-US" sz="2475" dirty="0" spc="-1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75" dirty="0" spc="15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3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-3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thích;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75" dirty="0" spc="-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75" dirty="0" spc="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75" dirty="0" spc="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3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75" dirty="0" spc="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endParaRPr lang="en-US" sz="2475" dirty="0"/>
          </a:p>
        </p:txBody>
      </p:sp>
      <p:pic>
        <p:nvPicPr>
          <p:cNvPr id="6" name="Moda image rect-1792809526950-8778692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650301" y="857250"/>
            <a:ext cx="4893648" cy="7096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5375" y="8239125"/>
            <a:ext cx="509587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Sigmund</a:t>
            </a:r>
            <a:r>
              <a:rPr lang="en-US" sz="2100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Max</a:t>
            </a:r>
            <a:r>
              <a:rPr lang="en-US" sz="21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Halberstadt,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1921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525375" y="9429750"/>
            <a:ext cx="5095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Public</a:t>
            </a:r>
            <a:r>
              <a:rPr lang="en-US" sz="1650" dirty="0" spc="-1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1650" dirty="0" spc="0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 Commons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47549cbc-3725-4268-bc64-14d39925b24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3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Lộ</a:t>
            </a:r>
            <a:r>
              <a:rPr lang="en-US" sz="4500" b="1" dirty="0" spc="-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trình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r>
              <a:rPr lang="en-US" sz="4500" b="1" dirty="0" spc="-4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1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bạn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4500" b="1" dirty="0" spc="-4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952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3219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3000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8700" y="4143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 cảnh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3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81750" y="323850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6648450" y="350520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 thích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48450" y="442912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 niệm → cơ chế → tình huống.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01500" y="35242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68200" y="37909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r>
              <a:rPr lang="en-US" sz="3000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3000" b="1" dirty="0" spc="-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Đánh</a:t>
            </a: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68200" y="47148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→ giới hạn → kết luận.</a:t>
            </a:r>
            <a:endParaRPr lang="en-US" sz="2400" dirty="0"/>
          </a:p>
        </p:txBody>
      </p:sp>
      <p:sp>
        <p:nvSpPr>
          <p:cNvPr id="13" name="Connector line-1792808468146-747329173"/>
          <p:cNvSpPr/>
          <p:nvPr/>
        </p:nvSpPr>
        <p:spPr>
          <a:xfrm>
            <a:off x="5953125" y="4167188"/>
            <a:ext cx="428625" cy="28575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808468147-628942818"/>
          <p:cNvSpPr/>
          <p:nvPr/>
        </p:nvSpPr>
        <p:spPr>
          <a:xfrm>
            <a:off x="11572875" y="4452938"/>
            <a:ext cx="428625" cy="28575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bài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giải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lâm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40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pháp;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Charcot, Breuer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Freud;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do.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chấp nhận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Hysteria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725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725" dirty="0" spc="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725" dirty="0" spc="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725" dirty="0" spc="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725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02/35</a:t>
            </a:r>
            <a:endParaRPr lang="en-US" sz="1650" dirty="0"/>
          </a:p>
        </p:txBody>
      </p:sp>
      <p:pic>
        <p:nvPicPr>
          <p:cNvPr id="19" name="Moda flattened rect-1792809725156-36516565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03518de-49b8-4e99-8a07-74a5f16f0d7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HISTORICAL BACKGROUND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Vấn</a:t>
            </a:r>
            <a:r>
              <a:rPr lang="en-US" sz="4500" b="1" dirty="0" spc="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r>
              <a:rPr lang="en-US" sz="4500" b="1" dirty="0" spc="-1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khởi</a:t>
            </a:r>
            <a:r>
              <a:rPr lang="en-US" sz="4500" b="1" dirty="0" spc="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đầu:</a:t>
            </a:r>
            <a:r>
              <a:rPr lang="en-US" sz="4500" b="1" dirty="0" spc="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đau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khổ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thật,</a:t>
            </a:r>
            <a:r>
              <a:rPr lang="en-US" sz="4500" b="1" dirty="0" spc="-1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4500" b="1" dirty="0" spc="-2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1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đủ</a:t>
            </a:r>
            <a:endParaRPr lang="en-US" sz="4500" dirty="0"/>
          </a:p>
        </p:txBody>
      </p:sp>
      <p:pic>
        <p:nvPicPr>
          <p:cNvPr id="4" name="Moda image rect-1792809532889-5584159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830" y="2857500"/>
            <a:ext cx="6558590" cy="452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7572375"/>
            <a:ext cx="66675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André</a:t>
            </a:r>
            <a:r>
              <a:rPr lang="en-US" sz="1950" dirty="0" spc="-8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Brouillet,</a:t>
            </a:r>
            <a:r>
              <a:rPr lang="en-US" sz="1950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Une</a:t>
            </a:r>
            <a:r>
              <a:rPr lang="en-US" sz="1950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leçon</a:t>
            </a:r>
            <a:r>
              <a:rPr lang="en-US" sz="1950" dirty="0" spc="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clinique</a:t>
            </a:r>
            <a:r>
              <a:rPr lang="en-US" sz="1950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à</a:t>
            </a:r>
            <a:r>
              <a:rPr lang="en-US" sz="1950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1950" dirty="0" spc="-5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Salpêtrière</a:t>
            </a:r>
            <a:r>
              <a:rPr lang="en-US" sz="1950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(1887).</a:t>
            </a:r>
            <a:r>
              <a:rPr lang="en-US" sz="1950" dirty="0" spc="-3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1950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950" dirty="0" spc="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1950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950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950" dirty="0" spc="-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382000" y="3095625"/>
            <a:ext cx="8858250" cy="523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4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6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625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2625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625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62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625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 thế kỷ XIX,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625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625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625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625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6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625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62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dễ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62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62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625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625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625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625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không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625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6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625" dirty="0" spc="-2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625" dirty="0" spc="-3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625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2625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6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lắng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625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62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625" dirty="0" spc="2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625" dirty="0" spc="-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625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625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6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6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6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6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762000" y="8953500"/>
            <a:ext cx="163353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phẩm: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Grook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</a:t>
            </a:r>
            <a:r>
              <a:rPr lang="en-US" sz="1650" dirty="0" spc="-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Oger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(PD-Art).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1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2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LOC,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650" dirty="0" spc="1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USHMM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03/35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9164398b-caaa-48c0-95fc-0a0a1bb4271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HAI CẤP ĐỘ TÌM HIỂU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Hai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-4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riêng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952750"/>
            <a:ext cx="8096250" cy="32385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286125"/>
            <a:ext cx="7524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Lắng</a:t>
            </a:r>
            <a:r>
              <a:rPr lang="en-US" sz="3000" b="1" dirty="0" spc="-2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429125"/>
            <a:ext cx="75247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 là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91625" y="2952750"/>
            <a:ext cx="8096250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8" name="Text 6"/>
          <p:cNvSpPr/>
          <p:nvPr/>
        </p:nvSpPr>
        <p:spPr>
          <a:xfrm>
            <a:off x="9477375" y="3286125"/>
            <a:ext cx="7524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Giải thích</a:t>
            </a:r>
            <a:r>
              <a:rPr lang="en-US" sz="3000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477375" y="4429125"/>
            <a:ext cx="752475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từ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bệnh?”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xúc,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00" dirty="0" spc="-3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chứng?” đòi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cuộc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cách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quả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sĩ.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Phân</a:t>
            </a:r>
            <a:r>
              <a:rPr lang="en-US" sz="1650" dirty="0" spc="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phương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04/35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b0a7899d-052c-44a4-bbe0-e66002de80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TIMELINE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1880–1895: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r>
              <a:rPr lang="en-US" sz="4500" b="1" dirty="0" spc="-2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4500" b="1" dirty="0" spc="-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-3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hướng</a:t>
            </a:r>
            <a:r>
              <a:rPr lang="en-US" sz="4500" b="1" dirty="0" spc="-2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hành</a:t>
            </a:r>
            <a:endParaRPr lang="en-US" sz="4500" dirty="0"/>
          </a:p>
        </p:txBody>
      </p:sp>
      <p:pic>
        <p:nvPicPr>
          <p:cNvPr id="4" name="Moda image rect-1792809538922-2070539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2968680"/>
            <a:ext cx="1905000" cy="26351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52750" y="3286125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17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1880–1882</a:t>
            </a:r>
            <a:endParaRPr lang="en-US" sz="3225" dirty="0"/>
          </a:p>
        </p:txBody>
      </p:sp>
      <p:sp>
        <p:nvSpPr>
          <p:cNvPr id="6" name="Text 3"/>
          <p:cNvSpPr/>
          <p:nvPr/>
        </p:nvSpPr>
        <p:spPr>
          <a:xfrm>
            <a:off x="2952750" y="4333875"/>
            <a:ext cx="304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Breuer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</a:t>
            </a:r>
            <a:endParaRPr lang="en-US" sz="2400" dirty="0"/>
          </a:p>
        </p:txBody>
      </p:sp>
      <p:pic>
        <p:nvPicPr>
          <p:cNvPr id="7" name="Moda image rect-1792809539257-48998675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1750" y="2957197"/>
            <a:ext cx="1905000" cy="26581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0" y="3286125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17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1885–1886</a:t>
            </a:r>
            <a:endParaRPr lang="en-US" sz="3225" dirty="0"/>
          </a:p>
        </p:txBody>
      </p:sp>
      <p:sp>
        <p:nvSpPr>
          <p:cNvPr id="9" name="Text 5"/>
          <p:cNvSpPr/>
          <p:nvPr/>
        </p:nvSpPr>
        <p:spPr>
          <a:xfrm>
            <a:off x="8572500" y="4333875"/>
            <a:ext cx="304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Charcot.</a:t>
            </a:r>
            <a:endParaRPr lang="en-US" sz="2400" dirty="0"/>
          </a:p>
        </p:txBody>
      </p:sp>
      <p:pic>
        <p:nvPicPr>
          <p:cNvPr id="10" name="Moda image rect-1792809539549-346297625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001545" y="2905125"/>
            <a:ext cx="1904910" cy="2762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92250" y="3286125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1895</a:t>
            </a:r>
            <a:endParaRPr lang="en-US" sz="3225" dirty="0"/>
          </a:p>
        </p:txBody>
      </p:sp>
      <p:sp>
        <p:nvSpPr>
          <p:cNvPr id="12" name="Text 7"/>
          <p:cNvSpPr/>
          <p:nvPr/>
        </p:nvSpPr>
        <p:spPr>
          <a:xfrm>
            <a:off x="14192250" y="4333875"/>
            <a:ext cx="304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Studies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Hysteria</a:t>
            </a:r>
            <a:r>
              <a:rPr lang="en-US" sz="2400" dirty="0" spc="-3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đời.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1880–1882,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 trong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Charcot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Paris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1885–1886,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hysteria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 miên.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1895,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Studies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Hysteria.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3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762000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Chân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vật: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NLM/NIH;</a:t>
            </a:r>
            <a:r>
              <a:rPr lang="en-US" sz="1650" dirty="0" spc="-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2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650" dirty="0" spc="-7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(Breuer);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Halberstadt</a:t>
            </a:r>
            <a:r>
              <a:rPr lang="en-US" sz="1650" dirty="0" spc="-1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(Freud)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2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[S2–S3]</a:t>
            </a:r>
            <a:r>
              <a:rPr lang="en-US" sz="1650" dirty="0" spc="-2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Freud,</a:t>
            </a:r>
            <a:r>
              <a:rPr lang="en-US" sz="1650" dirty="0" spc="-1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Lectures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I–II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05/35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ec5fe79-c3e1-42e6-8c1b-44264f4e544d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TIMELINE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1899–1939: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sách,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truyền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</a:t>
            </a:r>
            <a:r>
              <a:rPr lang="en-US" sz="4500" b="1" dirty="0" spc="-4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4500" dirty="0"/>
          </a:p>
        </p:txBody>
      </p:sp>
      <p:pic>
        <p:nvPicPr>
          <p:cNvPr id="4" name="Moda image rect-1792809545727-3787280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1580" y="2857500"/>
            <a:ext cx="2249714" cy="2952750"/>
          </a:xfrm>
          <a:prstGeom prst="rect">
            <a:avLst/>
          </a:prstGeom>
        </p:spPr>
      </p:pic>
      <p:pic>
        <p:nvPicPr>
          <p:cNvPr id="5" name="Moda image rect-1792809546073-91653501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6190" y="2857500"/>
            <a:ext cx="3925369" cy="2952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6048375"/>
            <a:ext cx="762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📖 1899/1900 · Trang tên Die Traumdeutung</a:t>
            </a:r>
            <a:endParaRPr lang="en-US" sz="2175" dirty="0"/>
          </a:p>
        </p:txBody>
      </p:sp>
      <p:sp>
        <p:nvSpPr>
          <p:cNvPr id="7" name="Text 3"/>
          <p:cNvSpPr/>
          <p:nvPr/>
        </p:nvSpPr>
        <p:spPr>
          <a:xfrm>
            <a:off x="762000" y="6905625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🏛️ 1909/1910 · Clark: bài giảng và bản xuất bản</a:t>
            </a:r>
            <a:endParaRPr lang="en-US" sz="2175" dirty="0"/>
          </a:p>
        </p:txBody>
      </p:sp>
      <p:sp>
        <p:nvSpPr>
          <p:cNvPr id="8" name="Text 4"/>
          <p:cNvSpPr/>
          <p:nvPr/>
        </p:nvSpPr>
        <p:spPr>
          <a:xfrm>
            <a:off x="762000" y="7762875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🕰️ 1933–1939 · Bối cảnh lịch sử cuối đời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9525000" y="3143250"/>
            <a:ext cx="7715250" cy="542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</a:t>
            </a:r>
            <a:r>
              <a:rPr lang="en-US" sz="255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Interpretation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55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Dreams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1899</a:t>
            </a:r>
            <a:r>
              <a:rPr lang="en-US" sz="255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55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1900;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phân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 với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55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 Bài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Clark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-3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1909</a:t>
            </a:r>
            <a:r>
              <a:rPr lang="en-US" sz="255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 năm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1910.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2550" dirty="0" spc="-2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55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đốt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1933;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ông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</a:t>
            </a:r>
            <a:r>
              <a:rPr lang="en-US" sz="255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Áo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sáp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 năm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1938.</a:t>
            </a:r>
            <a:r>
              <a:rPr lang="en-US" sz="255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1939.</a:t>
            </a:r>
            <a:r>
              <a:rPr lang="en-US" sz="255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hướng,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762000" y="8953500"/>
            <a:ext cx="1647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2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Freud,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650" dirty="0" spc="-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Clark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University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(1909),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2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[S5–S7]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USHMM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Harvard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CHSI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Fancher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06/35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f62c136-1de5-445c-ba44-3971f113ca0f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ĐÓNG GÓP VÀ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Charcot,</a:t>
            </a:r>
            <a:r>
              <a:rPr lang="en-US" sz="4500" b="1" dirty="0" spc="-5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Breuer,</a:t>
            </a:r>
            <a:r>
              <a:rPr lang="en-US" sz="4500" b="1" dirty="0" spc="-1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Freud: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2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gộp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-3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vai</a:t>
            </a:r>
            <a:r>
              <a:rPr lang="en-US" sz="4500" b="1" dirty="0" spc="-1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trò</a:t>
            </a:r>
            <a:endParaRPr lang="en-US" sz="4500" dirty="0"/>
          </a:p>
        </p:txBody>
      </p:sp>
      <p:pic>
        <p:nvPicPr>
          <p:cNvPr id="4" name="Moda image rect-1792809552210-61309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2981009"/>
            <a:ext cx="1905000" cy="26581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05125" y="3190875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1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Charcot</a:t>
            </a:r>
            <a:endParaRPr lang="en-US" sz="3225" dirty="0"/>
          </a:p>
        </p:txBody>
      </p:sp>
      <p:sp>
        <p:nvSpPr>
          <p:cNvPr id="6" name="Text 3"/>
          <p:cNvSpPr/>
          <p:nvPr/>
        </p:nvSpPr>
        <p:spPr>
          <a:xfrm>
            <a:off x="2905125" y="4286250"/>
            <a:ext cx="304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3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325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32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Paris.</a:t>
            </a:r>
            <a:endParaRPr lang="en-US" sz="2325" dirty="0"/>
          </a:p>
        </p:txBody>
      </p:sp>
      <p:pic>
        <p:nvPicPr>
          <p:cNvPr id="7" name="Moda image rect-1792809552321-65885325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1750" y="2992493"/>
            <a:ext cx="1905000" cy="26351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4875" y="3190875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9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Breuer</a:t>
            </a:r>
            <a:endParaRPr lang="en-US" sz="3225" dirty="0"/>
          </a:p>
        </p:txBody>
      </p:sp>
      <p:sp>
        <p:nvSpPr>
          <p:cNvPr id="9" name="Text 5"/>
          <p:cNvSpPr/>
          <p:nvPr/>
        </p:nvSpPr>
        <p:spPr>
          <a:xfrm>
            <a:off x="8524875" y="4286250"/>
            <a:ext cx="304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325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3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Anna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O.;</a:t>
            </a:r>
            <a:r>
              <a:rPr lang="en-US" sz="23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32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325" dirty="0"/>
          </a:p>
        </p:txBody>
      </p:sp>
      <p:pic>
        <p:nvPicPr>
          <p:cNvPr id="10" name="Moda image rect-1792809552622-851630904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001500" y="2928872"/>
            <a:ext cx="1905000" cy="27623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44625" y="3190875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2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Freud</a:t>
            </a:r>
            <a:endParaRPr lang="en-US" sz="3225" dirty="0"/>
          </a:p>
        </p:txBody>
      </p:sp>
      <p:sp>
        <p:nvSpPr>
          <p:cNvPr id="12" name="Text 7"/>
          <p:cNvSpPr/>
          <p:nvPr/>
        </p:nvSpPr>
        <p:spPr>
          <a:xfrm>
            <a:off x="14144625" y="4286250"/>
            <a:ext cx="304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32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325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theo.</a:t>
            </a:r>
            <a:endParaRPr lang="en-US" sz="2325" dirty="0"/>
          </a:p>
        </p:txBody>
      </p:sp>
      <p:sp>
        <p:nvSpPr>
          <p:cNvPr id="13" name="Text 8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Charcot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hysteria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xúc.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1895.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bệnh,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dịch,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762000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NLM/NIH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(Charcot);</a:t>
            </a:r>
            <a:r>
              <a:rPr lang="en-US" sz="1650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2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(Breuer,</a:t>
            </a:r>
            <a:r>
              <a:rPr lang="en-US" sz="1650" dirty="0" spc="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1897);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Halberstadt</a:t>
            </a:r>
            <a:r>
              <a:rPr lang="en-US" sz="1650" dirty="0" spc="-1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(Freud,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1921)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[S1–S3]</a:t>
            </a:r>
            <a:r>
              <a:rPr lang="en-US" sz="1650" dirty="0" spc="-2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(1910)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07/35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d103b52-6c71-4c38-8432-b1760c63107a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 công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tiêu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chuẩn</a:t>
            </a:r>
            <a:r>
              <a:rPr lang="en-US" sz="4500" b="1" dirty="0" spc="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đánh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667125"/>
            <a:ext cx="3905250" cy="1809750"/>
          </a:xfrm>
          <a:prstGeom prst="roundRect">
            <a:avLst>
              <a:gd name="adj" fmla="val 7368"/>
            </a:avLst>
          </a:prstGeom>
          <a:solidFill>
            <a:srgbClr val="7A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00050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0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925" b="1" dirty="0" spc="4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đánh</a:t>
            </a:r>
            <a:r>
              <a:rPr lang="en-US" sz="2925" b="1" dirty="0" spc="0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2925" dirty="0"/>
          </a:p>
          <a:p>
            <a:pPr algn="l" indent="0" marL="0">
              <a:buNone/>
            </a:pPr>
            <a:r>
              <a:rPr lang="en-US" sz="2925" b="1" dirty="0" spc="10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925" b="1" dirty="0" spc="-5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6905625" y="2762250"/>
            <a:ext cx="10334625" cy="1047750"/>
          </a:xfrm>
          <a:prstGeom prst="roundRect">
            <a:avLst>
              <a:gd name="adj" fmla="val 10909"/>
            </a:avLst>
          </a:prstGeom>
          <a:solidFill>
            <a:srgbClr val="3A2A34"/>
          </a:solidFill>
          <a:ln/>
        </p:spPr>
      </p:sp>
      <p:sp>
        <p:nvSpPr>
          <p:cNvPr id="7" name="Text 5"/>
          <p:cNvSpPr/>
          <p:nvPr/>
        </p:nvSpPr>
        <p:spPr>
          <a:xfrm>
            <a:off x="7191375" y="300037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Học</a:t>
            </a:r>
            <a:r>
              <a:rPr lang="en-US" sz="2475" b="1" dirty="0" spc="-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0382250" y="295275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2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2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905625" y="4000500"/>
            <a:ext cx="10334625" cy="1047750"/>
          </a:xfrm>
          <a:prstGeom prst="roundRect">
            <a:avLst>
              <a:gd name="adj" fmla="val 10909"/>
            </a:avLst>
          </a:prstGeom>
          <a:solidFill>
            <a:srgbClr val="3A2A34"/>
          </a:solidFill>
          <a:ln/>
        </p:spPr>
      </p:sp>
      <p:sp>
        <p:nvSpPr>
          <p:cNvPr id="10" name="Text 8"/>
          <p:cNvSpPr/>
          <p:nvPr/>
        </p:nvSpPr>
        <p:spPr>
          <a:xfrm>
            <a:off x="7191375" y="423862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4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Diễn</a:t>
            </a:r>
            <a:r>
              <a:rPr lang="en-US" sz="2475" b="1" dirty="0" spc="-4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0382250" y="4191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2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thành</a:t>
            </a:r>
            <a:r>
              <a:rPr lang="en-US" sz="22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905625" y="5238750"/>
            <a:ext cx="10334625" cy="1047750"/>
          </a:xfrm>
          <a:prstGeom prst="roundRect">
            <a:avLst>
              <a:gd name="adj" fmla="val 10909"/>
            </a:avLst>
          </a:prstGeom>
          <a:solidFill>
            <a:srgbClr val="3A2A34"/>
          </a:solidFill>
          <a:ln/>
        </p:spPr>
      </p:sp>
      <p:sp>
        <p:nvSpPr>
          <p:cNvPr id="13" name="Text 11"/>
          <p:cNvSpPr/>
          <p:nvPr/>
        </p:nvSpPr>
        <p:spPr>
          <a:xfrm>
            <a:off x="7191375" y="547687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</a:t>
            </a:r>
            <a:r>
              <a:rPr lang="en-US" sz="2475" b="1" dirty="0" spc="0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thiệp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0382250" y="542925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22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15" name="Connector line-1792808486496-42282815"/>
          <p:cNvSpPr/>
          <p:nvPr/>
        </p:nvSpPr>
        <p:spPr>
          <a:xfrm flipV="1">
            <a:off x="4667250" y="3286125"/>
            <a:ext cx="2238375" cy="1285875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808486497-287055409"/>
          <p:cNvSpPr/>
          <p:nvPr/>
        </p:nvSpPr>
        <p:spPr>
          <a:xfrm flipV="1">
            <a:off x="4667250" y="4524375"/>
            <a:ext cx="2238375" cy="47625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08486497-115725918"/>
          <p:cNvSpPr/>
          <p:nvPr/>
        </p:nvSpPr>
        <p:spPr>
          <a:xfrm>
            <a:off x="4667250" y="4572000"/>
            <a:ext cx="2238375" cy="1190625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trí;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nghiệm; can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diễn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 ý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quát.</a:t>
            </a:r>
            <a:r>
              <a:rPr lang="en-US" sz="24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 cải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-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08/35</a:t>
            </a:r>
            <a:endParaRPr lang="en-US" sz="1650" dirty="0"/>
          </a:p>
        </p:txBody>
      </p:sp>
      <p:pic>
        <p:nvPicPr>
          <p:cNvPr id="21" name="Moda flattened rect-1792809728095-16450002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e69d02f-3e40-4788-a9d6-5c8989d848d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TỪ BIỂU HIỆN ĐẾN DIỄN GIẢI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“Có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00" b="1" dirty="0" spc="-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nghĩa”</a:t>
            </a:r>
            <a:r>
              <a:rPr lang="en-US" sz="4500" b="1" dirty="0" spc="-2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00" b="1" dirty="0" spc="-3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“đã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nguyên</a:t>
            </a:r>
            <a:r>
              <a:rPr lang="en-US" sz="4500" b="1" dirty="0" spc="-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nhân”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30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870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8175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664845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Liên hệ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4845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0150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6820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6820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2400" dirty="0"/>
          </a:p>
        </p:txBody>
      </p:sp>
      <p:sp>
        <p:nvSpPr>
          <p:cNvPr id="13" name="Connector line-1792808489557-786726428"/>
          <p:cNvSpPr/>
          <p:nvPr/>
        </p:nvSpPr>
        <p:spPr>
          <a:xfrm>
            <a:off x="5953125" y="4548188"/>
            <a:ext cx="42862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808489557-366224803"/>
          <p:cNvSpPr/>
          <p:nvPr/>
        </p:nvSpPr>
        <p:spPr>
          <a:xfrm>
            <a:off x="11572875" y="4548188"/>
            <a:ext cx="42862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xúc,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nói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phê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bình. Mối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 phá,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giữ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kể,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nhân quả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09/35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9304082-1f9c-4814-bfa8-55dbc9a278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SỰ THAY ĐỔI PHƯƠNG PHÁP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4500" b="1" dirty="0" spc="-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catharsis</a:t>
            </a:r>
            <a:r>
              <a:rPr lang="en-US" sz="4500" b="1" dirty="0" spc="1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liên</a:t>
            </a:r>
            <a:r>
              <a:rPr lang="en-US" sz="4500" b="1" dirty="0" spc="-3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7146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-24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75" dirty="0"/>
          </a:p>
        </p:txBody>
      </p:sp>
      <p:sp>
        <p:nvSpPr>
          <p:cNvPr id="5" name="Shape 3"/>
          <p:cNvSpPr/>
          <p:nvPr/>
        </p:nvSpPr>
        <p:spPr>
          <a:xfrm>
            <a:off x="762000" y="3714750"/>
            <a:ext cx="5143500" cy="2000250"/>
          </a:xfrm>
          <a:prstGeom prst="roundRect">
            <a:avLst>
              <a:gd name="adj" fmla="val 5714"/>
            </a:avLst>
          </a:prstGeom>
          <a:solidFill>
            <a:srgbClr val="E8DED1"/>
          </a:solidFill>
          <a:ln/>
        </p:spPr>
      </p:sp>
      <p:sp>
        <p:nvSpPr>
          <p:cNvPr id="6" name="Text 4"/>
          <p:cNvSpPr/>
          <p:nvPr/>
        </p:nvSpPr>
        <p:spPr>
          <a:xfrm>
            <a:off x="1000125" y="39052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Cathartic</a:t>
            </a:r>
            <a:r>
              <a:rPr lang="en-US" sz="27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method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0125" y="4714875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25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2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25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2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thôi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381750" y="3143250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-17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75" dirty="0"/>
          </a:p>
        </p:txBody>
      </p:sp>
      <p:sp>
        <p:nvSpPr>
          <p:cNvPr id="9" name="Shape 7"/>
          <p:cNvSpPr/>
          <p:nvPr/>
        </p:nvSpPr>
        <p:spPr>
          <a:xfrm>
            <a:off x="6381750" y="4143375"/>
            <a:ext cx="5143500" cy="2000250"/>
          </a:xfrm>
          <a:prstGeom prst="roundRect">
            <a:avLst>
              <a:gd name="adj" fmla="val 5714"/>
            </a:avLst>
          </a:prstGeom>
          <a:solidFill>
            <a:srgbClr val="E8DED1"/>
          </a:solidFill>
          <a:ln/>
        </p:spPr>
      </p:sp>
      <p:sp>
        <p:nvSpPr>
          <p:cNvPr id="10" name="Text 8"/>
          <p:cNvSpPr/>
          <p:nvPr/>
        </p:nvSpPr>
        <p:spPr>
          <a:xfrm>
            <a:off x="6619875" y="4333875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Khó</a:t>
            </a:r>
            <a:r>
              <a:rPr lang="en-US" sz="2700" b="1" dirty="0" spc="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khăn</a:t>
            </a:r>
            <a:r>
              <a:rPr lang="en-US" sz="2700" b="1" dirty="0" spc="-1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2700" b="1" dirty="0" spc="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hành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9875" y="5143500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thôi</a:t>
            </a:r>
            <a:r>
              <a:rPr lang="en-US" sz="22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</a:t>
            </a:r>
            <a:r>
              <a:rPr lang="en-US" sz="225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001500" y="357187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-16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75" dirty="0"/>
          </a:p>
        </p:txBody>
      </p:sp>
      <p:sp>
        <p:nvSpPr>
          <p:cNvPr id="13" name="Shape 11"/>
          <p:cNvSpPr/>
          <p:nvPr/>
        </p:nvSpPr>
        <p:spPr>
          <a:xfrm>
            <a:off x="12001500" y="4572000"/>
            <a:ext cx="5143500" cy="2000250"/>
          </a:xfrm>
          <a:prstGeom prst="roundRect">
            <a:avLst>
              <a:gd name="adj" fmla="val 5714"/>
            </a:avLst>
          </a:prstGeom>
          <a:solidFill>
            <a:srgbClr val="E8DE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239625" y="47625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Free</a:t>
            </a:r>
            <a:r>
              <a:rPr lang="en-US" sz="27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association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239625" y="5572125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2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2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hiện,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25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2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Lecture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2400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xúc.</a:t>
            </a:r>
            <a:r>
              <a:rPr lang="en-US" sz="2400" dirty="0" spc="-2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trạng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400" dirty="0" spc="-7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 ông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 và repression.</a:t>
            </a:r>
            <a:r>
              <a:rPr lang="en-US" sz="2400" dirty="0" spc="-2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III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chỉ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miên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725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725" dirty="0" spc="-1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725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“nói</a:t>
            </a:r>
            <a:r>
              <a:rPr lang="en-US" sz="1725" dirty="0" spc="-2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khỏi”.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[S2–S4]</a:t>
            </a:r>
            <a:r>
              <a:rPr lang="en-US" sz="1650" dirty="0" spc="-2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Freud,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Lectures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I–III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36334ec-fdb9-41ce-938a-c1c938039d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PSYCHOLOGICAL MECHANISM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45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cơ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chế: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năm</a:t>
            </a:r>
            <a:r>
              <a:rPr lang="en-US" sz="4500" b="1" dirty="0" spc="-4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bước</a:t>
            </a:r>
            <a:r>
              <a:rPr lang="en-US" sz="4500" b="1" dirty="0" spc="-4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xuất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04875" y="285750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b="1" dirty="0" spc="-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6750" dirty="0"/>
          </a:p>
        </p:txBody>
      </p:sp>
      <p:sp>
        <p:nvSpPr>
          <p:cNvPr id="5" name="Shape 3"/>
          <p:cNvSpPr/>
          <p:nvPr/>
        </p:nvSpPr>
        <p:spPr>
          <a:xfrm>
            <a:off x="762000" y="4333875"/>
            <a:ext cx="2952750" cy="1809750"/>
          </a:xfrm>
          <a:prstGeom prst="roundRect">
            <a:avLst>
              <a:gd name="adj" fmla="val 8421"/>
            </a:avLst>
          </a:prstGeom>
          <a:solidFill>
            <a:srgbClr val="523443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4648200"/>
            <a:ext cx="24955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khó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chấp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286250" y="285750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b="1" dirty="0" spc="4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6750" dirty="0"/>
          </a:p>
        </p:txBody>
      </p:sp>
      <p:sp>
        <p:nvSpPr>
          <p:cNvPr id="8" name="Shape 6"/>
          <p:cNvSpPr/>
          <p:nvPr/>
        </p:nvSpPr>
        <p:spPr>
          <a:xfrm>
            <a:off x="4143375" y="4333875"/>
            <a:ext cx="2952750" cy="1809750"/>
          </a:xfrm>
          <a:prstGeom prst="roundRect">
            <a:avLst>
              <a:gd name="adj" fmla="val 8421"/>
            </a:avLst>
          </a:prstGeom>
          <a:solidFill>
            <a:srgbClr val="3A2A34"/>
          </a:solidFill>
          <a:ln/>
        </p:spPr>
      </p:sp>
      <p:sp>
        <p:nvSpPr>
          <p:cNvPr id="9" name="Text 7"/>
          <p:cNvSpPr/>
          <p:nvPr/>
        </p:nvSpPr>
        <p:spPr>
          <a:xfrm>
            <a:off x="4371975" y="4648200"/>
            <a:ext cx="24955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667625" y="285750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b="1" dirty="0" spc="6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6750" dirty="0"/>
          </a:p>
        </p:txBody>
      </p:sp>
      <p:sp>
        <p:nvSpPr>
          <p:cNvPr id="11" name="Shape 9"/>
          <p:cNvSpPr/>
          <p:nvPr/>
        </p:nvSpPr>
        <p:spPr>
          <a:xfrm>
            <a:off x="7524750" y="4333875"/>
            <a:ext cx="2952750" cy="1809750"/>
          </a:xfrm>
          <a:prstGeom prst="roundRect">
            <a:avLst>
              <a:gd name="adj" fmla="val 8421"/>
            </a:avLst>
          </a:prstGeom>
          <a:solidFill>
            <a:srgbClr val="523443"/>
          </a:solidFill>
          <a:ln/>
        </p:spPr>
      </p:sp>
      <p:sp>
        <p:nvSpPr>
          <p:cNvPr id="12" name="Text 10"/>
          <p:cNvSpPr/>
          <p:nvPr/>
        </p:nvSpPr>
        <p:spPr>
          <a:xfrm>
            <a:off x="7753350" y="4648200"/>
            <a:ext cx="24955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049000" y="285750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b="1" dirty="0" spc="4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6750" dirty="0"/>
          </a:p>
        </p:txBody>
      </p:sp>
      <p:sp>
        <p:nvSpPr>
          <p:cNvPr id="14" name="Shape 12"/>
          <p:cNvSpPr/>
          <p:nvPr/>
        </p:nvSpPr>
        <p:spPr>
          <a:xfrm>
            <a:off x="10906125" y="4333875"/>
            <a:ext cx="2952750" cy="1809750"/>
          </a:xfrm>
          <a:prstGeom prst="roundRect">
            <a:avLst>
              <a:gd name="adj" fmla="val 8421"/>
            </a:avLst>
          </a:prstGeom>
          <a:solidFill>
            <a:srgbClr val="3A2A34"/>
          </a:solidFill>
          <a:ln/>
        </p:spPr>
      </p:sp>
      <p:sp>
        <p:nvSpPr>
          <p:cNvPr id="15" name="Text 13"/>
          <p:cNvSpPr/>
          <p:nvPr/>
        </p:nvSpPr>
        <p:spPr>
          <a:xfrm>
            <a:off x="11134725" y="4648200"/>
            <a:ext cx="24955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Biểu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gián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30375" y="2857500"/>
            <a:ext cx="2762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b="1" dirty="0" spc="5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6750" dirty="0"/>
          </a:p>
        </p:txBody>
      </p:sp>
      <p:sp>
        <p:nvSpPr>
          <p:cNvPr id="17" name="Shape 15"/>
          <p:cNvSpPr/>
          <p:nvPr/>
        </p:nvSpPr>
        <p:spPr>
          <a:xfrm>
            <a:off x="14287500" y="4333875"/>
            <a:ext cx="2952750" cy="1809750"/>
          </a:xfrm>
          <a:prstGeom prst="roundRect">
            <a:avLst>
              <a:gd name="adj" fmla="val 8421"/>
            </a:avLst>
          </a:prstGeom>
          <a:solidFill>
            <a:srgbClr val="523443"/>
          </a:solidFill>
          <a:ln/>
        </p:spPr>
      </p:sp>
      <p:sp>
        <p:nvSpPr>
          <p:cNvPr id="18" name="Text 16"/>
          <p:cNvSpPr/>
          <p:nvPr/>
        </p:nvSpPr>
        <p:spPr>
          <a:xfrm>
            <a:off x="14516100" y="4648200"/>
            <a:ext cx="24955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2550" dirty="0"/>
          </a:p>
        </p:txBody>
      </p:sp>
      <p:sp>
        <p:nvSpPr>
          <p:cNvPr id="19" name="Connector line-1792808495275-913134246"/>
          <p:cNvSpPr/>
          <p:nvPr/>
        </p:nvSpPr>
        <p:spPr>
          <a:xfrm>
            <a:off x="3714750" y="5238750"/>
            <a:ext cx="428625" cy="0"/>
          </a:xfrm>
          <a:prstGeom prst="line">
            <a:avLst/>
          </a:prstGeom>
          <a:noFill/>
          <a:ln w="28575">
            <a:solidFill>
              <a:srgbClr val="EAB6C8"/>
            </a:solidFill>
            <a:prstDash val="solid"/>
            <a:headEnd type="none"/>
            <a:tailEnd type="triangle" w="lg" len="lg"/>
          </a:ln>
        </p:spPr>
      </p:sp>
      <p:sp>
        <p:nvSpPr>
          <p:cNvPr id="20" name="Connector line-1792808495275-341547776"/>
          <p:cNvSpPr/>
          <p:nvPr/>
        </p:nvSpPr>
        <p:spPr>
          <a:xfrm>
            <a:off x="7096125" y="5238750"/>
            <a:ext cx="428625" cy="0"/>
          </a:xfrm>
          <a:prstGeom prst="line">
            <a:avLst/>
          </a:prstGeom>
          <a:noFill/>
          <a:ln w="28575">
            <a:solidFill>
              <a:srgbClr val="EAB6C8"/>
            </a:solidFill>
            <a:prstDash val="solid"/>
            <a:headEnd type="none"/>
            <a:tailEnd type="triangle" w="lg" len="lg"/>
          </a:ln>
        </p:spPr>
      </p:sp>
      <p:sp>
        <p:nvSpPr>
          <p:cNvPr id="21" name="Connector line-1792808495275-250412701"/>
          <p:cNvSpPr/>
          <p:nvPr/>
        </p:nvSpPr>
        <p:spPr>
          <a:xfrm>
            <a:off x="10477500" y="5238750"/>
            <a:ext cx="428625" cy="0"/>
          </a:xfrm>
          <a:prstGeom prst="line">
            <a:avLst/>
          </a:prstGeom>
          <a:noFill/>
          <a:ln w="28575">
            <a:solidFill>
              <a:srgbClr val="EAB6C8"/>
            </a:solidFill>
            <a:prstDash val="solid"/>
            <a:headEnd type="none"/>
            <a:tailEnd type="triangle" w="lg" len="lg"/>
          </a:ln>
        </p:spPr>
      </p:sp>
      <p:sp>
        <p:nvSpPr>
          <p:cNvPr id="22" name="Connector line-1792808495275-680276837"/>
          <p:cNvSpPr/>
          <p:nvPr/>
        </p:nvSpPr>
        <p:spPr>
          <a:xfrm>
            <a:off x="13858875" y="5238750"/>
            <a:ext cx="428625" cy="0"/>
          </a:xfrm>
          <a:prstGeom prst="line">
            <a:avLst/>
          </a:prstGeom>
          <a:noFill/>
          <a:ln w="28575">
            <a:solidFill>
              <a:srgbClr val="EAB6C8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40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4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dạy: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khó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nảy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sinh;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tránh;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 ảnh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biết;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tiếp;</a:t>
            </a:r>
            <a:r>
              <a:rPr lang="en-US" sz="24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nghĩa.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sinh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72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725" dirty="0" spc="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725" dirty="0" spc="-6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725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1725" dirty="0" spc="-5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725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72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725" dirty="0" spc="1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725" dirty="0" spc="-1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[S3–S4]</a:t>
            </a:r>
            <a:r>
              <a:rPr lang="en-US" sz="1650" dirty="0" spc="-2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Freud,</a:t>
            </a:r>
            <a:r>
              <a:rPr lang="en-US" sz="1650" dirty="0" spc="-15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Lectures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II–III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11/35</a:t>
            </a:r>
            <a:endParaRPr lang="en-US" sz="1650" dirty="0"/>
          </a:p>
        </p:txBody>
      </p:sp>
      <p:pic>
        <p:nvPicPr>
          <p:cNvPr id="27" name="Moda flattened rect-1792809731019-2520873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8b7887a-7657-487e-a76e-6527912b8fa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PHÂN TÍCH TỪNG BƯỚC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-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1–3: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xung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đột</a:t>
            </a:r>
            <a:r>
              <a:rPr lang="en-US" sz="4500" b="1" dirty="0" spc="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ảnh</a:t>
            </a:r>
            <a:r>
              <a:rPr lang="en-US" sz="4500" b="1" dirty="0" spc="-3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hưởng</a:t>
            </a:r>
            <a:r>
              <a:rPr lang="en-US" sz="4500" b="1" dirty="0" spc="-2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ngoài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16478250" cy="952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048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/</a:t>
            </a:r>
            <a:r>
              <a:rPr lang="en-US" sz="2625" b="1" dirty="0" spc="-19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Xung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đột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5810250" y="3028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4000500"/>
            <a:ext cx="16478250" cy="952500"/>
          </a:xfrm>
          <a:prstGeom prst="rect">
            <a:avLst/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191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/</a:t>
            </a:r>
            <a:r>
              <a:rPr lang="en-US" sz="2625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Né</a:t>
            </a:r>
            <a:r>
              <a:rPr lang="en-US" sz="2625" b="1" dirty="0" spc="-7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tránh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5810250" y="4171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2000" y="5143500"/>
            <a:ext cx="16478250" cy="952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334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9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/ Giả</a:t>
            </a:r>
            <a:r>
              <a:rPr lang="en-US" sz="2625" b="1" dirty="0" spc="7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r>
              <a:rPr lang="en-US" sz="26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5810250" y="5314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 có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mình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r>
              <a:rPr lang="en-US" sz="2400" dirty="0" spc="-4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chịu; loại khỏi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3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 Chính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chứng: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im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00" dirty="0" spc="-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dồn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[S3–S4]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lịch sử ·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348efa7-2150-4ffb-8eaf-f79ca443c6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BIỂU HIỆN VÀ ĐỐI THOẠI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-1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4–5:</a:t>
            </a:r>
            <a:r>
              <a:rPr lang="en-US" sz="4500" b="1" dirty="0" spc="-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tìm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liên hệ</a:t>
            </a:r>
            <a:r>
              <a:rPr lang="en-US" sz="4500" b="1" dirty="0" spc="-4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r>
              <a:rPr lang="en-US" sz="4500" b="1" dirty="0" spc="-2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Biểu</a:t>
            </a: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870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400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khó nói.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8175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664845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Diễn</a:t>
            </a: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4845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0150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6820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3000" b="1" dirty="0" spc="-1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6820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 cách hiểu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400" dirty="0"/>
          </a:p>
        </p:txBody>
      </p:sp>
      <p:sp>
        <p:nvSpPr>
          <p:cNvPr id="13" name="Connector line-1792808500983-395863803"/>
          <p:cNvSpPr/>
          <p:nvPr/>
        </p:nvSpPr>
        <p:spPr>
          <a:xfrm>
            <a:off x="5953125" y="4548188"/>
            <a:ext cx="42862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808500983-458537124"/>
          <p:cNvSpPr/>
          <p:nvPr/>
        </p:nvSpPr>
        <p:spPr>
          <a:xfrm>
            <a:off x="11572875" y="4548188"/>
            <a:ext cx="42862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qua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kể,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khăn.</a:t>
            </a:r>
            <a:r>
              <a:rPr lang="en-US" sz="2400" dirty="0" spc="-6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giải, không phải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túy.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thoại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hệ,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[S3–S4]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lịch sử ·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13/35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aaca7d1-5a7b-41b7-9133-55f3a12e94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KHI GIẢ THUYẾT KHÔNG THỂ SAI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Nguy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cơ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00" b="1" dirty="0" spc="-2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vòng</a:t>
            </a:r>
            <a:r>
              <a:rPr lang="en-US" sz="4500" b="1" dirty="0" spc="-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tròn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667125"/>
            <a:ext cx="4572000" cy="1666875"/>
          </a:xfrm>
          <a:prstGeom prst="roundRect">
            <a:avLst>
              <a:gd name="adj" fmla="val 8000"/>
            </a:avLst>
          </a:prstGeom>
          <a:solidFill>
            <a:srgbClr val="523443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971925"/>
            <a:ext cx="40005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2925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 đã</a:t>
            </a:r>
            <a:endParaRPr lang="en-US" sz="2925" dirty="0"/>
          </a:p>
          <a:p>
            <a:pPr algn="l" indent="0" marL="0">
              <a:buNone/>
            </a:pPr>
            <a:r>
              <a:rPr lang="en-US" sz="2925" b="1" dirty="0" spc="-4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được</a:t>
            </a:r>
            <a:r>
              <a:rPr lang="en-US" sz="2925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r>
              <a:rPr lang="en-US" sz="2925" b="1" dirty="0" spc="-2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tra?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7762875" y="2762250"/>
            <a:ext cx="9477375" cy="1000125"/>
          </a:xfrm>
          <a:prstGeom prst="roundRect">
            <a:avLst>
              <a:gd name="adj" fmla="val 9524"/>
            </a:avLst>
          </a:prstGeom>
          <a:solidFill>
            <a:srgbClr val="3A2A34"/>
          </a:solidFill>
          <a:ln/>
        </p:spPr>
      </p:sp>
      <p:sp>
        <p:nvSpPr>
          <p:cNvPr id="7" name="Text 5"/>
          <p:cNvSpPr/>
          <p:nvPr/>
        </p:nvSpPr>
        <p:spPr>
          <a:xfrm>
            <a:off x="8048625" y="2933700"/>
            <a:ext cx="3333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2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Đồng</a:t>
            </a:r>
            <a:r>
              <a:rPr lang="en-US" sz="2475" b="1" dirty="0" spc="-4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1525250" y="2905125"/>
            <a:ext cx="5381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7762875" y="3952875"/>
            <a:ext cx="9477375" cy="1000125"/>
          </a:xfrm>
          <a:prstGeom prst="roundRect">
            <a:avLst>
              <a:gd name="adj" fmla="val 9524"/>
            </a:avLst>
          </a:prstGeom>
          <a:solidFill>
            <a:srgbClr val="3A2A34"/>
          </a:solidFill>
          <a:ln/>
        </p:spPr>
      </p:sp>
      <p:sp>
        <p:nvSpPr>
          <p:cNvPr id="10" name="Text 8"/>
          <p:cNvSpPr/>
          <p:nvPr/>
        </p:nvSpPr>
        <p:spPr>
          <a:xfrm>
            <a:off x="8048625" y="4124325"/>
            <a:ext cx="3333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Phản</a:t>
            </a:r>
            <a:r>
              <a:rPr lang="en-US" sz="2475" b="1" dirty="0" spc="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1525250" y="4095750"/>
            <a:ext cx="5381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7762875" y="5143500"/>
            <a:ext cx="9477375" cy="1000125"/>
          </a:xfrm>
          <a:prstGeom prst="roundRect">
            <a:avLst>
              <a:gd name="adj" fmla="val 9524"/>
            </a:avLst>
          </a:prstGeom>
          <a:solidFill>
            <a:srgbClr val="3A2A3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8625" y="5314950"/>
            <a:ext cx="3333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0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Tiêu</a:t>
            </a:r>
            <a:r>
              <a:rPr lang="en-US" sz="2475" b="1" dirty="0" spc="-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chuẩn</a:t>
            </a:r>
            <a:r>
              <a:rPr lang="en-US" sz="2475" b="1" dirty="0" spc="-19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tốt</a:t>
            </a:r>
            <a:r>
              <a:rPr lang="en-US" sz="2475" b="1" dirty="0" spc="-12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hơn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1525250" y="5286375"/>
            <a:ext cx="5381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1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175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175" dirty="0"/>
          </a:p>
        </p:txBody>
      </p:sp>
      <p:sp>
        <p:nvSpPr>
          <p:cNvPr id="15" name="Connector line-1792808504090-503982826"/>
          <p:cNvSpPr/>
          <p:nvPr/>
        </p:nvSpPr>
        <p:spPr>
          <a:xfrm flipV="1">
            <a:off x="5334000" y="3262313"/>
            <a:ext cx="2428875" cy="1238250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808504091-465115243"/>
          <p:cNvSpPr/>
          <p:nvPr/>
        </p:nvSpPr>
        <p:spPr>
          <a:xfrm flipV="1">
            <a:off x="5334000" y="4452938"/>
            <a:ext cx="2428875" cy="47625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08504091-448472204"/>
          <p:cNvSpPr/>
          <p:nvPr/>
        </p:nvSpPr>
        <p:spPr>
          <a:xfrm>
            <a:off x="5334000" y="4500563"/>
            <a:ext cx="2428875" cy="1143000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“đã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đúng”,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bị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“đang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cự”, mọi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bằng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khắc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là nói</a:t>
            </a:r>
            <a:r>
              <a:rPr lang="en-US" sz="2400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cách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là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hiểu;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tiếng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Phản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1650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1678f81-da05-4948-a896-1b7922b57d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Mai</a:t>
            </a:r>
            <a:r>
              <a:rPr lang="en-US" sz="4500" b="1" dirty="0" spc="-2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-2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trả</a:t>
            </a:r>
            <a:r>
              <a:rPr lang="en-US" sz="4500" b="1" dirty="0" spc="-1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tin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nhắn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571875"/>
            <a:ext cx="4857750" cy="1905000"/>
          </a:xfrm>
          <a:prstGeom prst="roundRect">
            <a:avLst>
              <a:gd name="adj" fmla="val 8000"/>
            </a:avLst>
          </a:prstGeom>
          <a:solidFill>
            <a:srgbClr val="E5CCD5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781425"/>
            <a:ext cx="4286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850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4572000"/>
            <a:ext cx="428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72500" y="2952750"/>
            <a:ext cx="8667750" cy="1476375"/>
          </a:xfrm>
          <a:prstGeom prst="roundRect">
            <a:avLst>
              <a:gd name="adj" fmla="val 10323"/>
            </a:avLst>
          </a:prstGeom>
          <a:solidFill>
            <a:srgbClr val="E8DED1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0" y="314325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2625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8858250" y="376237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Ngại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325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325" dirty="0"/>
          </a:p>
        </p:txBody>
      </p:sp>
      <p:sp>
        <p:nvSpPr>
          <p:cNvPr id="10" name="Connector line-1792808506952-577183066"/>
          <p:cNvSpPr/>
          <p:nvPr/>
        </p:nvSpPr>
        <p:spPr>
          <a:xfrm flipV="1">
            <a:off x="5619750" y="3690937"/>
            <a:ext cx="2952750" cy="833438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8572500" y="4810125"/>
            <a:ext cx="8667750" cy="1476375"/>
          </a:xfrm>
          <a:prstGeom prst="roundRect">
            <a:avLst>
              <a:gd name="adj" fmla="val 10323"/>
            </a:avLst>
          </a:prstGeom>
          <a:solidFill>
            <a:srgbClr val="E8DED1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0" y="5000625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26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</a:t>
            </a:r>
            <a:endParaRPr lang="en-US" sz="2625" dirty="0"/>
          </a:p>
        </p:txBody>
      </p:sp>
      <p:sp>
        <p:nvSpPr>
          <p:cNvPr id="13" name="Text 11"/>
          <p:cNvSpPr/>
          <p:nvPr/>
        </p:nvSpPr>
        <p:spPr>
          <a:xfrm>
            <a:off x="8858250" y="5619750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8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3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325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325" dirty="0"/>
          </a:p>
        </p:txBody>
      </p:sp>
      <p:sp>
        <p:nvSpPr>
          <p:cNvPr id="14" name="Connector line-1792808506955-869574331"/>
          <p:cNvSpPr/>
          <p:nvPr/>
        </p:nvSpPr>
        <p:spPr>
          <a:xfrm>
            <a:off x="5619750" y="4524375"/>
            <a:ext cx="2952750" cy="1023938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lời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ngại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là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 Dữ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hiện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400" dirty="0" spc="-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chưa,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r>
              <a:rPr lang="en-US" sz="2400" dirty="0" spc="3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hoàn cảnh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hợp lý hơn khẳng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ghét.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 cần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kiện;</a:t>
            </a:r>
            <a:r>
              <a:rPr lang="en-US" sz="1725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725" dirty="0" spc="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đủ</a:t>
            </a:r>
            <a:r>
              <a:rPr lang="en-US" sz="1725" dirty="0" spc="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725" dirty="0" spc="6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E1 · Tình huống giả</a:t>
            </a:r>
            <a:r>
              <a:rPr lang="en-US" sz="1650" dirty="0" spc="1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15/35</a:t>
            </a:r>
            <a:endParaRPr lang="en-US" sz="1650" dirty="0"/>
          </a:p>
        </p:txBody>
      </p:sp>
      <p:pic>
        <p:nvPicPr>
          <p:cNvPr id="19" name="Moda flattened rect-1792809733939-81971165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a3215d0-7468-44c1-984a-0bc2853a258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Nam</a:t>
            </a:r>
            <a:r>
              <a:rPr lang="en-US" sz="4500" b="1" dirty="0" spc="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chủ</a:t>
            </a:r>
            <a:r>
              <a:rPr lang="en-US" sz="4500" b="1" dirty="0" spc="1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 nhắc</a:t>
            </a:r>
            <a:r>
              <a:rPr lang="en-US" sz="4500" b="1" dirty="0" spc="-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thất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bại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952750"/>
            <a:ext cx="10715625" cy="1047750"/>
          </a:xfrm>
          <a:prstGeom prst="roundRect">
            <a:avLst>
              <a:gd name="adj" fmla="val 20000"/>
            </a:avLst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3095625"/>
            <a:ext cx="347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23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2325" b="1" dirty="0" spc="-1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tôn</a:t>
            </a:r>
            <a:r>
              <a:rPr lang="en-US" sz="2325" b="1" dirty="0" spc="-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trọng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4762500" y="3095625"/>
            <a:ext cx="6381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“Bạn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muốn</a:t>
            </a:r>
            <a:r>
              <a:rPr lang="en-US" sz="23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32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325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325" dirty="0" spc="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3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không?”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6477000" y="4143375"/>
            <a:ext cx="10715625" cy="1047750"/>
          </a:xfrm>
          <a:prstGeom prst="roundRect">
            <a:avLst>
              <a:gd name="adj" fmla="val 20000"/>
            </a:avLst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6743700" y="4286250"/>
            <a:ext cx="347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23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 áp</a:t>
            </a:r>
            <a:r>
              <a:rPr lang="en-US" sz="23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đặt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0477500" y="4286250"/>
            <a:ext cx="6381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“Bạn</a:t>
            </a:r>
            <a:r>
              <a:rPr lang="en-US" sz="2325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3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 cự.”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762000" y="5429250"/>
            <a:ext cx="16478250" cy="904875"/>
          </a:xfrm>
          <a:prstGeom prst="roundRect">
            <a:avLst>
              <a:gd name="adj" fmla="val 23158"/>
            </a:avLst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028700" y="5572125"/>
            <a:ext cx="34766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325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2325" b="1" dirty="0" spc="-2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xét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4762500" y="5572125"/>
            <a:ext cx="121443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</a:t>
            </a:r>
            <a:r>
              <a:rPr lang="en-US" sz="232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325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công.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Nam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hổ;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 không muốn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r>
              <a:rPr lang="en-US" sz="2400" dirty="0" spc="-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1725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lâm</a:t>
            </a:r>
            <a:r>
              <a:rPr lang="en-US" sz="1725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725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725" dirty="0" spc="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725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E2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16/35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46f8210-07fc-4011-be8d-d687e9e9b6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 3: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Lan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thấy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nhẹ nhõm sau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4500" b="1" dirty="0" spc="-3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kể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Báo</a:t>
            </a:r>
            <a:r>
              <a:rPr lang="en-US" sz="30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870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nhõm.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8175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664845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3000" b="1" dirty="0" spc="-1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3000" b="1" dirty="0" spc="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4845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01500" y="3333750"/>
            <a:ext cx="5191125" cy="2428875"/>
          </a:xfrm>
          <a:prstGeom prst="roundRect">
            <a:avLst>
              <a:gd name="adj" fmla="val 7059"/>
            </a:avLst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68200" y="36004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-1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tránh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68200" y="4524375"/>
            <a:ext cx="46577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Ép</a:t>
            </a:r>
            <a:r>
              <a:rPr lang="en-US" sz="2400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cố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quên.</a:t>
            </a:r>
            <a:endParaRPr lang="en-US" sz="2400" dirty="0"/>
          </a:p>
        </p:txBody>
      </p:sp>
      <p:sp>
        <p:nvSpPr>
          <p:cNvPr id="13" name="Connector line-1792808513519-199105471"/>
          <p:cNvSpPr/>
          <p:nvPr/>
        </p:nvSpPr>
        <p:spPr>
          <a:xfrm>
            <a:off x="5953125" y="4548188"/>
            <a:ext cx="42862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808513520-972570594"/>
          <p:cNvSpPr/>
          <p:nvPr/>
        </p:nvSpPr>
        <p:spPr>
          <a:xfrm>
            <a:off x="11572875" y="4548188"/>
            <a:ext cx="42862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nhõm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-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vốn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nói;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giảm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 không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thí nghiệm.</a:t>
            </a:r>
            <a:r>
              <a:rPr lang="en-US" sz="2400" dirty="0" spc="-5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trân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rõ;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E3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17/35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c6aeb88-145d-4de9-9fb3-46ed61059d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Anna</a:t>
            </a:r>
            <a:r>
              <a:rPr lang="en-US" sz="4500" b="1" dirty="0" spc="-2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O.: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ai</a:t>
            </a:r>
            <a:r>
              <a:rPr lang="en-US" sz="4500" b="1" dirty="0" spc="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1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trị,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ai</a:t>
            </a:r>
            <a:r>
              <a:rPr lang="en-US" sz="4500" b="1" dirty="0" spc="-3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kể</a:t>
            </a:r>
            <a:r>
              <a:rPr lang="en-US" sz="45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0" y="2714625"/>
            <a:ext cx="5524500" cy="6429375"/>
          </a:xfrm>
          <a:prstGeom prst="rect">
            <a:avLst/>
          </a:prstGeom>
          <a:solidFill>
            <a:srgbClr val="7A2038"/>
          </a:solidFill>
          <a:ln/>
        </p:spPr>
      </p:sp>
      <p:pic>
        <p:nvPicPr>
          <p:cNvPr id="5" name="Moda image rect-1792809558627-3614752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079" y="3095625"/>
            <a:ext cx="3610341" cy="38576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7191375"/>
            <a:ext cx="43815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b="1" dirty="0" spc="3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Bertha</a:t>
            </a:r>
            <a:r>
              <a:rPr lang="en-US" sz="2175" b="1" dirty="0" spc="-2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Pappenheim</a:t>
            </a:r>
            <a:endParaRPr lang="en-US" sz="2175" dirty="0"/>
          </a:p>
          <a:p>
            <a:pPr algn="l" indent="0" marL="0">
              <a:buNone/>
            </a:pPr>
            <a:r>
              <a:rPr lang="en-US" sz="2175" b="1" dirty="0" spc="3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Chân</a:t>
            </a:r>
            <a:r>
              <a:rPr lang="en-US" sz="2175" b="1" dirty="0" spc="2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dung</a:t>
            </a:r>
            <a:r>
              <a:rPr lang="en-US" sz="2175" b="1" dirty="0" spc="1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công</a:t>
            </a:r>
            <a:r>
              <a:rPr lang="en-US" sz="2175" b="1" dirty="0" spc="-1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 năm</a:t>
            </a:r>
            <a:r>
              <a:rPr lang="en-US" sz="2175" b="1" dirty="0" spc="2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1909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571500" y="8334375"/>
            <a:ext cx="438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Public</a:t>
            </a:r>
            <a:r>
              <a:rPr lang="en-US" sz="1650" dirty="0" spc="-1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1650" dirty="0" spc="0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F5DFE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86500" y="3048000"/>
            <a:ext cx="1095375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Anna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 của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Bertha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Pappenheim,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r>
              <a:rPr lang="en-US" sz="2550" dirty="0" spc="-2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55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chức.</a:t>
            </a:r>
            <a:r>
              <a:rPr lang="en-US" sz="2550" dirty="0" spc="4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6286500" y="6572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Pappenheim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810750" y="65722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1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286500" y="7334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Breuer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810750" y="73342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286500" y="80962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Freud</a:t>
            </a:r>
            <a:r>
              <a:rPr lang="en-US" sz="2250" b="1" dirty="0" spc="3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→</a:t>
            </a:r>
            <a:r>
              <a:rPr lang="en-US" sz="2250" b="1" dirty="0" spc="-2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r>
              <a:rPr lang="en-US" sz="2250" b="1" dirty="0" spc="2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810750" y="80962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 lại → diễn giải tư liệu.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2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LOC,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Anna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 ·</a:t>
            </a:r>
            <a:r>
              <a:rPr lang="en-US" sz="1650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650" dirty="0" spc="-2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Freud,</a:t>
            </a:r>
            <a:r>
              <a:rPr lang="en-US" sz="1650" dirty="0" spc="-16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650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18/35</a:t>
            </a:r>
            <a:endParaRPr lang="en-US" sz="1650" dirty="0"/>
          </a:p>
        </p:txBody>
      </p:sp>
      <p:pic>
        <p:nvPicPr>
          <p:cNvPr id="17" name="Moda flattened rect-1792809737411-301044924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d7bffc4-28fb-4f5c-9ad8-cdf7e619c463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 bệnh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năm thao</a:t>
            </a:r>
            <a:r>
              <a:rPr lang="en-US" sz="4500" b="1" dirty="0" spc="-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16478250" cy="952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048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 hỏi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5810250" y="3028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4000500"/>
            <a:ext cx="16478250" cy="952500"/>
          </a:xfrm>
          <a:prstGeom prst="rect">
            <a:avLst/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191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3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2–3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tích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5810250" y="4171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dirty="0" spc="-3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tả/cơ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chế;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gian/nhân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2000" y="5143500"/>
            <a:ext cx="16478250" cy="952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334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4–5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625" b="1" dirty="0" spc="-2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5810250" y="5314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 giới hạn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hết,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theo,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giải.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 miên,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 không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Pappenheim.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7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[S1–S2]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6127c4a-4d6f-4fef-9d3b-d888a03487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3/3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Giá trị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5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xóa</a:t>
            </a:r>
            <a:r>
              <a:rPr lang="en-US" sz="4500" b="1" dirty="0" spc="-1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 của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16478250" cy="952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048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</a:t>
            </a:r>
            <a:r>
              <a:rPr lang="en-US" sz="26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2625" b="1" dirty="0" spc="-1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5810250" y="3028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 có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talking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4000500"/>
            <a:ext cx="16478250" cy="952500"/>
          </a:xfrm>
          <a:prstGeom prst="rect">
            <a:avLst/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191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26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2625" b="1" dirty="0" spc="-1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5810250" y="4171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2000" y="5143500"/>
            <a:ext cx="16478250" cy="952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334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Còn</a:t>
            </a:r>
            <a:r>
              <a:rPr lang="en-US" sz="262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thiếu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5810250" y="5314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dõi,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Library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Congress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khẳng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“chữa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khỏi”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Pappenheim.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hóa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00" dirty="0" spc="-2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2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LOC,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“Although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Breuer’s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treatment…”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b3b43ad-e9f2-4f8f-a5ce-9fd44a7304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🔬 G · MODERN SCIENTIFIC PERSPECTIVE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</a:t>
            </a:r>
            <a:r>
              <a:rPr lang="en-US" sz="4500" b="1" dirty="0" spc="-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khẳng</a:t>
            </a:r>
            <a:r>
              <a:rPr lang="en-US" sz="4500" b="1" dirty="0" spc="1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 bốn</a:t>
            </a:r>
            <a:r>
              <a:rPr lang="en-US" sz="4500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 kiểm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762250"/>
            <a:ext cx="16478250" cy="74295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91465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 sử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5810250" y="2914650"/>
            <a:ext cx="1095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32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32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3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3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3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32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32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762000" y="3619500"/>
            <a:ext cx="16478250" cy="742950"/>
          </a:xfrm>
          <a:prstGeom prst="rect">
            <a:avLst/>
          </a:prstGeom>
          <a:solidFill>
            <a:srgbClr val="E5CCD5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77190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Báo cáo</a:t>
            </a:r>
            <a:r>
              <a:rPr lang="en-US" sz="2475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5810250" y="3771900"/>
            <a:ext cx="1095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325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32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nhận;</a:t>
            </a:r>
            <a:r>
              <a:rPr lang="en-US" sz="2325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325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325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32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762000" y="4476750"/>
            <a:ext cx="16478250" cy="74295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62915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Hiệu</a:t>
            </a:r>
            <a:r>
              <a:rPr lang="en-US" sz="2475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</a:t>
            </a:r>
            <a:r>
              <a:rPr lang="en-US" sz="2475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can</a:t>
            </a:r>
            <a:r>
              <a:rPr lang="en-US" sz="247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thiệp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5810250" y="4629150"/>
            <a:ext cx="1095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325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325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32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325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32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325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325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762000" y="5334000"/>
            <a:ext cx="16478250" cy="742950"/>
          </a:xfrm>
          <a:prstGeom prst="rect">
            <a:avLst/>
          </a:prstGeom>
          <a:solidFill>
            <a:srgbClr val="E5CCD5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486400"/>
            <a:ext cx="447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Cơ</a:t>
            </a:r>
            <a:r>
              <a:rPr lang="en-US" sz="2475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</a:t>
            </a:r>
            <a:endParaRPr lang="en-US" sz="2475" dirty="0"/>
          </a:p>
        </p:txBody>
      </p:sp>
      <p:sp>
        <p:nvSpPr>
          <p:cNvPr id="15" name="Text 13"/>
          <p:cNvSpPr/>
          <p:nvPr/>
        </p:nvSpPr>
        <p:spPr>
          <a:xfrm>
            <a:off x="5810250" y="5486400"/>
            <a:ext cx="1095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325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325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32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gian, giả</a:t>
            </a:r>
            <a:r>
              <a:rPr lang="en-US" sz="2325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325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 thiệp,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phép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 thứ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chứng;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thuận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r>
              <a:rPr lang="en-US" sz="16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6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6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21/35</a:t>
            </a:r>
            <a:endParaRPr lang="en-US" sz="1650" dirty="0"/>
          </a:p>
        </p:txBody>
      </p:sp>
      <p:pic>
        <p:nvPicPr>
          <p:cNvPr id="19" name="Moda flattened rect-1792809740330-96109049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a53dfaf-d0df-4220-b826-5537f086ed2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BẰNG CHỨNG ĐIỀU TRỊ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Cochrane</a:t>
            </a:r>
            <a:r>
              <a:rPr lang="en-US" sz="45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2014</a:t>
            </a:r>
            <a:r>
              <a:rPr lang="en-US" sz="4500" b="1" dirty="0" spc="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nghiên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cứu</a:t>
            </a:r>
            <a:r>
              <a:rPr lang="en-US" sz="4500" b="1" dirty="0" spc="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5000625" cy="3429000"/>
          </a:xfrm>
          <a:prstGeom prst="roundRect">
            <a:avLst>
              <a:gd name="adj" fmla="val 5556"/>
            </a:avLst>
          </a:prstGeom>
          <a:solidFill>
            <a:srgbClr val="7A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095625"/>
            <a:ext cx="442912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00" b="1" dirty="0" spc="90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33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1095375" y="4857750"/>
            <a:ext cx="43815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3150" dirty="0" spc="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477000" y="2905125"/>
            <a:ext cx="10001250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b="1" dirty="0" spc="-5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2.173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6572250" y="4238625"/>
            <a:ext cx="971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925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9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endParaRPr lang="en-US" sz="2925" dirty="0"/>
          </a:p>
        </p:txBody>
      </p:sp>
      <p:sp>
        <p:nvSpPr>
          <p:cNvPr id="9" name="Shape 7"/>
          <p:cNvSpPr/>
          <p:nvPr/>
        </p:nvSpPr>
        <p:spPr>
          <a:xfrm>
            <a:off x="6477000" y="5143500"/>
            <a:ext cx="10763250" cy="1095375"/>
          </a:xfrm>
          <a:prstGeom prst="roundRect">
            <a:avLst>
              <a:gd name="adj" fmla="val 12174"/>
            </a:avLst>
          </a:prstGeom>
          <a:solidFill>
            <a:srgbClr val="3A2A34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0" y="5334000"/>
            <a:ext cx="10191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Abbass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sự (2014),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pháp,</a:t>
            </a:r>
            <a:r>
              <a:rPr lang="en-US" sz="24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r>
              <a:rPr lang="en-US" sz="2400" dirty="0" spc="-3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2.173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thành,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thiểu.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3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Abbass</a:t>
            </a:r>
            <a:r>
              <a:rPr lang="en-US" sz="1650" dirty="0" spc="-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</a:t>
            </a:r>
            <a:r>
              <a:rPr lang="en-US" sz="1650" dirty="0" spc="-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al.,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Cochrane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(2014) ·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CD004687.pub4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22/35</a:t>
            </a:r>
            <a:endParaRPr lang="en-US" sz="1650" dirty="0"/>
          </a:p>
        </p:txBody>
      </p:sp>
      <p:pic>
        <p:nvPicPr>
          <p:cNvPr id="14" name="Moda flattened rect-1792809743254-19238132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6e91f5bf-b4d1-4ee5-91f8-cb12fbff263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KẾT QUẢ VÀ GIỚI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5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Kết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4500" b="1" dirty="0" spc="1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</a:t>
            </a:r>
            <a:r>
              <a:rPr lang="en-US" sz="4500" b="1" dirty="0" spc="-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bất</a:t>
            </a:r>
            <a:r>
              <a:rPr lang="en-US" sz="4500" b="1" dirty="0" spc="1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952750"/>
            <a:ext cx="5286375" cy="32385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Hỗ</a:t>
            </a:r>
            <a:r>
              <a:rPr lang="en-US" sz="3000" b="1" dirty="0" spc="-13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55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381750" y="2952750"/>
            <a:ext cx="5286375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6750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biệt,</a:t>
            </a:r>
            <a:r>
              <a:rPr lang="en-US" sz="255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01500" y="2952750"/>
            <a:ext cx="5286375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</a:t>
            </a:r>
            <a:r>
              <a:rPr lang="en-US" sz="3000" b="1" dirty="0" spc="-1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ngoại</a:t>
            </a: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8725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cơ chế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 thiện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hạn;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không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ý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thống</a:t>
            </a:r>
            <a:r>
              <a:rPr lang="en-US" sz="2400" dirty="0" spc="-2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kê.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400" dirty="0" spc="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 không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trội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2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nghiệm;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là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cập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r>
              <a:rPr lang="en-US" sz="1650" dirty="0" spc="-37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650" dirty="0" spc="7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Cochrane: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Main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results</a:t>
            </a:r>
            <a:r>
              <a:rPr lang="en-US" sz="1650" dirty="0" spc="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Conclusions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56e0a7b-6961-418b-ac1e-24883d3005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TRẠNG THÁI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4500" b="1" dirty="0" spc="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45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đọc,</a:t>
            </a:r>
            <a:r>
              <a:rPr lang="en-US" sz="4500" b="1" dirty="0" spc="1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2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4500" b="1" dirty="0" spc="1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đủ</a:t>
            </a:r>
            <a:r>
              <a:rPr lang="en-US" sz="4500" b="1" dirty="0" spc="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00" b="1" dirty="0" spc="-2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857500"/>
            <a:ext cx="16478250" cy="952500"/>
          </a:xfrm>
          <a:prstGeom prst="rect">
            <a:avLst/>
          </a:prstGeom>
          <a:solidFill>
            <a:srgbClr val="3A2A34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048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6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S1–S7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5810250" y="3028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4000500"/>
            <a:ext cx="16478250" cy="952500"/>
          </a:xfrm>
          <a:prstGeom prst="rect">
            <a:avLst/>
          </a:prstGeom>
          <a:solidFill>
            <a:srgbClr val="523443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4191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0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S8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5810250" y="4171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Metadata/abstract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đoạn;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2000" y="5143500"/>
            <a:ext cx="16478250" cy="952500"/>
          </a:xfrm>
          <a:prstGeom prst="rect">
            <a:avLst/>
          </a:prstGeom>
          <a:solidFill>
            <a:srgbClr val="3A2A34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334000"/>
            <a:ext cx="409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S9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5810250" y="5314950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 chưa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Leichsenring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 sự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(2023)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umbrella</a:t>
            </a:r>
            <a:r>
              <a:rPr lang="en-US" sz="2400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các</a:t>
            </a:r>
            <a:r>
              <a:rPr lang="en-US" sz="2400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gặp.</a:t>
            </a:r>
            <a:r>
              <a:rPr lang="en-US" sz="2400" dirty="0" spc="-4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 và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 đoạn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abstract;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 thành công.</a:t>
            </a:r>
            <a:r>
              <a:rPr lang="en-US" sz="2400" dirty="0" spc="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effect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size,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 chắn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00" dirty="0" spc="-8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pháp;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ức,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r>
              <a:rPr lang="en-US" sz="1650" dirty="0" spc="-8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650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1650" dirty="0" spc="-1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30518b3-434b-49a0-9ed6-4aa8ffb9a9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 1/2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Vận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dụng: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-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gán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sang</a:t>
            </a:r>
            <a:r>
              <a:rPr lang="en-US" sz="4500" b="1" dirty="0" spc="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đặt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7146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-24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4875" dirty="0"/>
          </a:p>
        </p:txBody>
      </p:sp>
      <p:sp>
        <p:nvSpPr>
          <p:cNvPr id="5" name="Shape 3"/>
          <p:cNvSpPr/>
          <p:nvPr/>
        </p:nvSpPr>
        <p:spPr>
          <a:xfrm>
            <a:off x="762000" y="3714750"/>
            <a:ext cx="5143500" cy="2000250"/>
          </a:xfrm>
          <a:prstGeom prst="roundRect">
            <a:avLst>
              <a:gd name="adj" fmla="val 5714"/>
            </a:avLst>
          </a:prstGeom>
          <a:solidFill>
            <a:srgbClr val="E8DED1"/>
          </a:solidFill>
          <a:ln/>
        </p:spPr>
      </p:sp>
      <p:sp>
        <p:nvSpPr>
          <p:cNvPr id="6" name="Text 4"/>
          <p:cNvSpPr/>
          <p:nvPr/>
        </p:nvSpPr>
        <p:spPr>
          <a:xfrm>
            <a:off x="1000125" y="39052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Khẳng</a:t>
            </a:r>
            <a:r>
              <a:rPr lang="en-US" sz="2700" b="1" dirty="0" spc="1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2700" b="1" dirty="0" spc="-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rộng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0125" y="4714875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“Mọi</a:t>
            </a:r>
            <a:r>
              <a:rPr lang="en-US" sz="22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lãng</a:t>
            </a:r>
            <a:r>
              <a:rPr lang="en-US" sz="225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cơ.”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381750" y="3143250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-17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4875" dirty="0"/>
          </a:p>
        </p:txBody>
      </p:sp>
      <p:sp>
        <p:nvSpPr>
          <p:cNvPr id="9" name="Shape 7"/>
          <p:cNvSpPr/>
          <p:nvPr/>
        </p:nvSpPr>
        <p:spPr>
          <a:xfrm>
            <a:off x="6381750" y="4143375"/>
            <a:ext cx="5143500" cy="2000250"/>
          </a:xfrm>
          <a:prstGeom prst="roundRect">
            <a:avLst>
              <a:gd name="adj" fmla="val 5714"/>
            </a:avLst>
          </a:prstGeom>
          <a:solidFill>
            <a:srgbClr val="E8DED1"/>
          </a:solidFill>
          <a:ln/>
        </p:spPr>
      </p:sp>
      <p:sp>
        <p:nvSpPr>
          <p:cNvPr id="10" name="Text 8"/>
          <p:cNvSpPr/>
          <p:nvPr/>
        </p:nvSpPr>
        <p:spPr>
          <a:xfrm>
            <a:off x="6619875" y="4333875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7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2700" b="1" dirty="0" spc="5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cụ</a:t>
            </a:r>
            <a:r>
              <a:rPr lang="en-US" sz="27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9875" y="5143500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Quên</a:t>
            </a:r>
            <a:r>
              <a:rPr lang="en-US" sz="22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2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2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nào?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001500" y="357187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75" b="1" dirty="0" spc="-16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4875" dirty="0"/>
          </a:p>
        </p:txBody>
      </p:sp>
      <p:sp>
        <p:nvSpPr>
          <p:cNvPr id="13" name="Shape 11"/>
          <p:cNvSpPr/>
          <p:nvPr/>
        </p:nvSpPr>
        <p:spPr>
          <a:xfrm>
            <a:off x="12001500" y="4572000"/>
            <a:ext cx="5143500" cy="2000250"/>
          </a:xfrm>
          <a:prstGeom prst="roundRect">
            <a:avLst>
              <a:gd name="adj" fmla="val 5714"/>
            </a:avLst>
          </a:prstGeom>
          <a:solidFill>
            <a:srgbClr val="E8DED1"/>
          </a:solidFill>
          <a:ln/>
        </p:spPr>
      </p:sp>
      <p:sp>
        <p:nvSpPr>
          <p:cNvPr id="14" name="Text 12"/>
          <p:cNvSpPr/>
          <p:nvPr/>
        </p:nvSpPr>
        <p:spPr>
          <a:xfrm>
            <a:off x="12239625" y="47625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Giao</a:t>
            </a:r>
            <a:r>
              <a:rPr lang="en-US" sz="27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239625" y="5572125"/>
            <a:ext cx="466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2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 thông,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thành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có thể kiểm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tra: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r>
              <a:rPr lang="en-US" sz="2400" dirty="0" spc="-4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nhãn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repression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chiếm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H1–H2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25/35</a:t>
            </a:r>
            <a:endParaRPr lang="en-US" sz="1650" dirty="0"/>
          </a:p>
        </p:txBody>
      </p:sp>
      <p:pic>
        <p:nvPicPr>
          <p:cNvPr id="19" name="Moda flattened rect-1792809746276-65417866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b2d79cc-b986-460e-9ade-30cf418b5c0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 2/2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Vận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r>
              <a:rPr lang="en-US" sz="4500" b="1" dirty="0" spc="-1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r>
              <a:rPr lang="en-US" sz="4500" b="1" dirty="0" spc="-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tập</a:t>
            </a:r>
            <a:r>
              <a:rPr lang="en-US" sz="4500" b="1" dirty="0" spc="-47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8575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23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762000" y="4000500"/>
            <a:ext cx="5143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1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Dạy</a:t>
            </a:r>
            <a:r>
              <a:rPr lang="en-US" sz="3225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762000" y="5000625"/>
            <a:ext cx="514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55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3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5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550" dirty="0"/>
          </a:p>
        </p:txBody>
      </p:sp>
      <p:sp>
        <p:nvSpPr>
          <p:cNvPr id="7" name="Connector line-1792808541278-365488285"/>
          <p:cNvSpPr/>
          <p:nvPr/>
        </p:nvSpPr>
        <p:spPr>
          <a:xfrm>
            <a:off x="6048375" y="3048000"/>
            <a:ext cx="0" cy="3048000"/>
          </a:xfrm>
          <a:prstGeom prst="line">
            <a:avLst/>
          </a:prstGeom>
          <a:noFill/>
          <a:ln w="952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381750" y="28575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18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6381750" y="4000500"/>
            <a:ext cx="5143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32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nghiên cứu</a:t>
            </a:r>
            <a:endParaRPr lang="en-US" sz="3225" dirty="0"/>
          </a:p>
        </p:txBody>
      </p:sp>
      <p:sp>
        <p:nvSpPr>
          <p:cNvPr id="10" name="Text 8"/>
          <p:cNvSpPr/>
          <p:nvPr/>
        </p:nvSpPr>
        <p:spPr>
          <a:xfrm>
            <a:off x="6381750" y="5000625"/>
            <a:ext cx="514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hình,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thiệp,</a:t>
            </a:r>
            <a:r>
              <a:rPr lang="en-US" sz="25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550" dirty="0"/>
          </a:p>
        </p:txBody>
      </p:sp>
      <p:sp>
        <p:nvSpPr>
          <p:cNvPr id="11" name="Connector line-1792808541282-829439305"/>
          <p:cNvSpPr/>
          <p:nvPr/>
        </p:nvSpPr>
        <p:spPr>
          <a:xfrm>
            <a:off x="11668125" y="3048000"/>
            <a:ext cx="0" cy="3048000"/>
          </a:xfrm>
          <a:prstGeom prst="line">
            <a:avLst/>
          </a:prstGeom>
          <a:noFill/>
          <a:ln w="952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001500" y="28575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-16" kern="0">
                <a:solidFill>
                  <a:srgbClr val="9B714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12001500" y="4000500"/>
            <a:ext cx="5143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25" b="1" dirty="0" spc="-5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Tự</a:t>
            </a:r>
            <a:r>
              <a:rPr lang="en-US" sz="32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 tư</a:t>
            </a:r>
            <a:endParaRPr lang="en-US" sz="3225" dirty="0"/>
          </a:p>
        </p:txBody>
      </p:sp>
      <p:sp>
        <p:nvSpPr>
          <p:cNvPr id="14" name="Text 12"/>
          <p:cNvSpPr/>
          <p:nvPr/>
        </p:nvSpPr>
        <p:spPr>
          <a:xfrm>
            <a:off x="12001500" y="5000625"/>
            <a:ext cx="514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khả năng.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“nguồn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gì”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“ta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gì”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quả.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cổ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điển,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tham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gia. Khi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tư,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ghi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thế;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 ép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5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dục;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725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đoán,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725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725" dirty="0" spc="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H3–H5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26/35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93d4d29b-d75d-4db6-b548-7db2b0152b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4500" b="1" dirty="0" spc="1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-1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tổng</a:t>
            </a:r>
            <a:r>
              <a:rPr lang="en-US" sz="4500" b="1" dirty="0" spc="-1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hợp: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 →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lý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 →</a:t>
            </a:r>
            <a:r>
              <a:rPr lang="en-US" sz="4500" b="1" dirty="0" spc="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đánh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667125"/>
            <a:ext cx="3905250" cy="1809750"/>
          </a:xfrm>
          <a:prstGeom prst="roundRect">
            <a:avLst>
              <a:gd name="adj" fmla="val 7368"/>
            </a:avLst>
          </a:prstGeom>
          <a:solidFill>
            <a:srgbClr val="E5CCD5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4000500"/>
            <a:ext cx="333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4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2925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2925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2925" dirty="0"/>
          </a:p>
          <a:p>
            <a:pPr algn="l" indent="0" marL="0">
              <a:buNone/>
            </a:pPr>
            <a:r>
              <a:rPr lang="en-US" sz="2925" b="1" dirty="0" spc="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đến</a:t>
            </a:r>
            <a:r>
              <a:rPr lang="en-US" sz="2925" b="1" dirty="0" spc="-2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2925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6905625" y="2762250"/>
            <a:ext cx="10334625" cy="1047750"/>
          </a:xfrm>
          <a:prstGeom prst="roundRect">
            <a:avLst>
              <a:gd name="adj" fmla="val 10909"/>
            </a:avLst>
          </a:prstGeom>
          <a:solidFill>
            <a:srgbClr val="E8DED1"/>
          </a:solidFill>
          <a:ln/>
        </p:spPr>
      </p:sp>
      <p:sp>
        <p:nvSpPr>
          <p:cNvPr id="7" name="Text 5"/>
          <p:cNvSpPr/>
          <p:nvPr/>
        </p:nvSpPr>
        <p:spPr>
          <a:xfrm>
            <a:off x="7191375" y="300037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 sử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0382250" y="295275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vị</a:t>
            </a:r>
            <a:r>
              <a:rPr lang="en-US" sz="22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2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2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905625" y="4000500"/>
            <a:ext cx="10334625" cy="1047750"/>
          </a:xfrm>
          <a:prstGeom prst="roundRect">
            <a:avLst>
              <a:gd name="adj" fmla="val 10909"/>
            </a:avLst>
          </a:prstGeom>
          <a:solidFill>
            <a:srgbClr val="E8DED1"/>
          </a:solidFill>
          <a:ln/>
        </p:spPr>
      </p:sp>
      <p:sp>
        <p:nvSpPr>
          <p:cNvPr id="10" name="Text 8"/>
          <p:cNvSpPr/>
          <p:nvPr/>
        </p:nvSpPr>
        <p:spPr>
          <a:xfrm>
            <a:off x="7191375" y="423862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Mô hình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0382250" y="4191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 giả</a:t>
            </a:r>
            <a:r>
              <a:rPr lang="en-US" sz="225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905625" y="5238750"/>
            <a:ext cx="10334625" cy="1047750"/>
          </a:xfrm>
          <a:prstGeom prst="roundRect">
            <a:avLst>
              <a:gd name="adj" fmla="val 10909"/>
            </a:avLst>
          </a:prstGeom>
          <a:solidFill>
            <a:srgbClr val="E8DED1"/>
          </a:solidFill>
          <a:ln/>
        </p:spPr>
      </p:sp>
      <p:sp>
        <p:nvSpPr>
          <p:cNvPr id="13" name="Text 11"/>
          <p:cNvSpPr/>
          <p:nvPr/>
        </p:nvSpPr>
        <p:spPr>
          <a:xfrm>
            <a:off x="7191375" y="547687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 chứng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0382250" y="542925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Xét</a:t>
            </a:r>
            <a:r>
              <a:rPr lang="en-US" sz="22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250" dirty="0"/>
          </a:p>
        </p:txBody>
      </p:sp>
      <p:sp>
        <p:nvSpPr>
          <p:cNvPr id="15" name="Connector line-1792808859764-807363203"/>
          <p:cNvSpPr/>
          <p:nvPr/>
        </p:nvSpPr>
        <p:spPr>
          <a:xfrm flipV="1">
            <a:off x="4667250" y="3286125"/>
            <a:ext cx="2238375" cy="128587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808859764-463471577"/>
          <p:cNvSpPr/>
          <p:nvPr/>
        </p:nvSpPr>
        <p:spPr>
          <a:xfrm flipV="1">
            <a:off x="4667250" y="4524375"/>
            <a:ext cx="2238375" cy="4762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08859764-838069132"/>
          <p:cNvSpPr/>
          <p:nvPr/>
        </p:nvSpPr>
        <p:spPr>
          <a:xfrm>
            <a:off x="4667250" y="4572000"/>
            <a:ext cx="2238375" cy="1190625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thời gian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 Sơ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nhân quả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Mũi</a:t>
            </a:r>
            <a:r>
              <a:rPr lang="en-US" sz="1725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725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725" dirty="0" spc="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hiểu,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biểu</a:t>
            </a:r>
            <a:r>
              <a:rPr lang="en-US" sz="1725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725" dirty="0" spc="-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725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1725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725" dirty="0" spc="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725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725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Sơ</a:t>
            </a:r>
            <a:r>
              <a:rPr lang="en-US" sz="1650" dirty="0" spc="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650" dirty="0" spc="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27/35</a:t>
            </a:r>
            <a:endParaRPr lang="en-US" sz="1650" dirty="0"/>
          </a:p>
        </p:txBody>
      </p:sp>
      <p:pic>
        <p:nvPicPr>
          <p:cNvPr id="22" name="Moda flattened rect-1792809749086-5204988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d0c8d40-e948-4190-af58-c870e0a2e93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Tám</a:t>
            </a:r>
            <a:r>
              <a:rPr lang="en-US" sz="4500" b="1" dirty="0" spc="1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điểm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r>
              <a:rPr lang="en-US" sz="45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 sang</a:t>
            </a:r>
            <a:r>
              <a:rPr lang="en-US" sz="4500" b="1" dirty="0" spc="-2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F02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762250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8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57375" y="2809875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4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762000" y="3762375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57375" y="3810000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762000" y="4762500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57375" y="4810125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Anna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762000" y="5762625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57375" y="5810250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ám thị.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9286875" y="2762250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382250" y="2809875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giải,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9286875" y="3762375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382250" y="3810000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ý/phản</a:t>
            </a:r>
            <a:r>
              <a:rPr lang="en-US" sz="24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475" dirty="0"/>
          </a:p>
        </p:txBody>
      </p:sp>
      <p:sp>
        <p:nvSpPr>
          <p:cNvPr id="16" name="Text 14"/>
          <p:cNvSpPr/>
          <p:nvPr/>
        </p:nvSpPr>
        <p:spPr>
          <a:xfrm>
            <a:off x="9286875" y="4762500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9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382250" y="4810125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đúng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9286875" y="5762625"/>
            <a:ext cx="85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DCAF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382250" y="5810250"/>
            <a:ext cx="700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Lắng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75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học;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góp.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Anna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O.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 kể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 Quan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giả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6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650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650" dirty="0" spc="7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650" dirty="0" spc="15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28/35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00ff670-ff9e-4d70-812e-254a8f069e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-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Ai</a:t>
            </a:r>
            <a:r>
              <a:rPr lang="en-US" sz="4500" b="1" dirty="0" spc="-2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trực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r>
              <a:rPr lang="en-US" sz="4500" b="1" dirty="0" spc="1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trị Anna</a:t>
            </a:r>
            <a:r>
              <a:rPr lang="en-US" sz="4500" b="1" dirty="0" spc="-4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O.?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857500"/>
            <a:ext cx="4000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75" b="1" dirty="0" spc="-47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Q1</a:t>
            </a:r>
            <a:endParaRPr lang="en-US" sz="10875" dirty="0"/>
          </a:p>
        </p:txBody>
      </p:sp>
      <p:sp>
        <p:nvSpPr>
          <p:cNvPr id="5" name="Text 3"/>
          <p:cNvSpPr/>
          <p:nvPr/>
        </p:nvSpPr>
        <p:spPr>
          <a:xfrm>
            <a:off x="762000" y="5286375"/>
            <a:ext cx="495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-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</a:t>
            </a:r>
            <a:r>
              <a:rPr lang="en-US" sz="3750" b="1" dirty="0" spc="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3750" b="1" dirty="0" spc="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trị?</a:t>
            </a:r>
            <a:endParaRPr lang="en-US" sz="3750" dirty="0"/>
          </a:p>
          <a:p>
            <a:pPr algn="l" indent="0" marL="0">
              <a:buNone/>
            </a:pPr>
            <a:r>
              <a:rPr lang="en-US" sz="3750" b="1" dirty="0" spc="-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</a:t>
            </a:r>
            <a:r>
              <a:rPr lang="en-US" sz="3750" b="1" dirty="0" spc="-3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kể</a:t>
            </a:r>
            <a:r>
              <a:rPr lang="en-US" sz="375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lại?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6762750" y="2952750"/>
            <a:ext cx="10477500" cy="3238500"/>
          </a:xfrm>
          <a:prstGeom prst="roundRect">
            <a:avLst>
              <a:gd name="adj" fmla="val 5294"/>
            </a:avLst>
          </a:prstGeom>
          <a:solidFill>
            <a:srgbClr val="E8DED1"/>
          </a:solidFill>
          <a:ln/>
        </p:spPr>
      </p:sp>
      <p:sp>
        <p:nvSpPr>
          <p:cNvPr id="7" name="Text 5"/>
          <p:cNvSpPr/>
          <p:nvPr/>
        </p:nvSpPr>
        <p:spPr>
          <a:xfrm>
            <a:off x="7143750" y="3238500"/>
            <a:ext cx="9715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55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Josef</a:t>
            </a:r>
            <a:r>
              <a:rPr lang="en-US" sz="255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Breuer.</a:t>
            </a:r>
            <a:r>
              <a:rPr lang="en-US" sz="2550" dirty="0" spc="-3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ca</a:t>
            </a:r>
            <a:r>
              <a:rPr lang="en-US" sz="255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255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 cần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không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quan</a:t>
            </a:r>
            <a:r>
              <a:rPr lang="en-US" sz="2550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ca,</a:t>
            </a:r>
            <a:r>
              <a:rPr lang="en-US" sz="255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lại</a:t>
            </a:r>
            <a:r>
              <a:rPr lang="en-US" sz="2550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 đọc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62000" y="7239000"/>
            <a:ext cx="5048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7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475" b="1" dirty="0" spc="-1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trả</a:t>
            </a:r>
            <a:r>
              <a:rPr lang="en-US" sz="2475" b="1" dirty="0" spc="-1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762000" y="7953375"/>
            <a:ext cx="50482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Breuer</a:t>
            </a:r>
            <a:r>
              <a:rPr lang="en-US" sz="217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7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75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75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381750" y="7239000"/>
            <a:ext cx="5048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1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Lý</a:t>
            </a:r>
            <a:r>
              <a:rPr lang="en-US" sz="247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do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6381750" y="7953375"/>
            <a:ext cx="50482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3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 kể</a:t>
            </a:r>
            <a:r>
              <a:rPr lang="en-US" sz="21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7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7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7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2001500" y="7239000"/>
            <a:ext cx="5048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Áp</a:t>
            </a:r>
            <a:r>
              <a:rPr lang="en-US" sz="247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12001500" y="7953375"/>
            <a:ext cx="50482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217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chuỗi</a:t>
            </a:r>
            <a:r>
              <a:rPr lang="en-US" sz="21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ca</a:t>
            </a:r>
            <a:r>
              <a:rPr lang="en-US" sz="217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[S1–S2]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29/35</a:t>
            </a:r>
            <a:endParaRPr lang="en-US" sz="1650" dirty="0"/>
          </a:p>
        </p:txBody>
      </p:sp>
      <p:pic>
        <p:nvPicPr>
          <p:cNvPr id="16" name="Moda flattened rect-1792809752092-82239031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b53b8fa-4c95-4cdf-b5e0-f23036d6631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Vì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sao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00" b="1" dirty="0" spc="-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“phát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hiện</a:t>
            </a:r>
            <a:r>
              <a:rPr lang="en-US" sz="4500" b="1" dirty="0" spc="-4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vô</a:t>
            </a:r>
            <a:r>
              <a:rPr lang="en-US" sz="4500" b="1" dirty="0" spc="-2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thức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năm</a:t>
            </a:r>
            <a:r>
              <a:rPr lang="en-US" sz="4500" b="1" dirty="0" spc="1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1900”?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952750"/>
            <a:ext cx="5286375" cy="32385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4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Vấn</a:t>
            </a:r>
            <a:r>
              <a:rPr lang="en-US" sz="3000" b="1" dirty="0" spc="7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thành</a:t>
            </a:r>
            <a:r>
              <a:rPr lang="en-US" sz="255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381750" y="2952750"/>
            <a:ext cx="5286375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3000" b="1" dirty="0" spc="-1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6750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55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01500" y="2952750"/>
            <a:ext cx="5286375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8725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55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tính</a:t>
            </a:r>
            <a:r>
              <a:rPr lang="en-US" sz="255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r>
              <a:rPr lang="en-US" sz="2400" dirty="0" spc="-8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3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thức;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-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giấc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bản ý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00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phân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1899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1900.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[S1, S6]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8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5b62f90-c2d8-4d81-9afa-67f7f27707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 ·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Nhẹ nhõm sau</a:t>
            </a:r>
            <a:r>
              <a:rPr lang="en-US" sz="4500" b="1" dirty="0" spc="-1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trò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4500" b="1" dirty="0" spc="6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4500" b="1" dirty="0" spc="1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9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571875"/>
            <a:ext cx="4857750" cy="1905000"/>
          </a:xfrm>
          <a:prstGeom prst="roundRect">
            <a:avLst>
              <a:gd name="adj" fmla="val 8000"/>
            </a:avLst>
          </a:prstGeom>
          <a:solidFill>
            <a:srgbClr val="E5CCD5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781425"/>
            <a:ext cx="4286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2850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4572000"/>
            <a:ext cx="428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nhõm.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72500" y="2952750"/>
            <a:ext cx="8667750" cy="1476375"/>
          </a:xfrm>
          <a:prstGeom prst="roundRect">
            <a:avLst>
              <a:gd name="adj" fmla="val 10323"/>
            </a:avLst>
          </a:prstGeom>
          <a:solidFill>
            <a:srgbClr val="E8DED1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0" y="3143250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38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 thêm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8858250" y="376237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Gán</a:t>
            </a:r>
            <a:r>
              <a:rPr lang="en-US" sz="2325" dirty="0" spc="-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32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325" dirty="0"/>
          </a:p>
        </p:txBody>
      </p:sp>
      <p:sp>
        <p:nvSpPr>
          <p:cNvPr id="10" name="Connector line-1792808556368-459073118"/>
          <p:cNvSpPr/>
          <p:nvPr/>
        </p:nvSpPr>
        <p:spPr>
          <a:xfrm flipV="1">
            <a:off x="5619750" y="3690937"/>
            <a:ext cx="2952750" cy="833438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8572500" y="4810125"/>
            <a:ext cx="8667750" cy="1476375"/>
          </a:xfrm>
          <a:prstGeom prst="roundRect">
            <a:avLst>
              <a:gd name="adj" fmla="val 10323"/>
            </a:avLst>
          </a:prstGeom>
          <a:solidFill>
            <a:srgbClr val="E8DED1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0" y="5000625"/>
            <a:ext cx="8096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625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</a:t>
            </a:r>
            <a:r>
              <a:rPr lang="en-US" sz="2625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endParaRPr lang="en-US" sz="2625" dirty="0"/>
          </a:p>
        </p:txBody>
      </p:sp>
      <p:sp>
        <p:nvSpPr>
          <p:cNvPr id="13" name="Text 11"/>
          <p:cNvSpPr/>
          <p:nvPr/>
        </p:nvSpPr>
        <p:spPr>
          <a:xfrm>
            <a:off x="8858250" y="5619750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325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32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32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32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325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325" dirty="0"/>
          </a:p>
        </p:txBody>
      </p:sp>
      <p:sp>
        <p:nvSpPr>
          <p:cNvPr id="14" name="Connector line-1792808556370-155041551"/>
          <p:cNvSpPr/>
          <p:nvPr/>
        </p:nvSpPr>
        <p:spPr>
          <a:xfrm>
            <a:off x="5619750" y="4524375"/>
            <a:ext cx="2952750" cy="1023938"/>
          </a:xfrm>
          <a:prstGeom prst="bentConnector3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“Người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nhõm” là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“ký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400" dirty="0" spc="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phóng”.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chế,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khả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-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lợi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nghiệm; nó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hiện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K3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650" dirty="0" spc="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31/35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e35990a-f87b-43a0-9a0e-6622facf35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Nếu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mọi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4500" b="1" dirty="0" spc="1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đều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-1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resistance?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3667125"/>
            <a:ext cx="4572000" cy="1666875"/>
          </a:xfrm>
          <a:prstGeom prst="roundRect">
            <a:avLst>
              <a:gd name="adj" fmla="val 8000"/>
            </a:avLst>
          </a:prstGeom>
          <a:solidFill>
            <a:srgbClr val="523443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971925"/>
            <a:ext cx="40005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25" b="1" dirty="0" spc="-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2925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2925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2925" dirty="0"/>
          </a:p>
          <a:p>
            <a:pPr algn="l" indent="0" marL="0">
              <a:buNone/>
            </a:pPr>
            <a:r>
              <a:rPr lang="en-US" sz="2925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 thể</a:t>
            </a:r>
            <a:r>
              <a:rPr lang="en-US" sz="2925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sai</a:t>
            </a:r>
            <a:r>
              <a:rPr lang="en-US" sz="2925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không?</a:t>
            </a:r>
            <a:endParaRPr lang="en-US" sz="2925" dirty="0"/>
          </a:p>
        </p:txBody>
      </p:sp>
      <p:sp>
        <p:nvSpPr>
          <p:cNvPr id="6" name="Shape 4"/>
          <p:cNvSpPr/>
          <p:nvPr/>
        </p:nvSpPr>
        <p:spPr>
          <a:xfrm>
            <a:off x="7762875" y="2762250"/>
            <a:ext cx="9477375" cy="1000125"/>
          </a:xfrm>
          <a:prstGeom prst="roundRect">
            <a:avLst>
              <a:gd name="adj" fmla="val 9524"/>
            </a:avLst>
          </a:prstGeom>
          <a:solidFill>
            <a:srgbClr val="3A2A34"/>
          </a:solidFill>
          <a:ln/>
        </p:spPr>
      </p:sp>
      <p:sp>
        <p:nvSpPr>
          <p:cNvPr id="7" name="Text 5"/>
          <p:cNvSpPr/>
          <p:nvPr/>
        </p:nvSpPr>
        <p:spPr>
          <a:xfrm>
            <a:off x="8048625" y="2933700"/>
            <a:ext cx="3333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2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Sai</a:t>
            </a:r>
            <a:r>
              <a:rPr lang="en-US" sz="2475" b="1" dirty="0" spc="-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lầm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11525250" y="2905125"/>
            <a:ext cx="5381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1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1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17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7762875" y="3952875"/>
            <a:ext cx="9477375" cy="1000125"/>
          </a:xfrm>
          <a:prstGeom prst="roundRect">
            <a:avLst>
              <a:gd name="adj" fmla="val 9524"/>
            </a:avLst>
          </a:prstGeom>
          <a:solidFill>
            <a:srgbClr val="3A2A34"/>
          </a:solidFill>
          <a:ln/>
        </p:spPr>
      </p:sp>
      <p:sp>
        <p:nvSpPr>
          <p:cNvPr id="10" name="Text 8"/>
          <p:cNvSpPr/>
          <p:nvPr/>
        </p:nvSpPr>
        <p:spPr>
          <a:xfrm>
            <a:off x="8048625" y="4124325"/>
            <a:ext cx="3333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0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Tiêu</a:t>
            </a:r>
            <a:r>
              <a:rPr lang="en-US" sz="2475" b="1" dirty="0" spc="-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chuẩn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11525250" y="4095750"/>
            <a:ext cx="5381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 giả</a:t>
            </a:r>
            <a:r>
              <a:rPr lang="en-US" sz="21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1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7762875" y="5143500"/>
            <a:ext cx="9477375" cy="1000125"/>
          </a:xfrm>
          <a:prstGeom prst="roundRect">
            <a:avLst>
              <a:gd name="adj" fmla="val 9524"/>
            </a:avLst>
          </a:prstGeom>
          <a:solidFill>
            <a:srgbClr val="3A2A3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8625" y="5314950"/>
            <a:ext cx="3333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b="1" dirty="0" spc="-11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Đạo</a:t>
            </a:r>
            <a:r>
              <a:rPr lang="en-US" sz="2475" b="1" dirty="0" spc="-17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đức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11525250" y="5286375"/>
            <a:ext cx="5381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tước</a:t>
            </a:r>
            <a:r>
              <a:rPr lang="en-US" sz="21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175" dirty="0"/>
          </a:p>
        </p:txBody>
      </p:sp>
      <p:sp>
        <p:nvSpPr>
          <p:cNvPr id="15" name="Connector line-1792808559342-728016998"/>
          <p:cNvSpPr/>
          <p:nvPr/>
        </p:nvSpPr>
        <p:spPr>
          <a:xfrm flipV="1">
            <a:off x="5334000" y="3262313"/>
            <a:ext cx="2428875" cy="1238250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808559343-565616502"/>
          <p:cNvSpPr/>
          <p:nvPr/>
        </p:nvSpPr>
        <p:spPr>
          <a:xfrm flipV="1">
            <a:off x="5334000" y="4452938"/>
            <a:ext cx="2428875" cy="47625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08559343-612887229"/>
          <p:cNvSpPr/>
          <p:nvPr/>
        </p:nvSpPr>
        <p:spPr>
          <a:xfrm>
            <a:off x="5334000" y="4500563"/>
            <a:ext cx="2428875" cy="1143000"/>
          </a:xfrm>
          <a:prstGeom prst="bentConnector3">
            <a:avLst/>
          </a:prstGeom>
          <a:noFill/>
          <a:ln w="28575">
            <a:solidFill>
              <a:srgbClr val="DCAF8A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làm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hộ.</a:t>
            </a:r>
            <a:r>
              <a:rPr lang="en-US" sz="24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chỉ</a:t>
            </a:r>
            <a:r>
              <a:rPr lang="en-US" sz="2400" dirty="0" spc="-3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của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resistance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-3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K4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1650" dirty="0" spc="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2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0009f81-d402-4ce1-8a36-c40cab1cd1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5</a:t>
            </a: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4500" b="1" dirty="0" spc="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Hiệu</a:t>
            </a:r>
            <a:r>
              <a:rPr lang="en-US" sz="4500" b="1" dirty="0" spc="0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 trị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r>
              <a:rPr lang="en-US" sz="4500" b="1" dirty="0" spc="-1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nhận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Oedipus</a:t>
            </a:r>
            <a:r>
              <a:rPr lang="en-US" sz="4500" b="1" dirty="0" spc="-14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complex?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762000" y="2952750"/>
            <a:ext cx="5286375" cy="3238500"/>
          </a:xfrm>
          <a:prstGeom prst="rect">
            <a:avLst/>
          </a:prstGeom>
          <a:solidFill>
            <a:srgbClr val="7A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Outcome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 thiệp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 nhóm</a:t>
            </a:r>
            <a:r>
              <a:rPr lang="en-US" sz="25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381750" y="2952750"/>
            <a:ext cx="5286375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Mechanism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6750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01500" y="2952750"/>
            <a:ext cx="5286375" cy="3238500"/>
          </a:xfrm>
          <a:prstGeom prst="rect">
            <a:avLst/>
          </a:prstGeom>
          <a:solidFill>
            <a:srgbClr val="E8DED1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0" y="3286125"/>
            <a:ext cx="47148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Kết</a:t>
            </a:r>
            <a:r>
              <a:rPr lang="en-US" sz="30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287250" y="4429125"/>
            <a:ext cx="47148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2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Chưa.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 thiệp</a:t>
            </a:r>
            <a:r>
              <a:rPr lang="en-US" sz="2400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2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400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400" dirty="0" spc="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400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gì.</a:t>
            </a:r>
            <a:r>
              <a:rPr lang="en-US" sz="2400" dirty="0" spc="-4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S8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 văn;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</a:t>
            </a:r>
            <a:r>
              <a:rPr lang="en-US" sz="2400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-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00" dirty="0" spc="-2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400" dirty="0" spc="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dùng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400" dirty="0" spc="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-3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Oedipus</a:t>
            </a:r>
            <a:r>
              <a:rPr lang="en-US" sz="2400" dirty="0" spc="-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complex.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K5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[S8–S9]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19f9f17-5d03-44a8-a1af-19e045b557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1/2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-2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gốc,</a:t>
            </a:r>
            <a:r>
              <a:rPr lang="en-US" sz="4500" b="1" dirty="0" spc="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-1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r>
              <a:rPr lang="en-US" sz="4500" b="1" dirty="0" spc="-48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5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truy</a:t>
            </a:r>
            <a:r>
              <a:rPr lang="en-US" sz="4500" b="1" dirty="0" spc="-12" kern="0">
                <a:solidFill>
                  <a:srgbClr val="241C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locator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3000375"/>
            <a:ext cx="990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75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r>
              <a:rPr lang="en-US" sz="2475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7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75" dirty="0" spc="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HTML</a:t>
            </a:r>
            <a:r>
              <a:rPr lang="en-US" sz="2475" dirty="0" spc="1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47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 làm</a:t>
            </a:r>
            <a:r>
              <a:rPr lang="en-US" sz="247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in.</a:t>
            </a:r>
            <a:r>
              <a:rPr lang="en-US" sz="247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S1:</a:t>
            </a:r>
            <a:r>
              <a:rPr lang="en-US" sz="2475" dirty="0" spc="-1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</a:t>
            </a:r>
            <a:r>
              <a:rPr lang="en-US" sz="247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75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Congress,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Individual:</a:t>
            </a:r>
            <a:r>
              <a:rPr lang="en-US" sz="2475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Therapy.</a:t>
            </a:r>
            <a:r>
              <a:rPr lang="en-US" sz="247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S2–S4:</a:t>
            </a:r>
            <a:r>
              <a:rPr lang="en-US" sz="2475" dirty="0" spc="-3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7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(1910),</a:t>
            </a:r>
            <a:r>
              <a:rPr lang="en-US" sz="247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475" dirty="0" spc="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Origin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475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75" dirty="0" spc="-1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Psychoanalysis,</a:t>
            </a:r>
            <a:r>
              <a:rPr lang="en-US" sz="2475" dirty="0" spc="-2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Lectures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I–III,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-5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York</a:t>
            </a:r>
            <a:r>
              <a:rPr lang="en-US" sz="2475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University.</a:t>
            </a:r>
            <a:r>
              <a:rPr lang="en-US" sz="2475" dirty="0" spc="-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S5: Holocaust</a:t>
            </a:r>
            <a:r>
              <a:rPr lang="en-US" sz="247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Encyclopedia,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Sigmund</a:t>
            </a:r>
            <a:r>
              <a:rPr lang="en-US" sz="2475" dirty="0" spc="-3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r>
              <a:rPr lang="en-US" sz="2475" dirty="0" spc="-5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S6:</a:t>
            </a:r>
            <a:r>
              <a:rPr lang="en-US" sz="2475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Harvard</a:t>
            </a:r>
            <a:r>
              <a:rPr lang="en-US" sz="2475" dirty="0" spc="0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CHSI,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475" dirty="0" spc="-2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Interpretation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75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Dreams.</a:t>
            </a:r>
            <a:r>
              <a:rPr lang="en-US" sz="2475" dirty="0" spc="-4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S7:</a:t>
            </a:r>
            <a:r>
              <a:rPr lang="en-US" sz="2475" dirty="0" spc="-13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Fancher,</a:t>
            </a:r>
            <a:r>
              <a:rPr lang="en-US" sz="2475" dirty="0" spc="-1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r>
              <a:rPr lang="en-US" sz="2475" dirty="0" spc="-1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475" dirty="0" spc="-39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75" dirty="0" spc="-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(1910).</a:t>
            </a:r>
            <a:r>
              <a:rPr lang="en-US" sz="2475" dirty="0" spc="-46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475" dirty="0" spc="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75" dirty="0" spc="-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475" dirty="0" spc="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75" dirty="0" spc="-17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28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2475" dirty="0" spc="-2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475" dirty="0" spc="-11" kern="0">
                <a:solidFill>
                  <a:srgbClr val="241C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F01.</a:t>
            </a:r>
            <a:endParaRPr lang="en-US" sz="2475" dirty="0"/>
          </a:p>
        </p:txBody>
      </p:sp>
      <p:pic>
        <p:nvPicPr>
          <p:cNvPr id="5" name="Moda image rect-1792809564680-1132369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5250" y="2860477"/>
            <a:ext cx="2571750" cy="3375422"/>
          </a:xfrm>
          <a:prstGeom prst="rect">
            <a:avLst/>
          </a:prstGeom>
        </p:spPr>
      </p:pic>
      <p:pic>
        <p:nvPicPr>
          <p:cNvPr id="6" name="Moda image rect-1792809565061-58492164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382750" y="3401801"/>
            <a:ext cx="3048000" cy="2292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25250" y="6667500"/>
            <a:ext cx="58578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2400" b="1" dirty="0" spc="-2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văn</a:t>
            </a:r>
            <a:r>
              <a:rPr lang="en-US" sz="24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24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2400" b="1" dirty="0" spc="-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</a:t>
            </a:r>
            <a:r>
              <a:rPr lang="en-US" sz="24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r>
              <a:rPr lang="en-US" sz="2400" b="1" dirty="0" spc="-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2400" b="1" dirty="0" spc="-1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sử: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đọc</a:t>
            </a:r>
            <a:r>
              <a:rPr lang="en-US" sz="2400" b="1" dirty="0" spc="3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r>
              <a:rPr lang="en-US" sz="2400" b="1" dirty="0" spc="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nguồn,</a:t>
            </a:r>
            <a:r>
              <a:rPr lang="en-US" sz="2400" b="1" dirty="0" spc="4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r>
              <a:rPr lang="en-US" sz="2400" b="1" dirty="0" spc="-2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2400" b="1" dirty="0" spc="1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 spc="6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đúng</a:t>
            </a:r>
            <a:r>
              <a:rPr lang="en-US" sz="2400" b="1" dirty="0" spc="-1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2400" b="1" dirty="0" spc="0" kern="0">
                <a:solidFill>
                  <a:srgbClr val="7A203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hạn.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1525250" y="8477250"/>
            <a:ext cx="5810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650" dirty="0" spc="-5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-9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Clark 1909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Commons,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0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S1–S7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</a:t>
            </a:r>
            <a:r>
              <a:rPr lang="en-US" sz="1650" dirty="0" spc="-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Edition</a:t>
            </a:r>
            <a:r>
              <a:rPr lang="en-US" sz="1650" dirty="0" spc="-1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35B5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34/35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000" y="8953500"/>
            <a:ext cx="1047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u="sng" dirty="0" spc="0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800" u="sng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800" u="sng" dirty="0" spc="-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F01</a:t>
            </a:r>
            <a:r>
              <a:rPr lang="en-US" sz="1800" u="sng" dirty="0" spc="-1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800" u="sng" dirty="0" spc="-1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truy</a:t>
            </a:r>
            <a:r>
              <a:rPr lang="en-US" sz="1800" u="sng" dirty="0" spc="-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</a:t>
            </a:r>
            <a:r>
              <a:rPr lang="en-US" sz="1800" u="sng" dirty="0" spc="4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đầy</a:t>
            </a:r>
            <a:r>
              <a:rPr lang="en-US" sz="1800" u="sng" dirty="0" spc="3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đủ</a:t>
            </a:r>
            <a:r>
              <a:rPr lang="en-US" sz="1800" u="sng" dirty="0" spc="-16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800" u="sng" dirty="0" spc="-2" kern="0">
                <a:solidFill>
                  <a:srgbClr val="7A203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800" dirty="0"/>
          </a:p>
        </p:txBody>
      </p:sp>
      <p:pic>
        <p:nvPicPr>
          <p:cNvPr id="12" name="Moda flattened rect-1792809755043-54690860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1f4e0ae9-6b4f-4aa6-9af1-05855b3763f0" descr="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2/2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 nghiên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cứu,</a:t>
            </a:r>
            <a:r>
              <a:rPr lang="en-US" sz="45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r>
              <a:rPr lang="en-US" sz="4500" b="1" dirty="0" spc="-4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3000375"/>
            <a:ext cx="990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S8:</a:t>
            </a:r>
            <a:r>
              <a:rPr lang="en-US" sz="247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Leichsenring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(2023),</a:t>
            </a:r>
            <a:r>
              <a:rPr lang="en-US" sz="247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10.1002/wps.21104;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47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abstract.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S9: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Abbass</a:t>
            </a:r>
            <a:r>
              <a:rPr lang="en-US" sz="247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(2014),</a:t>
            </a:r>
            <a:r>
              <a:rPr lang="en-US" sz="24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Cochrane,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10.1002/14651858.CD004687.pub4;</a:t>
            </a:r>
            <a:r>
              <a:rPr lang="en-US" sz="2475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75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bám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F01</a:t>
            </a:r>
            <a:r>
              <a:rPr lang="en-US" sz="2475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PR,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F02</a:t>
            </a:r>
            <a:r>
              <a:rPr lang="en-US" sz="247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conscious,</a:t>
            </a:r>
            <a:r>
              <a:rPr lang="en-US" sz="24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preconscious</a:t>
            </a:r>
            <a:r>
              <a:rPr lang="en-US" sz="247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</a:t>
            </a:r>
            <a:r>
              <a:rPr lang="en-US" sz="24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“vô</a:t>
            </a: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thức”.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11620500" y="3000375"/>
            <a:ext cx="561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700" b="1" dirty="0" spc="6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620500" y="3714750"/>
            <a:ext cx="5619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1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nhau;</a:t>
            </a:r>
            <a:r>
              <a:rPr lang="en-US" sz="210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ledger.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620500" y="4714875"/>
            <a:ext cx="561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Bài</a:t>
            </a:r>
            <a:r>
              <a:rPr lang="en-US" sz="2700" b="1" dirty="0" spc="4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620500" y="5429250"/>
            <a:ext cx="5619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F02: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Conscious</a:t>
            </a:r>
            <a:r>
              <a:rPr lang="en-US" sz="21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Preconscious</a:t>
            </a:r>
            <a:r>
              <a:rPr lang="en-US" sz="21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Unconscious.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620500" y="6429375"/>
            <a:ext cx="561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2700" b="1" dirty="0" spc="7" kern="0">
                <a:solidFill>
                  <a:srgbClr val="EAB6C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620500" y="7143750"/>
            <a:ext cx="5619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hỏi,</a:t>
            </a: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1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nhau.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2000" y="9620250"/>
            <a:ext cx="1600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r>
              <a:rPr lang="en-US" sz="1650" dirty="0" spc="0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S8–S9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2000" y="10001250"/>
            <a:ext cx="1571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F01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9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D3C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35/35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62000" y="8953500"/>
            <a:ext cx="16478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u="sng" dirty="0" spc="0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800" u="sng" dirty="0" spc="-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800" u="sng" dirty="0" spc="-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F01</a:t>
            </a:r>
            <a:r>
              <a:rPr lang="en-US" sz="1800" u="sng" dirty="0" spc="-12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800" u="sng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truy</a:t>
            </a:r>
            <a:r>
              <a:rPr lang="en-US" sz="1800" u="sng" dirty="0" spc="-9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toàn</a:t>
            </a:r>
            <a:r>
              <a:rPr lang="en-US" sz="1800" u="sng" dirty="0" spc="-4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bộ nguồn,</a:t>
            </a:r>
            <a:r>
              <a:rPr lang="en-US" sz="1800" u="sng" dirty="0" spc="-7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locator,</a:t>
            </a:r>
            <a:r>
              <a:rPr lang="en-US" sz="1800" u="sng" dirty="0" spc="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mức</a:t>
            </a:r>
            <a:r>
              <a:rPr lang="en-US" sz="1800" u="sng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truy</a:t>
            </a:r>
            <a:r>
              <a:rPr lang="en-US" sz="1800" u="sng" dirty="0" spc="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cập</a:t>
            </a:r>
            <a:r>
              <a:rPr lang="en-US" sz="1800" u="sng" dirty="0" spc="-16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800" u="sng" dirty="0" spc="-1" kern="0">
                <a:solidFill>
                  <a:srgbClr val="EAB6C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800" dirty="0"/>
          </a:p>
        </p:txBody>
      </p:sp>
      <p:pic>
        <p:nvPicPr>
          <p:cNvPr id="14" name="Moda flattened rect-1792809757890-177272135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450" y="419100"/>
            <a:ext cx="571500" cy="571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81ec93b-5b3d-4221-85aa-01a18d8dae6c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2026-10-24T02:44:02Z</dcterms:created>
  <dcterms:modified xsi:type="dcterms:W3CDTF">2026-10-24T02:44:02Z</dcterms:modified>
</cp:coreProperties>
</file>