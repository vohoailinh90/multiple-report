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embeddedFontLst>
    <p:embeddedFont>
      <p:font typeface="Be Vietnam Pro"/>
      <p:regular r:id="rId44"/>
      <p:bold r:id="rId46"/>
    </p:embeddedFont>
    <p:embeddedFont>
      <p:font typeface="Bricolage Grotesque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font" Target="fonts/font1.fntdata"/><Relationship Id="rId45" Type="http://schemas.openxmlformats.org/officeDocument/2006/relationships/font" Target="fonts/font2.fntdata"/><Relationship Id="rId4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3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5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hoailinh90/Multiple-report/blob/psychology/sample-and-coordination/psychology-knowledge/01-Sigmund-Freud/references/f02-research.md" TargetMode="External"/><Relationship Id="rId1" Type="http://schemas.openxmlformats.org/officeDocument/2006/relationships/image" Target="../media/image-27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hoailinh90/Multiple-report/blob/psychology/sample-and-coordination/psychology-knowledge/01-Sigmund-Freud/references/f02-research.md" TargetMode="External"/><Relationship Id="rId1" Type="http://schemas.openxmlformats.org/officeDocument/2006/relationships/image" Target="../media/image-37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10287000"/>
          </a:xfrm>
          <a:prstGeom prst="rect">
            <a:avLst/>
          </a:prstGeom>
          <a:solidFill>
            <a:srgbClr val="7A20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19125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F02 / PSYCHOLOGY KNOWLEDGE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952625"/>
            <a:ext cx="1057275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36" b="1" dirty="0" spc="-1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5536" b="1" dirty="0" spc="1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5536" b="1" dirty="0" spc="-2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5536" b="1" dirty="0" spc="-5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5536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5536" b="1" dirty="0" spc="-3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thức</a:t>
            </a:r>
            <a:endParaRPr lang="en-US" sz="5536" dirty="0"/>
          </a:p>
          <a:p>
            <a:pPr algn="l" indent="0" marL="0">
              <a:buNone/>
            </a:pPr>
            <a:r>
              <a:rPr lang="en-US" sz="5536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có</a:t>
            </a:r>
            <a:r>
              <a:rPr lang="en-US" sz="5536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r>
              <a:rPr lang="en-US" sz="5536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thiết</a:t>
            </a:r>
            <a:r>
              <a:rPr lang="en-US" sz="5536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bị</a:t>
            </a:r>
            <a:r>
              <a:rPr lang="en-US" sz="5536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dồn</a:t>
            </a:r>
            <a:r>
              <a:rPr lang="en-US" sz="5536" b="1" dirty="0" spc="-2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nén?</a:t>
            </a:r>
            <a:endParaRPr lang="en-US" sz="5536" dirty="0"/>
          </a:p>
        </p:txBody>
      </p:sp>
      <p:sp>
        <p:nvSpPr>
          <p:cNvPr id="5" name="Text 3"/>
          <p:cNvSpPr/>
          <p:nvPr/>
        </p:nvSpPr>
        <p:spPr>
          <a:xfrm>
            <a:off x="762000" y="5381625"/>
            <a:ext cx="104775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8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học</a:t>
            </a:r>
            <a:r>
              <a:rPr lang="en-US" sz="2408" dirty="0" spc="3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8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8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8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8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8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408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8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8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khác nhau:</a:t>
            </a:r>
            <a:r>
              <a:rPr lang="en-US" sz="2408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8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8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8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biết,</a:t>
            </a:r>
            <a:r>
              <a:rPr lang="en-US" sz="2408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8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8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8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8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8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8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8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biết?</a:t>
            </a:r>
            <a:r>
              <a:rPr lang="en-US" sz="2408" dirty="0" spc="-7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8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08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8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8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8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8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8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 phân</a:t>
            </a:r>
            <a:r>
              <a:rPr lang="en-US" sz="2408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8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8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8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8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408" dirty="0" spc="-2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8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8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8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8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8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</a:t>
            </a:r>
            <a:r>
              <a:rPr lang="en-US" sz="2408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8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408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tiêu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8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8" dirty="0" spc="-3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8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8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8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8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8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8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8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8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 vi</a:t>
            </a:r>
            <a:r>
              <a:rPr lang="en-US" sz="2408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8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8" dirty="0"/>
          </a:p>
        </p:txBody>
      </p:sp>
      <p:pic>
        <p:nvPicPr>
          <p:cNvPr id="6" name="Moda image rect-1792822442373-962636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039500" y="666750"/>
            <a:ext cx="4400999" cy="6381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0" y="742950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Sigmund</a:t>
            </a:r>
            <a:r>
              <a:rPr lang="en-US" sz="210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Max</a:t>
            </a:r>
            <a:r>
              <a:rPr lang="en-US" sz="21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Halberstadt,</a:t>
            </a:r>
            <a:r>
              <a:rPr lang="en-US" sz="21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1921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763500" y="8905875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Public</a:t>
            </a:r>
            <a:r>
              <a:rPr lang="en-US" sz="16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r>
              <a:rPr lang="en-US" sz="16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2000" y="8382000"/>
            <a:ext cx="333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khái</a:t>
            </a:r>
            <a:r>
              <a:rPr lang="en-US" sz="2100" b="1" dirty="0" spc="-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62000" y="8905875"/>
            <a:ext cx="33337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Conscious</a:t>
            </a:r>
            <a:r>
              <a:rPr lang="en-US" sz="18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Preconscious</a:t>
            </a:r>
            <a:r>
              <a:rPr lang="en-US" sz="18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4476750" y="8382000"/>
            <a:ext cx="333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b="1" dirty="0" spc="-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476750" y="8905875"/>
            <a:ext cx="33337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4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18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8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8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8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8191500" y="8382000"/>
            <a:ext cx="333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kỷ</a:t>
            </a:r>
            <a:r>
              <a:rPr lang="en-US" sz="2100" b="1" dirty="0" spc="-4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191500" y="8905875"/>
            <a:ext cx="33337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75" dirty="0" spc="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18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18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75" dirty="0" spc="-2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8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18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nén.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725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01/37</a:t>
            </a:r>
            <a:endParaRPr lang="en-US" sz="1562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43a66e9-3ae6-45a5-92ee-ba11cf3dcfe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A · LEARNING OBJECTIVES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Sau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bài này, bạn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4500" b="1" dirty="0" spc="-4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pic>
        <p:nvPicPr>
          <p:cNvPr id="4" name="Moda flattened rect-1792822455954-9314802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71475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95287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57200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775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1028700" y="533400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 truy cập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24625" y="3381375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6791325" y="3619500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791325" y="423862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775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6791325" y="5000625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cognitive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nonconscious.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28725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4" name="Text 11"/>
          <p:cNvSpPr/>
          <p:nvPr/>
        </p:nvSpPr>
        <p:spPr>
          <a:xfrm>
            <a:off x="1255395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55395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775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255395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40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2400" dirty="0"/>
          </a:p>
        </p:txBody>
      </p:sp>
      <p:sp>
        <p:nvSpPr>
          <p:cNvPr id="17" name="Connector line-1792822455974-170219837"/>
          <p:cNvSpPr/>
          <p:nvPr/>
        </p:nvSpPr>
        <p:spPr>
          <a:xfrm flipV="1">
            <a:off x="6000750" y="4762500"/>
            <a:ext cx="523875" cy="333375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822455975-839586149"/>
          <p:cNvSpPr/>
          <p:nvPr/>
        </p:nvSpPr>
        <p:spPr>
          <a:xfrm flipV="1">
            <a:off x="11763375" y="4429125"/>
            <a:ext cx="523875" cy="333375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6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mà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đại,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chỉ nhìn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biết”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725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trước;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</a:t>
            </a:r>
            <a:r>
              <a:rPr lang="en-US" sz="1725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172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id–ego–superego.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02/37</a:t>
            </a:r>
            <a:endParaRPr lang="en-US" sz="1562" dirty="0"/>
          </a:p>
        </p:txBody>
      </p:sp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ae1eff6-cf11-4564-baf6-eb5f9a95841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HISTORICAL BACKGROUND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1900: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giấc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mơ</a:t>
            </a:r>
            <a:r>
              <a:rPr lang="en-US" sz="4500" b="1" dirty="0" spc="-4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tới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4500" b="1" dirty="0" spc="-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 thống</a:t>
            </a:r>
            <a:endParaRPr lang="en-US" sz="4500" dirty="0"/>
          </a:p>
        </p:txBody>
      </p:sp>
      <p:pic>
        <p:nvPicPr>
          <p:cNvPr id="4" name="Moda flattened rect-1792822458995-49135426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pic>
        <p:nvPicPr>
          <p:cNvPr id="5" name="Moda image rect-1792822459185-87357279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2000" y="2827734"/>
            <a:ext cx="2476500" cy="32504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71875" y="2857500"/>
            <a:ext cx="1333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1900 · The</a:t>
            </a:r>
            <a:r>
              <a:rPr lang="en-US" sz="3600" b="1" dirty="0" spc="-1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Interpretation</a:t>
            </a:r>
            <a:r>
              <a:rPr lang="en-US" sz="36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of</a:t>
            </a:r>
            <a:r>
              <a:rPr lang="en-US" sz="3600" b="1" dirty="0" spc="-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Dreams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3571875" y="3810000"/>
            <a:ext cx="3048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400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858000" y="3810000"/>
            <a:ext cx="10382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</a:t>
            </a:r>
            <a:r>
              <a:rPr lang="en-US" sz="240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Interpretation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Dreams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571875" y="4648200"/>
            <a:ext cx="3048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858000" y="4648200"/>
            <a:ext cx="10382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Pcs/Ucs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truy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571875" y="5486400"/>
            <a:ext cx="3048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858000" y="5486400"/>
            <a:ext cx="10382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ấn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62000" y="6334125"/>
            <a:ext cx="1647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4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Die</a:t>
            </a:r>
            <a:r>
              <a:rPr lang="en-US" sz="1725" dirty="0" spc="-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Traumdeutung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Commons; nguồn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-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The</a:t>
            </a:r>
            <a:r>
              <a:rPr lang="en-US" sz="2550" dirty="0" spc="-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Interpretation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Dreams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phẫu. Bản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1900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thích;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550" dirty="0"/>
          </a:p>
        </p:txBody>
      </p:sp>
      <p:sp>
        <p:nvSpPr>
          <p:cNvPr id="15" name="Text 11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“1900”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725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thiện.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VII,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03/37</a:t>
            </a:r>
            <a:endParaRPr lang="en-US" sz="1562" dirty="0"/>
          </a:p>
        </p:txBody>
      </p:sp>
      <p:sp>
        <p:nvSpPr>
          <p:cNvPr id="18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4fa2f1a-d920-40a2-990c-a4d90fdc947a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LÀM RÕ THUẬT NGỮ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1912:</a:t>
            </a:r>
            <a:r>
              <a:rPr lang="en-US" sz="4500" b="1" dirty="0" spc="-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dùng</a:t>
            </a:r>
            <a:endParaRPr lang="en-US" sz="4500" dirty="0"/>
          </a:p>
        </p:txBody>
      </p:sp>
      <p:pic>
        <p:nvPicPr>
          <p:cNvPr id="4" name="Moda flattened rect-1792822462050-7364003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098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9813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191250" y="29813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 không</a:t>
            </a:r>
            <a:r>
              <a:rPr lang="en-US" sz="2475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04812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21957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Động</a:t>
            </a:r>
            <a:r>
              <a:rPr lang="en-US" sz="2550" b="1" dirty="0" spc="1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191250" y="421957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75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7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75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578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191250" y="54578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7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75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7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75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43" dirty="0" spc="-5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43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543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Psycho-Analysis,</a:t>
            </a:r>
            <a:r>
              <a:rPr lang="en-US" sz="2543" dirty="0" spc="-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43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43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43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543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</a:t>
            </a:r>
            <a:r>
              <a:rPr lang="en-US" sz="2543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43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43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43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43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43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foreconscious,</a:t>
            </a:r>
            <a:r>
              <a:rPr lang="en-US" sz="2543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43" dirty="0" spc="2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43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43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preconscious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43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nay.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43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43" dirty="0" spc="-2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543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43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43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43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43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43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43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43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543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43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phần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 11/1912;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bìa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1913.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OCR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quote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725" dirty="0" spc="-3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Tr.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312–318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990572b-9bea-49f8-900c-9c0c7fd77d6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Conscious:</a:t>
            </a: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đang</a:t>
            </a:r>
            <a:r>
              <a:rPr lang="en-US" sz="4500" b="1" dirty="0" spc="-4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endParaRPr lang="en-US" sz="4500" dirty="0"/>
          </a:p>
        </p:txBody>
      </p:sp>
      <p:pic>
        <p:nvPicPr>
          <p:cNvPr id="4" name="Moda flattened rect-1792822465035-17630860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905125"/>
            <a:ext cx="5810250" cy="3381375"/>
          </a:xfrm>
          <a:prstGeom prst="roundRect">
            <a:avLst>
              <a:gd name="adj" fmla="val 3380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3286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-6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3375" b="1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1095375" y="4333875"/>
            <a:ext cx="51435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3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8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524750" y="2952750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850" b="1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524750" y="36671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7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262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625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25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625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625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524750" y="4714875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524750" y="5429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7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2625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625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62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625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625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bạn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 hiểu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conscious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“tôi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lo”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 lo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conscious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1725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1725" dirty="0" spc="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725" dirty="0" spc="-3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Tr.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312–313;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do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725" dirty="0" spc="-1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725" dirty="0" spc="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d23f823-9062-4a74-9274-674e9af3ebc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KHẢ NĂNG TRUY CẬP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Preconscious: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-4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gọi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lại</a:t>
            </a:r>
            <a:endParaRPr lang="en-US" sz="4500" dirty="0"/>
          </a:p>
        </p:txBody>
      </p:sp>
      <p:pic>
        <p:nvPicPr>
          <p:cNvPr id="4" name="Moda flattened rect-1792822469115-51291747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775" b="1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775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102870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hiện diện lúc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24625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6791325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791325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775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6791325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ý.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28725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4" name="Text 11"/>
          <p:cNvSpPr/>
          <p:nvPr/>
        </p:nvSpPr>
        <p:spPr>
          <a:xfrm>
            <a:off x="1255395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55395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775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75" b="1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255395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00" dirty="0"/>
          </a:p>
        </p:txBody>
      </p:sp>
      <p:sp>
        <p:nvSpPr>
          <p:cNvPr id="17" name="Connector line-1792822469133-131762884"/>
          <p:cNvSpPr/>
          <p:nvPr/>
        </p:nvSpPr>
        <p:spPr>
          <a:xfrm>
            <a:off x="6000750" y="4429125"/>
            <a:ext cx="523875" cy="95"/>
          </a:xfrm>
          <a:custGeom>
            <a:avLst/>
            <a:gdLst/>
            <a:ahLst/>
            <a:cxnLst/>
            <a:rect l="l" t="t" r="r" b="b"/>
            <a:pathLst>
              <a:path w="523875" h="95">
                <a:moveTo>
                  <a:pt x="0" y="0"/>
                </a:moveTo>
                <a:lnTo>
                  <a:pt x="261937" y="0"/>
                </a:lnTo>
                <a:lnTo>
                  <a:pt x="261937" y="0"/>
                </a:lnTo>
                <a:lnTo>
                  <a:pt x="523875" y="0"/>
                </a:lnTo>
              </a:path>
            </a:pathLst>
          </a:custGeom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822469133-787205919"/>
          <p:cNvSpPr/>
          <p:nvPr/>
        </p:nvSpPr>
        <p:spPr>
          <a:xfrm>
            <a:off x="11763375" y="4429125"/>
            <a:ext cx="523875" cy="95"/>
          </a:xfrm>
          <a:custGeom>
            <a:avLst/>
            <a:gdLst/>
            <a:ahLst/>
            <a:cxnLst/>
            <a:rect l="l" t="t" r="r" b="b"/>
            <a:pathLst>
              <a:path w="523875" h="95">
                <a:moveTo>
                  <a:pt x="0" y="0"/>
                </a:moveTo>
                <a:lnTo>
                  <a:pt x="261937" y="0"/>
                </a:lnTo>
                <a:lnTo>
                  <a:pt x="261937" y="0"/>
                </a:lnTo>
                <a:lnTo>
                  <a:pt x="523875" y="0"/>
                </a:lnTo>
              </a:path>
            </a:pathLst>
          </a:custGeom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6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tên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3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nghĩa mọi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725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cập,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725" dirty="0" spc="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[S1–S2]</a:t>
            </a:r>
            <a:r>
              <a:rPr lang="en-US" sz="172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Pcs/foreconscious;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06/37</a:t>
            </a:r>
            <a:endParaRPr lang="en-US" sz="1562" dirty="0"/>
          </a:p>
        </p:txBody>
      </p:sp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798efc2-15b9-4020-858a-fcd00dff02b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GIẢ THUYẾT VỀ LỰC NGĂN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Unconscious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r>
              <a:rPr lang="en-US" sz="4500" b="1" dirty="0" spc="-3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</a:t>
            </a:r>
            <a:endParaRPr lang="en-US" sz="4500" dirty="0"/>
          </a:p>
        </p:txBody>
      </p:sp>
      <p:pic>
        <p:nvPicPr>
          <p:cNvPr id="4" name="Moda flattened rect-1792822471930-97005513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619500"/>
            <a:ext cx="4476750" cy="2095500"/>
          </a:xfrm>
          <a:prstGeom prst="roundRect">
            <a:avLst>
              <a:gd name="adj" fmla="val 5455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905250"/>
            <a:ext cx="3905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850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47750" y="4667250"/>
            <a:ext cx="3905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715250" y="2857500"/>
            <a:ext cx="9525000" cy="1524000"/>
          </a:xfrm>
          <a:prstGeom prst="roundRect">
            <a:avLst>
              <a:gd name="adj" fmla="val 7500"/>
            </a:avLst>
          </a:prstGeom>
          <a:solidFill>
            <a:srgbClr val="3A2A34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0480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9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Lực</a:t>
            </a:r>
            <a:r>
              <a:rPr lang="en-US" sz="2625" b="1" dirty="0" spc="-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11715750" y="3048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15250" y="4857750"/>
            <a:ext cx="9525000" cy="1524000"/>
          </a:xfrm>
          <a:prstGeom prst="roundRect">
            <a:avLst>
              <a:gd name="adj" fmla="val 7500"/>
            </a:avLst>
          </a:prstGeom>
          <a:solidFill>
            <a:srgbClr val="3A2A34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50482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625" b="1" dirty="0" spc="-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11715750" y="504825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5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có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ấy?</a:t>
            </a:r>
            <a:endParaRPr lang="en-US" sz="2400" dirty="0"/>
          </a:p>
        </p:txBody>
      </p:sp>
      <p:sp>
        <p:nvSpPr>
          <p:cNvPr id="14" name="Connector line-1792822471939-50532164"/>
          <p:cNvSpPr/>
          <p:nvPr/>
        </p:nvSpPr>
        <p:spPr>
          <a:xfrm flipV="1">
            <a:off x="5238750" y="3619500"/>
            <a:ext cx="2476500" cy="1047750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lgDash"/>
            <a:headEnd type="none"/>
            <a:tailEnd type="triangle" w="lg" len="lg"/>
          </a:ln>
        </p:spPr>
      </p:sp>
      <p:sp>
        <p:nvSpPr>
          <p:cNvPr id="15" name="Connector line-1792822471939-343713860"/>
          <p:cNvSpPr/>
          <p:nvPr/>
        </p:nvSpPr>
        <p:spPr>
          <a:xfrm>
            <a:off x="5238750" y="4667250"/>
            <a:ext cx="2476500" cy="952500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-2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ý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lý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cho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 lặng</a:t>
            </a: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nào.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“mô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1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5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xuất”,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725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“khoa</a:t>
            </a:r>
            <a:r>
              <a:rPr lang="en-US" sz="1725" dirty="0" spc="-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minh”</a:t>
            </a:r>
            <a:r>
              <a:rPr lang="en-US" sz="1725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725" dirty="0" spc="-9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725" dirty="0" spc="1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đồ.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725" dirty="0" spc="-3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Tr.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315–316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725" dirty="0" spc="-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dynamic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2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07/37</a:t>
            </a:r>
            <a:endParaRPr lang="en-US" sz="1562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8eb1d0f-da6a-4934-a33c-b7223667093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BẢNG PHÂN BIỆT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 miền không phải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-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-3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endParaRPr lang="en-US" sz="4500" dirty="0"/>
          </a:p>
        </p:txBody>
      </p:sp>
      <p:pic>
        <p:nvPicPr>
          <p:cNvPr id="4" name="Moda flattened rect-1792822731882-31360547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119562"/>
                <a:gridCol w="4119562"/>
                <a:gridCol w="4119562"/>
                <a:gridCol w="4119562"/>
              </a:tblGrid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1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Khái</a:t>
                      </a:r>
                      <a:r>
                        <a:rPr lang="en-US" sz="2250" b="1" dirty="0" spc="0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niệm</a:t>
                      </a:r>
                      <a:endParaRPr lang="en-US" sz="1200" dirty="0"/>
                    </a:p>
                  </a:txBody>
                  <a:tcPr marL="171450" marR="171450" marT="171450" marB="1714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A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Hiện</a:t>
                      </a:r>
                      <a:r>
                        <a:rPr lang="en-US" sz="2250" b="1" dirty="0" spc="0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250" b="1" dirty="0" spc="-2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biết?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A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Khả</a:t>
                      </a:r>
                      <a:r>
                        <a:rPr lang="en-US" sz="2250" b="1" dirty="0" spc="-5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năng</a:t>
                      </a:r>
                      <a:r>
                        <a:rPr lang="en-US" sz="2250" b="1" dirty="0" spc="2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 cập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A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Giả</a:t>
                      </a:r>
                      <a:r>
                        <a:rPr lang="en-US" sz="2250" b="1" dirty="0" spc="-11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thuyết</a:t>
                      </a:r>
                      <a:r>
                        <a:rPr lang="en-US" sz="2250" b="1" dirty="0" spc="13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lực</a:t>
                      </a:r>
                      <a:r>
                        <a:rPr lang="en-US" sz="2250" b="1" dirty="0" spc="-6" kern="0">
                          <a:solidFill>
                            <a:srgbClr val="F5F0E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ngăn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A2038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Conscious</a:t>
                      </a:r>
                      <a:endParaRPr lang="en-US" sz="1200" dirty="0"/>
                    </a:p>
                  </a:txBody>
                  <a:tcPr marL="171450" marR="171450" marT="171450" marB="1714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Đang</a:t>
                      </a:r>
                      <a:r>
                        <a:rPr lang="en-US" sz="2250" dirty="0" spc="-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</a:t>
                      </a:r>
                      <a:r>
                        <a:rPr lang="en-US" sz="2250" dirty="0" spc="0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Chưa</a:t>
                      </a:r>
                      <a:r>
                        <a:rPr lang="en-US" sz="2250" dirty="0" spc="2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 suy</a:t>
                      </a:r>
                      <a:r>
                        <a:rPr lang="en-US" sz="2250" dirty="0" spc="1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lực</a:t>
                      </a:r>
                      <a:r>
                        <a:rPr lang="en-US" sz="2250" dirty="0" spc="-9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ngăn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Preconscious</a:t>
                      </a:r>
                      <a:endParaRPr lang="en-US" sz="1200" dirty="0"/>
                    </a:p>
                  </a:txBody>
                  <a:tcPr marL="171450" marR="171450" marT="171450" marB="1714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DD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Chưa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DD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250" dirty="0" spc="0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</a:t>
                      </a:r>
                      <a:r>
                        <a:rPr lang="en-US" sz="2250" dirty="0" spc="-1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-2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DD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250" dirty="0" spc="3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250" dirty="0" spc="0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250" dirty="0" spc="4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dồn</a:t>
                      </a:r>
                      <a:r>
                        <a:rPr lang="en-US" sz="2250" dirty="0" spc="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nén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DDE0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Dynamic unconscious</a:t>
                      </a:r>
                      <a:endParaRPr lang="en-US" sz="1200" dirty="0"/>
                    </a:p>
                  </a:txBody>
                  <a:tcPr marL="171450" marR="171450" marT="171450" marB="1714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Chưa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Bị</a:t>
                      </a:r>
                      <a:r>
                        <a:rPr lang="en-US" sz="2250" dirty="0" spc="-9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ngăn</a:t>
                      </a:r>
                      <a:r>
                        <a:rPr lang="en-US" sz="2250" dirty="0" spc="-16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2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Phần thêm</a:t>
                      </a:r>
                      <a:r>
                        <a:rPr lang="en-US" sz="2250" dirty="0" spc="1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250" dirty="0" spc="-2" kern="0">
                          <a:solidFill>
                            <a:srgbClr val="23191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endParaRPr lang="en-US" sz="1200" dirty="0"/>
                    </a:p>
                  </a:txBody>
                  <a:tcPr marL="171450" marR="171450" marT="171450" marB="171450">
                    <a:lnL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5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8E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Conscious,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preconscious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 giúp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nhận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phân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tỉnh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cột: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giả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là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niệm;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 chẩn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1725" dirty="0"/>
          </a:p>
        </p:txBody>
      </p:sp>
      <p:sp>
        <p:nvSpPr>
          <p:cNvPr id="8" name="Text 4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[S1–S3]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F02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725" dirty="0"/>
          </a:p>
        </p:txBody>
      </p:sp>
      <p:sp>
        <p:nvSpPr>
          <p:cNvPr id="9" name="Text 5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7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Visual</a:t>
            </a:r>
            <a:r>
              <a:rPr lang="en-US" sz="157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08/37</a:t>
            </a:r>
            <a:endParaRPr lang="en-US" sz="1575" dirty="0"/>
          </a:p>
        </p:txBody>
      </p:sp>
      <p:sp>
        <p:nvSpPr>
          <p:cNvPr id="10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3280d079-5de6-4e84-973e-b0dd17f2e86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QUY TẮC TRONG MÔ HÌNH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Unconscious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kho ký</a:t>
            </a:r>
            <a:r>
              <a:rPr lang="en-US" sz="4500" b="1" dirty="0" spc="-4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ức</a:t>
            </a:r>
            <a:endParaRPr lang="en-US" sz="4500" dirty="0"/>
          </a:p>
        </p:txBody>
      </p:sp>
      <p:pic>
        <p:nvPicPr>
          <p:cNvPr id="4" name="Moda flattened rect-1792822477622-39412893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1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Condensation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1047750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liên hệ → một biểu hiện trong diễn giải.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382125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9667875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Displacement</a:t>
            </a:r>
            <a:endParaRPr lang="en-US" sz="2925" dirty="0"/>
          </a:p>
        </p:txBody>
      </p:sp>
      <p:sp>
        <p:nvSpPr>
          <p:cNvPr id="10" name="Text 7"/>
          <p:cNvSpPr/>
          <p:nvPr/>
        </p:nvSpPr>
        <p:spPr>
          <a:xfrm>
            <a:off x="9667875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hệ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2857500" y="5476875"/>
            <a:ext cx="12573000" cy="952500"/>
          </a:xfrm>
          <a:prstGeom prst="roundRect">
            <a:avLst>
              <a:gd name="adj" fmla="val 12000"/>
            </a:avLst>
          </a:prstGeom>
          <a:solidFill>
            <a:srgbClr val="7A2038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0" y="5667375"/>
            <a:ext cx="342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b="1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0" y="5667375"/>
            <a:ext cx="819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Museum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nó,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condensation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displacement.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ngữ: nhiều liên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 tụ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hiện,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hệ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725" dirty="0" spc="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ngữ;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F09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Characteristics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 the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c258d21-8638-4e36-aa69-2f90b257656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RANH GIỚI VỚI F03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Đừng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ghép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conscious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</a:t>
            </a:r>
            <a:r>
              <a:rPr lang="en-US" sz="4500" b="1" dirty="0" spc="-3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ego,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unconscious =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id</a:t>
            </a:r>
            <a:endParaRPr lang="en-US" sz="4500" dirty="0"/>
          </a:p>
        </p:txBody>
      </p:sp>
      <p:pic>
        <p:nvPicPr>
          <p:cNvPr id="4" name="Moda flattened rect-1792822480918-96720851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hình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1047750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 hệ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382125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9667875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925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925" dirty="0"/>
          </a:p>
        </p:txBody>
      </p:sp>
      <p:sp>
        <p:nvSpPr>
          <p:cNvPr id="10" name="Text 7"/>
          <p:cNvSpPr/>
          <p:nvPr/>
        </p:nvSpPr>
        <p:spPr>
          <a:xfrm>
            <a:off x="9667875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Id,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ego,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F03.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2857500" y="5476875"/>
            <a:ext cx="12573000" cy="952500"/>
          </a:xfrm>
          <a:prstGeom prst="roundRect">
            <a:avLst>
              <a:gd name="adj" fmla="val 12000"/>
            </a:avLst>
          </a:prstGeom>
          <a:solidFill>
            <a:srgbClr val="7A2038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0" y="5667375"/>
            <a:ext cx="342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0" y="5667375"/>
            <a:ext cx="819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Ép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2550" dirty="0" spc="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id,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ego,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một–một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của từ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 Cần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725" dirty="0" spc="-1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tập;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725" dirty="0" spc="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ý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C;</a:t>
            </a:r>
            <a:r>
              <a:rPr lang="en-US" sz="1725" dirty="0" spc="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725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c819ae2-5564-4d2a-9762-656f1a335e0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PSYCHOLOGICAL MECHANISM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Đường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thông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tin</a:t>
            </a:r>
            <a:r>
              <a:rPr lang="en-US" sz="4500" b="1" dirty="0" spc="-4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gọi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lại</a:t>
            </a:r>
            <a:endParaRPr lang="en-US" sz="4500" dirty="0"/>
          </a:p>
        </p:txBody>
      </p:sp>
      <p:pic>
        <p:nvPicPr>
          <p:cNvPr id="4" name="Moda flattened rect-1792822483735-11571349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775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75" b="1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775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102870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24625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6791325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791325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775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75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75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6791325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28725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4" name="Text 11"/>
          <p:cNvSpPr/>
          <p:nvPr/>
        </p:nvSpPr>
        <p:spPr>
          <a:xfrm>
            <a:off x="1255395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55395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775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75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75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255395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lại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400" dirty="0"/>
          </a:p>
        </p:txBody>
      </p:sp>
      <p:sp>
        <p:nvSpPr>
          <p:cNvPr id="17" name="Connector line-1792822483748-503068542"/>
          <p:cNvSpPr/>
          <p:nvPr/>
        </p:nvSpPr>
        <p:spPr>
          <a:xfrm>
            <a:off x="6000750" y="4429125"/>
            <a:ext cx="523875" cy="95"/>
          </a:xfrm>
          <a:custGeom>
            <a:avLst/>
            <a:gdLst/>
            <a:ahLst/>
            <a:cxnLst/>
            <a:rect l="l" t="t" r="r" b="b"/>
            <a:pathLst>
              <a:path w="523875" h="95">
                <a:moveTo>
                  <a:pt x="0" y="0"/>
                </a:moveTo>
                <a:lnTo>
                  <a:pt x="261937" y="0"/>
                </a:lnTo>
                <a:lnTo>
                  <a:pt x="261937" y="0"/>
                </a:lnTo>
                <a:lnTo>
                  <a:pt x="523875" y="0"/>
                </a:lnTo>
              </a:path>
            </a:pathLst>
          </a:custGeom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822483748-427703516"/>
          <p:cNvSpPr/>
          <p:nvPr/>
        </p:nvSpPr>
        <p:spPr>
          <a:xfrm>
            <a:off x="11763375" y="4429125"/>
            <a:ext cx="523875" cy="95"/>
          </a:xfrm>
          <a:custGeom>
            <a:avLst/>
            <a:gdLst/>
            <a:ahLst/>
            <a:cxnLst/>
            <a:rect l="l" t="t" r="r" b="b"/>
            <a:pathLst>
              <a:path w="523875" h="95">
                <a:moveTo>
                  <a:pt x="0" y="0"/>
                </a:moveTo>
                <a:lnTo>
                  <a:pt x="261937" y="0"/>
                </a:lnTo>
                <a:lnTo>
                  <a:pt x="261937" y="0"/>
                </a:lnTo>
                <a:lnTo>
                  <a:pt x="523875" y="0"/>
                </a:lnTo>
              </a:path>
            </a:pathLst>
          </a:custGeom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6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 có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bước: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550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lại.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chỉ cho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bị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725" dirty="0" spc="-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do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725" dirty="0" spc="-1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725" dirty="0" spc="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11/37</a:t>
            </a:r>
            <a:endParaRPr lang="en-US" sz="1562" dirty="0"/>
          </a:p>
        </p:txBody>
      </p:sp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01b9e70-51a5-405e-8cd1-cf89f519da3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MÔ HÌNH GIẢ ĐỊNH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Đường</a:t>
            </a:r>
            <a:r>
              <a:rPr lang="en-US" sz="4500" b="1" dirty="0" spc="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chuỗi</a:t>
            </a:r>
            <a:r>
              <a:rPr lang="en-US" sz="4500" b="1" dirty="0" spc="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r>
              <a:rPr lang="en-US" sz="4500" b="1" dirty="0" spc="-3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</a:t>
            </a:r>
            <a:r>
              <a:rPr lang="en-US" sz="4500" b="1" dirty="0" spc="-4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</a:t>
            </a:r>
            <a:r>
              <a:rPr lang="en-US" sz="45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xuất</a:t>
            </a:r>
            <a:endParaRPr lang="en-US" sz="4500" dirty="0"/>
          </a:p>
        </p:txBody>
      </p:sp>
      <p:pic>
        <p:nvPicPr>
          <p:cNvPr id="4" name="Moda flattened rect-1792822486568-3941253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775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102870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24625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3A2A34"/>
          </a:solidFill>
          <a:ln/>
        </p:spPr>
      </p:sp>
      <p:sp>
        <p:nvSpPr>
          <p:cNvPr id="10" name="Text 7"/>
          <p:cNvSpPr/>
          <p:nvPr/>
        </p:nvSpPr>
        <p:spPr>
          <a:xfrm>
            <a:off x="6791325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791325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775" b="1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75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75" b="1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6791325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28725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3A2A34"/>
          </a:solidFill>
          <a:ln/>
        </p:spPr>
      </p:sp>
      <p:sp>
        <p:nvSpPr>
          <p:cNvPr id="14" name="Text 11"/>
          <p:cNvSpPr/>
          <p:nvPr/>
        </p:nvSpPr>
        <p:spPr>
          <a:xfrm>
            <a:off x="1255395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55395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Diễn</a:t>
            </a:r>
            <a:r>
              <a:rPr lang="en-US" sz="2775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75" b="1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75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255395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thế.</a:t>
            </a:r>
            <a:endParaRPr lang="en-US" sz="2400" dirty="0"/>
          </a:p>
        </p:txBody>
      </p:sp>
      <p:sp>
        <p:nvSpPr>
          <p:cNvPr id="17" name="Connector line-1792822486579-656576423"/>
          <p:cNvSpPr/>
          <p:nvPr/>
        </p:nvSpPr>
        <p:spPr>
          <a:xfrm>
            <a:off x="6000750" y="4429125"/>
            <a:ext cx="523875" cy="95"/>
          </a:xfrm>
          <a:custGeom>
            <a:avLst/>
            <a:gdLst/>
            <a:ahLst/>
            <a:cxnLst/>
            <a:rect l="l" t="t" r="r" b="b"/>
            <a:pathLst>
              <a:path w="523875" h="95">
                <a:moveTo>
                  <a:pt x="0" y="0"/>
                </a:moveTo>
                <a:lnTo>
                  <a:pt x="261937" y="0"/>
                </a:lnTo>
                <a:lnTo>
                  <a:pt x="261937" y="0"/>
                </a:lnTo>
                <a:lnTo>
                  <a:pt x="523875" y="0"/>
                </a:lnTo>
              </a:path>
            </a:pathLst>
          </a:custGeom>
          <a:ln w="28575">
            <a:solidFill>
              <a:srgbClr val="DCAF8A"/>
            </a:solidFill>
            <a:prstDash val="lgDash"/>
            <a:headEnd type="none"/>
            <a:tailEnd type="triangle" w="lg" len="lg"/>
          </a:ln>
        </p:spPr>
      </p:sp>
      <p:sp>
        <p:nvSpPr>
          <p:cNvPr id="18" name="Connector line-1792822486579-849024294"/>
          <p:cNvSpPr/>
          <p:nvPr/>
        </p:nvSpPr>
        <p:spPr>
          <a:xfrm>
            <a:off x="11763375" y="4429125"/>
            <a:ext cx="523875" cy="95"/>
          </a:xfrm>
          <a:custGeom>
            <a:avLst/>
            <a:gdLst/>
            <a:ahLst/>
            <a:cxnLst/>
            <a:rect l="l" t="t" r="r" b="b"/>
            <a:pathLst>
              <a:path w="523875" h="95">
                <a:moveTo>
                  <a:pt x="0" y="0"/>
                </a:moveTo>
                <a:lnTo>
                  <a:pt x="261937" y="0"/>
                </a:lnTo>
                <a:lnTo>
                  <a:pt x="261937" y="0"/>
                </a:lnTo>
                <a:lnTo>
                  <a:pt x="523875" y="0"/>
                </a:lnTo>
              </a:path>
            </a:pathLst>
          </a:custGeom>
          <a:ln w="28575">
            <a:solidFill>
              <a:srgbClr val="DCAF8A"/>
            </a:solidFill>
            <a:prstDash val="lgDash"/>
            <a:headEnd type="none"/>
            <a:tailEnd type="triangle" w="lg" len="lg"/>
          </a:ln>
        </p:spPr>
      </p:sp>
      <p:sp>
        <p:nvSpPr>
          <p:cNvPr id="19" name="Text 16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chấp nhận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ảnh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hệ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r>
              <a:rPr lang="en-US" sz="2550" dirty="0" spc="-8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phân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 tự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1725" dirty="0" spc="-9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725" dirty="0" spc="2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đứt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 quan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725" dirty="0" spc="6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-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-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725" dirty="0" spc="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[S2–S3]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F02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12/37</a:t>
            </a:r>
            <a:endParaRPr lang="en-US" sz="1562" dirty="0"/>
          </a:p>
        </p:txBody>
      </p:sp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9173f5f-7d0b-4006-9360-dcf176311e2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GIỮ GIẢ THUYẾT CÓ THỂ SỬA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Đồng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4500" b="1" dirty="0" spc="-4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r>
              <a:rPr lang="en-US" sz="4500" b="1" dirty="0" spc="-1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endParaRPr lang="en-US" sz="4500" dirty="0"/>
          </a:p>
        </p:txBody>
      </p:sp>
      <p:pic>
        <p:nvPicPr>
          <p:cNvPr id="4" name="Moda flattened rect-1792822489468-91810316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925" b="1" dirty="0" spc="-2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925" b="1" dirty="0" spc="-1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tròn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1047750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đúng;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382125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9667875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925" b="1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925" b="1" dirty="0" spc="-1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925" b="1" dirty="0" spc="-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925" dirty="0"/>
          </a:p>
        </p:txBody>
      </p:sp>
      <p:sp>
        <p:nvSpPr>
          <p:cNvPr id="10" name="Text 7"/>
          <p:cNvSpPr/>
          <p:nvPr/>
        </p:nvSpPr>
        <p:spPr>
          <a:xfrm>
            <a:off x="9667875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2857500" y="5476875"/>
            <a:ext cx="12573000" cy="952500"/>
          </a:xfrm>
          <a:prstGeom prst="roundRect">
            <a:avLst>
              <a:gd name="adj" fmla="val 12000"/>
            </a:avLst>
          </a:prstGeom>
          <a:solidFill>
            <a:srgbClr val="7A2038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0" y="5667375"/>
            <a:ext cx="342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Tôn</a:t>
            </a:r>
            <a:r>
              <a:rPr lang="en-US" sz="2400" b="1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0" y="5667375"/>
            <a:ext cx="819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đối,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resistance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 đúng.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câu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 mọi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“chưa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725" dirty="0" spc="-1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ra”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72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Phản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dfb14e3-d324-4281-8df5-f54b06d3e2b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 1/3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nhớ</a:t>
            </a:r>
            <a:r>
              <a:rPr lang="en-US" sz="4500" b="1" dirty="0" spc="-3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ra</a:t>
            </a:r>
            <a:r>
              <a:rPr lang="en-US" sz="4500" b="1" dirty="0" spc="-1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tên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bạn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cũ</a:t>
            </a:r>
            <a:endParaRPr lang="en-US" sz="4500" dirty="0"/>
          </a:p>
        </p:txBody>
      </p:sp>
      <p:pic>
        <p:nvPicPr>
          <p:cNvPr id="4" name="Moda flattened rect-1792822492774-57552086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905125"/>
            <a:ext cx="5810250" cy="3381375"/>
          </a:xfrm>
          <a:prstGeom prst="roundRect">
            <a:avLst>
              <a:gd name="adj" fmla="val 3380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3286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3375" b="1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1095375" y="4333875"/>
            <a:ext cx="51435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nghĩ tới → được hỏi → nhớ ra.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524750" y="2952750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2850" b="1" dirty="0" spc="-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524750" y="36671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625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625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524750" y="4714875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524750" y="5429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625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625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hàng;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r>
              <a:rPr lang="en-US" sz="2550" dirty="0" spc="-8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 ý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 cũng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mâu thuẫn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 cần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điền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1725" dirty="0" spc="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725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72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E1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 giả</a:t>
            </a:r>
            <a:r>
              <a:rPr lang="en-US" sz="1725" dirty="0" spc="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b8b8522-2445-4cba-b2d4-82b0c299a80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 2/3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-3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gõ</a:t>
            </a:r>
            <a:r>
              <a:rPr lang="en-US" sz="4500" b="1" dirty="0" spc="-4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nhưng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khó</a:t>
            </a:r>
            <a:r>
              <a:rPr lang="en-US" sz="4500" b="1" dirty="0" spc="1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thành</a:t>
            </a:r>
            <a:r>
              <a:rPr lang="en-US" sz="4500" b="1" dirty="0" spc="-1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endParaRPr lang="en-US" sz="4500" dirty="0"/>
          </a:p>
        </p:txBody>
      </p:sp>
      <p:pic>
        <p:nvPicPr>
          <p:cNvPr id="4" name="Moda flattened rect-1792822497244-43708494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pic>
        <p:nvPicPr>
          <p:cNvPr id="5" name="Moda image rect-1792822497621-5573125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04938" y="2762250"/>
            <a:ext cx="5286375" cy="3524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05750" y="2857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5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10953750" y="2857500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quen.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905750" y="4048125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Diễn</a:t>
            </a:r>
            <a:r>
              <a:rPr lang="en-US" sz="2550" b="1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10953750" y="4048125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 tượng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905750" y="52387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b="1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10953750" y="5238750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40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62000" y="6400800"/>
            <a:ext cx="1647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725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Kaitlyn</a:t>
            </a:r>
            <a:r>
              <a:rPr lang="en-US" sz="1725" dirty="0" spc="-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Baker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Unsplash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Hương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hình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thao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tự.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khác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đạt.</a:t>
            </a:r>
            <a:r>
              <a:rPr lang="en-US" sz="2550" dirty="0" spc="-7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phím,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phép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implicit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memory.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550" dirty="0"/>
          </a:p>
        </p:txBody>
      </p:sp>
      <p:sp>
        <p:nvSpPr>
          <p:cNvPr id="14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725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xem.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E2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Tình huống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15/37</a:t>
            </a:r>
            <a:endParaRPr lang="en-US" sz="1562" dirty="0"/>
          </a:p>
        </p:txBody>
      </p:sp>
      <p:sp>
        <p:nvSpPr>
          <p:cNvPr id="17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0c7adcc-767a-42c3-bd97-6f1b3a3a78a1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 3/3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 3:</a:t>
            </a:r>
            <a:r>
              <a:rPr lang="en-US" sz="4500" b="1" dirty="0" spc="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Quân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nói</a:t>
            </a:r>
            <a:r>
              <a:rPr lang="en-US" sz="4500" b="1" dirty="0" spc="-1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cuộc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họp</a:t>
            </a:r>
            <a:endParaRPr lang="en-US" sz="4500" dirty="0"/>
          </a:p>
        </p:txBody>
      </p:sp>
      <p:pic>
        <p:nvPicPr>
          <p:cNvPr id="4" name="Moda flattened rect-1792822740049-23527846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381375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850" b="1" dirty="0" spc="-1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47750" y="4333875"/>
            <a:ext cx="46672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Giằng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625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625" dirty="0"/>
          </a:p>
        </p:txBody>
      </p:sp>
      <p:sp>
        <p:nvSpPr>
          <p:cNvPr id="8" name="Shape 5"/>
          <p:cNvSpPr/>
          <p:nvPr/>
        </p:nvSpPr>
        <p:spPr>
          <a:xfrm>
            <a:off x="6524625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6810375" y="3381375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 cảnh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810375" y="4333875"/>
            <a:ext cx="46672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gian,</a:t>
            </a:r>
            <a:r>
              <a:rPr lang="en-US" sz="2625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625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625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2287250" y="3048000"/>
            <a:ext cx="5238750" cy="3143250"/>
          </a:xfrm>
          <a:prstGeom prst="roundRect">
            <a:avLst>
              <a:gd name="adj" fmla="val 3636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12573000" y="3381375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8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573000" y="4333875"/>
            <a:ext cx="46672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Quân</a:t>
            </a:r>
            <a:r>
              <a:rPr lang="en-US" sz="2625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625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625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625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Quân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giằng co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 họp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trừng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Quân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 cảnh không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im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1725" dirty="0" spc="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E3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Tình huống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7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Visual</a:t>
            </a:r>
            <a:r>
              <a:rPr lang="en-US" sz="157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16/37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d88a761-d0a0-435a-96cb-d409da05a2f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1/3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 Linh:</a:t>
            </a:r>
            <a:r>
              <a:rPr lang="en-US" sz="4500" b="1" dirty="0" spc="-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ta</a:t>
            </a:r>
            <a:r>
              <a:rPr lang="en-US" sz="45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thật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sự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 liệu</a:t>
            </a:r>
            <a:r>
              <a:rPr lang="en-US" sz="4500" b="1" dirty="0" spc="-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pic>
        <p:nvPicPr>
          <p:cNvPr id="4" name="Moda flattened rect-1792822503440-4863542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2667000"/>
            <a:ext cx="16478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CA GIẢ ĐỊNH · HỒ SƠ QUAN SÁT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762000" y="3476625"/>
            <a:ext cx="5238750" cy="2667000"/>
          </a:xfrm>
          <a:prstGeom prst="roundRect">
            <a:avLst>
              <a:gd name="adj" fmla="val 4286"/>
            </a:avLst>
          </a:prstGeom>
          <a:solidFill>
            <a:srgbClr val="3A2A34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376237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b="1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47750" y="4667250"/>
            <a:ext cx="466725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6524625" y="3476625"/>
            <a:ext cx="5238750" cy="2667000"/>
          </a:xfrm>
          <a:prstGeom prst="roundRect">
            <a:avLst>
              <a:gd name="adj" fmla="val 4286"/>
            </a:avLst>
          </a:prstGeom>
          <a:solidFill>
            <a:srgbClr val="3A2A34"/>
          </a:solidFill>
          <a:ln/>
        </p:spPr>
      </p:sp>
      <p:sp>
        <p:nvSpPr>
          <p:cNvPr id="10" name="Text 7"/>
          <p:cNvSpPr/>
          <p:nvPr/>
        </p:nvSpPr>
        <p:spPr>
          <a:xfrm>
            <a:off x="6810375" y="376237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b="1" dirty="0" spc="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810375" y="4667250"/>
            <a:ext cx="466725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12287250" y="3476625"/>
            <a:ext cx="5238750" cy="2667000"/>
          </a:xfrm>
          <a:prstGeom prst="roundRect">
            <a:avLst>
              <a:gd name="adj" fmla="val 4286"/>
            </a:avLst>
          </a:prstGeom>
          <a:solidFill>
            <a:srgbClr val="3A2A34"/>
          </a:solidFill>
          <a:ln/>
        </p:spPr>
      </p:sp>
      <p:sp>
        <p:nvSpPr>
          <p:cNvPr id="13" name="Text 10"/>
          <p:cNvSpPr/>
          <p:nvPr/>
        </p:nvSpPr>
        <p:spPr>
          <a:xfrm>
            <a:off x="12573000" y="376237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3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2573000" y="4667250"/>
            <a:ext cx="466725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8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8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sao”.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Linh,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tuổi,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biện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bị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đốc.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 im.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lâm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sàng. Dữ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bị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gia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tiểu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1725" dirty="0" spc="-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725" dirty="0" spc="5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Linh.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 ·</a:t>
            </a:r>
            <a:r>
              <a:rPr lang="en-US" sz="1725" dirty="0" spc="-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6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2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17/37</a:t>
            </a:r>
            <a:endParaRPr lang="en-US" sz="1562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9745cc7-9f84-44fb-8a03-681e42216e3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2/3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Bốn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thuyết,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bốn</a:t>
            </a:r>
            <a:r>
              <a:rPr lang="en-US" sz="4500" b="1" dirty="0" spc="-3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hướng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thập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thông tin</a:t>
            </a:r>
            <a:endParaRPr lang="en-US" sz="4500" dirty="0"/>
          </a:p>
        </p:txBody>
      </p:sp>
      <p:pic>
        <p:nvPicPr>
          <p:cNvPr id="4" name="Moda flattened rect-1792822506283-68549545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09875"/>
            <a:ext cx="16478250" cy="838200"/>
          </a:xfrm>
          <a:prstGeom prst="roundRect">
            <a:avLst>
              <a:gd name="adj" fmla="val 13636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981325"/>
            <a:ext cx="4667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191250" y="2981325"/>
            <a:ext cx="10668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có</a:t>
            </a:r>
            <a:r>
              <a:rPr lang="en-US" sz="2475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75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475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3743325"/>
            <a:ext cx="16478250" cy="838200"/>
          </a:xfrm>
          <a:prstGeom prst="roundRect">
            <a:avLst>
              <a:gd name="adj" fmla="val 13636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3914775"/>
            <a:ext cx="4667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Hậu</a:t>
            </a:r>
            <a:r>
              <a:rPr lang="en-US" sz="2550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191250" y="3914775"/>
            <a:ext cx="10668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247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75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75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4676775"/>
            <a:ext cx="16478250" cy="838200"/>
          </a:xfrm>
          <a:prstGeom prst="roundRect">
            <a:avLst>
              <a:gd name="adj" fmla="val 13636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4848225"/>
            <a:ext cx="4667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550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191250" y="4848225"/>
            <a:ext cx="10668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47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làm</a:t>
            </a: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khác?</a:t>
            </a:r>
            <a:endParaRPr lang="en-US" sz="2475" dirty="0"/>
          </a:p>
        </p:txBody>
      </p:sp>
      <p:sp>
        <p:nvSpPr>
          <p:cNvPr id="14" name="Shape 11"/>
          <p:cNvSpPr/>
          <p:nvPr/>
        </p:nvSpPr>
        <p:spPr>
          <a:xfrm>
            <a:off x="762000" y="5610225"/>
            <a:ext cx="16478250" cy="838200"/>
          </a:xfrm>
          <a:prstGeom prst="roundRect">
            <a:avLst>
              <a:gd name="adj" fmla="val 13636"/>
            </a:avLst>
          </a:prstGeom>
          <a:solidFill>
            <a:srgbClr val="DDE8E5"/>
          </a:solidFill>
          <a:ln/>
        </p:spPr>
      </p:sp>
      <p:sp>
        <p:nvSpPr>
          <p:cNvPr id="15" name="Text 12"/>
          <p:cNvSpPr/>
          <p:nvPr/>
        </p:nvSpPr>
        <p:spPr>
          <a:xfrm>
            <a:off x="1047750" y="5781675"/>
            <a:ext cx="4667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Giằng</a:t>
            </a:r>
            <a:r>
              <a:rPr lang="en-US" sz="2550" b="1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6191250" y="5781675"/>
            <a:ext cx="10668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75" dirty="0" spc="-3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75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 cơ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 nói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 quả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nguyện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 dự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 Giằng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Linh mô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riêng;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cho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725" dirty="0" spc="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725" dirty="0" spc="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725" dirty="0" spc="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 ·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endParaRPr lang="en-US" sz="1725" dirty="0"/>
          </a:p>
        </p:txBody>
      </p:sp>
      <p:sp>
        <p:nvSpPr>
          <p:cNvPr id="20" name="Text 1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18/37</a:t>
            </a:r>
            <a:endParaRPr lang="en-US" sz="1562" dirty="0"/>
          </a:p>
        </p:txBody>
      </p:sp>
      <p:sp>
        <p:nvSpPr>
          <p:cNvPr id="21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4e12200-448b-411d-9108-4a173d79bef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3/3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4500" b="1" dirty="0" spc="-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sẽ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khiến</a:t>
            </a:r>
            <a:r>
              <a:rPr lang="en-US" sz="4500" b="1" dirty="0" spc="-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ta</a:t>
            </a:r>
            <a:r>
              <a:rPr lang="en-US" sz="4500" b="1" dirty="0" spc="-3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-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hiểu?</a:t>
            </a:r>
            <a:endParaRPr lang="en-US" sz="4500" dirty="0"/>
          </a:p>
        </p:txBody>
      </p:sp>
      <p:pic>
        <p:nvPicPr>
          <p:cNvPr id="4" name="Moda flattened rect-1792822510581-3310832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619500"/>
            <a:ext cx="4476750" cy="2095500"/>
          </a:xfrm>
          <a:prstGeom prst="roundRect">
            <a:avLst>
              <a:gd name="adj" fmla="val 5455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905250"/>
            <a:ext cx="3905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850" b="1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b="1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47750" y="4667250"/>
            <a:ext cx="3905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hậu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715250" y="2857500"/>
            <a:ext cx="9525000" cy="1524000"/>
          </a:xfrm>
          <a:prstGeom prst="roundRect">
            <a:avLst>
              <a:gd name="adj" fmla="val 7500"/>
            </a:avLst>
          </a:prstGeom>
          <a:solidFill>
            <a:srgbClr val="EADDE0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0480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1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625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b="1" dirty="0" spc="-1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11715750" y="3048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15250" y="4857750"/>
            <a:ext cx="9525000" cy="1524000"/>
          </a:xfrm>
          <a:prstGeom prst="roundRect">
            <a:avLst>
              <a:gd name="adj" fmla="val 7500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50482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47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625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625" b="1" dirty="0" spc="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625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11715750" y="504825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nén.</a:t>
            </a:r>
            <a:endParaRPr lang="en-US" sz="2400" dirty="0"/>
          </a:p>
        </p:txBody>
      </p:sp>
      <p:sp>
        <p:nvSpPr>
          <p:cNvPr id="14" name="Connector line-1792822510587-14913335"/>
          <p:cNvSpPr/>
          <p:nvPr/>
        </p:nvSpPr>
        <p:spPr>
          <a:xfrm flipV="1">
            <a:off x="5238750" y="3619500"/>
            <a:ext cx="2476500" cy="1047750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822510587-377218521"/>
          <p:cNvSpPr/>
          <p:nvPr/>
        </p:nvSpPr>
        <p:spPr>
          <a:xfrm>
            <a:off x="5238750" y="4667250"/>
            <a:ext cx="2476500" cy="952500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biện, giả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hẹp.</a:t>
            </a:r>
            <a:r>
              <a:rPr lang="en-US" sz="2550" dirty="0" spc="-7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r>
              <a:rPr lang="en-US" sz="2550" dirty="0" spc="-3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là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 dồn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nén,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2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725" dirty="0" spc="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case.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 ·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19/37</a:t>
            </a:r>
            <a:endParaRPr lang="en-US" sz="1562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2eb5f73-f7c0-44bd-9604-56eaab1beb6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Cognitive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nonconscious: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00" b="1" dirty="0" spc="-2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từ,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phép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endParaRPr lang="en-US" sz="4500" dirty="0"/>
          </a:p>
        </p:txBody>
      </p:sp>
      <p:pic>
        <p:nvPicPr>
          <p:cNvPr id="4" name="Moda flattened rect-1792822513443-76962160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3A2A34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925" b="1" dirty="0" spc="1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1047750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382125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293C3A"/>
          </a:solidFill>
          <a:ln/>
        </p:spPr>
      </p:sp>
      <p:sp>
        <p:nvSpPr>
          <p:cNvPr id="9" name="Text 6"/>
          <p:cNvSpPr/>
          <p:nvPr/>
        </p:nvSpPr>
        <p:spPr>
          <a:xfrm>
            <a:off x="9667875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7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Động</a:t>
            </a:r>
            <a:r>
              <a:rPr lang="en-US" sz="2925" b="1" dirty="0" spc="1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925" dirty="0"/>
          </a:p>
        </p:txBody>
      </p:sp>
      <p:sp>
        <p:nvSpPr>
          <p:cNvPr id="10" name="Text 7"/>
          <p:cNvSpPr/>
          <p:nvPr/>
        </p:nvSpPr>
        <p:spPr>
          <a:xfrm>
            <a:off x="9667875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2857500" y="5476875"/>
            <a:ext cx="12573000" cy="952500"/>
          </a:xfrm>
          <a:prstGeom prst="roundRect">
            <a:avLst>
              <a:gd name="adj" fmla="val 12000"/>
            </a:avLst>
          </a:prstGeom>
          <a:solidFill>
            <a:srgbClr val="7A2038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0" y="5667375"/>
            <a:ext cx="342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b="1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0" y="5667375"/>
            <a:ext cx="819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55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550" dirty="0" spc="-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giả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dồn nén.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S4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725" dirty="0" spc="5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725" dirty="0" spc="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725" dirty="0" spc="-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abstract;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6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725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1725" dirty="0" spc="-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725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725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725" dirty="0" spc="1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725" dirty="0" spc="6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1725" dirty="0" spc="1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725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Kihlstrom</a:t>
            </a:r>
            <a:r>
              <a:rPr lang="en-US" sz="1725" dirty="0" spc="-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(1987),</a:t>
            </a:r>
            <a:r>
              <a:rPr lang="en-US" sz="1725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725" dirty="0" spc="-1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đầu/abstract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81637fc-fb81-4f84-bc68-04939da0a83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CHẤT LƯỢNG PHÉP ĐO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hồi</a:t>
            </a:r>
            <a:r>
              <a:rPr lang="en-US" sz="4500" b="1" dirty="0" spc="-3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</a:t>
            </a:r>
            <a:r>
              <a:rPr lang="en-US" sz="4500" b="1" dirty="0" spc="-2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00" b="1" dirty="0" spc="1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đo</a:t>
            </a: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hết</a:t>
            </a: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awareness</a:t>
            </a:r>
            <a:endParaRPr lang="en-US" sz="4500" dirty="0"/>
          </a:p>
        </p:txBody>
      </p:sp>
      <p:pic>
        <p:nvPicPr>
          <p:cNvPr id="4" name="Moda flattened rect-1792822520274-38835037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098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9813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b="1" dirty="0" spc="-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191250" y="29813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liên quan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75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04812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21957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b="1" dirty="0" spc="1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191250" y="421957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75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75" dirty="0" spc="-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7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578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550" b="1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b="1" dirty="0" spc="7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191250" y="54578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475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475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475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Newell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Shanks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mạnh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xét,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âm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giải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cho phép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pháp,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725" dirty="0" spc="-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-2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e2456a5-a293-400c-b839-08d5dad3edd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NGUỒN HIỆN ĐẠI 1/2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5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Review</a:t>
            </a:r>
            <a:r>
              <a:rPr lang="en-US" sz="4500" b="1" dirty="0" spc="-2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2024: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chủ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-4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khách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nhau</a:t>
            </a:r>
            <a:endParaRPr lang="en-US" sz="4500" dirty="0"/>
          </a:p>
        </p:txBody>
      </p:sp>
      <p:pic>
        <p:nvPicPr>
          <p:cNvPr id="4" name="Moda flattened rect-1792822523374-4279532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098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9813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5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191250" y="29813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75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75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75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04812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21957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 quan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191250" y="421957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hiện/phân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75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75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578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550" b="1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191250" y="54578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2475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75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75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75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Kiefer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Kammer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r>
              <a:rPr lang="en-US" sz="2550" dirty="0" spc="-3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 lẫn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nhiệm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không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r>
              <a:rPr lang="en-US" sz="2550" dirty="0" spc="4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hai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thực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phép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mình thích.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1–2, 4–5;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725" dirty="0" spc="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Kiefer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725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Kammer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(2024),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 10.5334/joc.381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f56447d-ebb7-44e1-95d3-621ff271f1a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NGUỒN HIỆN ĐẠI 2/2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5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Review</a:t>
            </a:r>
            <a:r>
              <a:rPr lang="en-US" sz="4500" b="1" dirty="0" spc="-1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2025</a:t>
            </a: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chất</a:t>
            </a:r>
            <a:r>
              <a:rPr lang="en-US" sz="4500" b="1" dirty="0" spc="-3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vấn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cụ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endParaRPr lang="en-US" sz="4500" dirty="0"/>
          </a:p>
        </p:txBody>
      </p:sp>
      <p:pic>
        <p:nvPicPr>
          <p:cNvPr id="4" name="Moda flattened rect-1792822526863-89451883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098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9813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25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191250" y="29813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Masked</a:t>
            </a:r>
            <a:r>
              <a:rPr lang="en-US" sz="2475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syntactic</a:t>
            </a:r>
            <a:r>
              <a:rPr lang="en-US" sz="2475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priming.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04812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21957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2550" b="1" dirty="0" spc="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191250" y="421957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475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75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47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578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550" b="1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191250" y="54578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7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2475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7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Hernández-Gutiérrez</a:t>
            </a:r>
            <a:r>
              <a:rPr lang="en-US" sz="255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masked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syntactic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priming,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2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kê,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khái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quát,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phê bình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lời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725" dirty="0" spc="-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effect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size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1725" dirty="0" spc="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tích;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PMC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1725" dirty="0" spc="-2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CAPTCHA.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Hernández-Gutiérrez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al.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(2025),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10.5334/joc.419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4b5f1af-1086-4a05-aec9-e75bf7b36e9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MINH HỌA PHƯƠNG PHÁP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nghiệm cần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phép kiểm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riêng</a:t>
            </a:r>
            <a:endParaRPr lang="en-US" sz="4500" dirty="0"/>
          </a:p>
        </p:txBody>
      </p:sp>
      <p:pic>
        <p:nvPicPr>
          <p:cNvPr id="4" name="Moda flattened rect-1792822530227-15603645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Nhiệm vụ</a:t>
            </a:r>
            <a:r>
              <a:rPr lang="en-US" sz="2925" b="1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1047750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ứng?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382125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9667875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925" b="1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925" dirty="0"/>
          </a:p>
        </p:txBody>
      </p:sp>
      <p:sp>
        <p:nvSpPr>
          <p:cNvPr id="10" name="Text 7"/>
          <p:cNvSpPr/>
          <p:nvPr/>
        </p:nvSpPr>
        <p:spPr>
          <a:xfrm>
            <a:off x="9667875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hiệu?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2857500" y="5476875"/>
            <a:ext cx="12573000" cy="952500"/>
          </a:xfrm>
          <a:prstGeom prst="roundRect">
            <a:avLst>
              <a:gd name="adj" fmla="val 12000"/>
            </a:avLst>
          </a:prstGeom>
          <a:solidFill>
            <a:srgbClr val="7A2038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0" y="5667375"/>
            <a:ext cx="342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400" b="1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0" y="5667375"/>
            <a:ext cx="819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cần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hiệu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không; phép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thử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có/không.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725" dirty="0" spc="-2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725" dirty="0" spc="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 ·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tự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725" dirty="0" spc="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[S5–S7]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2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f719d16-a7d8-468b-97e6-09447f6d3f8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EVIDENCE 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Loại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claim</a:t>
            </a: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quyết</a:t>
            </a:r>
            <a:r>
              <a:rPr lang="en-US" sz="4500" b="1" dirty="0" spc="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45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</a:t>
            </a:r>
            <a:r>
              <a:rPr lang="en-US" sz="45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 có</a:t>
            </a:r>
            <a:endParaRPr lang="en-US" sz="4500" dirty="0"/>
          </a:p>
        </p:txBody>
      </p:sp>
      <p:pic>
        <p:nvPicPr>
          <p:cNvPr id="4" name="Moda flattened rect-1792822533314-34995819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098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3A2A34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9813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550" b="1" dirty="0" spc="-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4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191250" y="29813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7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04812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293C3A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21957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550" b="1" dirty="0" spc="29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191250" y="421957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475" dirty="0" spc="-4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478250" cy="1047750"/>
          </a:xfrm>
          <a:prstGeom prst="roundRect">
            <a:avLst>
              <a:gd name="adj" fmla="val 10909"/>
            </a:avLst>
          </a:prstGeom>
          <a:solidFill>
            <a:srgbClr val="3A2A3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57825"/>
            <a:ext cx="4667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1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191250" y="5457825"/>
            <a:ext cx="10668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như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nào. Nghiên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chính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vay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lĩnh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725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không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GRADE; không</a:t>
            </a:r>
            <a:r>
              <a:rPr lang="en-US" sz="1725" dirty="0" spc="-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“mạnh”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725" dirty="0" spc="-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 tác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 ·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Claim</a:t>
            </a:r>
            <a:r>
              <a:rPr lang="en-US" sz="1725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ledger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904c00e-c963-417f-a77c-28c329ccca4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Ứng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 hỏi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-3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“vô</a:t>
            </a:r>
            <a:r>
              <a:rPr lang="en-US" sz="4500" b="1" dirty="0" spc="-3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thức”</a:t>
            </a:r>
            <a:r>
              <a:rPr lang="en-US" sz="4500" b="1" dirty="0" spc="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đang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mang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 nào</a:t>
            </a:r>
            <a:endParaRPr lang="en-US" sz="4500" dirty="0"/>
          </a:p>
        </p:txBody>
      </p:sp>
      <p:pic>
        <p:nvPicPr>
          <p:cNvPr id="4" name="Moda flattened rect-1792822536126-70995106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71475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95287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57200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9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775" b="1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1028700" y="533400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24625" y="3381375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6791325" y="3619500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791325" y="423862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75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6791325" y="5000625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đo/kể?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28725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4" name="Text 11"/>
          <p:cNvSpPr/>
          <p:nvPr/>
        </p:nvSpPr>
        <p:spPr>
          <a:xfrm>
            <a:off x="1255395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55395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4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775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255395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94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394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394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394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394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394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394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không?</a:t>
            </a:r>
            <a:endParaRPr lang="en-US" sz="2394" dirty="0"/>
          </a:p>
        </p:txBody>
      </p:sp>
      <p:sp>
        <p:nvSpPr>
          <p:cNvPr id="17" name="Connector line-1792822536136-339786332"/>
          <p:cNvSpPr/>
          <p:nvPr/>
        </p:nvSpPr>
        <p:spPr>
          <a:xfrm flipV="1">
            <a:off x="6000750" y="4762500"/>
            <a:ext cx="523875" cy="333375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822536136-608056585"/>
          <p:cNvSpPr/>
          <p:nvPr/>
        </p:nvSpPr>
        <p:spPr>
          <a:xfrm flipV="1">
            <a:off x="11763375" y="4429125"/>
            <a:ext cx="523875" cy="333375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6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43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43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43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43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43" dirty="0" spc="-3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</a:t>
            </a:r>
            <a:r>
              <a:rPr lang="en-US" sz="2543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43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43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43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43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biết,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543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43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nén. Các cách dùng không</a:t>
            </a:r>
            <a:r>
              <a:rPr lang="en-US" sz="2543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43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đương.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43" dirty="0" spc="-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43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43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 và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43" dirty="0" spc="-3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không.</a:t>
            </a:r>
            <a:r>
              <a:rPr lang="en-US" sz="2543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43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43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luận,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công</a:t>
            </a:r>
            <a:r>
              <a:rPr lang="en-US" sz="2543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tự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43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43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43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43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43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43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43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43" dirty="0"/>
          </a:p>
        </p:txBody>
      </p:sp>
      <p:sp>
        <p:nvSpPr>
          <p:cNvPr id="20" name="Text 17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checklist</a:t>
            </a:r>
            <a:r>
              <a:rPr lang="en-US" sz="1725" dirty="0" spc="1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26/37</a:t>
            </a:r>
            <a:endParaRPr lang="en-US" sz="1562" dirty="0"/>
          </a:p>
        </p:txBody>
      </p:sp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d18ddb0-6448-4e26-a5de-3641a193a01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GIAO TIẾP VÀ TỰ PHẢN TƯ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Ứng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</a:t>
            </a:r>
            <a:r>
              <a:rPr lang="en-US" sz="4500" b="1" dirty="0" spc="1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sát,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thuyết,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khả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thay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thế</a:t>
            </a:r>
            <a:endParaRPr lang="en-US" sz="4500" dirty="0"/>
          </a:p>
        </p:txBody>
      </p:sp>
      <p:pic>
        <p:nvPicPr>
          <p:cNvPr id="4" name="Moda flattened rect-1792822539080-89762345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775" b="1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102870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24625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6791325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791325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775" b="1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6791325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240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28725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EADDE0"/>
          </a:solidFill>
          <a:ln/>
        </p:spPr>
      </p:sp>
      <p:sp>
        <p:nvSpPr>
          <p:cNvPr id="14" name="Text 11"/>
          <p:cNvSpPr/>
          <p:nvPr/>
        </p:nvSpPr>
        <p:spPr>
          <a:xfrm>
            <a:off x="1255395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55395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775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255395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lại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huống,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 tách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 năng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“Bạn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sao?”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“Bạn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gì?”.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nhằm hạn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tiếp,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725" dirty="0" spc="-1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 dụng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725" dirty="0" spc="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725" dirty="0"/>
          </a:p>
        </p:txBody>
      </p:sp>
      <p:sp>
        <p:nvSpPr>
          <p:cNvPr id="20" name="Text 1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2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27/37</a:t>
            </a:r>
            <a:endParaRPr lang="en-US" sz="1562" dirty="0"/>
          </a:p>
        </p:txBody>
      </p:sp>
      <p:sp>
        <p:nvSpPr>
          <p:cNvPr id="21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46d249d-3f35-4036-8a0c-3cc20ba1a7c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VISUAL EXPLANATION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Bản</a:t>
            </a:r>
            <a:r>
              <a:rPr lang="en-US" sz="4500" b="1" dirty="0" spc="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-1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tổng</a:t>
            </a:r>
            <a:r>
              <a:rPr lang="en-US" sz="4500" b="1" dirty="0" spc="-1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hợp: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khả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</a:t>
            </a:r>
            <a:r>
              <a:rPr lang="en-US" sz="4500" b="1" dirty="0" spc="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truy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cập</a:t>
            </a:r>
            <a:r>
              <a:rPr lang="en-US" sz="4500" b="1" dirty="0" spc="-4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cơ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chế</a:t>
            </a:r>
            <a:endParaRPr lang="en-US" sz="4500" dirty="0"/>
          </a:p>
        </p:txBody>
      </p:sp>
      <p:pic>
        <p:nvPicPr>
          <p:cNvPr id="4" name="Moda flattened rect-1792822542039-61300706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619500"/>
            <a:ext cx="4476750" cy="2095500"/>
          </a:xfrm>
          <a:prstGeom prst="roundRect">
            <a:avLst>
              <a:gd name="adj" fmla="val 5455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905250"/>
            <a:ext cx="3905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850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47750" y="4667250"/>
            <a:ext cx="3905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715250" y="2857500"/>
            <a:ext cx="9525000" cy="1524000"/>
          </a:xfrm>
          <a:prstGeom prst="roundRect">
            <a:avLst>
              <a:gd name="adj" fmla="val 7500"/>
            </a:avLst>
          </a:prstGeom>
          <a:solidFill>
            <a:srgbClr val="EADDE0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0480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Động</a:t>
            </a:r>
            <a:r>
              <a:rPr lang="en-US" sz="2625" b="1" dirty="0" spc="1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11715750" y="3048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15250" y="4857750"/>
            <a:ext cx="9525000" cy="1524000"/>
          </a:xfrm>
          <a:prstGeom prst="roundRect">
            <a:avLst>
              <a:gd name="adj" fmla="val 7500"/>
            </a:avLst>
          </a:prstGeom>
          <a:solidFill>
            <a:srgbClr val="EADDE0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50482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625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11715750" y="504825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một.</a:t>
            </a:r>
            <a:endParaRPr lang="en-US" sz="2400" dirty="0"/>
          </a:p>
        </p:txBody>
      </p:sp>
      <p:sp>
        <p:nvSpPr>
          <p:cNvPr id="14" name="Connector line-1792822542045-790977302"/>
          <p:cNvSpPr/>
          <p:nvPr/>
        </p:nvSpPr>
        <p:spPr>
          <a:xfrm flipV="1">
            <a:off x="5238750" y="3619500"/>
            <a:ext cx="2476500" cy="1047750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lgDash"/>
            <a:headEnd type="none"/>
            <a:tailEnd type="triangle" w="lg" len="lg"/>
          </a:ln>
        </p:spPr>
      </p:sp>
      <p:sp>
        <p:nvSpPr>
          <p:cNvPr id="15" name="Connector line-1792822542045-42144525"/>
          <p:cNvSpPr/>
          <p:nvPr/>
        </p:nvSpPr>
        <p:spPr>
          <a:xfrm>
            <a:off x="5238750" y="4667250"/>
            <a:ext cx="2476500" cy="952500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 năng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cứu: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chống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niệm,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phẫu.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Nét</a:t>
            </a:r>
            <a:r>
              <a:rPr lang="en-US" sz="1725" dirty="0" spc="1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đứt: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khái niệm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thuyết;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thị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725" dirty="0" spc="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não.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[S1–S7]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F02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28/37</a:t>
            </a:r>
            <a:endParaRPr lang="en-US" sz="1562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0c21571-e205-410b-9e76-82729937578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CHỐNG HIỂU SAI SƠ ĐỒ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4500" b="1" dirty="0" spc="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cho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phép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r>
              <a:rPr lang="en-US" sz="4500" b="1" dirty="0" spc="-3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ra</a:t>
            </a:r>
            <a:endParaRPr lang="en-US" sz="4500" dirty="0"/>
          </a:p>
        </p:txBody>
      </p:sp>
      <p:pic>
        <p:nvPicPr>
          <p:cNvPr id="4" name="Moda flattened rect-1792822545008-97551676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1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925" b="1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1047750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382125" y="2857500"/>
            <a:ext cx="7858125" cy="2238375"/>
          </a:xfrm>
          <a:prstGeom prst="roundRect">
            <a:avLst>
              <a:gd name="adj" fmla="val 5106"/>
            </a:avLst>
          </a:prstGeom>
          <a:solidFill>
            <a:srgbClr val="DDE8E5"/>
          </a:solidFill>
          <a:ln/>
        </p:spPr>
      </p:sp>
      <p:sp>
        <p:nvSpPr>
          <p:cNvPr id="9" name="Text 6"/>
          <p:cNvSpPr/>
          <p:nvPr/>
        </p:nvSpPr>
        <p:spPr>
          <a:xfrm>
            <a:off x="9667875" y="3095625"/>
            <a:ext cx="728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1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925" b="1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925" dirty="0"/>
          </a:p>
        </p:txBody>
      </p:sp>
      <p:sp>
        <p:nvSpPr>
          <p:cNvPr id="10" name="Text 7"/>
          <p:cNvSpPr/>
          <p:nvPr/>
        </p:nvSpPr>
        <p:spPr>
          <a:xfrm>
            <a:off x="9667875" y="4000500"/>
            <a:ext cx="7286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90%/95% hoặc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2857500" y="5476875"/>
            <a:ext cx="12573000" cy="952500"/>
          </a:xfrm>
          <a:prstGeom prst="roundRect">
            <a:avLst>
              <a:gd name="adj" fmla="val 12000"/>
            </a:avLst>
          </a:prstGeom>
          <a:solidFill>
            <a:srgbClr val="7A2038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0" y="5667375"/>
            <a:ext cx="3429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400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0" y="5667375"/>
            <a:ext cx="819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 giải, nguồn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miền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2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khái niệm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725" dirty="0" spc="-2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xuất;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725" dirty="0" spc="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hình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brief.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đạt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29/37</a:t>
            </a:r>
            <a:endParaRPr lang="en-US" sz="1562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4984014-336d-4dad-b79d-6744832042e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Tám</a:t>
            </a:r>
            <a:r>
              <a:rPr lang="en-US" sz="4500" b="1" dirty="0" spc="1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điểm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nhớ</a:t>
            </a:r>
            <a:r>
              <a:rPr lang="en-US" sz="4500" b="1" dirty="0" spc="-4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r>
              <a:rPr lang="en-US" sz="4500" b="1" dirty="0" spc="-2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F03</a:t>
            </a:r>
            <a:endParaRPr lang="en-US" sz="4500" dirty="0"/>
          </a:p>
        </p:txBody>
      </p:sp>
      <p:pic>
        <p:nvPicPr>
          <p:cNvPr id="4" name="Moda flattened rect-1792822548023-4925546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775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102870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 truy cập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24625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3A2A34"/>
          </a:solidFill>
          <a:ln/>
        </p:spPr>
      </p:sp>
      <p:sp>
        <p:nvSpPr>
          <p:cNvPr id="10" name="Text 7"/>
          <p:cNvSpPr/>
          <p:nvPr/>
        </p:nvSpPr>
        <p:spPr>
          <a:xfrm>
            <a:off x="6791325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791325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775" b="1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6791325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287250" y="3048000"/>
            <a:ext cx="5238750" cy="2762250"/>
          </a:xfrm>
          <a:prstGeom prst="roundRect">
            <a:avLst>
              <a:gd name="adj" fmla="val 4138"/>
            </a:avLst>
          </a:prstGeom>
          <a:solidFill>
            <a:srgbClr val="3A2A34"/>
          </a:solidFill>
          <a:ln/>
        </p:spPr>
      </p:sp>
      <p:sp>
        <p:nvSpPr>
          <p:cNvPr id="14" name="Text 11"/>
          <p:cNvSpPr/>
          <p:nvPr/>
        </p:nvSpPr>
        <p:spPr>
          <a:xfrm>
            <a:off x="12553950" y="3286125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553950" y="39052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775" b="1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2553950" y="46672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sát/diễn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giải;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dồn nén.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 ý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Freud;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2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một–một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id–ego–superego.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1725" dirty="0" spc="16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725" dirty="0" spc="6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niệm,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725" dirty="0" spc="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725" dirty="0" spc="-1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J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725" dirty="0" spc="-25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takeaways</a:t>
            </a:r>
            <a:r>
              <a:rPr lang="en-US" sz="1725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725" dirty="0"/>
          </a:p>
        </p:txBody>
      </p:sp>
      <p:sp>
        <p:nvSpPr>
          <p:cNvPr id="20" name="Text 1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30/37</a:t>
            </a:r>
            <a:endParaRPr lang="en-US" sz="1562" dirty="0"/>
          </a:p>
        </p:txBody>
      </p:sp>
      <p:sp>
        <p:nvSpPr>
          <p:cNvPr id="21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9145ef1-a0e5-48a4-9740-fec1e4e3ae1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1/5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 Nhớ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ngay</a:t>
            </a:r>
            <a:r>
              <a:rPr lang="en-US" sz="4500" b="1" dirty="0" spc="-1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tên</a:t>
            </a:r>
            <a:r>
              <a:rPr lang="en-US" sz="4500" b="1" dirty="0" spc="-3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trường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cũ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</a:t>
            </a:r>
            <a:r>
              <a:rPr lang="en-US" sz="4500" b="1" dirty="0" spc="-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họa</a:t>
            </a:r>
            <a:r>
              <a:rPr lang="en-US" sz="4500" b="1" dirty="0" spc="-1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pic>
        <p:nvPicPr>
          <p:cNvPr id="4" name="Moda flattened rect-1792822551120-93702376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905125"/>
            <a:ext cx="5810250" cy="3381375"/>
          </a:xfrm>
          <a:prstGeom prst="roundRect">
            <a:avLst>
              <a:gd name="adj" fmla="val 3380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3286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3375" b="1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1095375" y="4333875"/>
            <a:ext cx="51435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8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8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hợp?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524750" y="2952750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850" b="1" dirty="0" spc="7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524750" y="36671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Preconscious.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524750" y="4714875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2850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524750" y="5429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625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625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625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học;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3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r>
              <a:rPr lang="en-US" sz="2550" dirty="0" spc="-4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chọn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-1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725" dirty="0" spc="-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án;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1725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K1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4a080ee-531a-4128-8483-7db9775d62d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2/5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Mọi</a:t>
            </a:r>
            <a:r>
              <a:rPr lang="en-US" sz="4500" b="1" dirty="0" spc="1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r>
              <a:rPr lang="en-US" sz="4500" b="1" dirty="0" spc="1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đều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dynamic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unconscious?</a:t>
            </a:r>
            <a:endParaRPr lang="en-US" sz="4500" dirty="0"/>
          </a:p>
        </p:txBody>
      </p:sp>
      <p:pic>
        <p:nvPicPr>
          <p:cNvPr id="4" name="Moda flattened rect-1792822554278-15353564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905125"/>
            <a:ext cx="5810250" cy="3381375"/>
          </a:xfrm>
          <a:prstGeom prst="roundRect">
            <a:avLst>
              <a:gd name="adj" fmla="val 3380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3286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3375" b="1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1095375" y="4333875"/>
            <a:ext cx="51435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524750" y="2952750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b="1" dirty="0" spc="-7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524750" y="36671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Lực</a:t>
            </a:r>
            <a:r>
              <a:rPr lang="en-US" sz="2625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625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625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524750" y="4714875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850" b="1" dirty="0" spc="2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b="1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524750" y="5429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thể suy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từ</a:t>
            </a:r>
            <a:r>
              <a:rPr lang="en-US" sz="2625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ở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giả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 dùng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cho phần cơ chế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từ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 và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1725" dirty="0" spc="-2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 không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725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[S2–S3]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eab0a18-67c3-40ed-9df9-e4ec531dee7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3/5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3 ·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3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kể</a:t>
            </a:r>
            <a:r>
              <a:rPr lang="en-US" sz="4500" b="1" dirty="0" spc="-4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quy</a:t>
            </a:r>
            <a:r>
              <a:rPr lang="en-US" sz="4500" b="1" dirty="0" spc="-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luật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r>
              <a:rPr lang="en-US" sz="4500" b="1" dirty="0" spc="-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biết?</a:t>
            </a:r>
            <a:endParaRPr lang="en-US" sz="4500" dirty="0"/>
          </a:p>
        </p:txBody>
      </p:sp>
      <p:pic>
        <p:nvPicPr>
          <p:cNvPr id="4" name="Moda flattened rect-1792822557213-42550770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905125"/>
            <a:ext cx="5810250" cy="3381375"/>
          </a:xfrm>
          <a:prstGeom prst="roundRect">
            <a:avLst>
              <a:gd name="adj" fmla="val 3380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3286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3375" b="1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1095375" y="4333875"/>
            <a:ext cx="51435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524750" y="2952750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b="1" dirty="0" spc="-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9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524750" y="36671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625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625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625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524750" y="4714875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2850" b="1" dirty="0" spc="1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8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524750" y="5429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625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43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43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 Câu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có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 quá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543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43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43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43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43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43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quên.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43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43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43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nhạy,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43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43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43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43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r>
              <a:rPr lang="en-US" sz="2543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43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43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543" dirty="0" spc="-3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43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43" dirty="0" spc="-2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43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43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gia chắc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 có nhận</a:t>
            </a:r>
            <a:r>
              <a:rPr lang="en-US" sz="2543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43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43" dirty="0" spc="-3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43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543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43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43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43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43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43" dirty="0" spc="-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43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43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43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43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43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43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liệu.</a:t>
            </a:r>
            <a:endParaRPr lang="en-US" sz="2543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725" dirty="0" spc="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1725" dirty="0" spc="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1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-1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725" dirty="0" spc="-1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K3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[S5–S6]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614ee5d-db12-4925-844a-d0c4e06bea1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4/5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4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1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khiến cách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hiểu</a:t>
            </a:r>
            <a:r>
              <a:rPr lang="en-US" sz="4500" b="1" dirty="0" spc="-4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Linh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phải</a:t>
            </a:r>
            <a:r>
              <a:rPr lang="en-US" sz="4500" b="1" dirty="0" spc="-5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sửa?</a:t>
            </a:r>
            <a:endParaRPr lang="en-US" sz="4500" dirty="0"/>
          </a:p>
        </p:txBody>
      </p:sp>
      <p:pic>
        <p:nvPicPr>
          <p:cNvPr id="4" name="Moda flattened rect-1792822560317-65701788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905125"/>
            <a:ext cx="5810250" cy="3381375"/>
          </a:xfrm>
          <a:prstGeom prst="roundRect">
            <a:avLst>
              <a:gd name="adj" fmla="val 3380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3286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375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375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1095375" y="4333875"/>
            <a:ext cx="51435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8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524750" y="2952750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8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1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524750" y="36671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625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62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625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625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62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6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625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524750" y="4714875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850" b="1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524750" y="5429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6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625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625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3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 mất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 quả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chức,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dữ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resistance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tiếng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1725" dirty="0" spc="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không</a:t>
            </a:r>
            <a:r>
              <a:rPr lang="en-US" sz="1725" dirty="0" spc="-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1725" dirty="0" spc="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3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K4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cdbb9f5-8d2c-4485-b15e-73d6268f9e1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5/5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5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Implicit</a:t>
            </a:r>
            <a:r>
              <a:rPr lang="en-US" sz="4500" b="1" dirty="0" spc="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memory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4500" b="1" dirty="0" spc="-1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dồn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nén</a:t>
            </a:r>
            <a:r>
              <a:rPr lang="en-US" sz="4500" b="1" dirty="0" spc="-4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chưa?</a:t>
            </a:r>
            <a:endParaRPr lang="en-US" sz="4500" dirty="0"/>
          </a:p>
        </p:txBody>
      </p:sp>
      <p:pic>
        <p:nvPicPr>
          <p:cNvPr id="4" name="Moda flattened rect-1792822563208-55432230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2905125"/>
            <a:ext cx="5810250" cy="3381375"/>
          </a:xfrm>
          <a:prstGeom prst="roundRect">
            <a:avLst>
              <a:gd name="adj" fmla="val 3380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3286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3375" b="1" dirty="0" spc="4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1095375" y="4333875"/>
            <a:ext cx="51435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524750" y="2952750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850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7524750" y="36671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phép</a:t>
            </a:r>
            <a:r>
              <a:rPr lang="en-US" sz="2625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625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7524750" y="4714875"/>
            <a:ext cx="952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b="1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7524750" y="5429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625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625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625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6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625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625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625" dirty="0"/>
          </a:p>
        </p:txBody>
      </p:sp>
      <p:sp>
        <p:nvSpPr>
          <p:cNvPr id="12" name="Text 9"/>
          <p:cNvSpPr/>
          <p:nvPr/>
        </p:nvSpPr>
        <p:spPr>
          <a:xfrm>
            <a:off x="857250" y="7096125"/>
            <a:ext cx="1638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Chưa.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chỉ</a:t>
            </a:r>
            <a:r>
              <a:rPr lang="en-US" sz="2550" dirty="0" spc="-3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cân nhắc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1725" dirty="0" spc="1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725" dirty="0" spc="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725" dirty="0" spc="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725" dirty="0" spc="-1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giả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725" dirty="0" spc="-2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K5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725" dirty="0" spc="-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0edfc31-4a12-4fc0-a925-13b9a8c56f8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1/2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4500" b="1" dirty="0" spc="-1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sử:</a:t>
            </a:r>
            <a:r>
              <a:rPr lang="en-US" sz="4500" b="1" dirty="0" spc="-3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văn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4500" b="1" dirty="0" spc="-1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nào,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đoạn</a:t>
            </a:r>
            <a:r>
              <a:rPr lang="en-US" sz="4500" b="1" dirty="0" spc="-3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nào?</a:t>
            </a:r>
            <a:endParaRPr lang="en-US" sz="4500" dirty="0"/>
          </a:p>
        </p:txBody>
      </p:sp>
      <p:pic>
        <p:nvPicPr>
          <p:cNvPr id="4" name="Moda flattened rect-1792822566648-86060318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3000375"/>
            <a:ext cx="9810750" cy="538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7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VII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70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Interpretation</a:t>
            </a:r>
            <a:r>
              <a:rPr lang="en-US" sz="27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70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Dreams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700" dirty="0" spc="-4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York,</a:t>
            </a:r>
            <a:r>
              <a:rPr lang="en-US" sz="270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Pcs/Ucs</a:t>
            </a:r>
            <a:r>
              <a:rPr lang="en-US" sz="270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70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7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</a:t>
            </a:r>
            <a:r>
              <a:rPr lang="en-US" sz="27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7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7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70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70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Psycho-Analysis,</a:t>
            </a:r>
            <a:r>
              <a:rPr lang="en-US" sz="270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OCR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tr.312–318,</a:t>
            </a:r>
            <a:r>
              <a:rPr lang="en-US" sz="27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7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7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văn.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4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Museum, giúp</a:t>
            </a:r>
            <a:r>
              <a:rPr lang="en-US" sz="270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 không</a:t>
            </a:r>
            <a:r>
              <a:rPr lang="en-US" sz="270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70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cho</a:t>
            </a:r>
            <a:r>
              <a:rPr lang="en-US" sz="27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25250" y="2952750"/>
            <a:ext cx="5715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1525250" y="352425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Dreams</a:t>
            </a:r>
            <a:r>
              <a:rPr lang="en-US" sz="23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VII</a:t>
            </a:r>
            <a:r>
              <a:rPr lang="en-US" sz="23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3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3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3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325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Pcs/Ucs.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11525250" y="4714875"/>
            <a:ext cx="5715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S2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1525250" y="5286375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</a:t>
            </a:r>
            <a:r>
              <a:rPr lang="en-US" sz="2325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(1912)</a:t>
            </a:r>
            <a:r>
              <a:rPr lang="en-US" sz="23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325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tr.312–318.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11525250" y="6477000"/>
            <a:ext cx="5715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1525250" y="70485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325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Museum</a:t>
            </a:r>
            <a:r>
              <a:rPr lang="en-US" sz="2325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325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dynamic</a:t>
            </a:r>
            <a:r>
              <a:rPr lang="en-US" sz="2325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unconscious.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762000" y="8810625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u="sng" dirty="0" spc="-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950" u="sng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nguồn,</a:t>
            </a:r>
            <a:r>
              <a:rPr lang="en-US" sz="1950" u="sng" dirty="0" spc="-1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locator</a:t>
            </a:r>
            <a:r>
              <a:rPr lang="en-US" sz="1950" u="sng" dirty="0" spc="-1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950" u="sng" dirty="0" spc="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mức</a:t>
            </a:r>
            <a:r>
              <a:rPr lang="en-US" sz="1950" u="sng" dirty="0" spc="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đọc</a:t>
            </a:r>
            <a:r>
              <a:rPr lang="en-US" sz="1950" u="sng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đầy</a:t>
            </a:r>
            <a:r>
              <a:rPr lang="en-US" sz="1950" u="sng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đủ</a:t>
            </a:r>
            <a:r>
              <a:rPr lang="en-US" sz="1950" u="sng" dirty="0" spc="-1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950" u="sng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1725" dirty="0" spc="-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725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 Standard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725" dirty="0" spc="-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725" dirty="0" spc="6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725" dirty="0" spc="5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 · S1–S3;</a:t>
            </a:r>
            <a:r>
              <a:rPr lang="en-US" sz="1725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</a:t>
            </a:r>
            <a:r>
              <a:rPr lang="en-US" sz="1725" dirty="0" spc="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725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725" dirty="0" spc="-13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725" dirty="0" spc="-1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725" dirty="0" spc="-1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-2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1725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12" kern="0">
                <a:solidFill>
                  <a:srgbClr val="6356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6b1b2d9-c464-4719-8045-8c54e55dbfa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2/2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 hiện</a:t>
            </a:r>
            <a:r>
              <a:rPr lang="en-US" sz="4500" b="1" dirty="0" spc="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đại</a:t>
            </a:r>
            <a:r>
              <a:rPr lang="en-US" sz="4500" b="1" dirty="0" spc="-4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 của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nháp</a:t>
            </a:r>
            <a:endParaRPr lang="en-US" sz="4500" dirty="0"/>
          </a:p>
        </p:txBody>
      </p:sp>
      <p:pic>
        <p:nvPicPr>
          <p:cNvPr id="4" name="Moda flattened rect-1792822569657-85387155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3000375"/>
            <a:ext cx="9810750" cy="538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S4</a:t>
            </a:r>
            <a:r>
              <a:rPr lang="en-US" sz="27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Kihlstrom1987</a:t>
            </a:r>
            <a:r>
              <a:rPr lang="en-US" sz="27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abstract.</a:t>
            </a:r>
            <a:r>
              <a:rPr lang="en-US" sz="27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</a:t>
            </a:r>
            <a:r>
              <a:rPr lang="en-US" sz="27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Newell–Shanks2014</a:t>
            </a:r>
            <a:r>
              <a:rPr lang="en-US" sz="27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7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pháp.</a:t>
            </a:r>
            <a:r>
              <a:rPr lang="en-US" sz="27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</a:t>
            </a:r>
            <a:r>
              <a:rPr lang="en-US" sz="27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Kiefer–Kammer2024</a:t>
            </a:r>
            <a:r>
              <a:rPr lang="en-US" sz="27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đo;</a:t>
            </a:r>
            <a:r>
              <a:rPr lang="en-US" sz="27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27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Hernández-Gutiérrez</a:t>
            </a:r>
            <a:r>
              <a:rPr lang="en-US" sz="27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</a:t>
            </a:r>
            <a:r>
              <a:rPr lang="en-US" sz="27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al.2025</a:t>
            </a:r>
            <a:r>
              <a:rPr lang="en-US" sz="27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7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7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r>
              <a:rPr lang="en-US" sz="27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70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7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 giảng</a:t>
            </a:r>
            <a:r>
              <a:rPr lang="en-US" sz="27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dạy,</a:t>
            </a:r>
            <a:r>
              <a:rPr lang="en-US" sz="27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7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vực.</a:t>
            </a:r>
            <a:r>
              <a:rPr lang="en-US" sz="27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slide</a:t>
            </a:r>
            <a:r>
              <a:rPr lang="en-US" sz="27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7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lập;</a:t>
            </a:r>
            <a:r>
              <a:rPr lang="en-US" sz="27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7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Moda</a:t>
            </a:r>
            <a:r>
              <a:rPr lang="en-US" sz="27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7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27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v4.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525250" y="2952750"/>
            <a:ext cx="5715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1525250" y="352425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S4–S7</a:t>
            </a: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3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3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 khác</a:t>
            </a:r>
            <a:r>
              <a:rPr lang="en-US" sz="23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11525250" y="4714875"/>
            <a:ext cx="5715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2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1525250" y="5286375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325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Moda;</a:t>
            </a:r>
            <a:r>
              <a:rPr lang="en-US" sz="2325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32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32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3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3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11525250" y="6477000"/>
            <a:ext cx="5715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b="1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1525250" y="70485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232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3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Id,</a:t>
            </a:r>
            <a:r>
              <a:rPr lang="en-US" sz="232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32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32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Superego.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762000" y="8810625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u="sng" dirty="0" spc="-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950" u="sng" dirty="0" spc="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nguồn,</a:t>
            </a:r>
            <a:r>
              <a:rPr lang="en-US" sz="1950" u="sng" dirty="0" spc="-1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locator</a:t>
            </a:r>
            <a:r>
              <a:rPr lang="en-US" sz="1950" u="sng" dirty="0" spc="-1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950" u="sng" dirty="0" spc="8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mức</a:t>
            </a:r>
            <a:r>
              <a:rPr lang="en-US" sz="1950" u="sng" dirty="0" spc="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đọc</a:t>
            </a:r>
            <a:r>
              <a:rPr lang="en-US" sz="1950" u="sng" dirty="0" spc="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đầy</a:t>
            </a:r>
            <a:r>
              <a:rPr lang="en-US" sz="1950" u="sng" dirty="0" spc="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đủ</a:t>
            </a:r>
            <a:r>
              <a:rPr lang="en-US" sz="1950" u="sng" dirty="0" spc="-1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950" u="sng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762000" y="9239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725" dirty="0" spc="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725" dirty="0" spc="-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stock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725" dirty="0" spc="-1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credit;</a:t>
            </a:r>
            <a:r>
              <a:rPr lang="en-US" sz="1725" dirty="0" spc="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725" dirty="0" spc="5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725" dirty="0" spc="-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-5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725" dirty="0" spc="6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725" dirty="0" spc="-13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725" dirty="0" spc="-2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log.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9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725" dirty="0" spc="-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 ·</a:t>
            </a:r>
            <a:r>
              <a:rPr lang="en-US" sz="1725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S4–S7;</a:t>
            </a:r>
            <a:r>
              <a:rPr lang="en-US" sz="1725" dirty="0" spc="-1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f02-research.md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2" dirty="0" spc="-7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1562" dirty="0" spc="-2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0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562" dirty="0" spc="-8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62" dirty="0" spc="-4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62" dirty="0" spc="-21" kern="0">
                <a:solidFill>
                  <a:srgbClr val="D4C8C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37/37</a:t>
            </a:r>
            <a:endParaRPr lang="en-US" sz="1562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6e83363-fd42-4e98-a49c-fd3aa9cd712c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2026-10-24T06:20:35Z</dcterms:created>
  <dcterms:modified xsi:type="dcterms:W3CDTF">2026-10-24T06:20:35Z</dcterms:modified>
</cp:coreProperties>
</file>