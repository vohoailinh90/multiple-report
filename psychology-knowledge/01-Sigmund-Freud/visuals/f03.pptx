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8288000" cy="10287000"/>
  <p:notesSz cx="10287000" cy="18288000"/>
  <p:embeddedFontLst>
    <p:embeddedFont>
      <p:font typeface="Be Vietnam Pro"/>
      <p:regular r:id="rId44"/>
      <p:bold r:id="rId46"/>
    </p:embeddedFont>
    <p:embeddedFont>
      <p:font typeface="Bricolage Grotesque"/>
      <p:bold r:id="rId45"/>
    </p:embeddedFont>
    <p:embeddedFont>
      <p:font typeface="Be Vietnam Pro SemiBold"/>
      <p:regular r:id="rId4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Relationship Id="rId44" Type="http://schemas.openxmlformats.org/officeDocument/2006/relationships/font" Target="fonts/font1.fntdata"/><Relationship Id="rId45" Type="http://schemas.openxmlformats.org/officeDocument/2006/relationships/font" Target="fonts/font2.fntdata"/><Relationship Id="rId46" Type="http://schemas.openxmlformats.org/officeDocument/2006/relationships/font" Target="fonts/font3.fntdata"/><Relationship Id="rId47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jpe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jpe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23875"/>
            <a:ext cx="14287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📋 F03 · PSYCHOLOGY KNOWLEDGE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12001500" y="0"/>
            <a:ext cx="6286500" cy="10287000"/>
          </a:xfrm>
          <a:prstGeom prst="rect">
            <a:avLst/>
          </a:prstGeom>
          <a:solidFill>
            <a:srgbClr val="7A2038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714500"/>
            <a:ext cx="10477500" cy="333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7" b="1" dirty="0" spc="-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Id,</a:t>
            </a:r>
            <a:r>
              <a:rPr lang="en-US" sz="6247" b="1" dirty="0" spc="-5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Ego</a:t>
            </a:r>
            <a:r>
              <a:rPr lang="en-US" sz="6247" b="1" dirty="0" spc="-64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</a:t>
            </a:r>
            <a:r>
              <a:rPr lang="en-US" sz="6247" b="1" dirty="0" spc="-27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Superego</a:t>
            </a:r>
            <a:endParaRPr lang="en-US" sz="6247" dirty="0"/>
          </a:p>
          <a:p>
            <a:pPr algn="l" indent="0" marL="0">
              <a:buNone/>
            </a:pPr>
            <a:r>
              <a:rPr lang="en-US" sz="6247" b="1" dirty="0" spc="5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Ba</a:t>
            </a:r>
            <a:r>
              <a:rPr lang="en-US" sz="6247" b="1" dirty="0" spc="-4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chức</a:t>
            </a:r>
            <a:r>
              <a:rPr lang="en-US" sz="6247" b="1" dirty="0" spc="28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năng,</a:t>
            </a:r>
            <a:endParaRPr lang="en-US" sz="6247" dirty="0"/>
          </a:p>
          <a:p>
            <a:pPr algn="l" indent="0" marL="0">
              <a:buNone/>
            </a:pPr>
            <a:r>
              <a:rPr lang="en-US" sz="6247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không</a:t>
            </a:r>
            <a:r>
              <a:rPr lang="en-US" sz="6247" b="1" dirty="0" spc="5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phải</a:t>
            </a:r>
            <a:r>
              <a:rPr lang="en-US" sz="6247" b="1" dirty="0" spc="-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ba</a:t>
            </a:r>
            <a:r>
              <a:rPr lang="en-US" sz="6247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vùng</a:t>
            </a:r>
            <a:r>
              <a:rPr lang="en-US" sz="6247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não</a:t>
            </a:r>
            <a:endParaRPr lang="en-US" sz="6247" dirty="0"/>
          </a:p>
        </p:txBody>
      </p:sp>
      <p:sp>
        <p:nvSpPr>
          <p:cNvPr id="5" name="Text 3"/>
          <p:cNvSpPr/>
          <p:nvPr/>
        </p:nvSpPr>
        <p:spPr>
          <a:xfrm>
            <a:off x="762000" y="5715000"/>
            <a:ext cx="10477500" cy="276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255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255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điều,</a:t>
            </a:r>
            <a:r>
              <a:rPr lang="en-US" sz="255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-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ngăn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</a:t>
            </a:r>
            <a:r>
              <a:rPr lang="en-US" sz="2550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 hậu</a:t>
            </a:r>
            <a:r>
              <a:rPr lang="en-US" sz="25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55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550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tế,</a:t>
            </a:r>
            <a:r>
              <a:rPr lang="en-US" sz="2550" dirty="0" spc="-3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2550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55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55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550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 hình</a:t>
            </a:r>
            <a:r>
              <a:rPr lang="en-US" sz="25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55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55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1923,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55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550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 hình nhận</a:t>
            </a:r>
            <a:r>
              <a:rPr lang="en-US" sz="255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-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F02</a:t>
            </a:r>
            <a:r>
              <a:rPr lang="en-US" sz="2550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2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 giải</a:t>
            </a:r>
            <a:r>
              <a:rPr lang="en-US" sz="25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thích.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550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</a:t>
            </a:r>
            <a:r>
              <a:rPr lang="en-US" sz="255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550" dirty="0" spc="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55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đầu.</a:t>
            </a:r>
            <a:endParaRPr lang="en-US" sz="2550" dirty="0"/>
          </a:p>
        </p:txBody>
      </p:sp>
      <p:pic>
        <p:nvPicPr>
          <p:cNvPr id="6" name="Moda image rect-1792855800567-60309602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697926" y="857250"/>
            <a:ext cx="4893648" cy="7096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573000" y="8239125"/>
            <a:ext cx="5143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Sigmund</a:t>
            </a:r>
            <a:r>
              <a:rPr lang="en-US" sz="2100" dirty="0" spc="-3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Max</a:t>
            </a:r>
            <a:r>
              <a:rPr lang="en-US" sz="2100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Halberstadt,</a:t>
            </a:r>
            <a:r>
              <a:rPr lang="en-US" sz="21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 1921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2573000" y="9429750"/>
            <a:ext cx="5143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Public</a:t>
            </a:r>
            <a:r>
              <a:rPr lang="en-US" sz="16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domain</a:t>
            </a:r>
            <a:r>
              <a:rPr lang="en-US" sz="16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Wikimedia Commons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62000" y="9906000"/>
            <a:ext cx="1666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1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F03</a:t>
            </a:r>
            <a:r>
              <a:rPr lang="en-US" sz="1650" dirty="0" spc="0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6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1650" dirty="0" spc="5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650" dirty="0" spc="-1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01/37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1" name="Moda image moda-export-watermark-11912077-2a8a-4792-9c43-d87fd8fc1129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23875"/>
            <a:ext cx="14287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🎯 A · LEARNING OBJECTIVES</a:t>
            </a:r>
            <a:endParaRPr lang="en-US" sz="2100" dirty="0"/>
          </a:p>
        </p:txBody>
      </p:sp>
      <p:pic>
        <p:nvPicPr>
          <p:cNvPr id="3" name="Moda flattened rect-1792855803717-442087905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572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287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Sau</a:t>
            </a:r>
            <a:r>
              <a:rPr lang="en-US" sz="4500" b="1" dirty="0" spc="-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bài này, bạn</a:t>
            </a:r>
            <a:r>
              <a:rPr lang="en-US" sz="4500" b="1" dirty="0" spc="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cần</a:t>
            </a:r>
            <a:r>
              <a:rPr lang="en-US" sz="4500" b="1" dirty="0" spc="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làm</a:t>
            </a:r>
            <a:r>
              <a:rPr lang="en-US" sz="4500" b="1" dirty="0" spc="-45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được</a:t>
            </a:r>
            <a:r>
              <a:rPr lang="en-US" sz="4500" b="1" dirty="0" spc="-9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gì?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714750"/>
            <a:ext cx="5048250" cy="1905000"/>
          </a:xfrm>
          <a:prstGeom prst="roundRect">
            <a:avLst>
              <a:gd name="adj" fmla="val 9000"/>
            </a:avLst>
          </a:prstGeom>
          <a:solidFill>
            <a:srgbClr val="EADDE0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714750"/>
            <a:ext cx="50482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Giải</a:t>
            </a:r>
            <a:r>
              <a:rPr lang="en-US" sz="2400" b="1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Chức</a:t>
            </a:r>
            <a:r>
              <a:rPr lang="en-US" sz="240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40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477000" y="3714750"/>
            <a:ext cx="5048250" cy="1905000"/>
          </a:xfrm>
          <a:prstGeom prst="roundRect">
            <a:avLst>
              <a:gd name="adj" fmla="val 9000"/>
            </a:avLst>
          </a:prstGeom>
          <a:solidFill>
            <a:srgbClr val="EADDE0"/>
          </a:solidFill>
          <a:ln/>
        </p:spPr>
      </p:sp>
      <p:sp>
        <p:nvSpPr>
          <p:cNvPr id="8" name="Text 5"/>
          <p:cNvSpPr/>
          <p:nvPr/>
        </p:nvSpPr>
        <p:spPr>
          <a:xfrm>
            <a:off x="6477000" y="3714750"/>
            <a:ext cx="50482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2400" b="1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400" dirty="0" spc="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00" dirty="0" spc="-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cắt</a:t>
            </a:r>
            <a:r>
              <a:rPr lang="en-US" sz="240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chéo.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2192000" y="3714750"/>
            <a:ext cx="5048250" cy="1905000"/>
          </a:xfrm>
          <a:prstGeom prst="roundRect">
            <a:avLst>
              <a:gd name="adj" fmla="val 9000"/>
            </a:avLst>
          </a:prstGeom>
          <a:solidFill>
            <a:srgbClr val="EADDE0"/>
          </a:solidFill>
          <a:ln/>
        </p:spPr>
      </p:sp>
      <p:sp>
        <p:nvSpPr>
          <p:cNvPr id="10" name="Text 7"/>
          <p:cNvSpPr/>
          <p:nvPr/>
        </p:nvSpPr>
        <p:spPr>
          <a:xfrm>
            <a:off x="12192000" y="3714750"/>
            <a:ext cx="50482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Đánh</a:t>
            </a:r>
            <a:r>
              <a:rPr lang="en-US" sz="2400" b="1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40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40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hạn.</a:t>
            </a:r>
            <a:endParaRPr lang="en-US" sz="2400" dirty="0"/>
          </a:p>
        </p:txBody>
      </p:sp>
      <p:sp>
        <p:nvSpPr>
          <p:cNvPr id="11" name="Connector line-1792855803740-283878884"/>
          <p:cNvSpPr/>
          <p:nvPr/>
        </p:nvSpPr>
        <p:spPr>
          <a:xfrm>
            <a:off x="5810250" y="4667250"/>
            <a:ext cx="666750" cy="0"/>
          </a:xfrm>
          <a:prstGeom prst="line">
            <a:avLst/>
          </a:prstGeom>
          <a:noFill/>
          <a:ln w="19050">
            <a:solidFill>
              <a:srgbClr val="7A2038"/>
            </a:solidFill>
            <a:prstDash val="solid"/>
            <a:headEnd type="none"/>
            <a:tailEnd type="triangle" w="lg" len="lg"/>
          </a:ln>
        </p:spPr>
      </p:sp>
      <p:sp>
        <p:nvSpPr>
          <p:cNvPr id="12" name="Connector line-1792855803740-767650879"/>
          <p:cNvSpPr/>
          <p:nvPr/>
        </p:nvSpPr>
        <p:spPr>
          <a:xfrm>
            <a:off x="11525250" y="4667250"/>
            <a:ext cx="666750" cy="0"/>
          </a:xfrm>
          <a:prstGeom prst="line">
            <a:avLst/>
          </a:prstGeom>
          <a:noFill/>
          <a:ln w="19050">
            <a:solidFill>
              <a:srgbClr val="7A2038"/>
            </a:solidFill>
            <a:prstDash val="solid"/>
            <a:headEnd type="none"/>
            <a:tailEnd type="triangle" w="lg" len="lg"/>
          </a:ln>
        </p:spPr>
      </p:sp>
      <p:sp>
        <p:nvSpPr>
          <p:cNvPr id="13" name="Text 10"/>
          <p:cNvSpPr/>
          <p:nvPr/>
        </p:nvSpPr>
        <p:spPr>
          <a:xfrm>
            <a:off x="762000" y="6143625"/>
            <a:ext cx="1638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 spc="-41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Lộ</a:t>
            </a:r>
            <a:r>
              <a:rPr lang="en-US" sz="1875" dirty="0" spc="7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875" dirty="0" spc="-1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 niệm</a:t>
            </a:r>
            <a:r>
              <a:rPr lang="en-US" sz="1875" dirty="0" spc="-3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75" dirty="0" spc="6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75" dirty="0" spc="-21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1875" dirty="0" spc="-2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1875" dirty="0" spc="2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1875" dirty="0" spc="1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1875" dirty="0" spc="3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endParaRPr lang="en-US" sz="1875" dirty="0"/>
          </a:p>
        </p:txBody>
      </p:sp>
      <p:sp>
        <p:nvSpPr>
          <p:cNvPr id="14" name="Text 11"/>
          <p:cNvSpPr/>
          <p:nvPr/>
        </p:nvSpPr>
        <p:spPr>
          <a:xfrm>
            <a:off x="809625" y="7000875"/>
            <a:ext cx="16430625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Bạn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550" dirty="0" spc="-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hình,</a:t>
            </a:r>
            <a:r>
              <a:rPr lang="en-US" sz="2550" dirty="0" spc="-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550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2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trúc,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tình huống mà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nhảy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hành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550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chẩn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đoán.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bài,</a:t>
            </a:r>
            <a:r>
              <a:rPr lang="en-US" sz="2550" dirty="0" spc="-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hãy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sử,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550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thần kinh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 chế;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-3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-3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550" dirty="0" spc="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550" dirty="0" spc="-2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trở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dirty="0" spc="-3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 duy</a:t>
            </a:r>
            <a:r>
              <a:rPr lang="en-US" sz="2550" dirty="0" spc="-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endParaRPr lang="en-US" sz="2550" dirty="0"/>
          </a:p>
        </p:txBody>
      </p:sp>
      <p:sp>
        <p:nvSpPr>
          <p:cNvPr id="15" name="Text 12"/>
          <p:cNvSpPr/>
          <p:nvPr/>
        </p:nvSpPr>
        <p:spPr>
          <a:xfrm>
            <a:off x="762000" y="9429750"/>
            <a:ext cx="16478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F03</a:t>
            </a:r>
            <a:r>
              <a:rPr lang="en-US" sz="1650" dirty="0" spc="0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762000" y="9906000"/>
            <a:ext cx="1666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F03</a:t>
            </a:r>
            <a:r>
              <a:rPr lang="en-US" sz="1650" dirty="0" spc="0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6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1650" dirty="0" spc="5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650" dirty="0" spc="-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02/37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10af4398-9e0f-4519-8f05-312877dfd0b8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23875"/>
            <a:ext cx="14287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🕰️ B · HISTORICAL BACKGROUND</a:t>
            </a:r>
            <a:endParaRPr lang="en-US" sz="2100" dirty="0"/>
          </a:p>
        </p:txBody>
      </p:sp>
      <p:pic>
        <p:nvPicPr>
          <p:cNvPr id="3" name="Moda flattened rect-1792855806818-87108161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572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287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3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1923:</a:t>
            </a: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thêm</a:t>
            </a:r>
            <a:r>
              <a:rPr lang="en-US" sz="4500" b="1" dirty="0" spc="-8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một</a:t>
            </a:r>
            <a:r>
              <a:rPr lang="en-US" sz="4500" b="1" dirty="0" spc="3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câu</a:t>
            </a:r>
            <a:r>
              <a:rPr lang="en-US" sz="4500" b="1" dirty="0" spc="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hỏi</a:t>
            </a:r>
            <a:r>
              <a:rPr lang="en-US" sz="4500" b="1" dirty="0" spc="-46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về</a:t>
            </a:r>
            <a:r>
              <a:rPr lang="en-US" sz="4500" b="1" dirty="0" spc="-28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tổ</a:t>
            </a:r>
            <a:r>
              <a:rPr lang="en-US" sz="4500" b="1" dirty="0" spc="-29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chức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714750"/>
            <a:ext cx="5048250" cy="1905000"/>
          </a:xfrm>
          <a:prstGeom prst="roundRect">
            <a:avLst>
              <a:gd name="adj" fmla="val 9000"/>
            </a:avLst>
          </a:prstGeom>
          <a:solidFill>
            <a:srgbClr val="EADDE0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714750"/>
            <a:ext cx="50482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240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40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</a:t>
            </a:r>
            <a:r>
              <a:rPr lang="en-US" sz="2400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477000" y="3714750"/>
            <a:ext cx="5048250" cy="1905000"/>
          </a:xfrm>
          <a:prstGeom prst="roundRect">
            <a:avLst>
              <a:gd name="adj" fmla="val 9000"/>
            </a:avLst>
          </a:prstGeom>
          <a:solidFill>
            <a:srgbClr val="EADDE0"/>
          </a:solidFill>
          <a:ln/>
        </p:spPr>
      </p:sp>
      <p:sp>
        <p:nvSpPr>
          <p:cNvPr id="8" name="Text 5"/>
          <p:cNvSpPr/>
          <p:nvPr/>
        </p:nvSpPr>
        <p:spPr>
          <a:xfrm>
            <a:off x="6477000" y="3714750"/>
            <a:ext cx="50482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1923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2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Ego</a:t>
            </a:r>
            <a:r>
              <a:rPr lang="en-US" sz="240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400" dirty="0" spc="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400" dirty="0" spc="-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vô</a:t>
            </a:r>
            <a:r>
              <a:rPr lang="en-US" sz="240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2192000" y="3714750"/>
            <a:ext cx="5048250" cy="1905000"/>
          </a:xfrm>
          <a:prstGeom prst="roundRect">
            <a:avLst>
              <a:gd name="adj" fmla="val 9000"/>
            </a:avLst>
          </a:prstGeom>
          <a:solidFill>
            <a:srgbClr val="EADDE0"/>
          </a:solidFill>
          <a:ln/>
        </p:spPr>
      </p:sp>
      <p:sp>
        <p:nvSpPr>
          <p:cNvPr id="10" name="Text 7"/>
          <p:cNvSpPr/>
          <p:nvPr/>
        </p:nvSpPr>
        <p:spPr>
          <a:xfrm>
            <a:off x="12192000" y="3714750"/>
            <a:ext cx="50482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F03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10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</a:t>
            </a:r>
            <a:r>
              <a:rPr lang="en-US" sz="240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40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0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40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năng.</a:t>
            </a:r>
            <a:endParaRPr lang="en-US" sz="2400" dirty="0"/>
          </a:p>
        </p:txBody>
      </p:sp>
      <p:sp>
        <p:nvSpPr>
          <p:cNvPr id="11" name="Connector line-1792855806832-717838140"/>
          <p:cNvSpPr/>
          <p:nvPr/>
        </p:nvSpPr>
        <p:spPr>
          <a:xfrm>
            <a:off x="5810250" y="4667250"/>
            <a:ext cx="666750" cy="0"/>
          </a:xfrm>
          <a:prstGeom prst="line">
            <a:avLst/>
          </a:prstGeom>
          <a:noFill/>
          <a:ln w="19050">
            <a:solidFill>
              <a:srgbClr val="7A2038"/>
            </a:solidFill>
            <a:prstDash val="solid"/>
            <a:headEnd type="none"/>
            <a:tailEnd type="triangle" w="lg" len="lg"/>
          </a:ln>
        </p:spPr>
      </p:sp>
      <p:sp>
        <p:nvSpPr>
          <p:cNvPr id="12" name="Connector line-1792855806832-842235813"/>
          <p:cNvSpPr/>
          <p:nvPr/>
        </p:nvSpPr>
        <p:spPr>
          <a:xfrm>
            <a:off x="11525250" y="4667250"/>
            <a:ext cx="666750" cy="0"/>
          </a:xfrm>
          <a:prstGeom prst="line">
            <a:avLst/>
          </a:prstGeom>
          <a:noFill/>
          <a:ln w="19050">
            <a:solidFill>
              <a:srgbClr val="7A2038"/>
            </a:solidFill>
            <a:prstDash val="solid"/>
            <a:headEnd type="none"/>
            <a:tailEnd type="triangle" w="lg" len="lg"/>
          </a:ln>
        </p:spPr>
      </p:sp>
      <p:sp>
        <p:nvSpPr>
          <p:cNvPr id="13" name="Text 10"/>
          <p:cNvSpPr/>
          <p:nvPr/>
        </p:nvSpPr>
        <p:spPr>
          <a:xfrm>
            <a:off x="762000" y="6143625"/>
            <a:ext cx="1638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 spc="-41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Lộ</a:t>
            </a:r>
            <a:r>
              <a:rPr lang="en-US" sz="1875" dirty="0" spc="7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875" dirty="0" spc="-1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 niệm</a:t>
            </a:r>
            <a:r>
              <a:rPr lang="en-US" sz="1875" dirty="0" spc="-3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75" dirty="0" spc="6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75" dirty="0" spc="-21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1875" dirty="0" spc="-2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1875" dirty="0" spc="2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1875" dirty="0" spc="1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1875" dirty="0" spc="3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endParaRPr lang="en-US" sz="1875" dirty="0"/>
          </a:p>
        </p:txBody>
      </p:sp>
      <p:sp>
        <p:nvSpPr>
          <p:cNvPr id="14" name="Text 11"/>
          <p:cNvSpPr/>
          <p:nvPr/>
        </p:nvSpPr>
        <p:spPr>
          <a:xfrm>
            <a:off x="809625" y="7000875"/>
            <a:ext cx="16430625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5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2550" dirty="0" spc="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I,</a:t>
            </a:r>
            <a:r>
              <a:rPr lang="en-US" sz="2550" dirty="0" spc="-3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 luận</a:t>
            </a:r>
            <a:r>
              <a:rPr lang="en-US" sz="2550" dirty="0" spc="-2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rằng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kháng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cự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ông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ego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bệnh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biết.</a:t>
            </a:r>
            <a:r>
              <a:rPr lang="en-US" sz="2550" dirty="0" spc="4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vậy,</a:t>
            </a:r>
            <a:r>
              <a:rPr lang="en-US" sz="2550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xung</a:t>
            </a:r>
            <a:r>
              <a:rPr lang="en-US" sz="2550" dirty="0" spc="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ý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chống</a:t>
            </a:r>
            <a:r>
              <a:rPr lang="en-US" sz="2550" dirty="0" spc="-2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vô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 theo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ông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 phân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tích.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 câu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hệ,</a:t>
            </a:r>
            <a:r>
              <a:rPr lang="en-US" sz="2550" dirty="0" spc="-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-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F02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 mới.</a:t>
            </a:r>
            <a:endParaRPr lang="en-US" sz="2550" dirty="0"/>
          </a:p>
        </p:txBody>
      </p:sp>
      <p:sp>
        <p:nvSpPr>
          <p:cNvPr id="15" name="Text 12"/>
          <p:cNvSpPr/>
          <p:nvPr/>
        </p:nvSpPr>
        <p:spPr>
          <a:xfrm>
            <a:off x="762000" y="9429750"/>
            <a:ext cx="16478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4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r>
              <a:rPr lang="en-US" sz="1650" dirty="0" spc="3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</a:t>
            </a:r>
            <a:r>
              <a:rPr lang="en-US" sz="1650" dirty="0" spc="0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4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[S2]LOC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762000" y="9906000"/>
            <a:ext cx="1666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F03</a:t>
            </a:r>
            <a:r>
              <a:rPr lang="en-US" sz="1650" dirty="0" spc="0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6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1650" dirty="0" spc="5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650" dirty="0" spc="-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3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03/37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fdfa0912-e10f-4bac-9c14-f7189d9cd5ac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23875"/>
            <a:ext cx="14287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🕰️ B · SOURCE LITERACY</a:t>
            </a:r>
            <a:endParaRPr lang="en-US" sz="2100" dirty="0"/>
          </a:p>
        </p:txBody>
      </p:sp>
      <p:pic>
        <p:nvPicPr>
          <p:cNvPr id="3" name="Moda flattened rect-1792855810231-564519924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572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287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Đọc</a:t>
            </a:r>
            <a:r>
              <a:rPr lang="en-US" sz="4500" b="1" dirty="0" spc="9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đúng</a:t>
            </a: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bản,</a:t>
            </a:r>
            <a:r>
              <a:rPr lang="en-US" sz="4500" b="1" dirty="0" spc="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không ghép</a:t>
            </a: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nhầm</a:t>
            </a:r>
            <a:r>
              <a:rPr lang="en-US" sz="4500" b="1" dirty="0" spc="-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số</a:t>
            </a:r>
            <a:r>
              <a:rPr lang="en-US" sz="4500" b="1" dirty="0" spc="-15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trang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333750"/>
            <a:ext cx="5048250" cy="2571750"/>
          </a:xfrm>
          <a:prstGeom prst="roundRect">
            <a:avLst>
              <a:gd name="adj" fmla="val 6667"/>
            </a:avLst>
          </a:prstGeom>
          <a:solidFill>
            <a:srgbClr val="EADDE0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333750"/>
            <a:ext cx="504825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1923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400" dirty="0" spc="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Đức</a:t>
            </a:r>
            <a:r>
              <a:rPr lang="en-US" sz="2400" dirty="0" spc="-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477000" y="3333750"/>
            <a:ext cx="5048250" cy="2571750"/>
          </a:xfrm>
          <a:prstGeom prst="roundRect">
            <a:avLst>
              <a:gd name="adj" fmla="val 6667"/>
            </a:avLst>
          </a:prstGeom>
          <a:solidFill>
            <a:srgbClr val="EADDE0"/>
          </a:solidFill>
          <a:ln/>
        </p:spPr>
      </p:sp>
      <p:sp>
        <p:nvSpPr>
          <p:cNvPr id="8" name="Text 5"/>
          <p:cNvSpPr/>
          <p:nvPr/>
        </p:nvSpPr>
        <p:spPr>
          <a:xfrm>
            <a:off x="6477000" y="3333750"/>
            <a:ext cx="504825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1927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40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Riviere</a:t>
            </a:r>
            <a:r>
              <a:rPr lang="en-US" sz="2400" dirty="0" spc="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0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2192000" y="3333750"/>
            <a:ext cx="5048250" cy="2571750"/>
          </a:xfrm>
          <a:prstGeom prst="roundRect">
            <a:avLst>
              <a:gd name="adj" fmla="val 6667"/>
            </a:avLst>
          </a:prstGeom>
          <a:solidFill>
            <a:srgbClr val="EADDE0"/>
          </a:solidFill>
          <a:ln/>
        </p:spPr>
      </p:sp>
      <p:sp>
        <p:nvSpPr>
          <p:cNvPr id="10" name="Text 7"/>
          <p:cNvSpPr/>
          <p:nvPr/>
        </p:nvSpPr>
        <p:spPr>
          <a:xfrm>
            <a:off x="12192000" y="3333750"/>
            <a:ext cx="504825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Locator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Chương/câu</a:t>
            </a:r>
            <a:r>
              <a:rPr lang="en-US" sz="2400" dirty="0" spc="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400" dirty="0" spc="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đoạn;</a:t>
            </a:r>
            <a:r>
              <a:rPr lang="en-US" sz="2400" dirty="0" spc="-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khôngtrang</a:t>
            </a: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09625" y="7000875"/>
            <a:ext cx="16430625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7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r>
              <a:rPr lang="en-US" sz="2550" dirty="0" spc="-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Das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Ich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und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das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Es</a:t>
            </a:r>
            <a:r>
              <a:rPr lang="en-US" sz="2550" dirty="0" spc="-3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1923.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-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550" dirty="0" spc="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Anh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Joan</a:t>
            </a:r>
            <a:r>
              <a:rPr lang="en-US" sz="2550" dirty="0" spc="-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Riviere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550" dirty="0" spc="-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1927</a:t>
            </a:r>
            <a:r>
              <a:rPr lang="en-US" sz="2550" dirty="0" spc="-2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-2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Project</a:t>
            </a:r>
            <a:r>
              <a:rPr lang="en-US" sz="2550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Gutenberg,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Standard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Edition</a:t>
            </a:r>
            <a:r>
              <a:rPr lang="en-US" sz="255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19.</a:t>
            </a:r>
            <a:r>
              <a:rPr lang="en-US" sz="2550" dirty="0" spc="-2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Locator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550" dirty="0" spc="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550" dirty="0" spc="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xem.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550" dirty="0" spc="-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gốc,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 đọc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550" dirty="0" spc="-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tránh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-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trông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550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550" dirty="0" spc="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2550" dirty="0" spc="-2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550" dirty="0" spc="-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biểu.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762000" y="9429750"/>
            <a:ext cx="16478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8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[S1]Translator’sNote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762000" y="9906000"/>
            <a:ext cx="1666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F03</a:t>
            </a:r>
            <a:r>
              <a:rPr lang="en-US" sz="1650" dirty="0" spc="0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6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1650" dirty="0" spc="5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650" dirty="0" spc="-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04/37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193eebe8-d3cc-4907-814a-cdad5e0a171b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31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23875"/>
            <a:ext cx="14287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🧠 C · CORE THEORY</a:t>
            </a:r>
            <a:endParaRPr lang="en-US" sz="2100" dirty="0"/>
          </a:p>
        </p:txBody>
      </p:sp>
      <p:pic>
        <p:nvPicPr>
          <p:cNvPr id="3" name="Moda flattened rect-1792855813163-4658569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572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287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Ba</a:t>
            </a:r>
            <a:r>
              <a:rPr lang="en-US" sz="4500" b="1" dirty="0" spc="-17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tên</a:t>
            </a:r>
            <a:r>
              <a:rPr lang="en-US" sz="4500" b="1" dirty="0" spc="-28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gọi</a:t>
            </a:r>
            <a:r>
              <a:rPr lang="en-US" sz="4500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là</a:t>
            </a:r>
            <a:r>
              <a:rPr lang="en-US" sz="4500" b="1" dirty="0" spc="-29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chức</a:t>
            </a: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năng</a:t>
            </a:r>
            <a:r>
              <a:rPr lang="en-US" sz="4500" b="1" dirty="0" spc="-45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được</a:t>
            </a:r>
            <a:r>
              <a:rPr lang="en-US" sz="4500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giả</a:t>
            </a:r>
            <a:r>
              <a:rPr lang="en-US" sz="4500" b="1" dirty="0" spc="1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định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333750"/>
            <a:ext cx="5048250" cy="2571750"/>
          </a:xfrm>
          <a:prstGeom prst="roundRect">
            <a:avLst>
              <a:gd name="adj" fmla="val 6667"/>
            </a:avLst>
          </a:prstGeom>
          <a:solidFill>
            <a:srgbClr val="3C2C35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333750"/>
            <a:ext cx="504825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Id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Đòi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xung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477000" y="3333750"/>
            <a:ext cx="5048250" cy="2571750"/>
          </a:xfrm>
          <a:prstGeom prst="roundRect">
            <a:avLst>
              <a:gd name="adj" fmla="val 6667"/>
            </a:avLst>
          </a:prstGeom>
          <a:solidFill>
            <a:srgbClr val="3C2C35"/>
          </a:solidFill>
          <a:ln/>
        </p:spPr>
      </p:sp>
      <p:sp>
        <p:nvSpPr>
          <p:cNvPr id="8" name="Text 5"/>
          <p:cNvSpPr/>
          <p:nvPr/>
        </p:nvSpPr>
        <p:spPr>
          <a:xfrm>
            <a:off x="6477000" y="3333750"/>
            <a:ext cx="504825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Ego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10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</a:t>
            </a:r>
            <a:r>
              <a:rPr lang="en-US" sz="240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400" dirty="0" spc="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2400" dirty="0" spc="2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2192000" y="3333750"/>
            <a:ext cx="5048250" cy="2571750"/>
          </a:xfrm>
          <a:prstGeom prst="roundRect">
            <a:avLst>
              <a:gd name="adj" fmla="val 6667"/>
            </a:avLst>
          </a:prstGeom>
          <a:solidFill>
            <a:srgbClr val="3C2C35"/>
          </a:solidFill>
          <a:ln/>
        </p:spPr>
      </p:sp>
      <p:sp>
        <p:nvSpPr>
          <p:cNvPr id="10" name="Text 7"/>
          <p:cNvSpPr/>
          <p:nvPr/>
        </p:nvSpPr>
        <p:spPr>
          <a:xfrm>
            <a:off x="12192000" y="3333750"/>
            <a:ext cx="504825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Superego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Chuẩn/lý</a:t>
            </a:r>
            <a:r>
              <a:rPr lang="en-US" sz="2400" dirty="0" spc="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tưởng/phê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phán.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09625" y="7000875"/>
            <a:ext cx="16430625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 hình</a:t>
            </a:r>
            <a:r>
              <a:rPr lang="en-US" sz="25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550" dirty="0" spc="-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55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550" dirty="0" spc="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đòi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xung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năng,</a:t>
            </a:r>
            <a:r>
              <a:rPr lang="en-US" sz="2550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550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2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hòa</a:t>
            </a:r>
            <a:r>
              <a:rPr lang="en-US" sz="2550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55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550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hóa.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55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550" dirty="0" spc="-2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</a:t>
            </a:r>
            <a:r>
              <a:rPr lang="en-US" sz="2550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lập,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cung cấp</a:t>
            </a:r>
            <a:r>
              <a:rPr lang="en-US" sz="255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dirty="0" spc="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55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550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ngoài.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id,</a:t>
            </a:r>
            <a:r>
              <a:rPr lang="en-US" sz="2550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ego,</a:t>
            </a:r>
            <a:r>
              <a:rPr lang="en-US" sz="2550" dirty="0" spc="-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superego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ích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</a:t>
            </a:r>
            <a:r>
              <a:rPr lang="en-US" sz="255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5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55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550" dirty="0" spc="-3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550" dirty="0" spc="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dirty="0" spc="-3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255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55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55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tượng.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762000" y="9429750"/>
            <a:ext cx="16478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4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r>
              <a:rPr lang="en-US" sz="1650" dirty="0" spc="-26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1650" dirty="0" spc="-3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1923/1927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762000" y="9906000"/>
            <a:ext cx="1666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1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F03</a:t>
            </a:r>
            <a:r>
              <a:rPr lang="en-US" sz="1650" dirty="0" spc="0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6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1650" dirty="0" spc="5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650" dirty="0" spc="-1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0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05/37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6580e422-b813-4c45-a005-df5484d390b2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23875"/>
            <a:ext cx="14287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🧠 C · ID</a:t>
            </a:r>
            <a:endParaRPr lang="en-US" sz="2100" dirty="0"/>
          </a:p>
        </p:txBody>
      </p:sp>
      <p:pic>
        <p:nvPicPr>
          <p:cNvPr id="3" name="Moda flattened rect-1792855816132-430151673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572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287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4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Id</a:t>
            </a:r>
            <a:r>
              <a:rPr lang="en-US" sz="4500" b="1" dirty="0" spc="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không phải</a:t>
            </a:r>
            <a:r>
              <a:rPr lang="en-US" sz="4500" b="1" dirty="0" spc="3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cái</a:t>
            </a:r>
            <a:r>
              <a:rPr lang="en-US" sz="4500" b="1" dirty="0" spc="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ác</a:t>
            </a:r>
            <a:r>
              <a:rPr lang="en-US" sz="4500" b="1" dirty="0" spc="-1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trong</a:t>
            </a:r>
            <a:r>
              <a:rPr lang="en-US" sz="4500" b="1" dirty="0" spc="8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đầu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333750"/>
            <a:ext cx="8001000" cy="2571750"/>
          </a:xfrm>
          <a:prstGeom prst="roundRect">
            <a:avLst>
              <a:gd name="adj" fmla="val 6667"/>
            </a:avLst>
          </a:prstGeom>
          <a:solidFill>
            <a:srgbClr val="EADDE0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333750"/>
            <a:ext cx="80010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Chức</a:t>
            </a:r>
            <a:r>
              <a:rPr lang="en-US" sz="2400" b="1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Đòi</a:t>
            </a: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400" dirty="0" spc="-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thỏa</a:t>
            </a:r>
            <a:r>
              <a:rPr lang="en-US" sz="240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mãn.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9334500" y="3333750"/>
            <a:ext cx="8001000" cy="2571750"/>
          </a:xfrm>
          <a:prstGeom prst="roundRect">
            <a:avLst>
              <a:gd name="adj" fmla="val 6667"/>
            </a:avLst>
          </a:prstGeom>
          <a:solidFill>
            <a:srgbClr val="EADDE0"/>
          </a:solidFill>
          <a:ln/>
        </p:spPr>
      </p:sp>
      <p:sp>
        <p:nvSpPr>
          <p:cNvPr id="8" name="Text 5"/>
          <p:cNvSpPr/>
          <p:nvPr/>
        </p:nvSpPr>
        <p:spPr>
          <a:xfrm>
            <a:off x="9334500" y="3333750"/>
            <a:ext cx="80010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b="1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400" b="1" dirty="0" spc="-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Muốn</a:t>
            </a:r>
            <a:r>
              <a:rPr lang="en-US" sz="2400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</a:t>
            </a:r>
            <a:r>
              <a:rPr lang="en-US" sz="2400" dirty="0" spc="-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xấu;</a:t>
            </a:r>
            <a:r>
              <a:rPr lang="en-US" sz="240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bốc</a:t>
            </a:r>
            <a:r>
              <a:rPr lang="en-US" sz="2400" dirty="0" spc="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400" dirty="0" spc="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</a:t>
            </a: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</a:t>
            </a:r>
            <a:r>
              <a:rPr lang="en-US" sz="240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thắng.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62000" y="6191250"/>
            <a:ext cx="1638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Đối</a:t>
            </a:r>
            <a:r>
              <a:rPr lang="en-US" sz="1950" dirty="0" spc="0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chiếu</a:t>
            </a:r>
            <a:r>
              <a:rPr lang="en-US" sz="1950" dirty="0" spc="5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1950" dirty="0" spc="-3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phân biệt,</a:t>
            </a:r>
            <a:r>
              <a:rPr lang="en-US" sz="1950" dirty="0" spc="-4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1950" dirty="0" spc="1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đồng</a:t>
            </a:r>
            <a:r>
              <a:rPr lang="en-US" sz="1950" dirty="0" spc="-8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nhất</a:t>
            </a:r>
            <a:r>
              <a:rPr lang="en-US" sz="1950" dirty="0" spc="-1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khái</a:t>
            </a:r>
            <a:r>
              <a:rPr lang="en-US" sz="1950" dirty="0" spc="-2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niệm.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809625" y="7000875"/>
            <a:ext cx="16430625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5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 hình,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</a:t>
            </a:r>
            <a:r>
              <a:rPr lang="en-US" sz="2550" dirty="0" spc="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550" dirty="0" spc="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đòi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phía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vô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thức.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 nghỉ,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2550" dirty="0" spc="-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gũi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2550" dirty="0" spc="-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tránh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 chịu không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2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-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2550" dirty="0" spc="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đạo</a:t>
            </a:r>
            <a:r>
              <a:rPr lang="en-US" sz="2550" dirty="0" spc="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đức.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“Id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ngay”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lối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550" dirty="0" spc="-2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550" dirty="0" spc="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năng; không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nó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-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550" dirty="0" spc="-2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dirty="0" spc="2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-3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550" dirty="0" spc="-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bốc</a:t>
            </a:r>
            <a:r>
              <a:rPr lang="en-US" sz="2550" dirty="0" spc="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đồng.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762000" y="9429750"/>
            <a:ext cx="16478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[S1]II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762000" y="9906000"/>
            <a:ext cx="1666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F03</a:t>
            </a:r>
            <a:r>
              <a:rPr lang="en-US" sz="1650" dirty="0" spc="0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6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1650" dirty="0" spc="5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650" dirty="0" spc="-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06/37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4" name="Moda image moda-export-watermark-a710f3cf-59e3-424a-a844-84c94a8e8bfd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23875"/>
            <a:ext cx="14287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🧠 C · EGO</a:t>
            </a:r>
            <a:endParaRPr lang="en-US" sz="2100" dirty="0"/>
          </a:p>
        </p:txBody>
      </p:sp>
      <p:pic>
        <p:nvPicPr>
          <p:cNvPr id="3" name="Moda flattened rect-1792855819260-537120201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572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287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4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Ego:</a:t>
            </a:r>
            <a:r>
              <a:rPr lang="en-US" sz="4500" b="1" dirty="0" spc="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làm</a:t>
            </a: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việc</a:t>
            </a:r>
            <a:r>
              <a:rPr lang="en-US" sz="4500" b="1" dirty="0" spc="-5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với</a:t>
            </a:r>
            <a:r>
              <a:rPr lang="en-US" sz="4500" b="1" dirty="0" spc="-29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thực</a:t>
            </a:r>
            <a:r>
              <a:rPr lang="en-US" sz="4500" b="1" dirty="0" spc="-5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tại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714750"/>
            <a:ext cx="5048250" cy="1905000"/>
          </a:xfrm>
          <a:prstGeom prst="roundRect">
            <a:avLst>
              <a:gd name="adj" fmla="val 9000"/>
            </a:avLst>
          </a:prstGeom>
          <a:solidFill>
            <a:srgbClr val="EADDE0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714750"/>
            <a:ext cx="50482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Tri</a:t>
            </a:r>
            <a:r>
              <a:rPr lang="en-US" sz="2400" b="1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giác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Tiếp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00" dirty="0" spc="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477000" y="3714750"/>
            <a:ext cx="5048250" cy="1905000"/>
          </a:xfrm>
          <a:prstGeom prst="roundRect">
            <a:avLst>
              <a:gd name="adj" fmla="val 9000"/>
            </a:avLst>
          </a:prstGeom>
          <a:solidFill>
            <a:srgbClr val="EADDE0"/>
          </a:solidFill>
          <a:ln/>
        </p:spPr>
      </p:sp>
      <p:sp>
        <p:nvSpPr>
          <p:cNvPr id="8" name="Text 5"/>
          <p:cNvSpPr/>
          <p:nvPr/>
        </p:nvSpPr>
        <p:spPr>
          <a:xfrm>
            <a:off x="6477000" y="3714750"/>
            <a:ext cx="50482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2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</a:t>
            </a:r>
            <a:r>
              <a:rPr lang="en-US" sz="2400" b="1" dirty="0" spc="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Suy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</a:t>
            </a:r>
            <a:r>
              <a:rPr lang="en-US" sz="240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2192000" y="3714750"/>
            <a:ext cx="5048250" cy="1905000"/>
          </a:xfrm>
          <a:prstGeom prst="roundRect">
            <a:avLst>
              <a:gd name="adj" fmla="val 9000"/>
            </a:avLst>
          </a:prstGeom>
          <a:solidFill>
            <a:srgbClr val="EADDE0"/>
          </a:solidFill>
          <a:ln/>
        </p:spPr>
      </p:sp>
      <p:sp>
        <p:nvSpPr>
          <p:cNvPr id="10" name="Text 7"/>
          <p:cNvSpPr/>
          <p:nvPr/>
        </p:nvSpPr>
        <p:spPr>
          <a:xfrm>
            <a:off x="12192000" y="3714750"/>
            <a:ext cx="50482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Hành</a:t>
            </a:r>
            <a:r>
              <a:rPr lang="en-US" sz="2400" b="1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Thỏa</a:t>
            </a:r>
            <a:r>
              <a:rPr lang="en-US" sz="2400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mãn</a:t>
            </a: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kiện.</a:t>
            </a:r>
            <a:endParaRPr lang="en-US" sz="2400" dirty="0"/>
          </a:p>
        </p:txBody>
      </p:sp>
      <p:sp>
        <p:nvSpPr>
          <p:cNvPr id="11" name="Connector line-1792855819280-12809578"/>
          <p:cNvSpPr/>
          <p:nvPr/>
        </p:nvSpPr>
        <p:spPr>
          <a:xfrm>
            <a:off x="5810250" y="4667250"/>
            <a:ext cx="666750" cy="0"/>
          </a:xfrm>
          <a:prstGeom prst="line">
            <a:avLst/>
          </a:prstGeom>
          <a:noFill/>
          <a:ln w="19050">
            <a:solidFill>
              <a:srgbClr val="7A2038"/>
            </a:solidFill>
            <a:prstDash val="solid"/>
            <a:headEnd type="none"/>
            <a:tailEnd type="triangle" w="lg" len="lg"/>
          </a:ln>
        </p:spPr>
      </p:sp>
      <p:sp>
        <p:nvSpPr>
          <p:cNvPr id="12" name="Connector line-1792855819281-554286988"/>
          <p:cNvSpPr/>
          <p:nvPr/>
        </p:nvSpPr>
        <p:spPr>
          <a:xfrm>
            <a:off x="11525250" y="4667250"/>
            <a:ext cx="666750" cy="0"/>
          </a:xfrm>
          <a:prstGeom prst="line">
            <a:avLst/>
          </a:prstGeom>
          <a:noFill/>
          <a:ln w="19050">
            <a:solidFill>
              <a:srgbClr val="7A2038"/>
            </a:solidFill>
            <a:prstDash val="solid"/>
            <a:headEnd type="none"/>
            <a:tailEnd type="triangle" w="lg" len="lg"/>
          </a:ln>
        </p:spPr>
      </p:sp>
      <p:sp>
        <p:nvSpPr>
          <p:cNvPr id="13" name="Text 10"/>
          <p:cNvSpPr/>
          <p:nvPr/>
        </p:nvSpPr>
        <p:spPr>
          <a:xfrm>
            <a:off x="762000" y="6143625"/>
            <a:ext cx="1638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 spc="-41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Lộ</a:t>
            </a:r>
            <a:r>
              <a:rPr lang="en-US" sz="1875" dirty="0" spc="7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875" dirty="0" spc="-1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 niệm</a:t>
            </a:r>
            <a:r>
              <a:rPr lang="en-US" sz="1875" dirty="0" spc="-3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75" dirty="0" spc="6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75" dirty="0" spc="-21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1875" dirty="0" spc="-2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1875" dirty="0" spc="2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1875" dirty="0" spc="1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1875" dirty="0" spc="3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endParaRPr lang="en-US" sz="1875" dirty="0"/>
          </a:p>
        </p:txBody>
      </p:sp>
      <p:sp>
        <p:nvSpPr>
          <p:cNvPr id="14" name="Text 11"/>
          <p:cNvSpPr/>
          <p:nvPr/>
        </p:nvSpPr>
        <p:spPr>
          <a:xfrm>
            <a:off x="809625" y="7000875"/>
            <a:ext cx="16430625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4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Freud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 ego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550" dirty="0" spc="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-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giác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giới.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550" dirty="0" spc="-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 nghĩ,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-2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550" dirty="0" spc="-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tại,</a:t>
            </a:r>
            <a:r>
              <a:rPr lang="en-US" sz="2550" dirty="0" spc="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hoãn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550" dirty="0" spc="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550" dirty="0" spc="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2550" dirty="0" spc="-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550" dirty="0" spc="-2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 nhau.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Ego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55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550" dirty="0" spc="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</a:t>
            </a:r>
            <a:r>
              <a:rPr lang="en-US" sz="2550" dirty="0" spc="-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 như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550" dirty="0" spc="-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tài:</a:t>
            </a:r>
            <a:r>
              <a:rPr lang="en-US" sz="2550" dirty="0" spc="-3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550" dirty="0" spc="-2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ranh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sắc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đòi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 không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hết.</a:t>
            </a:r>
            <a:endParaRPr lang="en-US" sz="2550" dirty="0"/>
          </a:p>
        </p:txBody>
      </p:sp>
      <p:sp>
        <p:nvSpPr>
          <p:cNvPr id="15" name="Text 12"/>
          <p:cNvSpPr/>
          <p:nvPr/>
        </p:nvSpPr>
        <p:spPr>
          <a:xfrm>
            <a:off x="762000" y="9429750"/>
            <a:ext cx="16478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[S1]II;V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762000" y="9906000"/>
            <a:ext cx="1666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F03</a:t>
            </a:r>
            <a:r>
              <a:rPr lang="en-US" sz="1650" dirty="0" spc="0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6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1650" dirty="0" spc="5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650" dirty="0" spc="-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3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07/37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90e5063c-4bcb-45fd-a5b1-24e8c3daaebe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23875"/>
            <a:ext cx="14287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🧠 C · TERMS</a:t>
            </a:r>
            <a:endParaRPr lang="en-US" sz="2100" dirty="0"/>
          </a:p>
        </p:txBody>
      </p:sp>
      <p:pic>
        <p:nvPicPr>
          <p:cNvPr id="3" name="Moda flattened rect-1792855822193-777350903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572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287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48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Ego</a:t>
            </a:r>
            <a:r>
              <a:rPr lang="en-US" sz="4500" b="1" dirty="0" spc="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không</a:t>
            </a:r>
            <a:r>
              <a:rPr lang="en-US" sz="4500" b="1" dirty="0" spc="8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đồng</a:t>
            </a: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nghĩa</a:t>
            </a:r>
            <a:r>
              <a:rPr lang="en-US" sz="4500" b="1" dirty="0" spc="3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“bỏ</a:t>
            </a:r>
            <a:r>
              <a:rPr lang="en-US" sz="4500" b="1" dirty="0" spc="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cái</a:t>
            </a:r>
            <a:r>
              <a:rPr lang="en-US" sz="4500" b="1" dirty="0" spc="-16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tôi”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333750"/>
            <a:ext cx="8001000" cy="2571750"/>
          </a:xfrm>
          <a:prstGeom prst="roundRect">
            <a:avLst>
              <a:gd name="adj" fmla="val 6667"/>
            </a:avLst>
          </a:prstGeom>
          <a:solidFill>
            <a:srgbClr val="EADDE0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333750"/>
            <a:ext cx="80010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Nghĩa</a:t>
            </a:r>
            <a:r>
              <a:rPr lang="en-US" sz="2400" b="1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phổ</a:t>
            </a:r>
            <a:r>
              <a:rPr lang="en-US" sz="2400" b="1" dirty="0" spc="-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1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2400" dirty="0" spc="-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trọng/kiêu</a:t>
            </a:r>
            <a:r>
              <a:rPr lang="en-US" sz="2400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ngạo.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9334500" y="3333750"/>
            <a:ext cx="8001000" cy="2571750"/>
          </a:xfrm>
          <a:prstGeom prst="roundRect">
            <a:avLst>
              <a:gd name="adj" fmla="val 6667"/>
            </a:avLst>
          </a:prstGeom>
          <a:solidFill>
            <a:srgbClr val="EADDE0"/>
          </a:solidFill>
          <a:ln/>
        </p:spPr>
      </p:sp>
      <p:sp>
        <p:nvSpPr>
          <p:cNvPr id="8" name="Text 5"/>
          <p:cNvSpPr/>
          <p:nvPr/>
        </p:nvSpPr>
        <p:spPr>
          <a:xfrm>
            <a:off x="9334500" y="3333750"/>
            <a:ext cx="80010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Ego</a:t>
            </a:r>
            <a:r>
              <a:rPr lang="en-US" sz="2400" b="1" dirty="0" spc="-2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Chức</a:t>
            </a:r>
            <a:r>
              <a:rPr lang="en-US" sz="240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400" dirty="0" spc="-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hình.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62000" y="6191250"/>
            <a:ext cx="1638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Đối</a:t>
            </a:r>
            <a:r>
              <a:rPr lang="en-US" sz="1950" dirty="0" spc="0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chiếu</a:t>
            </a:r>
            <a:r>
              <a:rPr lang="en-US" sz="1950" dirty="0" spc="5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1950" dirty="0" spc="-3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phân biệt,</a:t>
            </a:r>
            <a:r>
              <a:rPr lang="en-US" sz="1950" dirty="0" spc="-4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1950" dirty="0" spc="1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đồng</a:t>
            </a:r>
            <a:r>
              <a:rPr lang="en-US" sz="1950" dirty="0" spc="-8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nhất</a:t>
            </a:r>
            <a:r>
              <a:rPr lang="en-US" sz="1950" dirty="0" spc="-1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khái</a:t>
            </a:r>
            <a:r>
              <a:rPr lang="en-US" sz="1950" dirty="0" spc="-2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niệm.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809625" y="7000875"/>
            <a:ext cx="16430625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5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2550" dirty="0" spc="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</a:t>
            </a:r>
            <a:r>
              <a:rPr lang="en-US" sz="2550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phổ thông,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“cái</a:t>
            </a:r>
            <a:r>
              <a:rPr lang="en-US" sz="2550" dirty="0" spc="-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tôi”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chỉ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kiêu</a:t>
            </a:r>
            <a:r>
              <a:rPr lang="en-US" sz="2550" dirty="0" spc="-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ngạo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trọng.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 không phải phép</a:t>
            </a:r>
            <a:r>
              <a:rPr lang="en-US" sz="2550" dirty="0" spc="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ego</a:t>
            </a:r>
            <a:r>
              <a:rPr lang="en-US" sz="2550" dirty="0" spc="-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dirty="0" spc="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học.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nhún</a:t>
            </a:r>
            <a:r>
              <a:rPr lang="en-US" sz="2550" dirty="0" spc="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nhường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ego</a:t>
            </a:r>
            <a:r>
              <a:rPr lang="en-US" sz="2550" dirty="0" spc="-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yếu;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 không vì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ego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mạnh.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550" dirty="0" spc="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theo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 nào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 vi.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762000" y="9429750"/>
            <a:ext cx="16478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5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[S1]I–II;F03C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762000" y="9906000"/>
            <a:ext cx="1666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F03</a:t>
            </a:r>
            <a:r>
              <a:rPr lang="en-US" sz="1650" dirty="0" spc="0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6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1650" dirty="0" spc="5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650" dirty="0" spc="-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08/37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4" name="Moda image moda-export-watermark-2022fcb7-d4dc-42a7-b819-2d355551b3f4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1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23875"/>
            <a:ext cx="14287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🧠 C · EGO AND AWARENESS</a:t>
            </a:r>
            <a:endParaRPr lang="en-US" sz="2100" dirty="0"/>
          </a:p>
        </p:txBody>
      </p:sp>
      <p:pic>
        <p:nvPicPr>
          <p:cNvPr id="3" name="Moda flattened rect-1792855825849-437677864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572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287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1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Một</a:t>
            </a:r>
            <a:r>
              <a:rPr lang="en-US" sz="4500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phần</a:t>
            </a:r>
            <a:r>
              <a:rPr lang="en-US" sz="4500" b="1" dirty="0" spc="-6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hoạt</a:t>
            </a:r>
            <a:r>
              <a:rPr lang="en-US" sz="4500" b="1" dirty="0" spc="8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động</a:t>
            </a: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của</a:t>
            </a:r>
            <a:r>
              <a:rPr lang="en-US" sz="4500" b="1" dirty="0" spc="-29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ego</a:t>
            </a: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có</a:t>
            </a:r>
            <a:r>
              <a:rPr lang="en-US" sz="4500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thể</a:t>
            </a:r>
            <a:r>
              <a:rPr lang="en-US" sz="4500" b="1" dirty="0" spc="-45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vô</a:t>
            </a:r>
            <a:r>
              <a:rPr lang="en-US" sz="4500" b="1" dirty="0" spc="-3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thức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714750"/>
            <a:ext cx="5048250" cy="2000250"/>
          </a:xfrm>
          <a:prstGeom prst="roundRect">
            <a:avLst>
              <a:gd name="adj" fmla="val 8571"/>
            </a:avLst>
          </a:prstGeom>
          <a:solidFill>
            <a:srgbClr val="7A2038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714750"/>
            <a:ext cx="504825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2400" b="1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40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400" dirty="0" spc="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400" dirty="0" spc="-2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7810500" y="3143250"/>
            <a:ext cx="9239250" cy="1381125"/>
          </a:xfrm>
          <a:prstGeom prst="roundRect">
            <a:avLst>
              <a:gd name="adj" fmla="val 12414"/>
            </a:avLst>
          </a:prstGeom>
          <a:solidFill>
            <a:srgbClr val="3C2C35"/>
          </a:solidFill>
          <a:ln/>
        </p:spPr>
      </p:sp>
      <p:sp>
        <p:nvSpPr>
          <p:cNvPr id="8" name="Text 5"/>
          <p:cNvSpPr/>
          <p:nvPr/>
        </p:nvSpPr>
        <p:spPr>
          <a:xfrm>
            <a:off x="7810500" y="3143250"/>
            <a:ext cx="923925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</a:t>
            </a:r>
            <a:r>
              <a:rPr lang="en-US" sz="2400" b="1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00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dirty="0" spc="-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400" dirty="0" spc="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400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ego</a:t>
            </a:r>
            <a:r>
              <a:rPr lang="en-US" sz="240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0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biết.</a:t>
            </a:r>
            <a:endParaRPr lang="en-US" sz="2400" dirty="0"/>
          </a:p>
        </p:txBody>
      </p:sp>
      <p:sp>
        <p:nvSpPr>
          <p:cNvPr id="9" name="Connector line-1792855825859-909684727"/>
          <p:cNvSpPr/>
          <p:nvPr/>
        </p:nvSpPr>
        <p:spPr>
          <a:xfrm flipV="1">
            <a:off x="5810250" y="3833812"/>
            <a:ext cx="2000250" cy="881063"/>
          </a:xfrm>
          <a:prstGeom prst="bentConnector3">
            <a:avLst/>
          </a:prstGeom>
          <a:noFill/>
          <a:ln w="19050">
            <a:solidFill>
              <a:srgbClr val="EAB6C8"/>
            </a:solidFill>
            <a:prstDash val="lgDash"/>
            <a:headEnd type="none"/>
            <a:tailEnd type="triangle" w="lg" len="lg"/>
          </a:ln>
        </p:spPr>
      </p:sp>
      <p:sp>
        <p:nvSpPr>
          <p:cNvPr id="10" name="Shape 7"/>
          <p:cNvSpPr/>
          <p:nvPr/>
        </p:nvSpPr>
        <p:spPr>
          <a:xfrm>
            <a:off x="7810500" y="4810125"/>
            <a:ext cx="9239250" cy="1381125"/>
          </a:xfrm>
          <a:prstGeom prst="roundRect">
            <a:avLst>
              <a:gd name="adj" fmla="val 12414"/>
            </a:avLst>
          </a:prstGeom>
          <a:solidFill>
            <a:srgbClr val="3C2C35"/>
          </a:solidFill>
          <a:ln/>
        </p:spPr>
      </p:sp>
      <p:sp>
        <p:nvSpPr>
          <p:cNvPr id="11" name="Text 8"/>
          <p:cNvSpPr/>
          <p:nvPr/>
        </p:nvSpPr>
        <p:spPr>
          <a:xfrm>
            <a:off x="7810500" y="4810125"/>
            <a:ext cx="923925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2400" b="1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400" dirty="0" spc="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chẩn</a:t>
            </a:r>
            <a:r>
              <a:rPr lang="en-US" sz="2400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đoán.</a:t>
            </a:r>
            <a:endParaRPr lang="en-US" sz="2400" dirty="0"/>
          </a:p>
        </p:txBody>
      </p:sp>
      <p:sp>
        <p:nvSpPr>
          <p:cNvPr id="12" name="Connector line-1792855825861-459052705"/>
          <p:cNvSpPr/>
          <p:nvPr/>
        </p:nvSpPr>
        <p:spPr>
          <a:xfrm>
            <a:off x="5810250" y="4714875"/>
            <a:ext cx="2000250" cy="785813"/>
          </a:xfrm>
          <a:prstGeom prst="bentConnector3">
            <a:avLst/>
          </a:prstGeom>
          <a:noFill/>
          <a:ln w="19050">
            <a:solidFill>
              <a:srgbClr val="EAB6C8"/>
            </a:solidFill>
            <a:prstDash val="lgDash"/>
            <a:headEnd type="none"/>
            <a:tailEnd type="triangle" w="lg" len="lg"/>
          </a:ln>
        </p:spPr>
      </p:sp>
      <p:sp>
        <p:nvSpPr>
          <p:cNvPr id="13" name="Text 10"/>
          <p:cNvSpPr/>
          <p:nvPr/>
        </p:nvSpPr>
        <p:spPr>
          <a:xfrm>
            <a:off x="762000" y="6191250"/>
            <a:ext cx="5905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 spc="1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1875" dirty="0" spc="6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1875" dirty="0" spc="-3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75" dirty="0" spc="0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kiểm,</a:t>
            </a:r>
            <a:r>
              <a:rPr lang="en-US" sz="1875" dirty="0" spc="1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75" dirty="0" spc="-1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75" dirty="0" spc="-25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875" dirty="0" spc="-1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luận.</a:t>
            </a:r>
            <a:endParaRPr lang="en-US" sz="1875" dirty="0"/>
          </a:p>
        </p:txBody>
      </p:sp>
      <p:sp>
        <p:nvSpPr>
          <p:cNvPr id="14" name="Text 11"/>
          <p:cNvSpPr/>
          <p:nvPr/>
        </p:nvSpPr>
        <p:spPr>
          <a:xfrm>
            <a:off x="809625" y="7000875"/>
            <a:ext cx="16430625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Đây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2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55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lề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F03: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550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550" dirty="0" spc="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-3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55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thể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biết.</a:t>
            </a:r>
            <a:r>
              <a:rPr lang="en-US" sz="2550" dirty="0" spc="4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thế,</a:t>
            </a:r>
            <a:r>
              <a:rPr lang="en-US" sz="2550" dirty="0" spc="-2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vô</a:t>
            </a:r>
            <a:r>
              <a:rPr lang="en-US" sz="255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id,</a:t>
            </a:r>
            <a:r>
              <a:rPr lang="en-US" sz="2550" dirty="0" spc="-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ego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</a:t>
            </a:r>
            <a:r>
              <a:rPr lang="en-US" sz="2550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ý</a:t>
            </a:r>
            <a:r>
              <a:rPr lang="en-US" sz="255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thức.</a:t>
            </a:r>
            <a:r>
              <a:rPr lang="en-US" sz="2550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 lập luận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3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Freud;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2550" dirty="0" spc="-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2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 chế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tình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2550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550" dirty="0" spc="-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550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550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thuyết.</a:t>
            </a:r>
            <a:endParaRPr lang="en-US" sz="2550" dirty="0"/>
          </a:p>
        </p:txBody>
      </p:sp>
      <p:sp>
        <p:nvSpPr>
          <p:cNvPr id="15" name="Text 12"/>
          <p:cNvSpPr/>
          <p:nvPr/>
        </p:nvSpPr>
        <p:spPr>
          <a:xfrm>
            <a:off x="762000" y="9429750"/>
            <a:ext cx="16478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[S1]I</a:t>
            </a:r>
            <a:r>
              <a:rPr lang="en-US" sz="1650" dirty="0" spc="1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5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[S3]transcript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762000" y="9906000"/>
            <a:ext cx="1666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1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F03</a:t>
            </a:r>
            <a:r>
              <a:rPr lang="en-US" sz="1650" dirty="0" spc="0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6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1650" dirty="0" spc="5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650" dirty="0" spc="-1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09/37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8f887d55-18f1-42b3-b741-6043c4af90f5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23875"/>
            <a:ext cx="14287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🧠 C · SUPEREGO</a:t>
            </a:r>
            <a:endParaRPr lang="en-US" sz="2100" dirty="0"/>
          </a:p>
        </p:txBody>
      </p:sp>
      <p:pic>
        <p:nvPicPr>
          <p:cNvPr id="3" name="Moda flattened rect-1792855829218-379725472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572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287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2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Superego</a:t>
            </a:r>
            <a:r>
              <a:rPr lang="en-US" sz="4500" b="1" dirty="0" spc="-48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</a:t>
            </a:r>
            <a:r>
              <a:rPr lang="en-US" sz="4500" b="1" dirty="0" spc="-5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ego-ideal:</a:t>
            </a:r>
            <a:r>
              <a:rPr lang="en-US" sz="4500" b="1" dirty="0" spc="8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đọc</a:t>
            </a:r>
            <a:r>
              <a:rPr lang="en-US" sz="4500" b="1" dirty="0" spc="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theo</a:t>
            </a: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giai</a:t>
            </a:r>
            <a:r>
              <a:rPr lang="en-US" sz="4500" b="1" dirty="0" spc="3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đoạn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333750"/>
            <a:ext cx="5048250" cy="2571750"/>
          </a:xfrm>
          <a:prstGeom prst="roundRect">
            <a:avLst>
              <a:gd name="adj" fmla="val 6667"/>
            </a:avLst>
          </a:prstGeom>
          <a:solidFill>
            <a:srgbClr val="EADDE0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333750"/>
            <a:ext cx="504825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Chuẩn</a:t>
            </a:r>
            <a:r>
              <a:rPr lang="en-US" sz="2400" b="1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400" b="1" dirty="0" spc="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tưởng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Mình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-2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trở</a:t>
            </a:r>
            <a:r>
              <a:rPr lang="en-US" sz="240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ai?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477000" y="3333750"/>
            <a:ext cx="5048250" cy="2571750"/>
          </a:xfrm>
          <a:prstGeom prst="roundRect">
            <a:avLst>
              <a:gd name="adj" fmla="val 6667"/>
            </a:avLst>
          </a:prstGeom>
          <a:solidFill>
            <a:srgbClr val="EADDE0"/>
          </a:solidFill>
          <a:ln/>
        </p:spPr>
      </p:sp>
      <p:sp>
        <p:nvSpPr>
          <p:cNvPr id="8" name="Text 5"/>
          <p:cNvSpPr/>
          <p:nvPr/>
        </p:nvSpPr>
        <p:spPr>
          <a:xfrm>
            <a:off x="6477000" y="3333750"/>
            <a:ext cx="504825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400" b="1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cấm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40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làm?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2192000" y="3333750"/>
            <a:ext cx="5048250" cy="2571750"/>
          </a:xfrm>
          <a:prstGeom prst="roundRect">
            <a:avLst>
              <a:gd name="adj" fmla="val 6667"/>
            </a:avLst>
          </a:prstGeom>
          <a:solidFill>
            <a:srgbClr val="EADDE0"/>
          </a:solidFill>
          <a:ln/>
        </p:spPr>
      </p:sp>
      <p:sp>
        <p:nvSpPr>
          <p:cNvPr id="10" name="Text 7"/>
          <p:cNvSpPr/>
          <p:nvPr/>
        </p:nvSpPr>
        <p:spPr>
          <a:xfrm>
            <a:off x="12192000" y="3333750"/>
            <a:ext cx="504825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8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2400" b="1" dirty="0" spc="-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phê</a:t>
            </a:r>
            <a:r>
              <a:rPr lang="en-US" sz="2400" b="1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phán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Mình</a:t>
            </a:r>
            <a:r>
              <a:rPr lang="en-US" sz="240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40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40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09625" y="7000875"/>
            <a:ext cx="16430625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Chương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III</a:t>
            </a:r>
            <a:r>
              <a:rPr lang="en-US" sz="2550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-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1923/1927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superego và</a:t>
            </a:r>
            <a:r>
              <a:rPr lang="en-US" sz="2550" dirty="0" spc="-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ego-ideal</a:t>
            </a:r>
            <a:r>
              <a:rPr lang="en-US" sz="2550" dirty="0" spc="-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-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chuẩn,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cấm</a:t>
            </a:r>
            <a:r>
              <a:rPr lang="en-US" sz="2550" dirty="0" spc="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phê phán,</a:t>
            </a:r>
            <a:r>
              <a:rPr lang="en-US" sz="2550" dirty="0" spc="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 quan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55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550" dirty="0" spc="-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biệt.</a:t>
            </a:r>
            <a:r>
              <a:rPr lang="en-US" sz="2550" dirty="0" spc="-5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tưởng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 phải</a:t>
            </a:r>
            <a:r>
              <a:rPr lang="en-US" sz="2550" dirty="0" spc="-2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trở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tham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r>
              <a:rPr lang="en-US" sz="2550" dirty="0" spc="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 khi</a:t>
            </a:r>
            <a:r>
              <a:rPr lang="en-US" sz="2550" dirty="0" spc="-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đạt</a:t>
            </a:r>
            <a:r>
              <a:rPr lang="en-US" sz="2550" dirty="0" spc="-3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thức.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762000" y="9429750"/>
            <a:ext cx="16478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[S1]III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762000" y="9906000"/>
            <a:ext cx="1666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F03</a:t>
            </a:r>
            <a:r>
              <a:rPr lang="en-US" sz="1650" dirty="0" spc="0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6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1650" dirty="0" spc="5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650" dirty="0" spc="-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10/37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5827f694-144f-4355-aba2-a8ce23322292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23875"/>
            <a:ext cx="14287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🧠 C · DEVELOPMENT</a:t>
            </a:r>
            <a:endParaRPr lang="en-US" sz="2100" dirty="0"/>
          </a:p>
        </p:txBody>
      </p:sp>
      <p:pic>
        <p:nvPicPr>
          <p:cNvPr id="3" name="Moda flattened rect-1792855832165-369583117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572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287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Nguồn</a:t>
            </a:r>
            <a:r>
              <a:rPr lang="en-US" sz="4500" b="1" dirty="0" spc="-27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gốc</a:t>
            </a:r>
            <a:r>
              <a:rPr lang="en-US" sz="4500" b="1" dirty="0" spc="-2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superego:</a:t>
            </a:r>
            <a:r>
              <a:rPr lang="en-US" sz="4500" b="1" dirty="0" spc="-8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một</a:t>
            </a: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giả</a:t>
            </a:r>
            <a:r>
              <a:rPr lang="en-US" sz="4500" b="1" dirty="0" spc="-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thuyết</a:t>
            </a:r>
            <a:r>
              <a:rPr lang="en-US" sz="4500" b="1" dirty="0" spc="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lịch sử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714750"/>
            <a:ext cx="5048250" cy="1905000"/>
          </a:xfrm>
          <a:prstGeom prst="roundRect">
            <a:avLst>
              <a:gd name="adj" fmla="val 9000"/>
            </a:avLst>
          </a:prstGeom>
          <a:solidFill>
            <a:srgbClr val="EADDE0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714750"/>
            <a:ext cx="50482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4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Văn</a:t>
            </a:r>
            <a:r>
              <a:rPr lang="en-US" sz="2400" b="1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Đồng</a:t>
            </a:r>
            <a:r>
              <a:rPr lang="en-US" sz="2400" dirty="0" spc="-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40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hóa/Oedipus.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477000" y="3714750"/>
            <a:ext cx="5048250" cy="1905000"/>
          </a:xfrm>
          <a:prstGeom prst="roundRect">
            <a:avLst>
              <a:gd name="adj" fmla="val 9000"/>
            </a:avLst>
          </a:prstGeom>
          <a:solidFill>
            <a:srgbClr val="EADDE0"/>
          </a:solidFill>
          <a:ln/>
        </p:spPr>
      </p:sp>
      <p:sp>
        <p:nvSpPr>
          <p:cNvPr id="8" name="Text 5"/>
          <p:cNvSpPr/>
          <p:nvPr/>
        </p:nvSpPr>
        <p:spPr>
          <a:xfrm>
            <a:off x="6477000" y="3714750"/>
            <a:ext cx="50482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Nhãn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</a:t>
            </a:r>
            <a:r>
              <a:rPr lang="en-US" sz="2400" dirty="0" spc="-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400" dirty="0" spc="-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400" dirty="0" spc="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2192000" y="3714750"/>
            <a:ext cx="5048250" cy="1905000"/>
          </a:xfrm>
          <a:prstGeom prst="roundRect">
            <a:avLst>
              <a:gd name="adj" fmla="val 9000"/>
            </a:avLst>
          </a:prstGeom>
          <a:solidFill>
            <a:srgbClr val="EADDE0"/>
          </a:solidFill>
          <a:ln/>
        </p:spPr>
      </p:sp>
      <p:sp>
        <p:nvSpPr>
          <p:cNvPr id="10" name="Text 7"/>
          <p:cNvSpPr/>
          <p:nvPr/>
        </p:nvSpPr>
        <p:spPr>
          <a:xfrm>
            <a:off x="12192000" y="3714750"/>
            <a:ext cx="50482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b="1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400" b="1" dirty="0" spc="-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6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Tuổi</a:t>
            </a:r>
            <a:r>
              <a:rPr lang="en-US" sz="240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thơ</a:t>
            </a:r>
            <a:r>
              <a:rPr lang="en-US" sz="2400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400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-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trách.</a:t>
            </a:r>
            <a:endParaRPr lang="en-US" sz="2400" dirty="0"/>
          </a:p>
        </p:txBody>
      </p:sp>
      <p:sp>
        <p:nvSpPr>
          <p:cNvPr id="11" name="Connector line-1792855832177-447154463"/>
          <p:cNvSpPr/>
          <p:nvPr/>
        </p:nvSpPr>
        <p:spPr>
          <a:xfrm>
            <a:off x="5810250" y="4667250"/>
            <a:ext cx="666750" cy="0"/>
          </a:xfrm>
          <a:prstGeom prst="line">
            <a:avLst/>
          </a:prstGeom>
          <a:noFill/>
          <a:ln w="19050">
            <a:solidFill>
              <a:srgbClr val="7A2038"/>
            </a:solidFill>
            <a:prstDash val="solid"/>
            <a:headEnd type="none"/>
            <a:tailEnd type="triangle" w="lg" len="lg"/>
          </a:ln>
        </p:spPr>
      </p:sp>
      <p:sp>
        <p:nvSpPr>
          <p:cNvPr id="12" name="Connector line-1792855832177-149473031"/>
          <p:cNvSpPr/>
          <p:nvPr/>
        </p:nvSpPr>
        <p:spPr>
          <a:xfrm>
            <a:off x="11525250" y="4667250"/>
            <a:ext cx="666750" cy="0"/>
          </a:xfrm>
          <a:prstGeom prst="line">
            <a:avLst/>
          </a:prstGeom>
          <a:noFill/>
          <a:ln w="19050">
            <a:solidFill>
              <a:srgbClr val="7A2038"/>
            </a:solidFill>
            <a:prstDash val="solid"/>
            <a:headEnd type="none"/>
            <a:tailEnd type="triangle" w="lg" len="lg"/>
          </a:ln>
        </p:spPr>
      </p:sp>
      <p:sp>
        <p:nvSpPr>
          <p:cNvPr id="13" name="Text 10"/>
          <p:cNvSpPr/>
          <p:nvPr/>
        </p:nvSpPr>
        <p:spPr>
          <a:xfrm>
            <a:off x="762000" y="6143625"/>
            <a:ext cx="1638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 spc="-41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Lộ</a:t>
            </a:r>
            <a:r>
              <a:rPr lang="en-US" sz="1875" dirty="0" spc="7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875" dirty="0" spc="-1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 niệm</a:t>
            </a:r>
            <a:r>
              <a:rPr lang="en-US" sz="1875" dirty="0" spc="-3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75" dirty="0" spc="6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75" dirty="0" spc="-21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1875" dirty="0" spc="-2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1875" dirty="0" spc="2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1875" dirty="0" spc="1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1875" dirty="0" spc="3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endParaRPr lang="en-US" sz="1875" dirty="0"/>
          </a:p>
        </p:txBody>
      </p:sp>
      <p:sp>
        <p:nvSpPr>
          <p:cNvPr id="14" name="Text 11"/>
          <p:cNvSpPr/>
          <p:nvPr/>
        </p:nvSpPr>
        <p:spPr>
          <a:xfrm>
            <a:off x="809625" y="7000875"/>
            <a:ext cx="16430625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4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Freud</a:t>
            </a:r>
            <a:r>
              <a:rPr lang="en-US" sz="2550" dirty="0" spc="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550" dirty="0" spc="-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550" dirty="0" spc="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550" dirty="0" spc="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550" dirty="0" spc="-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550" dirty="0" spc="-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sớm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550" dirty="0" spc="-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xung</a:t>
            </a:r>
            <a:r>
              <a:rPr lang="en-US" sz="2550" dirty="0" spc="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đột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Oedipus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2550" dirty="0" spc="-2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r>
              <a:rPr lang="en-US" sz="2550" dirty="0" spc="-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dirty="0" spc="-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superego.</a:t>
            </a:r>
            <a:r>
              <a:rPr lang="en-US" sz="2550" dirty="0" spc="-2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550" dirty="0" spc="-2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dirty="0" spc="-2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trở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 giống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 không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chiếm</a:t>
            </a:r>
            <a:r>
              <a:rPr lang="en-US" sz="2550" dirty="0" spc="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đặc</a:t>
            </a:r>
            <a:r>
              <a:rPr lang="en-US" sz="2550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550" dirty="0" spc="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r>
              <a:rPr lang="en-US" sz="2550" dirty="0" spc="-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550" dirty="0" spc="-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550" dirty="0" spc="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 lịch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sử,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550" dirty="0" spc="-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luật</a:t>
            </a:r>
            <a:r>
              <a:rPr lang="en-US" sz="2550" dirty="0" spc="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 gia</a:t>
            </a:r>
            <a:r>
              <a:rPr lang="en-US" sz="2550" dirty="0" spc="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đình,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hóa.</a:t>
            </a:r>
            <a:endParaRPr lang="en-US" sz="2550" dirty="0"/>
          </a:p>
        </p:txBody>
      </p:sp>
      <p:sp>
        <p:nvSpPr>
          <p:cNvPr id="15" name="Text 12"/>
          <p:cNvSpPr/>
          <p:nvPr/>
        </p:nvSpPr>
        <p:spPr>
          <a:xfrm>
            <a:off x="762000" y="9429750"/>
            <a:ext cx="16478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[S1]III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762000" y="9906000"/>
            <a:ext cx="1666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F03</a:t>
            </a:r>
            <a:r>
              <a:rPr lang="en-US" sz="1650" dirty="0" spc="0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6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1650" dirty="0" spc="5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650" dirty="0" spc="-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2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11/37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4b3a9285-9e1e-4aa6-9296-1cd721f395f6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23875"/>
            <a:ext cx="14287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🧠 C · ETHICAL DISTINCTIONS</a:t>
            </a:r>
            <a:endParaRPr lang="en-US" sz="2100" dirty="0"/>
          </a:p>
        </p:txBody>
      </p:sp>
      <p:pic>
        <p:nvPicPr>
          <p:cNvPr id="3" name="Moda flattened rect-1792856131874-599955412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572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287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4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Chuẩn</a:t>
            </a:r>
            <a:r>
              <a:rPr lang="en-US" sz="4500" b="1" dirty="0" spc="-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khắt</a:t>
            </a:r>
            <a:r>
              <a:rPr lang="en-US" sz="4500" b="1" dirty="0" spc="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khe không</a:t>
            </a: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tự</a:t>
            </a:r>
            <a:r>
              <a:rPr lang="en-US" sz="4500" b="1" dirty="0" spc="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là</a:t>
            </a: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chuẩn</a:t>
            </a:r>
            <a:r>
              <a:rPr lang="en-US" sz="4500" b="1" dirty="0" spc="9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đúng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333750"/>
            <a:ext cx="5048250" cy="2571750"/>
          </a:xfrm>
          <a:prstGeom prst="roundRect">
            <a:avLst>
              <a:gd name="adj" fmla="val 6667"/>
            </a:avLst>
          </a:prstGeom>
          <a:solidFill>
            <a:srgbClr val="EADDE0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333750"/>
            <a:ext cx="504825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400" b="1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40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477000" y="3333750"/>
            <a:ext cx="5048250" cy="2571750"/>
          </a:xfrm>
          <a:prstGeom prst="roundRect">
            <a:avLst>
              <a:gd name="adj" fmla="val 6667"/>
            </a:avLst>
          </a:prstGeom>
          <a:solidFill>
            <a:srgbClr val="EADDE0"/>
          </a:solidFill>
          <a:ln/>
        </p:spPr>
      </p:sp>
      <p:sp>
        <p:nvSpPr>
          <p:cNvPr id="8" name="Text 5"/>
          <p:cNvSpPr/>
          <p:nvPr/>
        </p:nvSpPr>
        <p:spPr>
          <a:xfrm>
            <a:off x="6477000" y="3333750"/>
            <a:ext cx="504825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Chuẩn</a:t>
            </a:r>
            <a:r>
              <a:rPr lang="en-US" sz="2400" b="1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đúng?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400" dirty="0" spc="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đạo</a:t>
            </a:r>
            <a:r>
              <a:rPr lang="en-US" sz="2400" dirty="0" spc="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đức</a:t>
            </a: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2192000" y="3333750"/>
            <a:ext cx="5048250" cy="2571750"/>
          </a:xfrm>
          <a:prstGeom prst="roundRect">
            <a:avLst>
              <a:gd name="adj" fmla="val 6667"/>
            </a:avLst>
          </a:prstGeom>
          <a:solidFill>
            <a:srgbClr val="EADDE0"/>
          </a:solidFill>
          <a:ln/>
        </p:spPr>
      </p:sp>
      <p:sp>
        <p:nvSpPr>
          <p:cNvPr id="10" name="Text 7"/>
          <p:cNvSpPr/>
          <p:nvPr/>
        </p:nvSpPr>
        <p:spPr>
          <a:xfrm>
            <a:off x="12192000" y="3333750"/>
            <a:ext cx="504825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Chẩn</a:t>
            </a:r>
            <a:r>
              <a:rPr lang="en-US" sz="2400" b="1" dirty="0" spc="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đoán?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dirty="0" spc="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giác.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762000" y="6191250"/>
            <a:ext cx="1638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Đối</a:t>
            </a:r>
            <a:r>
              <a:rPr lang="en-US" sz="1950" dirty="0" spc="0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chiếu</a:t>
            </a:r>
            <a:r>
              <a:rPr lang="en-US" sz="1950" dirty="0" spc="5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1950" dirty="0" spc="-3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phân biệt,</a:t>
            </a:r>
            <a:r>
              <a:rPr lang="en-US" sz="1950" dirty="0" spc="-4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1950" dirty="0" spc="1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đồng</a:t>
            </a:r>
            <a:r>
              <a:rPr lang="en-US" sz="1950" dirty="0" spc="-8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nhất</a:t>
            </a:r>
            <a:r>
              <a:rPr lang="en-US" sz="1950" dirty="0" spc="-1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khái</a:t>
            </a:r>
            <a:r>
              <a:rPr lang="en-US" sz="1950" dirty="0" spc="-2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niệm.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809625" y="7000875"/>
            <a:ext cx="16430625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Superego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thiên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thần luôn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đúng.</a:t>
            </a:r>
            <a:r>
              <a:rPr lang="en-US" sz="2550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 “không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sai”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khiến</a:t>
            </a:r>
            <a:r>
              <a:rPr lang="en-US" sz="2550" dirty="0" spc="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550" dirty="0" spc="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đau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khổ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550" dirty="0" spc="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550" dirty="0" spc="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đạo</a:t>
            </a:r>
            <a:r>
              <a:rPr lang="en-US" sz="2550" dirty="0" spc="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đức.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Ngược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lại,</a:t>
            </a:r>
            <a:r>
              <a:rPr lang="en-US" sz="2550" dirty="0" spc="-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tội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thể là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550" dirty="0" spc="2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phù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-2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hại</a:t>
            </a:r>
            <a:r>
              <a:rPr lang="en-US" sz="2550" dirty="0" spc="-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r>
              <a:rPr lang="en-US" sz="2550" dirty="0" spc="-7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giác</a:t>
            </a:r>
            <a:r>
              <a:rPr lang="en-US" sz="255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superego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2550" dirty="0" spc="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lý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550" dirty="0" spc="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phủ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-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trách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550" dirty="0" spc="-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tế.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762000" y="9429750"/>
            <a:ext cx="16478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[S1]V</a:t>
            </a:r>
            <a:r>
              <a:rPr lang="en-US" sz="1650" dirty="0" spc="-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[S3]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762000" y="9906000"/>
            <a:ext cx="1666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F03</a:t>
            </a:r>
            <a:r>
              <a:rPr lang="en-US" sz="1650" dirty="0" spc="0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6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1650" dirty="0" spc="5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650" dirty="0" spc="-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2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12/37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24880e4d-b09f-4262-b4ff-c11fbd472aa7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23875"/>
            <a:ext cx="14287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🧠 C · TWO MODELS</a:t>
            </a:r>
            <a:endParaRPr lang="en-US" sz="2100" dirty="0"/>
          </a:p>
        </p:txBody>
      </p:sp>
      <p:pic>
        <p:nvPicPr>
          <p:cNvPr id="3" name="Moda flattened rect-1792855854133-93399022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572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287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Hai</a:t>
            </a:r>
            <a:r>
              <a:rPr lang="en-US" sz="4500" b="1" dirty="0" spc="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mô</a:t>
            </a:r>
            <a:r>
              <a:rPr lang="en-US" sz="4500" b="1" dirty="0" spc="-6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hình</a:t>
            </a:r>
            <a:r>
              <a:rPr lang="en-US" sz="4500" b="1" dirty="0" spc="-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cắt</a:t>
            </a:r>
            <a:r>
              <a:rPr lang="en-US" sz="4500" b="1" dirty="0" spc="-1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chéo,</a:t>
            </a:r>
            <a:r>
              <a:rPr lang="en-US" sz="4500" b="1" dirty="0" spc="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không</a:t>
            </a:r>
            <a:r>
              <a:rPr lang="en-US" sz="4500" b="1" dirty="0" spc="9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đổi</a:t>
            </a:r>
            <a:r>
              <a:rPr lang="en-US" sz="4500" b="1" dirty="0" spc="-17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tên</a:t>
            </a:r>
            <a:r>
              <a:rPr lang="en-US" sz="4500" b="1" dirty="0" spc="6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từng</a:t>
            </a: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ô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333750"/>
            <a:ext cx="8001000" cy="2571750"/>
          </a:xfrm>
          <a:prstGeom prst="roundRect">
            <a:avLst>
              <a:gd name="adj" fmla="val 6667"/>
            </a:avLst>
          </a:prstGeom>
          <a:solidFill>
            <a:srgbClr val="EADDE0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333750"/>
            <a:ext cx="80010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Chiều</a:t>
            </a:r>
            <a:r>
              <a:rPr lang="en-US" sz="2400" b="1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00" b="1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Conscious/Preconscious/Unconscious.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9334500" y="3333750"/>
            <a:ext cx="8001000" cy="2571750"/>
          </a:xfrm>
          <a:prstGeom prst="roundRect">
            <a:avLst>
              <a:gd name="adj" fmla="val 6667"/>
            </a:avLst>
          </a:prstGeom>
          <a:solidFill>
            <a:srgbClr val="EADDE0"/>
          </a:solidFill>
          <a:ln/>
        </p:spPr>
      </p:sp>
      <p:sp>
        <p:nvSpPr>
          <p:cNvPr id="8" name="Text 5"/>
          <p:cNvSpPr/>
          <p:nvPr/>
        </p:nvSpPr>
        <p:spPr>
          <a:xfrm>
            <a:off x="9334500" y="3333750"/>
            <a:ext cx="80010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Chiều</a:t>
            </a:r>
            <a:r>
              <a:rPr lang="en-US" sz="2400" b="1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400" b="1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Id/Ego/Superego.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62000" y="6191250"/>
            <a:ext cx="1638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HAI</a:t>
            </a:r>
            <a:r>
              <a:rPr lang="en-US" sz="1950" dirty="0" spc="1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CHIỀU</a:t>
            </a:r>
            <a:r>
              <a:rPr lang="en-US" sz="1950" dirty="0" spc="-14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</a:t>
            </a:r>
            <a:r>
              <a:rPr lang="en-US" sz="1950" dirty="0" spc="1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NHAU</a:t>
            </a:r>
            <a:r>
              <a:rPr lang="en-US" sz="1950" dirty="0" spc="-1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 KHÔNG</a:t>
            </a:r>
            <a:r>
              <a:rPr lang="en-US" sz="1950" dirty="0" spc="0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GHÉP</a:t>
            </a:r>
            <a:r>
              <a:rPr lang="en-US" sz="1950" dirty="0" spc="-27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MỘT–MỘT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809625" y="7000875"/>
            <a:ext cx="16430625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550" dirty="0" spc="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-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-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F03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 các</a:t>
            </a:r>
            <a:r>
              <a:rPr lang="en-US" sz="2550" dirty="0" spc="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đòi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550" dirty="0" spc="-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dirty="0" spc="-3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sao.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Ego và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superego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55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biết;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dirty="0" spc="-2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vậy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</a:t>
            </a:r>
            <a:r>
              <a:rPr lang="en-US" sz="2550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conscious=ego,</a:t>
            </a:r>
            <a:r>
              <a:rPr lang="en-US" sz="2550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preconscious=superego,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unconscious=id.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550" dirty="0" spc="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chiều khái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niệm,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thước</a:t>
            </a:r>
            <a:r>
              <a:rPr lang="en-US" sz="2550" dirty="0" spc="-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550" dirty="0" spc="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trí.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762000" y="9429750"/>
            <a:ext cx="16478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[S1]I–III · [S3]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762000" y="9906000"/>
            <a:ext cx="1666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F03</a:t>
            </a:r>
            <a:r>
              <a:rPr lang="en-US" sz="1650" dirty="0" spc="0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6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1650" dirty="0" spc="5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650" dirty="0" spc="-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4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13/37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4" name="Moda image moda-export-watermark-220f7a7c-d2c4-4bd8-93ff-d96c50e42971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23875"/>
            <a:ext cx="14287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🧠 C · VISUAL CAUTION</a:t>
            </a:r>
            <a:endParaRPr lang="en-US" sz="2100" dirty="0"/>
          </a:p>
        </p:txBody>
      </p:sp>
      <p:pic>
        <p:nvPicPr>
          <p:cNvPr id="3" name="Moda flattened rect-1792856139364-838952744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572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287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Không</a:t>
            </a:r>
            <a:r>
              <a:rPr lang="en-US" sz="4500" b="1" dirty="0" spc="3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chuyển</a:t>
            </a:r>
            <a:r>
              <a:rPr lang="en-US" sz="4500" b="1" dirty="0" spc="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sơ</a:t>
            </a:r>
            <a:r>
              <a:rPr lang="en-US" sz="4500" b="1" dirty="0" spc="1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đồ</a:t>
            </a:r>
            <a:r>
              <a:rPr lang="en-US" sz="4500" b="1" dirty="0" spc="-5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tâm</a:t>
            </a:r>
            <a:r>
              <a:rPr lang="en-US" sz="4500" b="1" dirty="0" spc="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lý</a:t>
            </a: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thành giải</a:t>
            </a:r>
            <a:r>
              <a:rPr lang="en-US" sz="4500" b="1" dirty="0" spc="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phẫu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333750"/>
            <a:ext cx="5048250" cy="2571750"/>
          </a:xfrm>
          <a:prstGeom prst="roundRect">
            <a:avLst>
              <a:gd name="adj" fmla="val 6667"/>
            </a:avLst>
          </a:prstGeom>
          <a:solidFill>
            <a:srgbClr val="EADDE0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333750"/>
            <a:ext cx="504825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400" b="1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Quan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0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40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477000" y="3333750"/>
            <a:ext cx="5048250" cy="2571750"/>
          </a:xfrm>
          <a:prstGeom prst="roundRect">
            <a:avLst>
              <a:gd name="adj" fmla="val 6667"/>
            </a:avLst>
          </a:prstGeom>
          <a:solidFill>
            <a:srgbClr val="EADDE0"/>
          </a:solidFill>
          <a:ln/>
        </p:spPr>
      </p:sp>
      <p:sp>
        <p:nvSpPr>
          <p:cNvPr id="8" name="Text 5"/>
          <p:cNvSpPr/>
          <p:nvPr/>
        </p:nvSpPr>
        <p:spPr>
          <a:xfrm>
            <a:off x="6477000" y="3333750"/>
            <a:ext cx="504825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Giải</a:t>
            </a:r>
            <a:r>
              <a:rPr lang="en-US" sz="2400" b="1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phẫu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400" dirty="0" spc="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400" dirty="0" spc="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2192000" y="3333750"/>
            <a:ext cx="5048250" cy="2571750"/>
          </a:xfrm>
          <a:prstGeom prst="roundRect">
            <a:avLst>
              <a:gd name="adj" fmla="val 6667"/>
            </a:avLst>
          </a:prstGeom>
          <a:solidFill>
            <a:srgbClr val="EADDE0"/>
          </a:solidFill>
          <a:ln/>
        </p:spPr>
      </p:sp>
      <p:sp>
        <p:nvSpPr>
          <p:cNvPr id="10" name="Text 7"/>
          <p:cNvSpPr/>
          <p:nvPr/>
        </p:nvSpPr>
        <p:spPr>
          <a:xfrm>
            <a:off x="12192000" y="3333750"/>
            <a:ext cx="504825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2400" b="1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400" b="1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400" dirty="0" spc="-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tầng/tỷ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 giả.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762000" y="6191250"/>
            <a:ext cx="1638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Đối</a:t>
            </a:r>
            <a:r>
              <a:rPr lang="en-US" sz="1950" dirty="0" spc="0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chiếu</a:t>
            </a:r>
            <a:r>
              <a:rPr lang="en-US" sz="1950" dirty="0" spc="5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1950" dirty="0" spc="-3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phân biệt,</a:t>
            </a:r>
            <a:r>
              <a:rPr lang="en-US" sz="1950" dirty="0" spc="-4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1950" dirty="0" spc="1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đồng</a:t>
            </a:r>
            <a:r>
              <a:rPr lang="en-US" sz="1950" dirty="0" spc="-8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nhất</a:t>
            </a:r>
            <a:r>
              <a:rPr lang="en-US" sz="1950" dirty="0" spc="-1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khái</a:t>
            </a:r>
            <a:r>
              <a:rPr lang="en-US" sz="1950" dirty="0" spc="-2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niệm.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809625" y="7000875"/>
            <a:ext cx="16430625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4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Freud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 không gian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 thể,</a:t>
            </a:r>
            <a:r>
              <a:rPr lang="en-US" sz="2550" dirty="0" spc="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 ông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ở</a:t>
            </a:r>
            <a:r>
              <a:rPr lang="en-US" sz="2550" dirty="0" spc="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tiện</a:t>
            </a:r>
            <a:r>
              <a:rPr lang="en-US" sz="2550" dirty="0" spc="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-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bày,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có hình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550" dirty="0" spc="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đặc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lập.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-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tô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id,</a:t>
            </a:r>
            <a:r>
              <a:rPr lang="en-US" sz="2550" dirty="0" spc="-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ego,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superego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gán</a:t>
            </a:r>
            <a:r>
              <a:rPr lang="en-US" sz="2550" dirty="0" spc="-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tỷ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trăm.</a:t>
            </a:r>
            <a:r>
              <a:rPr lang="en-US" sz="2550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 đúng</a:t>
            </a:r>
            <a:r>
              <a:rPr lang="en-US" sz="2550" dirty="0" spc="2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 hình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nói.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762000" y="9429750"/>
            <a:ext cx="16478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[S1]II,ghi</a:t>
            </a:r>
            <a:r>
              <a:rPr lang="en-US" sz="1650" dirty="0" spc="0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chúhình1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762000" y="9906000"/>
            <a:ext cx="1666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F03</a:t>
            </a:r>
            <a:r>
              <a:rPr lang="en-US" sz="1650" dirty="0" spc="0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6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1650" dirty="0" spc="5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650" dirty="0" spc="-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2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14/37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3138453d-dd40-40b5-84f1-393b72281e24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31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23875"/>
            <a:ext cx="14287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⚙️ D · PSYCHOLOGICAL MECHANISM</a:t>
            </a:r>
            <a:endParaRPr lang="en-US" sz="2100" dirty="0"/>
          </a:p>
        </p:txBody>
      </p:sp>
      <p:pic>
        <p:nvPicPr>
          <p:cNvPr id="3" name="Moda flattened rect-1792855860224-145386559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572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287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48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Ego</a:t>
            </a:r>
            <a:r>
              <a:rPr lang="en-US" sz="4500" b="1" dirty="0" spc="-1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trong</a:t>
            </a:r>
            <a:r>
              <a:rPr lang="en-US" sz="4500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quan</a:t>
            </a:r>
            <a:r>
              <a:rPr lang="en-US" sz="4500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hệ</a:t>
            </a:r>
            <a:r>
              <a:rPr lang="en-US" sz="4500" b="1" dirty="0" spc="-5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với</a:t>
            </a:r>
            <a:r>
              <a:rPr lang="en-US" sz="4500" b="1" dirty="0" spc="-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ba</a:t>
            </a:r>
            <a:r>
              <a:rPr lang="en-US" sz="4500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nhóm</a:t>
            </a:r>
            <a:r>
              <a:rPr lang="en-US" sz="4500" b="1" dirty="0" spc="8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đòi</a:t>
            </a:r>
            <a:r>
              <a:rPr lang="en-US" sz="4500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hỏi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143250"/>
            <a:ext cx="5143500" cy="1381125"/>
          </a:xfrm>
          <a:prstGeom prst="roundRect">
            <a:avLst>
              <a:gd name="adj" fmla="val 12414"/>
            </a:avLst>
          </a:prstGeom>
          <a:solidFill>
            <a:srgbClr val="3C2C35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143250"/>
            <a:ext cx="514350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Id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Đòi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thỏa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mãn.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762000" y="4953000"/>
            <a:ext cx="5143500" cy="1381125"/>
          </a:xfrm>
          <a:prstGeom prst="roundRect">
            <a:avLst>
              <a:gd name="adj" fmla="val 12414"/>
            </a:avLst>
          </a:prstGeom>
          <a:solidFill>
            <a:srgbClr val="3C2C35"/>
          </a:solidFill>
          <a:ln/>
        </p:spPr>
      </p:sp>
      <p:sp>
        <p:nvSpPr>
          <p:cNvPr id="8" name="Text 5"/>
          <p:cNvSpPr/>
          <p:nvPr/>
        </p:nvSpPr>
        <p:spPr>
          <a:xfrm>
            <a:off x="762000" y="4953000"/>
            <a:ext cx="514350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Superego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Chuẩn</a:t>
            </a:r>
            <a:r>
              <a:rPr lang="en-US" sz="2400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40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tưởng.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2001500" y="4048125"/>
            <a:ext cx="5143500" cy="1381125"/>
          </a:xfrm>
          <a:prstGeom prst="roundRect">
            <a:avLst>
              <a:gd name="adj" fmla="val 12414"/>
            </a:avLst>
          </a:prstGeom>
          <a:solidFill>
            <a:srgbClr val="3C2C35"/>
          </a:solidFill>
          <a:ln/>
        </p:spPr>
      </p:sp>
      <p:sp>
        <p:nvSpPr>
          <p:cNvPr id="10" name="Text 7"/>
          <p:cNvSpPr/>
          <p:nvPr/>
        </p:nvSpPr>
        <p:spPr>
          <a:xfrm>
            <a:off x="12001500" y="4048125"/>
            <a:ext cx="514350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Thực</a:t>
            </a:r>
            <a:r>
              <a:rPr lang="en-US" sz="2400" b="1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400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hậu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quả.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7477125" y="4048125"/>
            <a:ext cx="3333750" cy="1381125"/>
          </a:xfrm>
          <a:prstGeom prst="roundRect">
            <a:avLst>
              <a:gd name="adj" fmla="val 12414"/>
            </a:avLst>
          </a:prstGeom>
          <a:solidFill>
            <a:srgbClr val="7A2038"/>
          </a:solidFill>
          <a:ln/>
        </p:spPr>
      </p:sp>
      <p:sp>
        <p:nvSpPr>
          <p:cNvPr id="12" name="Text 9"/>
          <p:cNvSpPr/>
          <p:nvPr/>
        </p:nvSpPr>
        <p:spPr>
          <a:xfrm>
            <a:off x="7477125" y="4048125"/>
            <a:ext cx="333375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Ego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10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</a:t>
            </a:r>
            <a:r>
              <a:rPr lang="en-US" sz="240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400" dirty="0" spc="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2400" dirty="0" spc="2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ứng.</a:t>
            </a:r>
            <a:endParaRPr lang="en-US" sz="2400" dirty="0"/>
          </a:p>
        </p:txBody>
      </p:sp>
      <p:sp>
        <p:nvSpPr>
          <p:cNvPr id="13" name="Connector line-1792855860235-486232908"/>
          <p:cNvSpPr/>
          <p:nvPr/>
        </p:nvSpPr>
        <p:spPr>
          <a:xfrm>
            <a:off x="5905500" y="3833812"/>
            <a:ext cx="1571625" cy="904875"/>
          </a:xfrm>
          <a:prstGeom prst="bentConnector3">
            <a:avLst/>
          </a:prstGeom>
          <a:noFill/>
          <a:ln w="19050">
            <a:solidFill>
              <a:srgbClr val="EAB6C8"/>
            </a:solidFill>
            <a:prstDash val="lgDash"/>
            <a:headEnd type="none"/>
            <a:tailEnd type="triangle" w="lg" len="lg"/>
          </a:ln>
        </p:spPr>
      </p:sp>
      <p:sp>
        <p:nvSpPr>
          <p:cNvPr id="14" name="Connector line-1792855860235-840006991"/>
          <p:cNvSpPr/>
          <p:nvPr/>
        </p:nvSpPr>
        <p:spPr>
          <a:xfrm flipV="1">
            <a:off x="5905500" y="4738688"/>
            <a:ext cx="1571625" cy="904875"/>
          </a:xfrm>
          <a:prstGeom prst="bentConnector3">
            <a:avLst/>
          </a:prstGeom>
          <a:noFill/>
          <a:ln w="19050">
            <a:solidFill>
              <a:srgbClr val="EAB6C8"/>
            </a:solidFill>
            <a:prstDash val="lgDash"/>
            <a:headEnd type="none"/>
            <a:tailEnd type="triangle" w="lg" len="lg"/>
          </a:ln>
        </p:spPr>
      </p:sp>
      <p:sp>
        <p:nvSpPr>
          <p:cNvPr id="15" name="Connector line-1792855860235-380183907"/>
          <p:cNvSpPr/>
          <p:nvPr/>
        </p:nvSpPr>
        <p:spPr>
          <a:xfrm flipH="1">
            <a:off x="10810875" y="4738688"/>
            <a:ext cx="1190625" cy="0"/>
          </a:xfrm>
          <a:prstGeom prst="line">
            <a:avLst/>
          </a:prstGeom>
          <a:noFill/>
          <a:ln w="19050">
            <a:solidFill>
              <a:srgbClr val="EAB6C8"/>
            </a:solidFill>
            <a:prstDash val="lgDash"/>
            <a:headEnd type="none"/>
            <a:tailEnd type="triangle" w="lg" len="lg"/>
          </a:ln>
        </p:spPr>
      </p:sp>
      <p:sp>
        <p:nvSpPr>
          <p:cNvPr id="16" name="Text 13"/>
          <p:cNvSpPr/>
          <p:nvPr/>
        </p:nvSpPr>
        <p:spPr>
          <a:xfrm>
            <a:off x="7143750" y="6143625"/>
            <a:ext cx="10382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 spc="-2" kern="0">
                <a:solidFill>
                  <a:srgbClr val="EAB6C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Quan</a:t>
            </a:r>
            <a:r>
              <a:rPr lang="en-US" sz="1875" dirty="0" spc="-3" kern="0">
                <a:solidFill>
                  <a:srgbClr val="EAB6C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hệ</a:t>
            </a:r>
            <a:r>
              <a:rPr lang="en-US" sz="1875" dirty="0" spc="-2" kern="0">
                <a:solidFill>
                  <a:srgbClr val="EAB6C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mô hình</a:t>
            </a:r>
            <a:r>
              <a:rPr lang="en-US" sz="1875" dirty="0" spc="4" kern="0">
                <a:solidFill>
                  <a:srgbClr val="EAB6C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đề</a:t>
            </a:r>
            <a:r>
              <a:rPr lang="en-US" sz="1875" dirty="0" spc="-6" kern="0">
                <a:solidFill>
                  <a:srgbClr val="EAB6C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xuất</a:t>
            </a:r>
            <a:r>
              <a:rPr lang="en-US" sz="1875" dirty="0" spc="-1" kern="0">
                <a:solidFill>
                  <a:srgbClr val="EAB6C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875" dirty="0" spc="-6" kern="0">
                <a:solidFill>
                  <a:srgbClr val="EAB6C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1875" dirty="0" spc="-3" kern="0">
                <a:solidFill>
                  <a:srgbClr val="EAB6C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1875" dirty="0" spc="-4" kern="0">
                <a:solidFill>
                  <a:srgbClr val="EAB6C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vùng não</a:t>
            </a:r>
            <a:endParaRPr lang="en-US" sz="1875" dirty="0"/>
          </a:p>
        </p:txBody>
      </p:sp>
      <p:sp>
        <p:nvSpPr>
          <p:cNvPr id="17" name="Text 14"/>
          <p:cNvSpPr/>
          <p:nvPr/>
        </p:nvSpPr>
        <p:spPr>
          <a:xfrm>
            <a:off x="809625" y="7000875"/>
            <a:ext cx="16430625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Ở</a:t>
            </a:r>
            <a:r>
              <a:rPr lang="en-US" sz="2550" dirty="0" spc="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V,</a:t>
            </a:r>
            <a:r>
              <a:rPr lang="en-US" sz="2550" dirty="0" spc="-3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 ego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id,</a:t>
            </a:r>
            <a:r>
              <a:rPr lang="en-US" sz="2550" dirty="0" spc="-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superego và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55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550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ngoài.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2550" dirty="0" spc="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 quan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dirty="0" spc="-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550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thuyết:</a:t>
            </a:r>
            <a:r>
              <a:rPr lang="en-US" sz="2550" dirty="0" spc="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đòi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thỏa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mãn,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550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550" dirty="0" spc="-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2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55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550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chọn.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Mũi</a:t>
            </a:r>
            <a:r>
              <a:rPr lang="en-US" sz="2550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550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thần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kinh</a:t>
            </a:r>
            <a:r>
              <a:rPr lang="en-US" sz="2550" dirty="0" spc="-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2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550" dirty="0" spc="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“thắng”</a:t>
            </a:r>
            <a:r>
              <a:rPr lang="en-US" sz="255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762000" y="9429750"/>
            <a:ext cx="16478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8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[S1]V,three</a:t>
            </a:r>
            <a:r>
              <a:rPr lang="en-US" sz="1650" dirty="0" spc="-5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masters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762000" y="9906000"/>
            <a:ext cx="1666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1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F03</a:t>
            </a:r>
            <a:r>
              <a:rPr lang="en-US" sz="1650" dirty="0" spc="0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6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1650" dirty="0" spc="5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650" dirty="0" spc="-1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15/37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67eaa3b9-6e1e-479d-b079-1c39a000b1c4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23875"/>
            <a:ext cx="14287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⚙️ D · PROPOSED PROCESS</a:t>
            </a:r>
            <a:endParaRPr lang="en-US" sz="2100" dirty="0"/>
          </a:p>
        </p:txBody>
      </p:sp>
      <p:pic>
        <p:nvPicPr>
          <p:cNvPr id="3" name="Moda flattened rect-1792855863133-36921478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572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287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Theo</a:t>
            </a:r>
            <a:r>
              <a:rPr lang="en-US" sz="4500" b="1" dirty="0" spc="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dõi</a:t>
            </a:r>
            <a:r>
              <a:rPr lang="en-US" sz="4500" b="1" dirty="0" spc="-9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một</a:t>
            </a:r>
            <a:r>
              <a:rPr lang="en-US" sz="4500" b="1" dirty="0" spc="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chuỗi</a:t>
            </a: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năm</a:t>
            </a:r>
            <a:r>
              <a:rPr lang="en-US" sz="4500" b="1" dirty="0" spc="-48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bước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714750"/>
            <a:ext cx="5048250" cy="1905000"/>
          </a:xfrm>
          <a:prstGeom prst="roundRect">
            <a:avLst>
              <a:gd name="adj" fmla="val 9000"/>
            </a:avLst>
          </a:prstGeom>
          <a:solidFill>
            <a:srgbClr val="EADDE0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714750"/>
            <a:ext cx="50482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1–2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240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mong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477000" y="3714750"/>
            <a:ext cx="5048250" cy="1905000"/>
          </a:xfrm>
          <a:prstGeom prst="roundRect">
            <a:avLst>
              <a:gd name="adj" fmla="val 9000"/>
            </a:avLst>
          </a:prstGeom>
          <a:solidFill>
            <a:srgbClr val="EADDE0"/>
          </a:solidFill>
          <a:ln/>
        </p:spPr>
      </p:sp>
      <p:sp>
        <p:nvSpPr>
          <p:cNvPr id="8" name="Text 5"/>
          <p:cNvSpPr/>
          <p:nvPr/>
        </p:nvSpPr>
        <p:spPr>
          <a:xfrm>
            <a:off x="6477000" y="3714750"/>
            <a:ext cx="50482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3–4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Chuẩn</a:t>
            </a:r>
            <a:r>
              <a:rPr lang="en-US" sz="240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40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400" dirty="0" spc="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2400" dirty="0" spc="2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2192000" y="3714750"/>
            <a:ext cx="5048250" cy="1905000"/>
          </a:xfrm>
          <a:prstGeom prst="roundRect">
            <a:avLst>
              <a:gd name="adj" fmla="val 9000"/>
            </a:avLst>
          </a:prstGeom>
          <a:solidFill>
            <a:srgbClr val="EADDE0"/>
          </a:solidFill>
          <a:ln/>
        </p:spPr>
      </p:sp>
      <p:sp>
        <p:nvSpPr>
          <p:cNvPr id="10" name="Text 7"/>
          <p:cNvSpPr/>
          <p:nvPr/>
        </p:nvSpPr>
        <p:spPr>
          <a:xfrm>
            <a:off x="12192000" y="3714750"/>
            <a:ext cx="50482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40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quả, thông</a:t>
            </a: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2400" dirty="0"/>
          </a:p>
        </p:txBody>
      </p:sp>
      <p:sp>
        <p:nvSpPr>
          <p:cNvPr id="11" name="Connector line-1792855863141-312937074"/>
          <p:cNvSpPr/>
          <p:nvPr/>
        </p:nvSpPr>
        <p:spPr>
          <a:xfrm>
            <a:off x="5810250" y="4667250"/>
            <a:ext cx="666750" cy="0"/>
          </a:xfrm>
          <a:prstGeom prst="line">
            <a:avLst/>
          </a:prstGeom>
          <a:noFill/>
          <a:ln w="19050">
            <a:solidFill>
              <a:srgbClr val="7A2038"/>
            </a:solidFill>
            <a:prstDash val="solid"/>
            <a:headEnd type="none"/>
            <a:tailEnd type="triangle" w="lg" len="lg"/>
          </a:ln>
        </p:spPr>
      </p:sp>
      <p:sp>
        <p:nvSpPr>
          <p:cNvPr id="12" name="Connector line-1792855863141-315976882"/>
          <p:cNvSpPr/>
          <p:nvPr/>
        </p:nvSpPr>
        <p:spPr>
          <a:xfrm>
            <a:off x="11525250" y="4667250"/>
            <a:ext cx="666750" cy="0"/>
          </a:xfrm>
          <a:prstGeom prst="line">
            <a:avLst/>
          </a:prstGeom>
          <a:noFill/>
          <a:ln w="19050">
            <a:solidFill>
              <a:srgbClr val="7A2038"/>
            </a:solidFill>
            <a:prstDash val="solid"/>
            <a:headEnd type="none"/>
            <a:tailEnd type="triangle" w="lg" len="lg"/>
          </a:ln>
        </p:spPr>
      </p:sp>
      <p:sp>
        <p:nvSpPr>
          <p:cNvPr id="13" name="Text 10"/>
          <p:cNvSpPr/>
          <p:nvPr/>
        </p:nvSpPr>
        <p:spPr>
          <a:xfrm>
            <a:off x="762000" y="6143625"/>
            <a:ext cx="1638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 spc="0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Chuỗi</a:t>
            </a:r>
            <a:r>
              <a:rPr lang="en-US" sz="1875" dirty="0" spc="-2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 giải do</a:t>
            </a:r>
            <a:r>
              <a:rPr lang="en-US" sz="1875" dirty="0" spc="-6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75" dirty="0" spc="-8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1875" dirty="0" spc="-1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1875" dirty="0" spc="-2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75" dirty="0" spc="1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75" dirty="0" spc="-2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875" dirty="0" spc="-1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1875" dirty="0" spc="1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1875" dirty="0" spc="11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875" dirty="0" spc="-1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875" dirty="0" spc="17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875" dirty="0"/>
          </a:p>
        </p:txBody>
      </p:sp>
      <p:sp>
        <p:nvSpPr>
          <p:cNvPr id="14" name="Text 11"/>
          <p:cNvSpPr/>
          <p:nvPr/>
        </p:nvSpPr>
        <p:spPr>
          <a:xfrm>
            <a:off x="809625" y="7000875"/>
            <a:ext cx="16430625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giảng</a:t>
            </a:r>
            <a:r>
              <a:rPr lang="en-US" sz="2550" dirty="0" spc="-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dạy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bước: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tình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huống,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mong muốn,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chuẩn,</a:t>
            </a:r>
            <a:r>
              <a:rPr lang="en-US" sz="2550" dirty="0" spc="-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550" dirty="0" spc="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2550" dirty="0" spc="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ứng,</a:t>
            </a:r>
            <a:r>
              <a:rPr lang="en-US" sz="2550" dirty="0" spc="-2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quả.</a:t>
            </a:r>
            <a:r>
              <a:rPr lang="en-US" sz="2550" dirty="0" spc="-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</a:t>
            </a:r>
            <a:r>
              <a:rPr lang="en-US" sz="2550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55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550" dirty="0" spc="-3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2550" dirty="0" spc="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2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trích</a:t>
            </a:r>
            <a:r>
              <a:rPr lang="en-US" sz="255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550" dirty="0" spc="-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văn.</a:t>
            </a:r>
            <a:r>
              <a:rPr lang="en-US" sz="2550" dirty="0" spc="-2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Lợi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ích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 tin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550" dirty="0" spc="-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550" dirty="0" spc="-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thuyết,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buộc</a:t>
            </a:r>
            <a:r>
              <a:rPr lang="en-US" sz="2550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quay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 khi</a:t>
            </a:r>
            <a:r>
              <a:rPr lang="en-US" sz="2550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r>
              <a:rPr lang="en-US" sz="2550" dirty="0" spc="-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sớm.</a:t>
            </a:r>
            <a:endParaRPr lang="en-US" sz="2550" dirty="0"/>
          </a:p>
        </p:txBody>
      </p:sp>
      <p:sp>
        <p:nvSpPr>
          <p:cNvPr id="15" name="Text 12"/>
          <p:cNvSpPr/>
          <p:nvPr/>
        </p:nvSpPr>
        <p:spPr>
          <a:xfrm>
            <a:off x="762000" y="9429750"/>
            <a:ext cx="16478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7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F03D,tổng</a:t>
            </a:r>
            <a:r>
              <a:rPr lang="en-US" sz="1650" dirty="0" spc="-2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hợptừ[S1]V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762000" y="9906000"/>
            <a:ext cx="1666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F03</a:t>
            </a:r>
            <a:r>
              <a:rPr lang="en-US" sz="1650" dirty="0" spc="0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6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1650" dirty="0" spc="5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650" dirty="0" spc="-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2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16/37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ad73762e-db47-4072-bd86-2e4b03cf842d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23875"/>
            <a:ext cx="14287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⚙️ D · TEST THE EXPLANATION</a:t>
            </a:r>
            <a:endParaRPr lang="en-US" sz="2100" dirty="0"/>
          </a:p>
        </p:txBody>
      </p:sp>
      <p:pic>
        <p:nvPicPr>
          <p:cNvPr id="3" name="Moda flattened rect-1792855866339-943947029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572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287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6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Điều</a:t>
            </a:r>
            <a:r>
              <a:rPr lang="en-US" sz="4500" b="1" dirty="0" spc="-1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gì</a:t>
            </a:r>
            <a:r>
              <a:rPr lang="en-US" sz="4500" b="1" dirty="0" spc="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có</a:t>
            </a:r>
            <a:r>
              <a:rPr lang="en-US" sz="4500" b="1" dirty="0" spc="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thể làm</a:t>
            </a:r>
            <a:r>
              <a:rPr lang="en-US" sz="4500" b="1" dirty="0" spc="3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diễn</a:t>
            </a:r>
            <a:r>
              <a:rPr lang="en-US" sz="4500" b="1" dirty="0" spc="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giải</a:t>
            </a:r>
            <a:r>
              <a:rPr lang="en-US" sz="4500" b="1" dirty="0" spc="4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yếu</a:t>
            </a:r>
            <a:r>
              <a:rPr lang="en-US" sz="4500" b="1" dirty="0" spc="24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đi?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714750"/>
            <a:ext cx="5048250" cy="2000250"/>
          </a:xfrm>
          <a:prstGeom prst="roundRect">
            <a:avLst>
              <a:gd name="adj" fmla="val 8571"/>
            </a:avLst>
          </a:prstGeom>
          <a:solidFill>
            <a:srgbClr val="D8BBC5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714750"/>
            <a:ext cx="504825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400" b="1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400" dirty="0" spc="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400" dirty="0" spc="-2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xảy</a:t>
            </a:r>
            <a:r>
              <a:rPr lang="en-US" sz="2400" dirty="0" spc="-2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7810500" y="3143250"/>
            <a:ext cx="9239250" cy="1381125"/>
          </a:xfrm>
          <a:prstGeom prst="roundRect">
            <a:avLst>
              <a:gd name="adj" fmla="val 12414"/>
            </a:avLst>
          </a:prstGeom>
          <a:solidFill>
            <a:srgbClr val="EADDE0"/>
          </a:solidFill>
          <a:ln/>
        </p:spPr>
      </p:sp>
      <p:sp>
        <p:nvSpPr>
          <p:cNvPr id="8" name="Text 5"/>
          <p:cNvSpPr/>
          <p:nvPr/>
        </p:nvSpPr>
        <p:spPr>
          <a:xfrm>
            <a:off x="7810500" y="3143250"/>
            <a:ext cx="923925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2400" b="1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thủ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8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Kỹ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năng/nguồn</a:t>
            </a:r>
            <a:r>
              <a:rPr lang="en-US" sz="2400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lực/bối</a:t>
            </a: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cảnh.</a:t>
            </a:r>
            <a:endParaRPr lang="en-US" sz="2400" dirty="0"/>
          </a:p>
        </p:txBody>
      </p:sp>
      <p:sp>
        <p:nvSpPr>
          <p:cNvPr id="9" name="Connector line-1792855866347-822830969"/>
          <p:cNvSpPr/>
          <p:nvPr/>
        </p:nvSpPr>
        <p:spPr>
          <a:xfrm flipV="1">
            <a:off x="5810250" y="3833812"/>
            <a:ext cx="2000250" cy="881063"/>
          </a:xfrm>
          <a:prstGeom prst="bentConnector3">
            <a:avLst/>
          </a:prstGeom>
          <a:noFill/>
          <a:ln w="19050">
            <a:solidFill>
              <a:srgbClr val="7A2038"/>
            </a:solidFill>
            <a:prstDash val="lgDash"/>
            <a:headEnd type="none"/>
            <a:tailEnd type="triangle" w="lg" len="lg"/>
          </a:ln>
        </p:spPr>
      </p:sp>
      <p:sp>
        <p:nvSpPr>
          <p:cNvPr id="10" name="Shape 7"/>
          <p:cNvSpPr/>
          <p:nvPr/>
        </p:nvSpPr>
        <p:spPr>
          <a:xfrm>
            <a:off x="7810500" y="4810125"/>
            <a:ext cx="9239250" cy="1381125"/>
          </a:xfrm>
          <a:prstGeom prst="roundRect">
            <a:avLst>
              <a:gd name="adj" fmla="val 12414"/>
            </a:avLst>
          </a:prstGeom>
          <a:solidFill>
            <a:srgbClr val="EADDE0"/>
          </a:solidFill>
          <a:ln/>
        </p:spPr>
      </p:sp>
      <p:sp>
        <p:nvSpPr>
          <p:cNvPr id="11" name="Text 8"/>
          <p:cNvSpPr/>
          <p:nvPr/>
        </p:nvSpPr>
        <p:spPr>
          <a:xfrm>
            <a:off x="7810500" y="4810125"/>
            <a:ext cx="923925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2400" b="1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 hình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Giảm</a:t>
            </a:r>
            <a:r>
              <a:rPr lang="en-US" sz="240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0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00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thuyết.</a:t>
            </a:r>
            <a:endParaRPr lang="en-US" sz="2400" dirty="0"/>
          </a:p>
        </p:txBody>
      </p:sp>
      <p:sp>
        <p:nvSpPr>
          <p:cNvPr id="12" name="Connector line-1792855866349-846222381"/>
          <p:cNvSpPr/>
          <p:nvPr/>
        </p:nvSpPr>
        <p:spPr>
          <a:xfrm>
            <a:off x="5810250" y="4714875"/>
            <a:ext cx="2000250" cy="785813"/>
          </a:xfrm>
          <a:prstGeom prst="bentConnector3">
            <a:avLst/>
          </a:prstGeom>
          <a:noFill/>
          <a:ln w="19050">
            <a:solidFill>
              <a:srgbClr val="7A2038"/>
            </a:solidFill>
            <a:prstDash val="lgDash"/>
            <a:headEnd type="none"/>
            <a:tailEnd type="triangle" w="lg" len="lg"/>
          </a:ln>
        </p:spPr>
      </p:sp>
      <p:sp>
        <p:nvSpPr>
          <p:cNvPr id="13" name="Text 10"/>
          <p:cNvSpPr/>
          <p:nvPr/>
        </p:nvSpPr>
        <p:spPr>
          <a:xfrm>
            <a:off x="762000" y="6191250"/>
            <a:ext cx="5905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 spc="1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1875" dirty="0" spc="6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1875" dirty="0" spc="-3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75" dirty="0" spc="0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kiểm,</a:t>
            </a:r>
            <a:r>
              <a:rPr lang="en-US" sz="1875" dirty="0" spc="1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75" dirty="0" spc="-1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75" dirty="0" spc="-25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875" dirty="0" spc="-1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luận.</a:t>
            </a:r>
            <a:endParaRPr lang="en-US" sz="1875" dirty="0"/>
          </a:p>
        </p:txBody>
      </p:sp>
      <p:sp>
        <p:nvSpPr>
          <p:cNvPr id="14" name="Text 11"/>
          <p:cNvSpPr/>
          <p:nvPr/>
        </p:nvSpPr>
        <p:spPr>
          <a:xfrm>
            <a:off x="809625" y="7000875"/>
            <a:ext cx="16430625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tình huống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r>
              <a:rPr lang="en-US" sz="2550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tranh: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ngủ,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nhu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thực,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 năng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550" dirty="0" spc="2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-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vi.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 giác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nhẹ</a:t>
            </a:r>
            <a:r>
              <a:rPr lang="en-US" sz="2550" dirty="0" spc="3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dirty="0" spc="-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 không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 cách</a:t>
            </a:r>
            <a:r>
              <a:rPr lang="en-US" sz="2550" dirty="0" spc="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đúng.</a:t>
            </a:r>
            <a:r>
              <a:rPr lang="en-US" sz="2550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2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nhận,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 giải không còn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 nhau.</a:t>
            </a:r>
            <a:endParaRPr lang="en-US" sz="2550" dirty="0"/>
          </a:p>
        </p:txBody>
      </p:sp>
      <p:sp>
        <p:nvSpPr>
          <p:cNvPr id="15" name="Text 12"/>
          <p:cNvSpPr/>
          <p:nvPr/>
        </p:nvSpPr>
        <p:spPr>
          <a:xfrm>
            <a:off x="762000" y="9429750"/>
            <a:ext cx="16478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8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F03D</a:t>
            </a:r>
            <a:r>
              <a:rPr lang="en-US" sz="1650" dirty="0" spc="0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phươngphápsuyluận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762000" y="9906000"/>
            <a:ext cx="1666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F03</a:t>
            </a:r>
            <a:r>
              <a:rPr lang="en-US" sz="1650" dirty="0" spc="0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6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1650" dirty="0" spc="5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650" dirty="0" spc="-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2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17/37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799d4796-e34b-4d9c-ba2a-4ca43126ae3f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23875"/>
            <a:ext cx="14287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💬 E · REAL-LIFE EXAMPLE</a:t>
            </a:r>
            <a:endParaRPr lang="en-US" sz="2100" dirty="0"/>
          </a:p>
        </p:txBody>
      </p:sp>
      <p:pic>
        <p:nvPicPr>
          <p:cNvPr id="3" name="Moda flattened rect-1792855869962-916420214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572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287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28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Ví</a:t>
            </a:r>
            <a:r>
              <a:rPr lang="en-US" sz="4500" b="1" dirty="0" spc="4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dụ</a:t>
            </a:r>
            <a:r>
              <a:rPr lang="en-US" sz="4500" b="1" dirty="0" spc="-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1:</a:t>
            </a:r>
            <a:r>
              <a:rPr lang="en-US" sz="4500" b="1" dirty="0" spc="-49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xem</a:t>
            </a:r>
            <a:r>
              <a:rPr lang="en-US" sz="4500" b="1" dirty="0" spc="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tin</a:t>
            </a: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nhắn</a:t>
            </a:r>
            <a:r>
              <a:rPr lang="en-US" sz="4500" b="1" dirty="0" spc="-1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trong</a:t>
            </a:r>
            <a:r>
              <a:rPr lang="en-US" sz="4500" b="1" dirty="0" spc="3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cuộc</a:t>
            </a:r>
            <a:r>
              <a:rPr lang="en-US" sz="4500" b="1" dirty="0" spc="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họp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333750"/>
            <a:ext cx="5048250" cy="2571750"/>
          </a:xfrm>
          <a:prstGeom prst="roundRect">
            <a:avLst>
              <a:gd name="adj" fmla="val 6667"/>
            </a:avLst>
          </a:prstGeom>
          <a:solidFill>
            <a:srgbClr val="EADDE0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333750"/>
            <a:ext cx="504825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Quan</a:t>
            </a:r>
            <a:r>
              <a:rPr lang="en-US" sz="2400" b="1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Muốn</a:t>
            </a:r>
            <a:r>
              <a:rPr lang="en-US" sz="240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400" dirty="0" spc="-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400" dirty="0" spc="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00" dirty="0" spc="-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bày.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477000" y="3333750"/>
            <a:ext cx="5048250" cy="2571750"/>
          </a:xfrm>
          <a:prstGeom prst="roundRect">
            <a:avLst>
              <a:gd name="adj" fmla="val 6667"/>
            </a:avLst>
          </a:prstGeom>
          <a:solidFill>
            <a:srgbClr val="EADDE0"/>
          </a:solidFill>
          <a:ln/>
        </p:spPr>
      </p:sp>
      <p:sp>
        <p:nvSpPr>
          <p:cNvPr id="8" name="Text 5"/>
          <p:cNvSpPr/>
          <p:nvPr/>
        </p:nvSpPr>
        <p:spPr>
          <a:xfrm>
            <a:off x="6477000" y="3333750"/>
            <a:ext cx="504825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400" b="1" dirty="0" spc="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400" dirty="0" spc="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đòi</a:t>
            </a: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40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mặt.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2192000" y="3333750"/>
            <a:ext cx="5048250" cy="2571750"/>
          </a:xfrm>
          <a:prstGeom prst="roundRect">
            <a:avLst>
              <a:gd name="adj" fmla="val 6667"/>
            </a:avLst>
          </a:prstGeom>
          <a:solidFill>
            <a:srgbClr val="EADDE0"/>
          </a:solidFill>
          <a:ln/>
        </p:spPr>
      </p:sp>
      <p:sp>
        <p:nvSpPr>
          <p:cNvPr id="10" name="Text 7"/>
          <p:cNvSpPr/>
          <p:nvPr/>
        </p:nvSpPr>
        <p:spPr>
          <a:xfrm>
            <a:off x="12192000" y="3333750"/>
            <a:ext cx="504825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Thay</a:t>
            </a:r>
            <a:r>
              <a:rPr lang="en-US" sz="2400" b="1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40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bách/quy</a:t>
            </a:r>
            <a:r>
              <a:rPr lang="en-US" sz="2400" dirty="0" spc="-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09625" y="7000875"/>
            <a:ext cx="16430625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Lan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 bạn</a:t>
            </a:r>
            <a:r>
              <a:rPr lang="en-US" sz="2550" dirty="0" spc="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-2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550" dirty="0" spc="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 hàng.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mong muốn</a:t>
            </a:r>
            <a:r>
              <a:rPr lang="en-US" sz="2550" dirty="0" spc="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tức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thời,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55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tôn</a:t>
            </a:r>
            <a:r>
              <a:rPr lang="en-US" sz="2550" dirty="0" spc="-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550" dirty="0" spc="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hậu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 gia</a:t>
            </a:r>
            <a:r>
              <a:rPr lang="en-US" sz="2550" dirty="0" spc="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chọn.</a:t>
            </a:r>
            <a:r>
              <a:rPr lang="en-US" sz="2550" dirty="0" spc="-2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</a:t>
            </a:r>
            <a:r>
              <a:rPr lang="en-US" sz="2550" dirty="0" spc="-2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550" dirty="0" spc="-2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nghỉ.</a:t>
            </a:r>
            <a:r>
              <a:rPr lang="en-US" sz="2550" dirty="0" spc="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550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bách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550" dirty="0" spc="-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phép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2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phù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hợp;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55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trúc.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762000" y="9429750"/>
            <a:ext cx="16478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9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F03E</a:t>
            </a:r>
            <a:r>
              <a:rPr lang="en-US" sz="1650" dirty="0" spc="0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tình</a:t>
            </a:r>
            <a:r>
              <a:rPr lang="en-US" sz="1650" dirty="0" spc="-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650" dirty="0" spc="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1650" dirty="0" spc="15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762000" y="9906000"/>
            <a:ext cx="1666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F03</a:t>
            </a:r>
            <a:r>
              <a:rPr lang="en-US" sz="1650" dirty="0" spc="0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6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1650" dirty="0" spc="5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650" dirty="0" spc="-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2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18/37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dadd28d9-d14d-432a-b8fe-9f865aae650e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23875"/>
            <a:ext cx="14287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💬 E · REAL-LIFE EXAMPLE</a:t>
            </a:r>
            <a:endParaRPr lang="en-US" sz="2100" dirty="0"/>
          </a:p>
        </p:txBody>
      </p:sp>
      <p:pic>
        <p:nvPicPr>
          <p:cNvPr id="3" name="Moda flattened rect-1792855873699-84458462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572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287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28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Ví</a:t>
            </a:r>
            <a:r>
              <a:rPr lang="en-US" sz="4500" b="1" dirty="0" spc="4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dụ</a:t>
            </a:r>
            <a:r>
              <a:rPr lang="en-US" sz="4500" b="1" dirty="0" spc="9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2:</a:t>
            </a: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mua</a:t>
            </a:r>
            <a:r>
              <a:rPr lang="en-US" sz="4500" b="1" dirty="0" spc="-1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trong</a:t>
            </a:r>
            <a:r>
              <a:rPr lang="en-US" sz="4500" b="1" dirty="0" spc="-6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ngân</a:t>
            </a: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sách</a:t>
            </a:r>
            <a:r>
              <a:rPr lang="en-US" sz="4500" b="1" dirty="0" spc="-19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rồi</a:t>
            </a: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tự</a:t>
            </a:r>
            <a:r>
              <a:rPr lang="en-US" sz="4500" b="1" dirty="0" spc="-15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trách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714750"/>
            <a:ext cx="5048250" cy="2000250"/>
          </a:xfrm>
          <a:prstGeom prst="roundRect">
            <a:avLst>
              <a:gd name="adj" fmla="val 8571"/>
            </a:avLst>
          </a:prstGeom>
          <a:solidFill>
            <a:srgbClr val="D8BBC5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714750"/>
            <a:ext cx="504825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400" b="1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Mua</a:t>
            </a:r>
            <a:r>
              <a:rPr lang="en-US" sz="2400" dirty="0" spc="-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-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trách.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7810500" y="3143250"/>
            <a:ext cx="9239250" cy="1381125"/>
          </a:xfrm>
          <a:prstGeom prst="roundRect">
            <a:avLst>
              <a:gd name="adj" fmla="val 12414"/>
            </a:avLst>
          </a:prstGeom>
          <a:solidFill>
            <a:srgbClr val="EADDE0"/>
          </a:solidFill>
          <a:ln/>
        </p:spPr>
      </p:sp>
      <p:sp>
        <p:nvSpPr>
          <p:cNvPr id="8" name="Text 5"/>
          <p:cNvSpPr/>
          <p:nvPr/>
        </p:nvSpPr>
        <p:spPr>
          <a:xfrm>
            <a:off x="7810500" y="3143250"/>
            <a:ext cx="923925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</a:t>
            </a:r>
            <a:r>
              <a:rPr lang="en-US" sz="2400" b="1" dirty="0" spc="-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Chuẩn</a:t>
            </a:r>
            <a:r>
              <a:rPr lang="en-US" sz="2400" dirty="0" spc="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phê phán.</a:t>
            </a:r>
            <a:endParaRPr lang="en-US" sz="2400" dirty="0"/>
          </a:p>
        </p:txBody>
      </p:sp>
      <p:sp>
        <p:nvSpPr>
          <p:cNvPr id="9" name="Connector line-1792855873704-365705445"/>
          <p:cNvSpPr/>
          <p:nvPr/>
        </p:nvSpPr>
        <p:spPr>
          <a:xfrm flipV="1">
            <a:off x="5810250" y="3833812"/>
            <a:ext cx="2000250" cy="881063"/>
          </a:xfrm>
          <a:prstGeom prst="bentConnector3">
            <a:avLst/>
          </a:prstGeom>
          <a:noFill/>
          <a:ln w="19050">
            <a:solidFill>
              <a:srgbClr val="7A2038"/>
            </a:solidFill>
            <a:prstDash val="lgDash"/>
            <a:headEnd type="none"/>
            <a:tailEnd type="triangle" w="lg" len="lg"/>
          </a:ln>
        </p:spPr>
      </p:sp>
      <p:sp>
        <p:nvSpPr>
          <p:cNvPr id="10" name="Shape 7"/>
          <p:cNvSpPr/>
          <p:nvPr/>
        </p:nvSpPr>
        <p:spPr>
          <a:xfrm>
            <a:off x="7810500" y="4810125"/>
            <a:ext cx="9239250" cy="1381125"/>
          </a:xfrm>
          <a:prstGeom prst="roundRect">
            <a:avLst>
              <a:gd name="adj" fmla="val 12414"/>
            </a:avLst>
          </a:prstGeom>
          <a:solidFill>
            <a:srgbClr val="EADDE0"/>
          </a:solidFill>
          <a:ln/>
        </p:spPr>
      </p:sp>
      <p:sp>
        <p:nvSpPr>
          <p:cNvPr id="11" name="Text 8"/>
          <p:cNvSpPr/>
          <p:nvPr/>
        </p:nvSpPr>
        <p:spPr>
          <a:xfrm>
            <a:off x="7810500" y="4810125"/>
            <a:ext cx="923925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400" b="1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2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Nợ/cam</a:t>
            </a:r>
            <a:r>
              <a:rPr lang="en-US" sz="240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kết/bối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cảnh.</a:t>
            </a:r>
            <a:endParaRPr lang="en-US" sz="2400" dirty="0"/>
          </a:p>
        </p:txBody>
      </p:sp>
      <p:sp>
        <p:nvSpPr>
          <p:cNvPr id="12" name="Connector line-1792855873706-310288830"/>
          <p:cNvSpPr/>
          <p:nvPr/>
        </p:nvSpPr>
        <p:spPr>
          <a:xfrm>
            <a:off x="5810250" y="4714875"/>
            <a:ext cx="2000250" cy="785813"/>
          </a:xfrm>
          <a:prstGeom prst="bentConnector3">
            <a:avLst/>
          </a:prstGeom>
          <a:noFill/>
          <a:ln w="19050">
            <a:solidFill>
              <a:srgbClr val="7A2038"/>
            </a:solidFill>
            <a:prstDash val="lgDash"/>
            <a:headEnd type="none"/>
            <a:tailEnd type="triangle" w="lg" len="lg"/>
          </a:ln>
        </p:spPr>
      </p:sp>
      <p:sp>
        <p:nvSpPr>
          <p:cNvPr id="13" name="Text 10"/>
          <p:cNvSpPr/>
          <p:nvPr/>
        </p:nvSpPr>
        <p:spPr>
          <a:xfrm>
            <a:off x="762000" y="6191250"/>
            <a:ext cx="5905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 spc="1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1875" dirty="0" spc="6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1875" dirty="0" spc="-3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75" dirty="0" spc="0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kiểm,</a:t>
            </a:r>
            <a:r>
              <a:rPr lang="en-US" sz="1875" dirty="0" spc="1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75" dirty="0" spc="-1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75" dirty="0" spc="-25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875" dirty="0" spc="-1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luận.</a:t>
            </a:r>
            <a:endParaRPr lang="en-US" sz="1875" dirty="0"/>
          </a:p>
        </p:txBody>
      </p:sp>
      <p:sp>
        <p:nvSpPr>
          <p:cNvPr id="14" name="Text 11"/>
          <p:cNvSpPr/>
          <p:nvPr/>
        </p:nvSpPr>
        <p:spPr>
          <a:xfrm>
            <a:off x="809625" y="7000875"/>
            <a:ext cx="16430625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Bình mua</a:t>
            </a:r>
            <a:r>
              <a:rPr lang="en-US" sz="2550" dirty="0" spc="-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tai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550" dirty="0" spc="-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550" dirty="0" spc="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</a:t>
            </a:r>
            <a:r>
              <a:rPr lang="en-US" sz="2550" dirty="0" spc="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 gì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thân.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550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phê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phán</a:t>
            </a:r>
            <a:r>
              <a:rPr lang="en-US" sz="2550" dirty="0" spc="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nhắc;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550" dirty="0" spc="-3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superego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bệnh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lý.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nợ</a:t>
            </a:r>
            <a:r>
              <a:rPr lang="en-US" sz="2550" dirty="0" spc="-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hứa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2550" dirty="0" spc="-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 không.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Hối tiếc</a:t>
            </a:r>
            <a:r>
              <a:rPr lang="en-US" sz="2550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mua, thiếu thông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55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áp</a:t>
            </a:r>
            <a:r>
              <a:rPr lang="en-US" sz="2550" dirty="0" spc="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dirty="0" spc="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xét.</a:t>
            </a:r>
            <a:endParaRPr lang="en-US" sz="2550" dirty="0"/>
          </a:p>
        </p:txBody>
      </p:sp>
      <p:sp>
        <p:nvSpPr>
          <p:cNvPr id="15" name="Text 12"/>
          <p:cNvSpPr/>
          <p:nvPr/>
        </p:nvSpPr>
        <p:spPr>
          <a:xfrm>
            <a:off x="762000" y="9429750"/>
            <a:ext cx="16478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9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F03E</a:t>
            </a:r>
            <a:r>
              <a:rPr lang="en-US" sz="1650" dirty="0" spc="0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tình</a:t>
            </a:r>
            <a:r>
              <a:rPr lang="en-US" sz="1650" dirty="0" spc="-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650" dirty="0" spc="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1650" dirty="0" spc="15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762000" y="9906000"/>
            <a:ext cx="1666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F03</a:t>
            </a:r>
            <a:r>
              <a:rPr lang="en-US" sz="1650" dirty="0" spc="0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6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1650" dirty="0" spc="5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650" dirty="0" spc="-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2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19/37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8dc69a95-22e2-4425-973f-63865403d5cc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23875"/>
            <a:ext cx="14287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💬 E · REAL-LIFE EXAMPLE</a:t>
            </a:r>
            <a:endParaRPr lang="en-US" sz="2100" dirty="0"/>
          </a:p>
        </p:txBody>
      </p:sp>
      <p:pic>
        <p:nvPicPr>
          <p:cNvPr id="3" name="Moda flattened rect-1792855876606-411724488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572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287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28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Ví</a:t>
            </a:r>
            <a:r>
              <a:rPr lang="en-US" sz="4500" b="1" dirty="0" spc="4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dụ 3:</a:t>
            </a:r>
            <a:r>
              <a:rPr lang="en-US" sz="4500" b="1" dirty="0" spc="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nói</a:t>
            </a:r>
            <a:r>
              <a:rPr lang="en-US" sz="4500" b="1" dirty="0" spc="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thẳng</a:t>
            </a: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mà</a:t>
            </a:r>
            <a:r>
              <a:rPr lang="en-US" sz="4500" b="1" dirty="0" spc="-36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vẫn</a:t>
            </a:r>
            <a:r>
              <a:rPr lang="en-US" sz="4500" b="1" dirty="0" spc="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giữ</a:t>
            </a:r>
            <a:r>
              <a:rPr lang="en-US" sz="4500" b="1" dirty="0" spc="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quan</a:t>
            </a: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hệ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048000"/>
            <a:ext cx="13811250" cy="952500"/>
          </a:xfrm>
          <a:prstGeom prst="roundRect">
            <a:avLst>
              <a:gd name="adj" fmla="val 18000"/>
            </a:avLst>
          </a:prstGeom>
          <a:solidFill>
            <a:srgbClr val="EADDE0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048000"/>
            <a:ext cx="13811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Mong</a:t>
            </a:r>
            <a:r>
              <a:rPr lang="en-US" sz="2400" b="1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Nói</a:t>
            </a:r>
            <a:r>
              <a:rPr lang="en-US" sz="2400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400" dirty="0" spc="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bực.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1714500" y="4143375"/>
            <a:ext cx="13811250" cy="952500"/>
          </a:xfrm>
          <a:prstGeom prst="roundRect">
            <a:avLst>
              <a:gd name="adj" fmla="val 18000"/>
            </a:avLst>
          </a:prstGeom>
          <a:solidFill>
            <a:srgbClr val="EADDE0"/>
          </a:solidFill>
          <a:ln/>
        </p:spPr>
      </p:sp>
      <p:sp>
        <p:nvSpPr>
          <p:cNvPr id="8" name="Text 5"/>
          <p:cNvSpPr/>
          <p:nvPr/>
        </p:nvSpPr>
        <p:spPr>
          <a:xfrm>
            <a:off x="1714500" y="4143375"/>
            <a:ext cx="13811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400" b="1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Quan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00" dirty="0" spc="-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40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667000" y="5238750"/>
            <a:ext cx="13811250" cy="952500"/>
          </a:xfrm>
          <a:prstGeom prst="roundRect">
            <a:avLst>
              <a:gd name="adj" fmla="val 18000"/>
            </a:avLst>
          </a:prstGeom>
          <a:solidFill>
            <a:srgbClr val="EADDE0"/>
          </a:solidFill>
          <a:ln/>
        </p:spPr>
      </p:sp>
      <p:sp>
        <p:nvSpPr>
          <p:cNvPr id="10" name="Text 7"/>
          <p:cNvSpPr/>
          <p:nvPr/>
        </p:nvSpPr>
        <p:spPr>
          <a:xfrm>
            <a:off x="2667000" y="5238750"/>
            <a:ext cx="13811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Phương</a:t>
            </a:r>
            <a:r>
              <a:rPr lang="en-US" sz="2400" b="1" dirty="0" spc="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Sự</a:t>
            </a:r>
            <a:r>
              <a:rPr lang="en-US" sz="2400" dirty="0" spc="-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kiện/ảnh</a:t>
            </a:r>
            <a:r>
              <a:rPr lang="en-US" sz="2400" dirty="0" spc="-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hưởng/đề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nghị.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09625" y="7000875"/>
            <a:ext cx="16430625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Mai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giận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dirty="0" spc="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nghiệp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muộn</a:t>
            </a:r>
            <a:r>
              <a:rPr lang="en-US" sz="2550" dirty="0" spc="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dài.</a:t>
            </a:r>
            <a:r>
              <a:rPr lang="en-US" sz="2550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kiện, ảnh</a:t>
            </a:r>
            <a:r>
              <a:rPr lang="en-US" sz="2550" dirty="0" spc="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hưởng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nghị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là cách</a:t>
            </a:r>
            <a:r>
              <a:rPr lang="en-US" sz="2550" dirty="0" spc="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2550" dirty="0" spc="2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dirty="0" spc="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đòi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hỏi,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ego</a:t>
            </a:r>
            <a:r>
              <a:rPr lang="en-US" sz="2550" dirty="0" spc="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id.</a:t>
            </a:r>
            <a:r>
              <a:rPr lang="en-US" sz="2550" dirty="0" spc="-6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550" dirty="0" spc="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thương lượng,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550" dirty="0" spc="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mơ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cân</a:t>
            </a:r>
            <a:r>
              <a:rPr lang="en-US" sz="2550" dirty="0" spc="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xứng</a:t>
            </a:r>
            <a:r>
              <a:rPr lang="en-US" sz="2550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550" dirty="0" spc="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các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550" dirty="0" spc="-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550" dirty="0" spc="-3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Freud;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lặng</a:t>
            </a:r>
            <a:r>
              <a:rPr lang="en-US" sz="2550" dirty="0" spc="-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môi</a:t>
            </a:r>
            <a:r>
              <a:rPr lang="en-US" sz="2550" dirty="0" spc="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550" dirty="0" spc="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trừng</a:t>
            </a:r>
            <a:r>
              <a:rPr lang="en-US" sz="2550" dirty="0" spc="-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phạt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 có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dirty="0" spc="-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sở.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762000" y="9429750"/>
            <a:ext cx="16478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9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F03E</a:t>
            </a:r>
            <a:r>
              <a:rPr lang="en-US" sz="1650" dirty="0" spc="0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tình</a:t>
            </a:r>
            <a:r>
              <a:rPr lang="en-US" sz="1650" dirty="0" spc="-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650" dirty="0" spc="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1650" dirty="0" spc="15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762000" y="9906000"/>
            <a:ext cx="1666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F03</a:t>
            </a:r>
            <a:r>
              <a:rPr lang="en-US" sz="1650" dirty="0" spc="0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6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1650" dirty="0" spc="5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650" dirty="0" spc="-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20/37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6f988154-4923-44af-8403-bcd364ea9abc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31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23875"/>
            <a:ext cx="14287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📋 F · CASE STUDY 1/3</a:t>
            </a:r>
            <a:endParaRPr lang="en-US" sz="2100" dirty="0"/>
          </a:p>
        </p:txBody>
      </p:sp>
      <p:pic>
        <p:nvPicPr>
          <p:cNvPr id="3" name="Moda flattened rect-1792855880941-927203137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572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287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Case</a:t>
            </a:r>
            <a:r>
              <a:rPr lang="en-US" sz="4500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Nam:</a:t>
            </a:r>
            <a:r>
              <a:rPr lang="en-US" sz="4500" b="1" dirty="0" spc="-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biết</a:t>
            </a:r>
            <a:r>
              <a:rPr lang="en-US" sz="4500" b="1" dirty="0" spc="16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điều</a:t>
            </a:r>
            <a:r>
              <a:rPr lang="en-US" sz="4500" b="1" dirty="0" spc="-1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gì,</a:t>
            </a:r>
            <a:r>
              <a:rPr lang="en-US" sz="4500" b="1" dirty="0" spc="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thiếu</a:t>
            </a:r>
            <a:r>
              <a:rPr lang="en-US" sz="4500" b="1" dirty="0" spc="16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điều</a:t>
            </a:r>
            <a:r>
              <a:rPr lang="en-US" sz="4500" b="1" dirty="0" spc="-1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gì?</a:t>
            </a:r>
            <a:endParaRPr lang="en-US" sz="4500" dirty="0"/>
          </a:p>
        </p:txBody>
      </p:sp>
      <p:pic>
        <p:nvPicPr>
          <p:cNvPr id="5" name="Moda image rect-1792855881389-636940427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357313" y="3048000"/>
            <a:ext cx="4714875" cy="31432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2000" y="6238875"/>
            <a:ext cx="5905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8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Andrew</a:t>
            </a:r>
            <a:r>
              <a:rPr lang="en-US" sz="1650" dirty="0" spc="-2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Neel</a:t>
            </a:r>
            <a:r>
              <a:rPr lang="en-US" sz="1650" dirty="0" spc="6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650" dirty="0" spc="-1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Unsplash ·</a:t>
            </a:r>
            <a:r>
              <a:rPr lang="en-US" sz="1650" dirty="0" spc="1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1650" dirty="0" spc="-1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1650" dirty="0" spc="0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1650" dirty="0" spc="-1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650" dirty="0" spc="-2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endParaRPr lang="en-US" sz="1650" dirty="0"/>
          </a:p>
        </p:txBody>
      </p:sp>
      <p:sp>
        <p:nvSpPr>
          <p:cNvPr id="7" name="Shape 3"/>
          <p:cNvSpPr/>
          <p:nvPr/>
        </p:nvSpPr>
        <p:spPr>
          <a:xfrm>
            <a:off x="7620000" y="3095625"/>
            <a:ext cx="9715500" cy="904875"/>
          </a:xfrm>
          <a:prstGeom prst="roundRect">
            <a:avLst>
              <a:gd name="adj" fmla="val 18947"/>
            </a:avLst>
          </a:prstGeom>
          <a:solidFill>
            <a:srgbClr val="3C2C35"/>
          </a:solidFill>
          <a:ln/>
        </p:spPr>
      </p:sp>
      <p:sp>
        <p:nvSpPr>
          <p:cNvPr id="8" name="Text 4"/>
          <p:cNvSpPr/>
          <p:nvPr/>
        </p:nvSpPr>
        <p:spPr>
          <a:xfrm>
            <a:off x="7620000" y="3095625"/>
            <a:ext cx="97155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2400" b="1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nhiều/gửi</a:t>
            </a:r>
            <a:r>
              <a:rPr lang="en-US" sz="2400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trễ/lời</a:t>
            </a:r>
            <a:r>
              <a:rPr lang="en-US" sz="2400" dirty="0" spc="-2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kể.</a:t>
            </a:r>
            <a:endParaRPr lang="en-US" sz="2400" dirty="0"/>
          </a:p>
        </p:txBody>
      </p:sp>
      <p:sp>
        <p:nvSpPr>
          <p:cNvPr id="9" name="Shape 5"/>
          <p:cNvSpPr/>
          <p:nvPr/>
        </p:nvSpPr>
        <p:spPr>
          <a:xfrm>
            <a:off x="7620000" y="4162425"/>
            <a:ext cx="9715500" cy="904875"/>
          </a:xfrm>
          <a:prstGeom prst="roundRect">
            <a:avLst>
              <a:gd name="adj" fmla="val 18947"/>
            </a:avLst>
          </a:prstGeom>
          <a:solidFill>
            <a:srgbClr val="3C2C35"/>
          </a:solidFill>
          <a:ln/>
        </p:spPr>
      </p:sp>
      <p:sp>
        <p:nvSpPr>
          <p:cNvPr id="10" name="Text 6"/>
          <p:cNvSpPr/>
          <p:nvPr/>
        </p:nvSpPr>
        <p:spPr>
          <a:xfrm>
            <a:off x="7620000" y="4162425"/>
            <a:ext cx="97155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400" b="1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Tiêu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chí/nguồn</a:t>
            </a:r>
            <a:r>
              <a:rPr lang="en-US" sz="2400" dirty="0" spc="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lực/phản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hồi.</a:t>
            </a:r>
            <a:endParaRPr lang="en-US" sz="2400" dirty="0"/>
          </a:p>
        </p:txBody>
      </p:sp>
      <p:sp>
        <p:nvSpPr>
          <p:cNvPr id="11" name="Shape 7"/>
          <p:cNvSpPr/>
          <p:nvPr/>
        </p:nvSpPr>
        <p:spPr>
          <a:xfrm>
            <a:off x="7620000" y="5229225"/>
            <a:ext cx="9715500" cy="904875"/>
          </a:xfrm>
          <a:prstGeom prst="roundRect">
            <a:avLst>
              <a:gd name="adj" fmla="val 18947"/>
            </a:avLst>
          </a:prstGeom>
          <a:solidFill>
            <a:srgbClr val="3C2C35"/>
          </a:solidFill>
          <a:ln/>
        </p:spPr>
      </p:sp>
      <p:sp>
        <p:nvSpPr>
          <p:cNvPr id="12" name="Text 8"/>
          <p:cNvSpPr/>
          <p:nvPr/>
        </p:nvSpPr>
        <p:spPr>
          <a:xfrm>
            <a:off x="7620000" y="5229225"/>
            <a:ext cx="97155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 được</a:t>
            </a:r>
            <a:r>
              <a:rPr lang="en-US" sz="2400" b="1" dirty="0" spc="-3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b="1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Nhãn</a:t>
            </a:r>
            <a:r>
              <a:rPr lang="en-US" sz="2400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Nam.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809625" y="7000875"/>
            <a:ext cx="16430625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Nam</a:t>
            </a:r>
            <a:r>
              <a:rPr lang="en-US" sz="255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55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550" dirty="0" spc="-2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550" dirty="0" spc="3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550" dirty="0" spc="-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trễ;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Nam</a:t>
            </a:r>
            <a:r>
              <a:rPr lang="en-US" sz="2550" dirty="0" spc="-3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 làm</a:t>
            </a:r>
            <a:r>
              <a:rPr lang="en-US" sz="2550" dirty="0" spc="-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tốt,</a:t>
            </a:r>
            <a:r>
              <a:rPr lang="en-US" sz="2550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 chê</a:t>
            </a:r>
            <a:r>
              <a:rPr lang="en-US" sz="2550" dirty="0" spc="-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giận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dirty="0" spc="-2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5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dirty="0" spc="-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đổi.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2550" dirty="0" spc="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550" dirty="0" spc="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định.</a:t>
            </a:r>
            <a:r>
              <a:rPr lang="en-US" sz="255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-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55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55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cáo, thời hạn cạnh</a:t>
            </a:r>
            <a:r>
              <a:rPr lang="en-US" sz="2550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tranh,</a:t>
            </a:r>
            <a:r>
              <a:rPr lang="en-US" sz="2550" dirty="0" spc="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55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 hoặc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 lý.</a:t>
            </a:r>
            <a:r>
              <a:rPr lang="en-US" sz="2550" dirty="0" spc="-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“Superego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mạnh” là</a:t>
            </a:r>
            <a:r>
              <a:rPr lang="en-US" sz="255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 giải, không phải</a:t>
            </a:r>
            <a:r>
              <a:rPr lang="en-US" sz="255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550" dirty="0" spc="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-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sát.</a:t>
            </a:r>
            <a:endParaRPr lang="en-US" sz="2550" dirty="0"/>
          </a:p>
        </p:txBody>
      </p:sp>
      <p:sp>
        <p:nvSpPr>
          <p:cNvPr id="14" name="Text 10"/>
          <p:cNvSpPr/>
          <p:nvPr/>
        </p:nvSpPr>
        <p:spPr>
          <a:xfrm>
            <a:off x="762000" y="9429750"/>
            <a:ext cx="16478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0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F03F</a:t>
            </a:r>
            <a:r>
              <a:rPr lang="en-US" sz="1650" dirty="0" spc="0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ca</a:t>
            </a:r>
            <a:r>
              <a:rPr lang="en-US" sz="1650" dirty="0" spc="1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1650" dirty="0" spc="15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762000" y="9906000"/>
            <a:ext cx="1666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1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F03</a:t>
            </a:r>
            <a:r>
              <a:rPr lang="en-US" sz="1650" dirty="0" spc="0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6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1650" dirty="0" spc="5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650" dirty="0" spc="-1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2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21/37</a:t>
            </a:r>
            <a:endParaRPr lang="en-US" sz="1650" dirty="0"/>
          </a:p>
        </p:txBody>
      </p:sp>
      <p:sp>
        <p:nvSpPr>
          <p:cNvPr id="16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fc6664eb-eebd-45f9-ae9d-54ddec98b7f4" descr="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23875"/>
            <a:ext cx="14287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📋 F · CASE STUDY 2/3</a:t>
            </a:r>
            <a:endParaRPr lang="en-US" sz="2100" dirty="0"/>
          </a:p>
        </p:txBody>
      </p:sp>
      <p:pic>
        <p:nvPicPr>
          <p:cNvPr id="3" name="Moda flattened rect-1792856147169-240341857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572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287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Case</a:t>
            </a:r>
            <a:r>
              <a:rPr lang="en-US" sz="4500" b="1" dirty="0" spc="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Nam:</a:t>
            </a:r>
            <a:r>
              <a:rPr lang="en-US" sz="4500" b="1" dirty="0" spc="-19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xây</a:t>
            </a: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giả</a:t>
            </a:r>
            <a:r>
              <a:rPr lang="en-US" sz="4500" b="1" dirty="0" spc="-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thuyết</a:t>
            </a: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có</a:t>
            </a:r>
            <a:r>
              <a:rPr lang="en-US" sz="4500" b="1" dirty="0" spc="8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đối</a:t>
            </a: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thủ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333750"/>
            <a:ext cx="5048250" cy="2571750"/>
          </a:xfrm>
          <a:prstGeom prst="roundRect">
            <a:avLst>
              <a:gd name="adj" fmla="val 6667"/>
            </a:avLst>
          </a:prstGeom>
          <a:solidFill>
            <a:srgbClr val="EADDE0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333750"/>
            <a:ext cx="504825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400" b="1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00" b="1" dirty="0" spc="-2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Mong</a:t>
            </a:r>
            <a:r>
              <a:rPr lang="en-US" sz="2400" dirty="0" spc="-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muốn/chuẩn/thực</a:t>
            </a:r>
            <a:r>
              <a:rPr lang="en-US" sz="2400" dirty="0" spc="-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477000" y="3333750"/>
            <a:ext cx="5048250" cy="2571750"/>
          </a:xfrm>
          <a:prstGeom prst="roundRect">
            <a:avLst>
              <a:gd name="adj" fmla="val 6667"/>
            </a:avLst>
          </a:prstGeom>
          <a:solidFill>
            <a:srgbClr val="EADDE0"/>
          </a:solidFill>
          <a:ln/>
        </p:spPr>
      </p:sp>
      <p:sp>
        <p:nvSpPr>
          <p:cNvPr id="8" name="Text 5"/>
          <p:cNvSpPr/>
          <p:nvPr/>
        </p:nvSpPr>
        <p:spPr>
          <a:xfrm>
            <a:off x="6477000" y="3333750"/>
            <a:ext cx="504825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2400" b="1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thủ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Tiêu</a:t>
            </a: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</a:t>
            </a:r>
            <a:r>
              <a:rPr lang="en-US" sz="2400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00" dirty="0" spc="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đổi/thiếu</a:t>
            </a:r>
            <a:r>
              <a:rPr lang="en-US" sz="2400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2192000" y="3333750"/>
            <a:ext cx="5048250" cy="2571750"/>
          </a:xfrm>
          <a:prstGeom prst="roundRect">
            <a:avLst>
              <a:gd name="adj" fmla="val 6667"/>
            </a:avLst>
          </a:prstGeom>
          <a:solidFill>
            <a:srgbClr val="EADDE0"/>
          </a:solidFill>
          <a:ln/>
        </p:spPr>
      </p:sp>
      <p:sp>
        <p:nvSpPr>
          <p:cNvPr id="10" name="Text 7"/>
          <p:cNvSpPr/>
          <p:nvPr/>
        </p:nvSpPr>
        <p:spPr>
          <a:xfrm>
            <a:off x="12192000" y="3333750"/>
            <a:ext cx="504825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b="1" dirty="0" spc="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6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Tạm</a:t>
            </a: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bớt</a:t>
            </a:r>
            <a:r>
              <a:rPr lang="en-US" sz="240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r>
              <a:rPr lang="en-US" sz="2400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≠</a:t>
            </a:r>
            <a:r>
              <a:rPr lang="en-US" sz="2400" dirty="0" spc="-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762000" y="6191250"/>
            <a:ext cx="1638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Đối</a:t>
            </a:r>
            <a:r>
              <a:rPr lang="en-US" sz="1950" dirty="0" spc="0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chiếu</a:t>
            </a:r>
            <a:r>
              <a:rPr lang="en-US" sz="1950" dirty="0" spc="5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1950" dirty="0" spc="-3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phân biệt,</a:t>
            </a:r>
            <a:r>
              <a:rPr lang="en-US" sz="1950" dirty="0" spc="-4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1950" dirty="0" spc="1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đồng</a:t>
            </a:r>
            <a:r>
              <a:rPr lang="en-US" sz="1950" dirty="0" spc="-8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nhất</a:t>
            </a:r>
            <a:r>
              <a:rPr lang="en-US" sz="1950" dirty="0" spc="-1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khái</a:t>
            </a:r>
            <a:r>
              <a:rPr lang="en-US" sz="1950" dirty="0" spc="-2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niệm.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809625" y="7000875"/>
            <a:ext cx="16430625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550" dirty="0" spc="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mong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nhận,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hảo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nhu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dirty="0" spc="4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550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khung.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-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tạm</a:t>
            </a:r>
            <a:r>
              <a:rPr lang="en-US" sz="2550" dirty="0" spc="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hoãn việc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dirty="0" spc="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giá,</a:t>
            </a:r>
            <a:r>
              <a:rPr lang="en-US" sz="2550" dirty="0" spc="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nhẹ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2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2550" dirty="0" spc="-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 chí</a:t>
            </a:r>
            <a:r>
              <a:rPr lang="en-US" sz="2550" dirty="0" spc="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đổi,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liệu,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55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 năng</a:t>
            </a:r>
            <a:r>
              <a:rPr lang="en-US" sz="2550" dirty="0" spc="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-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tình huống.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762000" y="9429750"/>
            <a:ext cx="16478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0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F03F</a:t>
            </a:r>
            <a:r>
              <a:rPr lang="en-US" sz="1650" dirty="0" spc="0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ca</a:t>
            </a:r>
            <a:r>
              <a:rPr lang="en-US" sz="1650" dirty="0" spc="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1650" dirty="0" spc="15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762000" y="9906000"/>
            <a:ext cx="1666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F03</a:t>
            </a:r>
            <a:r>
              <a:rPr lang="en-US" sz="1650" dirty="0" spc="0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6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1650" dirty="0" spc="5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650" dirty="0" spc="-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22/37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394bf5e5-a089-4a25-858b-f64bf61355e0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23875"/>
            <a:ext cx="14287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📋 F · CASE STUDY 3/3</a:t>
            </a:r>
            <a:endParaRPr lang="en-US" sz="2100" dirty="0"/>
          </a:p>
        </p:txBody>
      </p:sp>
      <p:pic>
        <p:nvPicPr>
          <p:cNvPr id="3" name="Moda flattened rect-1792855887864-529079043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572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287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Case</a:t>
            </a:r>
            <a:r>
              <a:rPr lang="en-US" sz="4500" b="1" dirty="0" spc="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Nam:</a:t>
            </a:r>
            <a:r>
              <a:rPr lang="en-US" sz="4500" b="1" dirty="0" spc="-1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tìm</a:t>
            </a: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thông</a:t>
            </a:r>
            <a:r>
              <a:rPr lang="en-US" sz="4500" b="1" dirty="0" spc="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tin</a:t>
            </a:r>
            <a:r>
              <a:rPr lang="en-US" sz="4500" b="1" dirty="0" spc="1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để</a:t>
            </a:r>
            <a:r>
              <a:rPr lang="en-US" sz="4500" b="1" dirty="0" spc="-3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sửa</a:t>
            </a:r>
            <a:r>
              <a:rPr lang="en-US" sz="4500" b="1" dirty="0" spc="3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cách</a:t>
            </a:r>
            <a:r>
              <a:rPr lang="en-US" sz="4500" b="1" dirty="0" spc="4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hiểu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714750"/>
            <a:ext cx="5048250" cy="2000250"/>
          </a:xfrm>
          <a:prstGeom prst="roundRect">
            <a:avLst>
              <a:gd name="adj" fmla="val 8571"/>
            </a:avLst>
          </a:prstGeom>
          <a:solidFill>
            <a:srgbClr val="D8BBC5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714750"/>
            <a:ext cx="504825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400" b="1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2400" b="1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8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cầu/lần</a:t>
            </a:r>
            <a:r>
              <a:rPr lang="en-US" sz="2400" dirty="0" spc="-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đổi/đối</a:t>
            </a:r>
            <a:r>
              <a:rPr lang="en-US" sz="240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7810500" y="3143250"/>
            <a:ext cx="9239250" cy="1381125"/>
          </a:xfrm>
          <a:prstGeom prst="roundRect">
            <a:avLst>
              <a:gd name="adj" fmla="val 12414"/>
            </a:avLst>
          </a:prstGeom>
          <a:solidFill>
            <a:srgbClr val="EADDE0"/>
          </a:solidFill>
          <a:ln/>
        </p:spPr>
      </p:sp>
      <p:sp>
        <p:nvSpPr>
          <p:cNvPr id="8" name="Text 5"/>
          <p:cNvSpPr/>
          <p:nvPr/>
        </p:nvSpPr>
        <p:spPr>
          <a:xfrm>
            <a:off x="7810500" y="3143250"/>
            <a:ext cx="923925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400" b="1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Giảm</a:t>
            </a:r>
            <a:r>
              <a:rPr lang="en-US" sz="240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40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00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thuyết.</a:t>
            </a:r>
            <a:endParaRPr lang="en-US" sz="2400" dirty="0"/>
          </a:p>
        </p:txBody>
      </p:sp>
      <p:sp>
        <p:nvSpPr>
          <p:cNvPr id="9" name="Connector line-1792855887869-446500609"/>
          <p:cNvSpPr/>
          <p:nvPr/>
        </p:nvSpPr>
        <p:spPr>
          <a:xfrm flipV="1">
            <a:off x="5810250" y="3833812"/>
            <a:ext cx="2000250" cy="881063"/>
          </a:xfrm>
          <a:prstGeom prst="bentConnector3">
            <a:avLst/>
          </a:prstGeom>
          <a:noFill/>
          <a:ln w="19050">
            <a:solidFill>
              <a:srgbClr val="7A2038"/>
            </a:solidFill>
            <a:prstDash val="lgDash"/>
            <a:headEnd type="none"/>
            <a:tailEnd type="triangle" w="lg" len="lg"/>
          </a:ln>
        </p:spPr>
      </p:sp>
      <p:sp>
        <p:nvSpPr>
          <p:cNvPr id="10" name="Shape 7"/>
          <p:cNvSpPr/>
          <p:nvPr/>
        </p:nvSpPr>
        <p:spPr>
          <a:xfrm>
            <a:off x="7810500" y="4810125"/>
            <a:ext cx="9239250" cy="1381125"/>
          </a:xfrm>
          <a:prstGeom prst="roundRect">
            <a:avLst>
              <a:gd name="adj" fmla="val 12414"/>
            </a:avLst>
          </a:prstGeom>
          <a:solidFill>
            <a:srgbClr val="EADDE0"/>
          </a:solidFill>
          <a:ln/>
        </p:spPr>
      </p:sp>
      <p:sp>
        <p:nvSpPr>
          <p:cNvPr id="11" name="Text 8"/>
          <p:cNvSpPr/>
          <p:nvPr/>
        </p:nvSpPr>
        <p:spPr>
          <a:xfrm>
            <a:off x="7810500" y="4810125"/>
            <a:ext cx="923925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400" b="1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400" b="1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b="1" dirty="0" spc="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b="1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nháp/mốc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hồi.</a:t>
            </a:r>
            <a:endParaRPr lang="en-US" sz="2400" dirty="0"/>
          </a:p>
        </p:txBody>
      </p:sp>
      <p:sp>
        <p:nvSpPr>
          <p:cNvPr id="12" name="Connector line-1792855887871-426915672"/>
          <p:cNvSpPr/>
          <p:nvPr/>
        </p:nvSpPr>
        <p:spPr>
          <a:xfrm>
            <a:off x="5810250" y="4714875"/>
            <a:ext cx="2000250" cy="785813"/>
          </a:xfrm>
          <a:prstGeom prst="bentConnector3">
            <a:avLst/>
          </a:prstGeom>
          <a:noFill/>
          <a:ln w="19050">
            <a:solidFill>
              <a:srgbClr val="7A2038"/>
            </a:solidFill>
            <a:prstDash val="lgDash"/>
            <a:headEnd type="none"/>
            <a:tailEnd type="triangle" w="lg" len="lg"/>
          </a:ln>
        </p:spPr>
      </p:sp>
      <p:sp>
        <p:nvSpPr>
          <p:cNvPr id="13" name="Text 10"/>
          <p:cNvSpPr/>
          <p:nvPr/>
        </p:nvSpPr>
        <p:spPr>
          <a:xfrm>
            <a:off x="762000" y="6191250"/>
            <a:ext cx="5905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 spc="1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1875" dirty="0" spc="6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1875" dirty="0" spc="-3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75" dirty="0" spc="0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kiểm,</a:t>
            </a:r>
            <a:r>
              <a:rPr lang="en-US" sz="1875" dirty="0" spc="1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75" dirty="0" spc="-1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75" dirty="0" spc="-25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875" dirty="0" spc="-1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luận.</a:t>
            </a:r>
            <a:endParaRPr lang="en-US" sz="1875" dirty="0"/>
          </a:p>
        </p:txBody>
      </p:sp>
      <p:sp>
        <p:nvSpPr>
          <p:cNvPr id="14" name="Text 11"/>
          <p:cNvSpPr/>
          <p:nvPr/>
        </p:nvSpPr>
        <p:spPr>
          <a:xfrm>
            <a:off x="809625" y="7000875"/>
            <a:ext cx="16430625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550" dirty="0" spc="-2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bản,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550" dirty="0" spc="-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Nam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dirty="0" spc="4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hạn.</a:t>
            </a:r>
            <a:r>
              <a:rPr lang="en-US" sz="2550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550" dirty="0" spc="2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550" dirty="0" spc="-3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 chuẩn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2550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dirty="0" spc="-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hiện,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550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phê phán có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kiện,</a:t>
            </a:r>
            <a:r>
              <a:rPr lang="en-US" sz="2550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chẩn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đoán.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Thỏa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thuận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nháp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550" dirty="0" spc="2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việc; bài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nhận</a:t>
            </a:r>
            <a:r>
              <a:rPr lang="en-US" sz="2550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550" dirty="0" spc="-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550" dirty="0" spc="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định.</a:t>
            </a:r>
            <a:endParaRPr lang="en-US" sz="2550" dirty="0"/>
          </a:p>
        </p:txBody>
      </p:sp>
      <p:sp>
        <p:nvSpPr>
          <p:cNvPr id="15" name="Text 12"/>
          <p:cNvSpPr/>
          <p:nvPr/>
        </p:nvSpPr>
        <p:spPr>
          <a:xfrm>
            <a:off x="762000" y="9429750"/>
            <a:ext cx="16478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0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F03F</a:t>
            </a:r>
            <a:r>
              <a:rPr lang="en-US" sz="1650" dirty="0" spc="0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ca</a:t>
            </a:r>
            <a:r>
              <a:rPr lang="en-US" sz="1650" dirty="0" spc="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1650" dirty="0" spc="15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762000" y="9906000"/>
            <a:ext cx="1666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F03</a:t>
            </a:r>
            <a:r>
              <a:rPr lang="en-US" sz="1650" dirty="0" spc="0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6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1650" dirty="0" spc="5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650" dirty="0" spc="-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4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23/37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c6da5fc9-53e5-4c5c-83c6-3e41493db876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23875"/>
            <a:ext cx="14287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🔬 G · MODERN SCIENTIFIC PERSPECTIVE</a:t>
            </a:r>
            <a:endParaRPr lang="en-US" sz="2100" dirty="0"/>
          </a:p>
        </p:txBody>
      </p:sp>
      <p:pic>
        <p:nvPicPr>
          <p:cNvPr id="3" name="Moda flattened rect-1792855891002-355247559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572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287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Ba</a:t>
            </a:r>
            <a:r>
              <a:rPr lang="en-US" sz="4500" b="1" dirty="0" spc="-4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loại</a:t>
            </a:r>
            <a:r>
              <a:rPr lang="en-US" sz="4500" b="1" dirty="0" spc="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bằng</a:t>
            </a:r>
            <a:r>
              <a:rPr lang="en-US" sz="4500" b="1" dirty="0" spc="6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chứng</a:t>
            </a:r>
            <a:r>
              <a:rPr lang="en-US" sz="4500" b="1" dirty="0" spc="-23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trả</a:t>
            </a:r>
            <a:r>
              <a:rPr lang="en-US" sz="4500" b="1" dirty="0" spc="-16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lời</a:t>
            </a:r>
            <a:r>
              <a:rPr lang="en-US" sz="4500" b="1" dirty="0" spc="-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ba</a:t>
            </a:r>
            <a:r>
              <a:rPr lang="en-US" sz="4500" b="1" dirty="0" spc="3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câu</a:t>
            </a:r>
            <a:r>
              <a:rPr lang="en-US" sz="4500" b="1" dirty="0" spc="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hỏi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333750"/>
            <a:ext cx="5048250" cy="2571750"/>
          </a:xfrm>
          <a:prstGeom prst="roundRect">
            <a:avLst>
              <a:gd name="adj" fmla="val 6667"/>
            </a:avLst>
          </a:prstGeom>
          <a:solidFill>
            <a:srgbClr val="EADDE0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333750"/>
            <a:ext cx="504825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Lịch</a:t>
            </a:r>
            <a:r>
              <a:rPr lang="en-US" sz="2400" b="1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7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</a:t>
            </a:r>
            <a:r>
              <a:rPr lang="en-US" sz="240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40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477000" y="3333750"/>
            <a:ext cx="5048250" cy="2571750"/>
          </a:xfrm>
          <a:prstGeom prst="roundRect">
            <a:avLst>
              <a:gd name="adj" fmla="val 6667"/>
            </a:avLst>
          </a:prstGeom>
          <a:solidFill>
            <a:srgbClr val="EADDE0"/>
          </a:solidFill>
          <a:ln/>
        </p:spPr>
      </p:sp>
      <p:sp>
        <p:nvSpPr>
          <p:cNvPr id="8" name="Text 5"/>
          <p:cNvSpPr/>
          <p:nvPr/>
        </p:nvSpPr>
        <p:spPr>
          <a:xfrm>
            <a:off x="6477000" y="3333750"/>
            <a:ext cx="504825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400" b="1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</a:t>
            </a:r>
            <a:r>
              <a:rPr lang="en-US" sz="2400" dirty="0" spc="-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400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40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kiểm?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2192000" y="3333750"/>
            <a:ext cx="5048250" cy="2571750"/>
          </a:xfrm>
          <a:prstGeom prst="roundRect">
            <a:avLst>
              <a:gd name="adj" fmla="val 6667"/>
            </a:avLst>
          </a:prstGeom>
          <a:solidFill>
            <a:srgbClr val="EADDE0"/>
          </a:solidFill>
          <a:ln/>
        </p:spPr>
      </p:sp>
      <p:sp>
        <p:nvSpPr>
          <p:cNvPr id="10" name="Text 7"/>
          <p:cNvSpPr/>
          <p:nvPr/>
        </p:nvSpPr>
        <p:spPr>
          <a:xfrm>
            <a:off x="12192000" y="3333750"/>
            <a:ext cx="504825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Outcome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40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400" dirty="0" spc="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00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00" dirty="0" spc="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đổi?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09625" y="7000875"/>
            <a:ext cx="16430625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Văn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 1923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-3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2550" dirty="0" spc="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 nào.</a:t>
            </a:r>
            <a:r>
              <a:rPr lang="en-US" sz="2550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thần kinh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dirty="0" spc="-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tả.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550" dirty="0" spc="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550" dirty="0" spc="-3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550" dirty="0" spc="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 có</a:t>
            </a:r>
            <a:r>
              <a:rPr lang="en-US" sz="2550" dirty="0" spc="-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không. Ba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-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nhau:</a:t>
            </a:r>
            <a:r>
              <a:rPr lang="en-US" sz="2550" dirty="0" spc="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 lịch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550" dirty="0" spc="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cơ chế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550" dirty="0" spc="2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trị.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762000" y="9429750"/>
            <a:ext cx="16478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F03G</a:t>
            </a:r>
            <a:r>
              <a:rPr lang="en-US" sz="1650" dirty="0" spc="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3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[S1][S4][S5]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762000" y="9906000"/>
            <a:ext cx="1666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F03</a:t>
            </a:r>
            <a:r>
              <a:rPr lang="en-US" sz="1650" dirty="0" spc="0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6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1650" dirty="0" spc="5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650" dirty="0" spc="-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0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24/37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56008ef1-c578-457c-a355-1e643e36fa3c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23875"/>
            <a:ext cx="14287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🔬 G · MODERN SCIENTIFIC PERSPECTIVE</a:t>
            </a:r>
            <a:endParaRPr lang="en-US" sz="2100" dirty="0"/>
          </a:p>
        </p:txBody>
      </p:sp>
      <p:pic>
        <p:nvPicPr>
          <p:cNvPr id="3" name="Moda flattened rect-1792856155014-460177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572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287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5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Neuropsychoanalysis:</a:t>
            </a:r>
            <a:r>
              <a:rPr lang="en-US" sz="4500" b="1" dirty="0" spc="-37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tương</a:t>
            </a: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thích</a:t>
            </a:r>
            <a:r>
              <a:rPr lang="en-US" sz="4500" b="1" dirty="0" spc="-24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chưa</a:t>
            </a:r>
            <a:r>
              <a:rPr lang="en-US" sz="4500" b="1" dirty="0" spc="-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là</a:t>
            </a:r>
            <a:r>
              <a:rPr lang="en-US" sz="4500" b="1" dirty="0" spc="8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đồng</a:t>
            </a:r>
            <a:r>
              <a:rPr lang="en-US" sz="4500" b="1" dirty="0" spc="-3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nhất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333750"/>
            <a:ext cx="5048250" cy="2571750"/>
          </a:xfrm>
          <a:prstGeom prst="roundRect">
            <a:avLst>
              <a:gd name="adj" fmla="val 6667"/>
            </a:avLst>
          </a:prstGeom>
          <a:solidFill>
            <a:srgbClr val="EADDE0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333750"/>
            <a:ext cx="504825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400" b="1" dirty="0" spc="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00" b="1" dirty="0" spc="-2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2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Metadata/abstract</a:t>
            </a: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477000" y="3333750"/>
            <a:ext cx="5048250" cy="2571750"/>
          </a:xfrm>
          <a:prstGeom prst="roundRect">
            <a:avLst>
              <a:gd name="adj" fmla="val 6667"/>
            </a:avLst>
          </a:prstGeom>
          <a:solidFill>
            <a:srgbClr val="EADDE0"/>
          </a:solidFill>
          <a:ln/>
        </p:spPr>
      </p:sp>
      <p:sp>
        <p:nvSpPr>
          <p:cNvPr id="8" name="Text 5"/>
          <p:cNvSpPr/>
          <p:nvPr/>
        </p:nvSpPr>
        <p:spPr>
          <a:xfrm>
            <a:off x="6477000" y="3333750"/>
            <a:ext cx="504825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400" b="1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400" b="1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</a:t>
            </a:r>
            <a:r>
              <a:rPr lang="en-US" sz="2400" dirty="0" spc="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 niệm.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2192000" y="3333750"/>
            <a:ext cx="5048250" cy="2571750"/>
          </a:xfrm>
          <a:prstGeom prst="roundRect">
            <a:avLst>
              <a:gd name="adj" fmla="val 6667"/>
            </a:avLst>
          </a:prstGeom>
          <a:solidFill>
            <a:srgbClr val="EADDE0"/>
          </a:solidFill>
          <a:ln/>
        </p:spPr>
      </p:sp>
      <p:sp>
        <p:nvSpPr>
          <p:cNvPr id="10" name="Text 7"/>
          <p:cNvSpPr/>
          <p:nvPr/>
        </p:nvSpPr>
        <p:spPr>
          <a:xfrm>
            <a:off x="12192000" y="3333750"/>
            <a:ext cx="504825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b="1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400" b="1" dirty="0" spc="-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2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Ego</a:t>
            </a:r>
            <a:r>
              <a:rPr lang="en-US" sz="2400" dirty="0" spc="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 mạng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762000" y="6191250"/>
            <a:ext cx="1638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Đối</a:t>
            </a:r>
            <a:r>
              <a:rPr lang="en-US" sz="1950" dirty="0" spc="0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chiếu</a:t>
            </a:r>
            <a:r>
              <a:rPr lang="en-US" sz="1950" dirty="0" spc="5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1950" dirty="0" spc="-3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phân biệt,</a:t>
            </a:r>
            <a:r>
              <a:rPr lang="en-US" sz="1950" dirty="0" spc="-4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1950" dirty="0" spc="1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đồng</a:t>
            </a:r>
            <a:r>
              <a:rPr lang="en-US" sz="1950" dirty="0" spc="-8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nhất</a:t>
            </a:r>
            <a:r>
              <a:rPr lang="en-US" sz="1950" dirty="0" spc="-1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khái</a:t>
            </a:r>
            <a:r>
              <a:rPr lang="en-US" sz="1950" dirty="0" spc="-2" kern="0">
                <a:solidFill>
                  <a:srgbClr val="00000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niệm.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809625" y="7000875"/>
            <a:ext cx="16430625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Carhart-Harris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 Friston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2010</a:t>
            </a:r>
            <a:r>
              <a:rPr lang="en-US" sz="2550" dirty="0" spc="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550" dirty="0" spc="-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-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tưởng</a:t>
            </a:r>
            <a:r>
              <a:rPr lang="en-US" sz="2550" dirty="0" spc="-3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 thống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default-mode.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550" dirty="0" spc="-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 được</a:t>
            </a:r>
            <a:r>
              <a:rPr lang="en-US" sz="2550" dirty="0" spc="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550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550" dirty="0" spc="-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phiên;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PMC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4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CAPTCHA,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OUP</a:t>
            </a:r>
            <a:r>
              <a:rPr lang="en-US" sz="255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550" dirty="0" spc="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r>
              <a:rPr lang="en-US" sz="2550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Abstract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phép nhận diện</a:t>
            </a:r>
            <a:r>
              <a:rPr lang="en-US" sz="2550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550" dirty="0" spc="-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550" dirty="0" spc="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chiếu,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550" dirty="0" spc="-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tuyên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ego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 là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 hình</a:t>
            </a:r>
            <a:r>
              <a:rPr lang="en-US" sz="2550" dirty="0" spc="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nhận.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762000" y="9429750"/>
            <a:ext cx="16478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[S4]Brain</a:t>
            </a:r>
            <a:r>
              <a:rPr lang="en-US" sz="1650" dirty="0" spc="-9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2010,doi10.1093/brain/awq010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762000" y="9906000"/>
            <a:ext cx="1666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F03</a:t>
            </a:r>
            <a:r>
              <a:rPr lang="en-US" sz="1650" dirty="0" spc="0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6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1650" dirty="0" spc="5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650" dirty="0" spc="-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25/37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7491ae76-f95c-41e3-bf5d-410175365d9f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23875"/>
            <a:ext cx="14287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🔬 G · MODERN SCIENTIFIC PERSPECTIVE</a:t>
            </a:r>
            <a:endParaRPr lang="en-US" sz="2100" dirty="0"/>
          </a:p>
        </p:txBody>
      </p:sp>
      <p:pic>
        <p:nvPicPr>
          <p:cNvPr id="3" name="Moda flattened rect-1792855910651-751756748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572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287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Đọc</a:t>
            </a:r>
            <a:r>
              <a:rPr lang="en-US" sz="4500" b="1" dirty="0" spc="-39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review</a:t>
            </a:r>
            <a:r>
              <a:rPr lang="en-US" sz="4500" b="1" dirty="0" spc="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theo</a:t>
            </a:r>
            <a:r>
              <a:rPr lang="en-US" sz="4500" b="1" dirty="0" spc="6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từng</a:t>
            </a:r>
            <a:r>
              <a:rPr lang="en-US" sz="4500" b="1" dirty="0" spc="3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khẳng</a:t>
            </a:r>
            <a:r>
              <a:rPr lang="en-US" sz="4500" b="1" dirty="0" spc="13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định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333750"/>
            <a:ext cx="5048250" cy="2571750"/>
          </a:xfrm>
          <a:prstGeom prst="roundRect">
            <a:avLst>
              <a:gd name="adj" fmla="val 6667"/>
            </a:avLst>
          </a:prstGeom>
          <a:solidFill>
            <a:srgbClr val="EADDE0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333750"/>
            <a:ext cx="504825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400" b="1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 niệm</a:t>
            </a:r>
            <a:r>
              <a:rPr lang="en-US" sz="2400" dirty="0" spc="-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400" dirty="0" spc="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477000" y="3333750"/>
            <a:ext cx="5048250" cy="2571750"/>
          </a:xfrm>
          <a:prstGeom prst="roundRect">
            <a:avLst>
              <a:gd name="adj" fmla="val 6667"/>
            </a:avLst>
          </a:prstGeom>
          <a:solidFill>
            <a:srgbClr val="EADDE0"/>
          </a:solidFill>
          <a:ln/>
        </p:spPr>
      </p:sp>
      <p:sp>
        <p:nvSpPr>
          <p:cNvPr id="8" name="Text 5"/>
          <p:cNvSpPr/>
          <p:nvPr/>
        </p:nvSpPr>
        <p:spPr>
          <a:xfrm>
            <a:off x="6477000" y="3333750"/>
            <a:ext cx="504825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2400" b="1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400" b="1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Abstract/metadata,</a:t>
            </a:r>
            <a:r>
              <a:rPr lang="en-US" sz="240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full</a:t>
            </a:r>
            <a:r>
              <a:rPr lang="en-US" sz="240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text.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2192000" y="3333750"/>
            <a:ext cx="5048250" cy="2571750"/>
          </a:xfrm>
          <a:prstGeom prst="roundRect">
            <a:avLst>
              <a:gd name="adj" fmla="val 6667"/>
            </a:avLst>
          </a:prstGeom>
          <a:solidFill>
            <a:srgbClr val="EADDE0"/>
          </a:solidFill>
          <a:ln/>
        </p:spPr>
      </p:sp>
      <p:sp>
        <p:nvSpPr>
          <p:cNvPr id="10" name="Text 7"/>
          <p:cNvSpPr/>
          <p:nvPr/>
        </p:nvSpPr>
        <p:spPr>
          <a:xfrm>
            <a:off x="12192000" y="3333750"/>
            <a:ext cx="504825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400" b="1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2400" b="1" dirty="0" spc="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-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nhận/bác bỏ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400" dirty="0" spc="-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09625" y="7000875"/>
            <a:ext cx="16430625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Luborsky</a:t>
            </a:r>
            <a:r>
              <a:rPr lang="en-US" sz="2550" dirty="0" spc="-2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Barrett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2006</a:t>
            </a:r>
            <a:r>
              <a:rPr lang="en-US" sz="2550" dirty="0" spc="-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 nhiều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 niệm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2550" dirty="0" spc="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550" dirty="0" spc="-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metadata</a:t>
            </a:r>
            <a:r>
              <a:rPr lang="en-US" sz="2550" dirty="0" spc="-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abstract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 không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550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-3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550" dirty="0" spc="2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550" dirty="0" spc="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systematic</a:t>
            </a:r>
            <a:r>
              <a:rPr lang="en-US" sz="2550" dirty="0" spc="-3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2550" dirty="0" spc="-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nhật.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-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khảo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bác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tưởng</a:t>
            </a:r>
            <a:r>
              <a:rPr lang="en-US" sz="2550" dirty="0" spc="-3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Freud;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550" dirty="0" spc="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 outcome</a:t>
            </a:r>
            <a:r>
              <a:rPr lang="en-US" sz="2550" dirty="0" spc="-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 cả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 thống.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762000" y="9429750"/>
            <a:ext cx="16478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[S5]AnnualReviewClinPsychol</a:t>
            </a:r>
            <a:r>
              <a:rPr lang="en-US" sz="1650" dirty="0" spc="4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2006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762000" y="9906000"/>
            <a:ext cx="1666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F03</a:t>
            </a:r>
            <a:r>
              <a:rPr lang="en-US" sz="1650" dirty="0" spc="0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6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1650" dirty="0" spc="5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650" dirty="0" spc="-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2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26/37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14d009c6-af02-4ada-acf3-1f83233ed22b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31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23875"/>
            <a:ext cx="14287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🧭 H · PRACTICAL APPLICATIONS</a:t>
            </a:r>
            <a:endParaRPr lang="en-US" sz="2100" dirty="0"/>
          </a:p>
        </p:txBody>
      </p:sp>
      <p:pic>
        <p:nvPicPr>
          <p:cNvPr id="3" name="Moda flattened rect-1792855914432-218332508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572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287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Ứng</a:t>
            </a:r>
            <a:r>
              <a:rPr lang="en-US" sz="4500" b="1" dirty="0" spc="4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dụng:</a:t>
            </a:r>
            <a:r>
              <a:rPr lang="en-US" sz="4500" b="1" dirty="0" spc="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dùng</a:t>
            </a:r>
            <a:r>
              <a:rPr lang="en-US" sz="4500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như</a:t>
            </a:r>
            <a:r>
              <a:rPr lang="en-US" sz="4500" b="1" dirty="0" spc="4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cách</a:t>
            </a:r>
            <a:r>
              <a:rPr lang="en-US" sz="4500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hỏi</a:t>
            </a:r>
            <a:endParaRPr lang="en-US" sz="4500" dirty="0"/>
          </a:p>
        </p:txBody>
      </p:sp>
      <p:pic>
        <p:nvPicPr>
          <p:cNvPr id="5" name="Moda image rect-1792855914926-758196213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357313" y="3048000"/>
            <a:ext cx="4714875" cy="31432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2000" y="6238875"/>
            <a:ext cx="5905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8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Andrew</a:t>
            </a:r>
            <a:r>
              <a:rPr lang="en-US" sz="1650" dirty="0" spc="-2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Neel</a:t>
            </a:r>
            <a:r>
              <a:rPr lang="en-US" sz="1650" dirty="0" spc="6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650" dirty="0" spc="-1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Unsplash ·</a:t>
            </a:r>
            <a:r>
              <a:rPr lang="en-US" sz="1650" dirty="0" spc="1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1650" dirty="0" spc="-1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1650" dirty="0" spc="0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1650" dirty="0" spc="-1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650" dirty="0" spc="-2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endParaRPr lang="en-US" sz="1650" dirty="0"/>
          </a:p>
        </p:txBody>
      </p:sp>
      <p:sp>
        <p:nvSpPr>
          <p:cNvPr id="7" name="Shape 3"/>
          <p:cNvSpPr/>
          <p:nvPr/>
        </p:nvSpPr>
        <p:spPr>
          <a:xfrm>
            <a:off x="7620000" y="3095625"/>
            <a:ext cx="9715500" cy="904875"/>
          </a:xfrm>
          <a:prstGeom prst="roundRect">
            <a:avLst>
              <a:gd name="adj" fmla="val 18947"/>
            </a:avLst>
          </a:prstGeom>
          <a:solidFill>
            <a:srgbClr val="3C2C35"/>
          </a:solidFill>
          <a:ln/>
        </p:spPr>
      </p:sp>
      <p:sp>
        <p:nvSpPr>
          <p:cNvPr id="8" name="Text 4"/>
          <p:cNvSpPr/>
          <p:nvPr/>
        </p:nvSpPr>
        <p:spPr>
          <a:xfrm>
            <a:off x="7620000" y="3095625"/>
            <a:ext cx="97155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8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2400" b="1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400" b="1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Muốn/chuẩn/điều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kiện.</a:t>
            </a:r>
            <a:endParaRPr lang="en-US" sz="2400" dirty="0"/>
          </a:p>
        </p:txBody>
      </p:sp>
      <p:sp>
        <p:nvSpPr>
          <p:cNvPr id="9" name="Shape 5"/>
          <p:cNvSpPr/>
          <p:nvPr/>
        </p:nvSpPr>
        <p:spPr>
          <a:xfrm>
            <a:off x="7620000" y="4162425"/>
            <a:ext cx="9715500" cy="904875"/>
          </a:xfrm>
          <a:prstGeom prst="roundRect">
            <a:avLst>
              <a:gd name="adj" fmla="val 18947"/>
            </a:avLst>
          </a:prstGeom>
          <a:solidFill>
            <a:srgbClr val="3C2C35"/>
          </a:solidFill>
          <a:ln/>
        </p:spPr>
      </p:sp>
      <p:sp>
        <p:nvSpPr>
          <p:cNvPr id="10" name="Text 6"/>
          <p:cNvSpPr/>
          <p:nvPr/>
        </p:nvSpPr>
        <p:spPr>
          <a:xfrm>
            <a:off x="7620000" y="4162425"/>
            <a:ext cx="97155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400" b="1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2400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 cảnh.</a:t>
            </a:r>
            <a:endParaRPr lang="en-US" sz="2400" dirty="0"/>
          </a:p>
        </p:txBody>
      </p:sp>
      <p:sp>
        <p:nvSpPr>
          <p:cNvPr id="11" name="Shape 7"/>
          <p:cNvSpPr/>
          <p:nvPr/>
        </p:nvSpPr>
        <p:spPr>
          <a:xfrm>
            <a:off x="7620000" y="5229225"/>
            <a:ext cx="9715500" cy="904875"/>
          </a:xfrm>
          <a:prstGeom prst="roundRect">
            <a:avLst>
              <a:gd name="adj" fmla="val 18947"/>
            </a:avLst>
          </a:prstGeom>
          <a:solidFill>
            <a:srgbClr val="3C2C35"/>
          </a:solidFill>
          <a:ln/>
        </p:spPr>
      </p:sp>
      <p:sp>
        <p:nvSpPr>
          <p:cNvPr id="12" name="Text 8"/>
          <p:cNvSpPr/>
          <p:nvPr/>
        </p:nvSpPr>
        <p:spPr>
          <a:xfrm>
            <a:off x="7620000" y="5229225"/>
            <a:ext cx="97155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Ranh</a:t>
            </a:r>
            <a:r>
              <a:rPr lang="en-US" sz="2400" b="1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gán</a:t>
            </a:r>
            <a:r>
              <a:rPr lang="en-US" sz="2400" dirty="0" spc="-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nhãn/chẩn</a:t>
            </a:r>
            <a:r>
              <a:rPr lang="en-US" sz="240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đoán.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809625" y="7000875"/>
            <a:ext cx="16430625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Viết</a:t>
            </a:r>
            <a:r>
              <a:rPr lang="en-US" sz="2550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550" dirty="0" spc="2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muốn,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550" dirty="0" spc="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2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55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550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 phản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 tin có</a:t>
            </a:r>
            <a:r>
              <a:rPr lang="en-US" sz="255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550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550" dirty="0" spc="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550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55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biệt.</a:t>
            </a:r>
            <a:r>
              <a:rPr lang="en-US" sz="2550" dirty="0" spc="-4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tiếp,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2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khiến</a:t>
            </a:r>
            <a:r>
              <a:rPr lang="en-US" sz="2550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2550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 của</a:t>
            </a:r>
            <a:r>
              <a:rPr lang="en-US" sz="2550" dirty="0" spc="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r>
              <a:rPr lang="en-US" sz="2550" dirty="0" spc="-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gợi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 suy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luận,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r>
              <a:rPr lang="en-US" sz="2550" dirty="0" spc="2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550" dirty="0" spc="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2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bài;</a:t>
            </a:r>
            <a:r>
              <a:rPr lang="en-US" sz="2550" dirty="0" spc="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ý.</a:t>
            </a:r>
            <a:endParaRPr lang="en-US" sz="2550" dirty="0"/>
          </a:p>
        </p:txBody>
      </p:sp>
      <p:sp>
        <p:nvSpPr>
          <p:cNvPr id="14" name="Text 10"/>
          <p:cNvSpPr/>
          <p:nvPr/>
        </p:nvSpPr>
        <p:spPr>
          <a:xfrm>
            <a:off x="762000" y="9429750"/>
            <a:ext cx="16478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0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F03H</a:t>
            </a:r>
            <a:r>
              <a:rPr lang="en-US" sz="1650" dirty="0" spc="0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ứngdụngcóđiềukiện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762000" y="9906000"/>
            <a:ext cx="1666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1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F03</a:t>
            </a:r>
            <a:r>
              <a:rPr lang="en-US" sz="1650" dirty="0" spc="0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6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1650" dirty="0" spc="5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650" dirty="0" spc="-1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4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27/37</a:t>
            </a:r>
            <a:endParaRPr lang="en-US" sz="1650" dirty="0"/>
          </a:p>
        </p:txBody>
      </p:sp>
      <p:sp>
        <p:nvSpPr>
          <p:cNvPr id="16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e6d1f374-8f7e-45fb-88d3-dc81658efc7f" descr="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23875"/>
            <a:ext cx="14287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🗺️ I · VISUAL EXPLANATION</a:t>
            </a:r>
            <a:endParaRPr lang="en-US" sz="2100" dirty="0"/>
          </a:p>
        </p:txBody>
      </p:sp>
      <p:pic>
        <p:nvPicPr>
          <p:cNvPr id="3" name="Moda flattened rect-1792855917845-55239699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572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287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Cách</a:t>
            </a:r>
            <a:r>
              <a:rPr lang="en-US" sz="4500" b="1" dirty="0" spc="9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đọc</a:t>
            </a:r>
            <a:r>
              <a:rPr lang="en-US" sz="4500" b="1" dirty="0" spc="-6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hình</a:t>
            </a:r>
            <a:r>
              <a:rPr lang="en-US" sz="4500" b="1" dirty="0" spc="-1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trong</a:t>
            </a:r>
            <a:r>
              <a:rPr lang="en-US" sz="4500" b="1" dirty="0" spc="-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bài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333750"/>
            <a:ext cx="5048250" cy="2571750"/>
          </a:xfrm>
          <a:prstGeom prst="roundRect">
            <a:avLst>
              <a:gd name="adj" fmla="val 6667"/>
            </a:avLst>
          </a:prstGeom>
          <a:solidFill>
            <a:srgbClr val="EADDE0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333750"/>
            <a:ext cx="504825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b="1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</a:t>
            </a: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2400" dirty="0" spc="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477000" y="3333750"/>
            <a:ext cx="5048250" cy="2571750"/>
          </a:xfrm>
          <a:prstGeom prst="roundRect">
            <a:avLst>
              <a:gd name="adj" fmla="val 6667"/>
            </a:avLst>
          </a:prstGeom>
          <a:solidFill>
            <a:srgbClr val="EADDE0"/>
          </a:solidFill>
          <a:ln/>
        </p:spPr>
      </p:sp>
      <p:sp>
        <p:nvSpPr>
          <p:cNvPr id="8" name="Text 5"/>
          <p:cNvSpPr/>
          <p:nvPr/>
        </p:nvSpPr>
        <p:spPr>
          <a:xfrm>
            <a:off x="6477000" y="3333750"/>
            <a:ext cx="504825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Mũi</a:t>
            </a:r>
            <a:r>
              <a:rPr lang="en-US" sz="2400" b="1" dirty="0" spc="-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Quan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00" dirty="0" spc="-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00" dirty="0" spc="-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2192000" y="3333750"/>
            <a:ext cx="5048250" cy="2571750"/>
          </a:xfrm>
          <a:prstGeom prst="roundRect">
            <a:avLst>
              <a:gd name="adj" fmla="val 6667"/>
            </a:avLst>
          </a:prstGeom>
          <a:solidFill>
            <a:srgbClr val="EADDE0"/>
          </a:solidFill>
          <a:ln/>
        </p:spPr>
      </p:sp>
      <p:sp>
        <p:nvSpPr>
          <p:cNvPr id="10" name="Text 7"/>
          <p:cNvSpPr/>
          <p:nvPr/>
        </p:nvSpPr>
        <p:spPr>
          <a:xfrm>
            <a:off x="12192000" y="3333750"/>
            <a:ext cx="504825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Ảnh</a:t>
            </a:r>
            <a:r>
              <a:rPr lang="en-US" sz="2400" b="1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</a:t>
            </a:r>
            <a:r>
              <a:rPr lang="en-US" sz="2400" b="1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Bối cảnh</a:t>
            </a:r>
            <a:r>
              <a:rPr lang="en-US" sz="2400" dirty="0" spc="-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40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giả,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 kiểm.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09625" y="7000875"/>
            <a:ext cx="16430625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 nhau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ego với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550" dirty="0" spc="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đòi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-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 hình.</a:t>
            </a:r>
            <a:r>
              <a:rPr lang="en-US" sz="2550" dirty="0" spc="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550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550" dirty="0" spc="-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thuyết,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dây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thần kinh,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-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tỷ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r>
              <a:rPr lang="en-US" sz="2550" dirty="0" spc="-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550" dirty="0" spc="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trí.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550" dirty="0" spc="-3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2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550" dirty="0" spc="-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sử;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chế. Nhãn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caption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chắn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thích.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762000" y="9429750"/>
            <a:ext cx="16478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[S1]I–III,V</a:t>
            </a:r>
            <a:r>
              <a:rPr lang="en-US" sz="1650" dirty="0" spc="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6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F03I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762000" y="9906000"/>
            <a:ext cx="1666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F03</a:t>
            </a:r>
            <a:r>
              <a:rPr lang="en-US" sz="1650" dirty="0" spc="0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6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1650" dirty="0" spc="5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650" dirty="0" spc="-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2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28/37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c6e9588e-5475-43be-8a03-55323c1bc5cd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31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23875"/>
            <a:ext cx="14287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💡 J · KEY TAKEAWAYS</a:t>
            </a:r>
            <a:endParaRPr lang="en-US" sz="2100" dirty="0"/>
          </a:p>
        </p:txBody>
      </p:sp>
      <p:pic>
        <p:nvPicPr>
          <p:cNvPr id="3" name="Moda flattened rect-1792855920883-53654128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572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287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115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Tám</a:t>
            </a:r>
            <a:r>
              <a:rPr lang="en-US" sz="4500" b="1" dirty="0" spc="14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điểm</a:t>
            </a:r>
            <a:r>
              <a:rPr lang="en-US" sz="4500" b="1" dirty="0" spc="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cần</a:t>
            </a: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nhớ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333750"/>
            <a:ext cx="5048250" cy="2571750"/>
          </a:xfrm>
          <a:prstGeom prst="roundRect">
            <a:avLst>
              <a:gd name="adj" fmla="val 6667"/>
            </a:avLst>
          </a:prstGeom>
          <a:solidFill>
            <a:srgbClr val="3C2C35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333750"/>
            <a:ext cx="504825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1–3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 niệm;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xấu;</a:t>
            </a:r>
            <a:r>
              <a:rPr lang="en-US" sz="2400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ego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kiêu</a:t>
            </a:r>
            <a:r>
              <a:rPr lang="en-US" sz="2400" dirty="0" spc="-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ngạo.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477000" y="3333750"/>
            <a:ext cx="5048250" cy="2571750"/>
          </a:xfrm>
          <a:prstGeom prst="roundRect">
            <a:avLst>
              <a:gd name="adj" fmla="val 6667"/>
            </a:avLst>
          </a:prstGeom>
          <a:solidFill>
            <a:srgbClr val="3C2C35"/>
          </a:solidFill>
          <a:ln/>
        </p:spPr>
      </p:sp>
      <p:sp>
        <p:nvSpPr>
          <p:cNvPr id="8" name="Text 5"/>
          <p:cNvSpPr/>
          <p:nvPr/>
        </p:nvSpPr>
        <p:spPr>
          <a:xfrm>
            <a:off x="6477000" y="3333750"/>
            <a:ext cx="504825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4–6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Chuẩn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đúng;</a:t>
            </a:r>
            <a:r>
              <a:rPr lang="en-US" sz="2400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giai</a:t>
            </a:r>
            <a:r>
              <a:rPr lang="en-US" sz="2400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đoạn;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chiều.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2192000" y="3333750"/>
            <a:ext cx="5048250" cy="2571750"/>
          </a:xfrm>
          <a:prstGeom prst="roundRect">
            <a:avLst>
              <a:gd name="adj" fmla="val 6667"/>
            </a:avLst>
          </a:prstGeom>
          <a:solidFill>
            <a:srgbClr val="3C2C35"/>
          </a:solidFill>
          <a:ln/>
        </p:spPr>
      </p:sp>
      <p:sp>
        <p:nvSpPr>
          <p:cNvPr id="10" name="Text 7"/>
          <p:cNvSpPr/>
          <p:nvPr/>
        </p:nvSpPr>
        <p:spPr>
          <a:xfrm>
            <a:off x="12192000" y="3333750"/>
            <a:ext cx="504825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7–8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chẩn</a:t>
            </a:r>
            <a:r>
              <a:rPr lang="en-US" sz="2400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đoán;</a:t>
            </a:r>
            <a:r>
              <a:rPr lang="en-US" sz="2400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400" dirty="0" spc="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09625" y="7000875"/>
            <a:ext cx="16430625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5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 là khái niệm;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2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ác,</a:t>
            </a:r>
            <a:r>
              <a:rPr lang="en-US" sz="2550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ego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kiêu</a:t>
            </a:r>
            <a:r>
              <a:rPr lang="en-US" sz="2550" dirty="0" spc="-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ngạo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 ý</a:t>
            </a:r>
            <a:r>
              <a:rPr lang="en-US" sz="255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55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550" dirty="0" spc="-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toàn,</a:t>
            </a:r>
            <a:r>
              <a:rPr lang="en-US" sz="2550" dirty="0" spc="-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superego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đúng.</a:t>
            </a:r>
            <a:r>
              <a:rPr lang="en-US" sz="2550" dirty="0" spc="-2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Superego/ego-ideal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giai</a:t>
            </a:r>
            <a:r>
              <a:rPr lang="en-US" sz="255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đoạn.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cắt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chéo</a:t>
            </a:r>
            <a:r>
              <a:rPr lang="en-US" sz="2550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tỷ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r>
              <a:rPr lang="en-US" sz="2550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550" dirty="0" spc="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trí.</a:t>
            </a:r>
            <a:r>
              <a:rPr lang="en-US" sz="25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chẩn</a:t>
            </a:r>
            <a:r>
              <a:rPr lang="en-US" sz="2550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2550" dirty="0" spc="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khác;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55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sử,</a:t>
            </a:r>
            <a:r>
              <a:rPr lang="en-US" sz="255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 thần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kinh</a:t>
            </a:r>
            <a:r>
              <a:rPr lang="en-US" sz="2550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3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550" dirty="0" spc="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5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762000" y="9429750"/>
            <a:ext cx="16478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7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F03J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762000" y="9906000"/>
            <a:ext cx="1666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1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F03</a:t>
            </a:r>
            <a:r>
              <a:rPr lang="en-US" sz="1650" dirty="0" spc="0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6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1650" dirty="0" spc="5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650" dirty="0" spc="-1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2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29/37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efbc6783-e3ea-4dac-9bf1-0cd67f57b368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23875"/>
            <a:ext cx="14287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❓ K · KNOWLEDGE CHECK 1/5</a:t>
            </a:r>
            <a:endParaRPr lang="en-US" sz="2100" dirty="0"/>
          </a:p>
        </p:txBody>
      </p:sp>
      <p:pic>
        <p:nvPicPr>
          <p:cNvPr id="3" name="Moda flattened rect-1792855923981-917553955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572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287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13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Vì</a:t>
            </a:r>
            <a:r>
              <a:rPr lang="en-US" sz="4500" b="1" dirty="0" spc="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sao</a:t>
            </a:r>
            <a:r>
              <a:rPr lang="en-US" sz="4500" b="1" dirty="0" spc="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không ghép</a:t>
            </a:r>
            <a:r>
              <a:rPr lang="en-US" sz="4500" b="1" dirty="0" spc="-28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ego=ý</a:t>
            </a:r>
            <a:r>
              <a:rPr lang="en-US" sz="4500" b="1" dirty="0" spc="-45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thức?</a:t>
            </a:r>
            <a:endParaRPr lang="en-US" sz="4500" dirty="0"/>
          </a:p>
        </p:txBody>
      </p:sp>
      <p:sp>
        <p:nvSpPr>
          <p:cNvPr id="5" name="Text 2"/>
          <p:cNvSpPr/>
          <p:nvPr/>
        </p:nvSpPr>
        <p:spPr>
          <a:xfrm>
            <a:off x="809625" y="3238500"/>
            <a:ext cx="2095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0" b="1" dirty="0" spc="-1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</a:t>
            </a:r>
            <a:endParaRPr lang="en-US" sz="11250" dirty="0"/>
          </a:p>
        </p:txBody>
      </p:sp>
      <p:sp>
        <p:nvSpPr>
          <p:cNvPr id="6" name="Shape 3"/>
          <p:cNvSpPr/>
          <p:nvPr/>
        </p:nvSpPr>
        <p:spPr>
          <a:xfrm>
            <a:off x="3905250" y="3333750"/>
            <a:ext cx="13239750" cy="1238250"/>
          </a:xfrm>
          <a:prstGeom prst="roundRect">
            <a:avLst>
              <a:gd name="adj" fmla="val 13846"/>
            </a:avLst>
          </a:prstGeom>
          <a:solidFill>
            <a:srgbClr val="EADDE0"/>
          </a:solidFill>
          <a:ln/>
        </p:spPr>
      </p:sp>
      <p:sp>
        <p:nvSpPr>
          <p:cNvPr id="7" name="Text 4"/>
          <p:cNvSpPr/>
          <p:nvPr/>
        </p:nvSpPr>
        <p:spPr>
          <a:xfrm>
            <a:off x="3905250" y="3333750"/>
            <a:ext cx="13239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400" b="1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00" b="1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400" dirty="0" spc="-2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 do.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3905250" y="4810125"/>
            <a:ext cx="13239750" cy="1238250"/>
          </a:xfrm>
          <a:prstGeom prst="roundRect">
            <a:avLst>
              <a:gd name="adj" fmla="val 13846"/>
            </a:avLst>
          </a:prstGeom>
          <a:solidFill>
            <a:srgbClr val="EADDE0"/>
          </a:solidFill>
          <a:ln/>
        </p:spPr>
      </p:sp>
      <p:sp>
        <p:nvSpPr>
          <p:cNvPr id="9" name="Text 6"/>
          <p:cNvSpPr/>
          <p:nvPr/>
        </p:nvSpPr>
        <p:spPr>
          <a:xfrm>
            <a:off x="3905250" y="4810125"/>
            <a:ext cx="13239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</a:t>
            </a:r>
            <a:r>
              <a:rPr lang="en-US" sz="2400" b="1" dirty="0" spc="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400" b="1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4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Lấy</a:t>
            </a:r>
            <a:r>
              <a:rPr lang="en-US" sz="240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240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400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-3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chế.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09625" y="7000875"/>
            <a:ext cx="16430625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4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Freud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 luận</a:t>
            </a:r>
            <a:r>
              <a:rPr lang="en-US" sz="2550" dirty="0" spc="-2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rằng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550" dirty="0" spc="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-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ego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biết;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superego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55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thức.</a:t>
            </a:r>
            <a:r>
              <a:rPr lang="en-US" sz="2550" dirty="0" spc="4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dirty="0" spc="-2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vậy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vô</a:t>
            </a: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là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id.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lầm là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55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 hình</a:t>
            </a:r>
            <a:r>
              <a:rPr lang="en-US" sz="2550" dirty="0" spc="-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55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 hình kia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2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xét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 mô hình</a:t>
            </a:r>
            <a:r>
              <a:rPr lang="en-US" sz="2550" dirty="0" spc="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550" dirty="0" spc="-2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lời.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762000" y="9429750"/>
            <a:ext cx="16478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[S1]I–III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762000" y="9906000"/>
            <a:ext cx="1666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F03</a:t>
            </a:r>
            <a:r>
              <a:rPr lang="en-US" sz="1650" dirty="0" spc="0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6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1650" dirty="0" spc="5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650" dirty="0" spc="-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3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30/37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4" name="Moda image moda-export-watermark-efe470f1-c38b-48e5-8f61-a563498f6a57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23875"/>
            <a:ext cx="14287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❓ K · KNOWLEDGE CHECK 2/5</a:t>
            </a:r>
            <a:endParaRPr lang="en-US" sz="2100" dirty="0"/>
          </a:p>
        </p:txBody>
      </p:sp>
      <p:pic>
        <p:nvPicPr>
          <p:cNvPr id="3" name="Moda flattened rect-1792855926893-320161148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572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287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Lan</a:t>
            </a:r>
            <a:r>
              <a:rPr lang="en-US" sz="4500" b="1" dirty="0" spc="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muốn</a:t>
            </a:r>
            <a:r>
              <a:rPr lang="en-US" sz="4500" b="1" dirty="0" spc="-5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xem</a:t>
            </a:r>
            <a:r>
              <a:rPr lang="en-US" sz="4500" b="1" dirty="0" spc="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tin</a:t>
            </a: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nhắn:</a:t>
            </a:r>
            <a:r>
              <a:rPr lang="en-US" sz="4500" b="1" dirty="0" spc="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id</a:t>
            </a:r>
            <a:r>
              <a:rPr lang="en-US" sz="4500" b="1" dirty="0" spc="7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đang</a:t>
            </a:r>
            <a:r>
              <a:rPr lang="en-US" sz="4500" b="1" dirty="0" spc="-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thắng?</a:t>
            </a:r>
            <a:endParaRPr lang="en-US" sz="4500" dirty="0"/>
          </a:p>
        </p:txBody>
      </p:sp>
      <p:sp>
        <p:nvSpPr>
          <p:cNvPr id="5" name="Text 2"/>
          <p:cNvSpPr/>
          <p:nvPr/>
        </p:nvSpPr>
        <p:spPr>
          <a:xfrm>
            <a:off x="809625" y="3238500"/>
            <a:ext cx="2095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0" b="1" dirty="0" spc="-3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</a:t>
            </a:r>
            <a:endParaRPr lang="en-US" sz="11250" dirty="0"/>
          </a:p>
        </p:txBody>
      </p:sp>
      <p:sp>
        <p:nvSpPr>
          <p:cNvPr id="6" name="Shape 3"/>
          <p:cNvSpPr/>
          <p:nvPr/>
        </p:nvSpPr>
        <p:spPr>
          <a:xfrm>
            <a:off x="3905250" y="3333750"/>
            <a:ext cx="13239750" cy="1238250"/>
          </a:xfrm>
          <a:prstGeom prst="roundRect">
            <a:avLst>
              <a:gd name="adj" fmla="val 13846"/>
            </a:avLst>
          </a:prstGeom>
          <a:solidFill>
            <a:srgbClr val="EADDE0"/>
          </a:solidFill>
          <a:ln/>
        </p:spPr>
      </p:sp>
      <p:sp>
        <p:nvSpPr>
          <p:cNvPr id="7" name="Text 4"/>
          <p:cNvSpPr/>
          <p:nvPr/>
        </p:nvSpPr>
        <p:spPr>
          <a:xfrm>
            <a:off x="3905250" y="3333750"/>
            <a:ext cx="13239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400" b="1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00" b="1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400" dirty="0" spc="-2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 do.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3905250" y="4810125"/>
            <a:ext cx="13239750" cy="1238250"/>
          </a:xfrm>
          <a:prstGeom prst="roundRect">
            <a:avLst>
              <a:gd name="adj" fmla="val 13846"/>
            </a:avLst>
          </a:prstGeom>
          <a:solidFill>
            <a:srgbClr val="EADDE0"/>
          </a:solidFill>
          <a:ln/>
        </p:spPr>
      </p:sp>
      <p:sp>
        <p:nvSpPr>
          <p:cNvPr id="9" name="Text 6"/>
          <p:cNvSpPr/>
          <p:nvPr/>
        </p:nvSpPr>
        <p:spPr>
          <a:xfrm>
            <a:off x="3905250" y="4810125"/>
            <a:ext cx="13239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</a:t>
            </a:r>
            <a:r>
              <a:rPr lang="en-US" sz="2400" b="1" dirty="0" spc="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400" b="1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4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Lấy</a:t>
            </a:r>
            <a:r>
              <a:rPr lang="en-US" sz="240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240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400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-3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chế.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09625" y="7000875"/>
            <a:ext cx="16430625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550" dirty="0" spc="-3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luận.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khẩn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tin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nhắn, quy</a:t>
            </a:r>
            <a:r>
              <a:rPr lang="en-US" sz="2550" dirty="0" spc="-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cuộc họp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-2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cân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nhắc</a:t>
            </a:r>
            <a:r>
              <a:rPr lang="en-US" sz="2550" dirty="0" spc="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thiếu.</a:t>
            </a:r>
            <a:r>
              <a:rPr lang="en-US" sz="2550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 hình không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khác;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2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550" dirty="0" spc="-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550" dirty="0" spc="-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nhãn.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762000" y="9429750"/>
            <a:ext cx="16478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7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F03E,K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762000" y="9906000"/>
            <a:ext cx="1666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F03</a:t>
            </a:r>
            <a:r>
              <a:rPr lang="en-US" sz="1650" dirty="0" spc="0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6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1650" dirty="0" spc="5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650" dirty="0" spc="-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31/37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4" name="Moda image moda-export-watermark-87f223c9-7ec2-4f55-b883-08028866f27d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31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23875"/>
            <a:ext cx="14287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❓ K · KNOWLEDGE CHECK 3/5</a:t>
            </a:r>
            <a:endParaRPr lang="en-US" sz="2100" dirty="0"/>
          </a:p>
        </p:txBody>
      </p:sp>
      <p:pic>
        <p:nvPicPr>
          <p:cNvPr id="3" name="Moda flattened rect-1792855930075-113917207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572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287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1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Vì</a:t>
            </a:r>
            <a:r>
              <a:rPr lang="en-US" sz="4500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sao</a:t>
            </a:r>
            <a:r>
              <a:rPr lang="en-US" sz="4500" b="1" dirty="0" spc="-2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superego</a:t>
            </a: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không</a:t>
            </a:r>
            <a:r>
              <a:rPr lang="en-US" sz="4500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là</a:t>
            </a:r>
            <a:r>
              <a:rPr lang="en-US" sz="4500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thiên</a:t>
            </a:r>
            <a:r>
              <a:rPr lang="en-US" sz="4500" b="1" dirty="0" spc="-18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thần?</a:t>
            </a:r>
            <a:endParaRPr lang="en-US" sz="4500" dirty="0"/>
          </a:p>
        </p:txBody>
      </p:sp>
      <p:sp>
        <p:nvSpPr>
          <p:cNvPr id="5" name="Text 2"/>
          <p:cNvSpPr/>
          <p:nvPr/>
        </p:nvSpPr>
        <p:spPr>
          <a:xfrm>
            <a:off x="809625" y="3238500"/>
            <a:ext cx="2095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0" b="1" dirty="0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</a:t>
            </a:r>
            <a:endParaRPr lang="en-US" sz="11250" dirty="0"/>
          </a:p>
        </p:txBody>
      </p:sp>
      <p:sp>
        <p:nvSpPr>
          <p:cNvPr id="6" name="Shape 3"/>
          <p:cNvSpPr/>
          <p:nvPr/>
        </p:nvSpPr>
        <p:spPr>
          <a:xfrm>
            <a:off x="3905250" y="3333750"/>
            <a:ext cx="13239750" cy="1238250"/>
          </a:xfrm>
          <a:prstGeom prst="roundRect">
            <a:avLst>
              <a:gd name="adj" fmla="val 13846"/>
            </a:avLst>
          </a:prstGeom>
          <a:solidFill>
            <a:srgbClr val="3C2C35"/>
          </a:solidFill>
          <a:ln/>
        </p:spPr>
      </p:sp>
      <p:sp>
        <p:nvSpPr>
          <p:cNvPr id="7" name="Text 4"/>
          <p:cNvSpPr/>
          <p:nvPr/>
        </p:nvSpPr>
        <p:spPr>
          <a:xfrm>
            <a:off x="3905250" y="3333750"/>
            <a:ext cx="13239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400" b="1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00" b="1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400" dirty="0" spc="-2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 do.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3905250" y="4810125"/>
            <a:ext cx="13239750" cy="1238250"/>
          </a:xfrm>
          <a:prstGeom prst="roundRect">
            <a:avLst>
              <a:gd name="adj" fmla="val 13846"/>
            </a:avLst>
          </a:prstGeom>
          <a:solidFill>
            <a:srgbClr val="3C2C35"/>
          </a:solidFill>
          <a:ln/>
        </p:spPr>
      </p:sp>
      <p:sp>
        <p:nvSpPr>
          <p:cNvPr id="9" name="Text 6"/>
          <p:cNvSpPr/>
          <p:nvPr/>
        </p:nvSpPr>
        <p:spPr>
          <a:xfrm>
            <a:off x="3905250" y="4810125"/>
            <a:ext cx="13239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</a:t>
            </a:r>
            <a:r>
              <a:rPr lang="en-US" sz="2400" b="1" dirty="0" spc="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400" b="1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4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Lấy</a:t>
            </a:r>
            <a:r>
              <a:rPr lang="en-US" sz="240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-3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chế.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09625" y="7000875"/>
            <a:ext cx="16430625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5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 hình,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550" dirty="0" spc="-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phê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phán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khắt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khe,</a:t>
            </a:r>
            <a:r>
              <a:rPr lang="en-US" sz="2550" dirty="0" spc="-2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2550" dirty="0" spc="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đau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khổ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hợp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lý.</a:t>
            </a:r>
            <a:r>
              <a:rPr lang="en-US" sz="2550" dirty="0" spc="-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mặt</a:t>
            </a:r>
            <a:r>
              <a:rPr lang="en-US" sz="255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 đúng</a:t>
            </a:r>
            <a:r>
              <a:rPr lang="en-US" sz="2550" dirty="0" spc="-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đạo</a:t>
            </a:r>
            <a:r>
              <a:rPr lang="en-US" sz="255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đức.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vì</a:t>
            </a:r>
            <a:r>
              <a:rPr lang="en-US" sz="2550" dirty="0" spc="-2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vậy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phủ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 mọi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giác</a:t>
            </a:r>
            <a:r>
              <a:rPr lang="en-US" sz="2550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tội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dirty="0" spc="-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550" dirty="0" spc="-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55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550" dirty="0" spc="-2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hại</a:t>
            </a:r>
            <a:r>
              <a:rPr lang="en-US" sz="255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thực.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762000" y="9429750"/>
            <a:ext cx="16478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[S1]V</a:t>
            </a:r>
            <a:r>
              <a:rPr lang="en-US" sz="1650" dirty="0" spc="-1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[S3]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762000" y="9906000"/>
            <a:ext cx="1666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1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F03</a:t>
            </a:r>
            <a:r>
              <a:rPr lang="en-US" sz="1650" dirty="0" spc="0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6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1650" dirty="0" spc="5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650" dirty="0" spc="-1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32/37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4" name="Moda image moda-export-watermark-5f4accfa-650d-41c8-9b6a-4a6f22d6d7fd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23875"/>
            <a:ext cx="14287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❓ K · KNOWLEDGE CHECK 4/5</a:t>
            </a:r>
            <a:endParaRPr lang="en-US" sz="2100" dirty="0"/>
          </a:p>
        </p:txBody>
      </p:sp>
      <p:pic>
        <p:nvPicPr>
          <p:cNvPr id="3" name="Moda flattened rect-1792855933139-937464348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572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287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8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Dữ</a:t>
            </a:r>
            <a:r>
              <a:rPr lang="en-US" sz="4500" b="1" dirty="0" spc="3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kiện</a:t>
            </a:r>
            <a:r>
              <a:rPr lang="en-US" sz="4500" b="1" dirty="0" spc="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nào</a:t>
            </a:r>
            <a:r>
              <a:rPr lang="en-US" sz="4500" b="1" dirty="0" spc="0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làm giả</a:t>
            </a:r>
            <a:r>
              <a:rPr lang="en-US" sz="4500" b="1" dirty="0" spc="-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thuyết</a:t>
            </a:r>
            <a:r>
              <a:rPr lang="en-US" sz="4500" b="1" dirty="0" spc="-46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về</a:t>
            </a: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Nam</a:t>
            </a:r>
            <a:r>
              <a:rPr lang="en-US" sz="4500" b="1" dirty="0" spc="4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yếu</a:t>
            </a:r>
            <a:r>
              <a:rPr lang="en-US" sz="4500" b="1" dirty="0" spc="23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đi?</a:t>
            </a:r>
            <a:endParaRPr lang="en-US" sz="4500" dirty="0"/>
          </a:p>
        </p:txBody>
      </p:sp>
      <p:sp>
        <p:nvSpPr>
          <p:cNvPr id="5" name="Text 2"/>
          <p:cNvSpPr/>
          <p:nvPr/>
        </p:nvSpPr>
        <p:spPr>
          <a:xfrm>
            <a:off x="809625" y="3238500"/>
            <a:ext cx="2095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0" b="1" dirty="0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</a:t>
            </a:r>
            <a:endParaRPr lang="en-US" sz="11250" dirty="0"/>
          </a:p>
        </p:txBody>
      </p:sp>
      <p:sp>
        <p:nvSpPr>
          <p:cNvPr id="6" name="Shape 3"/>
          <p:cNvSpPr/>
          <p:nvPr/>
        </p:nvSpPr>
        <p:spPr>
          <a:xfrm>
            <a:off x="3905250" y="3333750"/>
            <a:ext cx="13239750" cy="1238250"/>
          </a:xfrm>
          <a:prstGeom prst="roundRect">
            <a:avLst>
              <a:gd name="adj" fmla="val 13846"/>
            </a:avLst>
          </a:prstGeom>
          <a:solidFill>
            <a:srgbClr val="EADDE0"/>
          </a:solidFill>
          <a:ln/>
        </p:spPr>
      </p:sp>
      <p:sp>
        <p:nvSpPr>
          <p:cNvPr id="7" name="Text 4"/>
          <p:cNvSpPr/>
          <p:nvPr/>
        </p:nvSpPr>
        <p:spPr>
          <a:xfrm>
            <a:off x="3905250" y="3333750"/>
            <a:ext cx="13239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400" b="1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00" b="1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400" dirty="0" spc="-2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 do.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3905250" y="4810125"/>
            <a:ext cx="13239750" cy="1238250"/>
          </a:xfrm>
          <a:prstGeom prst="roundRect">
            <a:avLst>
              <a:gd name="adj" fmla="val 13846"/>
            </a:avLst>
          </a:prstGeom>
          <a:solidFill>
            <a:srgbClr val="EADDE0"/>
          </a:solidFill>
          <a:ln/>
        </p:spPr>
      </p:sp>
      <p:sp>
        <p:nvSpPr>
          <p:cNvPr id="9" name="Text 6"/>
          <p:cNvSpPr/>
          <p:nvPr/>
        </p:nvSpPr>
        <p:spPr>
          <a:xfrm>
            <a:off x="3905250" y="4810125"/>
            <a:ext cx="13239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</a:t>
            </a:r>
            <a:r>
              <a:rPr lang="en-US" sz="2400" b="1" dirty="0" spc="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400" b="1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4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Lấy</a:t>
            </a:r>
            <a:r>
              <a:rPr lang="en-US" sz="240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240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400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-3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chế.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09625" y="7000875"/>
            <a:ext cx="16430625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Nếu</a:t>
            </a:r>
            <a:r>
              <a:rPr lang="en-US" sz="2550" dirty="0" spc="-2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dirty="0" spc="-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buộc,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Nam</a:t>
            </a:r>
            <a:r>
              <a:rPr lang="en-US" sz="2550" dirty="0" spc="-1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dirty="0" spc="4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 khi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</a:t>
            </a:r>
            <a:r>
              <a:rPr lang="en-US" sz="2550" dirty="0" spc="-2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rõ,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 giải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 chỉ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hảo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550" dirty="0" spc="-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2550" dirty="0" spc="-2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2550" dirty="0" spc="2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đi.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Nam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có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xung</a:t>
            </a:r>
            <a:r>
              <a:rPr lang="en-US" sz="255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đột;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550" dirty="0" spc="-2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55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2550" dirty="0" spc="-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762000" y="9429750"/>
            <a:ext cx="16478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7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F03F,K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762000" y="9906000"/>
            <a:ext cx="1666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F03</a:t>
            </a:r>
            <a:r>
              <a:rPr lang="en-US" sz="1650" dirty="0" spc="0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6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1650" dirty="0" spc="5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650" dirty="0" spc="-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3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33/37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4" name="Moda image moda-export-watermark-7c9190c7-d486-428a-b2e8-fd6225b4c098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23875"/>
            <a:ext cx="14287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❓ K · KNOWLEDGE CHECK 5/5</a:t>
            </a:r>
            <a:endParaRPr lang="en-US" sz="2100" dirty="0"/>
          </a:p>
        </p:txBody>
      </p:sp>
      <p:pic>
        <p:nvPicPr>
          <p:cNvPr id="3" name="Moda flattened rect-1792855936144-36843728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572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287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Đối</a:t>
            </a:r>
            <a:r>
              <a:rPr lang="en-US" sz="4500" b="1" dirty="0" spc="3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chiếu</a:t>
            </a:r>
            <a:r>
              <a:rPr lang="en-US" sz="4500" b="1" dirty="0" spc="-39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ego/default-mode</a:t>
            </a:r>
            <a:r>
              <a:rPr lang="en-US" sz="4500" b="1" dirty="0" spc="7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đã</a:t>
            </a:r>
            <a:r>
              <a:rPr lang="en-US" sz="4500" b="1" dirty="0" spc="-18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xác</a:t>
            </a:r>
            <a:r>
              <a:rPr lang="en-US" sz="4500" b="1" dirty="0" spc="1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nhận</a:t>
            </a:r>
            <a:r>
              <a:rPr lang="en-US" sz="4500" b="1" dirty="0" spc="-17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Freud?</a:t>
            </a:r>
            <a:endParaRPr lang="en-US" sz="4500" dirty="0"/>
          </a:p>
        </p:txBody>
      </p:sp>
      <p:sp>
        <p:nvSpPr>
          <p:cNvPr id="5" name="Text 2"/>
          <p:cNvSpPr/>
          <p:nvPr/>
        </p:nvSpPr>
        <p:spPr>
          <a:xfrm>
            <a:off x="809625" y="3238500"/>
            <a:ext cx="2095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0" b="1" dirty="0" spc="-1" kern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05</a:t>
            </a:r>
            <a:endParaRPr lang="en-US" sz="11250" dirty="0"/>
          </a:p>
        </p:txBody>
      </p:sp>
      <p:sp>
        <p:nvSpPr>
          <p:cNvPr id="6" name="Shape 3"/>
          <p:cNvSpPr/>
          <p:nvPr/>
        </p:nvSpPr>
        <p:spPr>
          <a:xfrm>
            <a:off x="3905250" y="3333750"/>
            <a:ext cx="13239750" cy="1238250"/>
          </a:xfrm>
          <a:prstGeom prst="roundRect">
            <a:avLst>
              <a:gd name="adj" fmla="val 13846"/>
            </a:avLst>
          </a:prstGeom>
          <a:solidFill>
            <a:srgbClr val="EADDE0"/>
          </a:solidFill>
          <a:ln/>
        </p:spPr>
      </p:sp>
      <p:sp>
        <p:nvSpPr>
          <p:cNvPr id="7" name="Text 4"/>
          <p:cNvSpPr/>
          <p:nvPr/>
        </p:nvSpPr>
        <p:spPr>
          <a:xfrm>
            <a:off x="3905250" y="3333750"/>
            <a:ext cx="13239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400" b="1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00" b="1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400" dirty="0" spc="-2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 do.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3905250" y="4810125"/>
            <a:ext cx="13239750" cy="1238250"/>
          </a:xfrm>
          <a:prstGeom prst="roundRect">
            <a:avLst>
              <a:gd name="adj" fmla="val 13846"/>
            </a:avLst>
          </a:prstGeom>
          <a:solidFill>
            <a:srgbClr val="EADDE0"/>
          </a:solidFill>
          <a:ln/>
        </p:spPr>
      </p:sp>
      <p:sp>
        <p:nvSpPr>
          <p:cNvPr id="9" name="Text 6"/>
          <p:cNvSpPr/>
          <p:nvPr/>
        </p:nvSpPr>
        <p:spPr>
          <a:xfrm>
            <a:off x="3905250" y="4810125"/>
            <a:ext cx="13239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</a:t>
            </a:r>
            <a:r>
              <a:rPr lang="en-US" sz="2400" b="1" dirty="0" spc="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400" b="1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4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Lấy</a:t>
            </a:r>
            <a:r>
              <a:rPr lang="en-US" sz="240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240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400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-3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40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chế.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09625" y="7000875"/>
            <a:ext cx="16430625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Chưa.</a:t>
            </a:r>
            <a:r>
              <a:rPr lang="en-US" sz="2550" dirty="0" spc="-3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550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550" dirty="0" spc="-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 cả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hình.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2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nghĩa, phép</a:t>
            </a:r>
            <a:r>
              <a:rPr lang="en-US" sz="2550" dirty="0" spc="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550" dirty="0" spc="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biệt.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550" dirty="0" spc="-5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-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abstract/metadata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chiếu,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nâng</a:t>
            </a:r>
            <a:r>
              <a:rPr lang="en-US" sz="2550" dirty="0" spc="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550" dirty="0" spc="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550" dirty="0" spc="-3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dirty="0" spc="-1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tạp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 có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vẻ</a:t>
            </a:r>
            <a:r>
              <a:rPr lang="en-US" sz="2550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phục.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762000" y="9429750"/>
            <a:ext cx="16478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4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[S4]</a:t>
            </a:r>
            <a:r>
              <a:rPr lang="en-US" sz="1650" dirty="0" spc="0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7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F03G,K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762000" y="9906000"/>
            <a:ext cx="1666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F03</a:t>
            </a:r>
            <a:r>
              <a:rPr lang="en-US" sz="1650" dirty="0" spc="0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6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1650" dirty="0" spc="5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650" dirty="0" spc="-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34/37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4" name="Moda image moda-export-watermark-9c3dd825-0fcf-4fbb-a849-86d111d55d8e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23875"/>
            <a:ext cx="14287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📚 L · REFERENCES 1/2</a:t>
            </a:r>
            <a:endParaRPr lang="en-US" sz="2100" dirty="0"/>
          </a:p>
        </p:txBody>
      </p:sp>
      <p:pic>
        <p:nvPicPr>
          <p:cNvPr id="3" name="Moda flattened rect-1792855939040-11102937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572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287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2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Nguồn</a:t>
            </a:r>
            <a:r>
              <a:rPr lang="en-US" sz="4500" b="1" dirty="0" spc="-27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gốc</a:t>
            </a:r>
            <a:r>
              <a:rPr lang="en-US" sz="4500" b="1" dirty="0" spc="-47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</a:t>
            </a:r>
            <a:r>
              <a:rPr lang="en-US" sz="4500" b="1" dirty="0" spc="3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cách</a:t>
            </a:r>
            <a:r>
              <a:rPr lang="en-US" sz="4500" b="1" dirty="0" spc="5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truy</a:t>
            </a:r>
            <a:r>
              <a:rPr lang="en-US" sz="4500" b="1" dirty="0" spc="9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đúng</a:t>
            </a:r>
            <a:r>
              <a:rPr lang="en-US" sz="4500" b="1" dirty="0" spc="3" kern="0">
                <a:solidFill>
                  <a:srgbClr val="2319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đoạn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048000"/>
            <a:ext cx="16383000" cy="857250"/>
          </a:xfrm>
          <a:prstGeom prst="roundRect">
            <a:avLst>
              <a:gd name="adj" fmla="val 20000"/>
            </a:avLst>
          </a:prstGeom>
          <a:solidFill>
            <a:srgbClr val="EADDE0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048000"/>
            <a:ext cx="1638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S1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Gutenberg</a:t>
            </a:r>
            <a:r>
              <a:rPr lang="en-US" sz="2400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79682,</a:t>
            </a:r>
            <a:r>
              <a:rPr lang="en-US" sz="2400" dirty="0" spc="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400" dirty="0" spc="-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400" dirty="0" spc="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400" dirty="0" spc="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762000" y="4048125"/>
            <a:ext cx="16383000" cy="857250"/>
          </a:xfrm>
          <a:prstGeom prst="roundRect">
            <a:avLst>
              <a:gd name="adj" fmla="val 20000"/>
            </a:avLst>
          </a:prstGeom>
          <a:solidFill>
            <a:srgbClr val="EADDE0"/>
          </a:solidFill>
          <a:ln/>
        </p:spPr>
      </p:sp>
      <p:sp>
        <p:nvSpPr>
          <p:cNvPr id="8" name="Text 5"/>
          <p:cNvSpPr/>
          <p:nvPr/>
        </p:nvSpPr>
        <p:spPr>
          <a:xfrm>
            <a:off x="762000" y="4048125"/>
            <a:ext cx="1638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S2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5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LOC</a:t>
            </a:r>
            <a:r>
              <a:rPr lang="en-US" sz="240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40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Exploded Manuscript.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762000" y="5048250"/>
            <a:ext cx="16383000" cy="857250"/>
          </a:xfrm>
          <a:prstGeom prst="roundRect">
            <a:avLst>
              <a:gd name="adj" fmla="val 20000"/>
            </a:avLst>
          </a:prstGeom>
          <a:solidFill>
            <a:srgbClr val="EADDE0"/>
          </a:solidFill>
          <a:ln/>
        </p:spPr>
      </p:sp>
      <p:sp>
        <p:nvSpPr>
          <p:cNvPr id="10" name="Text 7"/>
          <p:cNvSpPr/>
          <p:nvPr/>
        </p:nvSpPr>
        <p:spPr>
          <a:xfrm>
            <a:off x="762000" y="5048250"/>
            <a:ext cx="1638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S3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4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Freud</a:t>
            </a:r>
            <a:r>
              <a:rPr lang="en-US" sz="240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Museum,</a:t>
            </a:r>
            <a:r>
              <a:rPr lang="en-US" sz="2400" dirty="0" spc="-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transcript.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09625" y="7000875"/>
            <a:ext cx="16430625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S1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3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1923</a:t>
            </a:r>
            <a:r>
              <a:rPr lang="en-US" sz="2550" dirty="0" spc="-1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 Joan</a:t>
            </a:r>
            <a:r>
              <a:rPr lang="en-US" sz="2550" dirty="0" spc="-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Riviere</a:t>
            </a:r>
            <a:r>
              <a:rPr lang="en-US" sz="2550" dirty="0" spc="-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1927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-2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Project</a:t>
            </a:r>
            <a:r>
              <a:rPr lang="en-US" sz="2550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Gutenberg.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-3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Translator’s</a:t>
            </a:r>
            <a:r>
              <a:rPr lang="en-US" sz="2550" dirty="0" spc="-1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Note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 quan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I,II,III,V;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gán</a:t>
            </a:r>
            <a:r>
              <a:rPr lang="en-US" sz="2550" dirty="0" spc="-1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550" dirty="0" spc="-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Standard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Edition. S2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1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Library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</a:t>
            </a:r>
            <a:r>
              <a:rPr lang="en-US" sz="2550" dirty="0" spc="-1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Congress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thảo</a:t>
            </a:r>
            <a:r>
              <a:rPr lang="en-US" sz="2550" dirty="0" spc="-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3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mốc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1923.</a:t>
            </a:r>
            <a:r>
              <a:rPr lang="en-US" sz="2550" dirty="0" spc="-4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S3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transcript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dục của</a:t>
            </a:r>
            <a:r>
              <a:rPr lang="en-US" sz="2550" dirty="0" spc="-37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Museum:</a:t>
            </a:r>
            <a:r>
              <a:rPr lang="en-US" sz="2550" dirty="0" spc="1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hữu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ích</a:t>
            </a:r>
            <a:r>
              <a:rPr lang="en-US" sz="2550" dirty="0" spc="1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2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-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550" dirty="0" spc="-6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550" dirty="0" spc="-2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ngữ,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</a:t>
            </a:r>
            <a:r>
              <a:rPr lang="en-US" sz="2550" dirty="0" spc="-29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</a:t>
            </a:r>
            <a:r>
              <a:rPr lang="en-US" sz="2550" dirty="0" spc="8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550" dirty="0" spc="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550" dirty="0" spc="10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550" dirty="0" spc="1" kern="0">
                <a:solidFill>
                  <a:srgbClr val="23191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lập.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762000" y="9429750"/>
            <a:ext cx="16478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5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[S1]–[S3]xemlessonL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762000" y="9906000"/>
            <a:ext cx="1666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F03</a:t>
            </a:r>
            <a:r>
              <a:rPr lang="en-US" sz="1650" dirty="0" spc="0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6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1650" dirty="0" spc="5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650" dirty="0" spc="-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55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35/37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23b0f9c3-b3de-4308-a0af-6b764e967913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231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23875"/>
            <a:ext cx="14287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📚 L · REFERENCES 2/2</a:t>
            </a:r>
            <a:endParaRPr lang="en-US" sz="2100" dirty="0"/>
          </a:p>
        </p:txBody>
      </p:sp>
      <p:pic>
        <p:nvPicPr>
          <p:cNvPr id="3" name="Moda flattened rect-1792855941986-381884289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572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287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Nguồn hiện</a:t>
            </a:r>
            <a:r>
              <a:rPr lang="en-US" sz="4500" b="1" dirty="0" spc="5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đại:</a:t>
            </a:r>
            <a:r>
              <a:rPr lang="en-US" sz="4500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nói</a:t>
            </a:r>
            <a:r>
              <a:rPr lang="en-US" sz="4500" b="1" dirty="0" spc="-24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rõ</a:t>
            </a:r>
            <a:r>
              <a:rPr lang="en-US" sz="4500" b="1" dirty="0" spc="-37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mức</a:t>
            </a:r>
            <a:r>
              <a:rPr lang="en-US" sz="4500" b="1" dirty="0" spc="9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đã đọc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048000"/>
            <a:ext cx="16383000" cy="857250"/>
          </a:xfrm>
          <a:prstGeom prst="roundRect">
            <a:avLst>
              <a:gd name="adj" fmla="val 20000"/>
            </a:avLst>
          </a:prstGeom>
          <a:solidFill>
            <a:srgbClr val="3C2C35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048000"/>
            <a:ext cx="1638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S4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thần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kinh—giả</a:t>
            </a:r>
            <a:r>
              <a:rPr lang="en-US" sz="2400" dirty="0" spc="-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762000" y="4048125"/>
            <a:ext cx="16383000" cy="857250"/>
          </a:xfrm>
          <a:prstGeom prst="roundRect">
            <a:avLst>
              <a:gd name="adj" fmla="val 20000"/>
            </a:avLst>
          </a:prstGeom>
          <a:solidFill>
            <a:srgbClr val="3C2C35"/>
          </a:solidFill>
          <a:ln/>
        </p:spPr>
      </p:sp>
      <p:sp>
        <p:nvSpPr>
          <p:cNvPr id="8" name="Text 5"/>
          <p:cNvSpPr/>
          <p:nvPr/>
        </p:nvSpPr>
        <p:spPr>
          <a:xfrm>
            <a:off x="762000" y="4048125"/>
            <a:ext cx="1638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S5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3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Review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</a:t>
            </a:r>
            <a:r>
              <a:rPr lang="en-US" sz="2400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niệm—abstract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only.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762000" y="5048250"/>
            <a:ext cx="16383000" cy="857250"/>
          </a:xfrm>
          <a:prstGeom prst="roundRect">
            <a:avLst>
              <a:gd name="adj" fmla="val 20000"/>
            </a:avLst>
          </a:prstGeom>
          <a:solidFill>
            <a:srgbClr val="3C2C35"/>
          </a:solidFill>
          <a:ln/>
        </p:spPr>
      </p:sp>
      <p:sp>
        <p:nvSpPr>
          <p:cNvPr id="10" name="Text 7"/>
          <p:cNvSpPr/>
          <p:nvPr/>
        </p:nvSpPr>
        <p:spPr>
          <a:xfrm>
            <a:off x="762000" y="5048250"/>
            <a:ext cx="1638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2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Mức</a:t>
            </a:r>
            <a:r>
              <a:rPr lang="en-US" sz="2400" b="1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 cập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nâng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full</a:t>
            </a:r>
            <a:r>
              <a:rPr lang="en-US" sz="2400" dirty="0" spc="-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text.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09625" y="7000875"/>
            <a:ext cx="16430625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S4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Carhart-Harris</a:t>
            </a:r>
            <a:r>
              <a:rPr lang="en-US" sz="2550" dirty="0" spc="-2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 Friston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2010,</a:t>
            </a:r>
            <a:r>
              <a:rPr lang="en-US" sz="2550" dirty="0" spc="-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Brain</a:t>
            </a:r>
            <a:r>
              <a:rPr lang="en-US" sz="255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133,1265–1283,</a:t>
            </a:r>
            <a:r>
              <a:rPr lang="en-US" sz="2550" dirty="0" spc="-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DOI10.1093/brain/awq010.</a:t>
            </a:r>
            <a:r>
              <a:rPr lang="en-US" sz="255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S5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Luborsky</a:t>
            </a:r>
            <a:r>
              <a:rPr lang="en-US" sz="2550" dirty="0" spc="-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Barrett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2006,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Annual</a:t>
            </a:r>
            <a:r>
              <a:rPr lang="en-US" sz="2550" dirty="0" spc="-3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 Clinical</a:t>
            </a:r>
            <a:r>
              <a:rPr lang="en-US" sz="2550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Psychology2,1–19,</a:t>
            </a:r>
            <a:r>
              <a:rPr lang="en-US" sz="2550" dirty="0" spc="-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DOI10.1146/annurev.clinpsy.2.022305.095328.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550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-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metadata</a:t>
            </a:r>
            <a:r>
              <a:rPr lang="en-US" sz="2550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abstract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 chỉ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mục,</a:t>
            </a:r>
            <a:r>
              <a:rPr lang="en-US" sz="255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full</a:t>
            </a:r>
            <a:r>
              <a:rPr lang="en-US" sz="2550" dirty="0" spc="-2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text;</a:t>
            </a:r>
            <a:r>
              <a:rPr lang="en-US" sz="2550" dirty="0" spc="-2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research</a:t>
            </a:r>
            <a:r>
              <a:rPr lang="en-US" sz="255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5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2550" dirty="0" spc="-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claim</a:t>
            </a:r>
            <a:r>
              <a:rPr lang="en-US" sz="2550" dirty="0" spc="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hẹp.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762000" y="9429750"/>
            <a:ext cx="16478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[S4][S5]xemlessonL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762000" y="9906000"/>
            <a:ext cx="1666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1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F03</a:t>
            </a:r>
            <a:r>
              <a:rPr lang="en-US" sz="1650" dirty="0" spc="0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6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1650" dirty="0" spc="5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650" dirty="0" spc="-1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36/37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33133597-610e-4c37-a438-352611911fb4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231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23875"/>
            <a:ext cx="14287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📋 F03 · NEXT STEPS</a:t>
            </a:r>
            <a:endParaRPr lang="en-US" sz="2100" dirty="0"/>
          </a:p>
        </p:txBody>
      </p:sp>
      <p:pic>
        <p:nvPicPr>
          <p:cNvPr id="3" name="Moda flattened rect-1792855945157-611506025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572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285875"/>
            <a:ext cx="16287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Đọc</a:t>
            </a:r>
            <a:r>
              <a:rPr lang="en-US" sz="4500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tiếp</a:t>
            </a:r>
            <a:r>
              <a:rPr lang="en-US" sz="4500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từ</a:t>
            </a:r>
            <a:r>
              <a:rPr lang="en-US" sz="4500" b="1" dirty="0" spc="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cấu</a:t>
            </a:r>
            <a:r>
              <a:rPr lang="en-US" sz="4500" b="1" dirty="0" spc="6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trúc</a:t>
            </a:r>
            <a:r>
              <a:rPr lang="en-US" sz="4500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sang</a:t>
            </a: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nguyên</a:t>
            </a:r>
            <a:r>
              <a:rPr lang="en-US" sz="4500" b="1" dirty="0" spc="-4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tắc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333750"/>
            <a:ext cx="5048250" cy="2571750"/>
          </a:xfrm>
          <a:prstGeom prst="roundRect">
            <a:avLst>
              <a:gd name="adj" fmla="val 6667"/>
            </a:avLst>
          </a:prstGeom>
          <a:solidFill>
            <a:srgbClr val="3C2C35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333750"/>
            <a:ext cx="504825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F02→F03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 câu hỏi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477000" y="3333750"/>
            <a:ext cx="5048250" cy="2571750"/>
          </a:xfrm>
          <a:prstGeom prst="roundRect">
            <a:avLst>
              <a:gd name="adj" fmla="val 6667"/>
            </a:avLst>
          </a:prstGeom>
          <a:solidFill>
            <a:srgbClr val="3C2C35"/>
          </a:solidFill>
          <a:ln/>
        </p:spPr>
      </p:sp>
      <p:sp>
        <p:nvSpPr>
          <p:cNvPr id="8" name="Text 5"/>
          <p:cNvSpPr/>
          <p:nvPr/>
        </p:nvSpPr>
        <p:spPr>
          <a:xfrm>
            <a:off x="6477000" y="3333750"/>
            <a:ext cx="504825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F04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400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400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2192000" y="3333750"/>
            <a:ext cx="5048250" cy="2571750"/>
          </a:xfrm>
          <a:prstGeom prst="roundRect">
            <a:avLst>
              <a:gd name="adj" fmla="val 6667"/>
            </a:avLst>
          </a:prstGeom>
          <a:solidFill>
            <a:srgbClr val="3C2C35"/>
          </a:solidFill>
          <a:ln/>
        </p:spPr>
      </p:sp>
      <p:sp>
        <p:nvSpPr>
          <p:cNvPr id="10" name="Text 7"/>
          <p:cNvSpPr/>
          <p:nvPr/>
        </p:nvSpPr>
        <p:spPr>
          <a:xfrm>
            <a:off x="12192000" y="3333750"/>
            <a:ext cx="504825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F05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 spc="-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Xung</a:t>
            </a:r>
            <a:r>
              <a:rPr lang="en-US" sz="2400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đột</a:t>
            </a:r>
            <a:r>
              <a:rPr lang="en-US" sz="2400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</a:t>
            </a:r>
            <a:r>
              <a:rPr lang="en-US" sz="2400" dirty="0" spc="-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09625" y="7000875"/>
            <a:ext cx="16430625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 ba</a:t>
            </a:r>
            <a:r>
              <a:rPr lang="en-US" sz="2550" dirty="0" spc="-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255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học:</a:t>
            </a:r>
            <a:r>
              <a:rPr lang="en-US" sz="2550" dirty="0" spc="2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sát,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diễn giải</a:t>
            </a:r>
            <a:r>
              <a:rPr lang="en-US" sz="2550" dirty="0" spc="-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cần.</a:t>
            </a:r>
            <a:r>
              <a:rPr lang="en-US" sz="2550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F04</a:t>
            </a:r>
            <a:r>
              <a:rPr lang="en-US" sz="2550" dirty="0" spc="-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2550" dirty="0" spc="3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2550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550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khoái</a:t>
            </a:r>
            <a:r>
              <a:rPr lang="en-US" sz="2550" dirty="0" spc="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cảm/thực</a:t>
            </a:r>
            <a:r>
              <a:rPr lang="en-US" sz="2550" dirty="0" spc="-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tại;</a:t>
            </a:r>
            <a:r>
              <a:rPr lang="en-US" sz="2550" dirty="0" spc="-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F05</a:t>
            </a:r>
            <a:r>
              <a:rPr lang="en-US" sz="2550" dirty="0" spc="-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25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xung</a:t>
            </a:r>
            <a:r>
              <a:rPr lang="en-US" sz="255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đột</a:t>
            </a:r>
            <a:r>
              <a:rPr lang="en-US" sz="2550" dirty="0" spc="-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</a:t>
            </a:r>
            <a:r>
              <a:rPr lang="en-US" sz="2550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vệ.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550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bày</a:t>
            </a:r>
            <a:r>
              <a:rPr lang="en-US" sz="2550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 phản biện</a:t>
            </a:r>
            <a:r>
              <a:rPr lang="en-US" sz="2550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lập;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 tham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khảo</a:t>
            </a:r>
            <a:r>
              <a:rPr lang="en-US" sz="2550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 phải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</a:t>
            </a:r>
            <a:r>
              <a:rPr lang="en-US" sz="2550" dirty="0" spc="3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-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2550" dirty="0" spc="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đồ.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762000" y="9429750"/>
            <a:ext cx="16478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1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F03</a:t>
            </a:r>
            <a:r>
              <a:rPr lang="en-US" sz="1650" dirty="0" spc="0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9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trạngtháipendingreview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762000" y="9906000"/>
            <a:ext cx="1666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1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F03</a:t>
            </a:r>
            <a:r>
              <a:rPr lang="en-US" sz="1650" dirty="0" spc="0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6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1650" dirty="0" spc="5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650" dirty="0" spc="-1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 edition</a:t>
            </a:r>
            <a:r>
              <a:rPr lang="en-US" sz="1650" dirty="0" spc="1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1" kern="0">
                <a:solidFill>
                  <a:srgbClr val="CDBBC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37/37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f9176109-5f1d-4a26-ab0b-8c3f430d82c3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2026-10-24T15:38:13Z</dcterms:created>
  <dcterms:modified xsi:type="dcterms:W3CDTF">2026-10-24T15:38:13Z</dcterms:modified>
</cp:coreProperties>
</file>