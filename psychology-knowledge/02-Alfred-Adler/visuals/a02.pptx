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</p:sldIdLst>
  <p:notesMasterIdLst>
    <p:notesMasterId r:id="rId40"/>
  </p:notesMasterIdLst>
  <p:sldSz cx="18288000" cy="10287000"/>
  <p:notesSz cx="10287000" cy="18288000"/>
  <p:embeddedFontLst>
    <p:embeddedFont>
      <p:font typeface="Be Vietnam Pro"/>
      <p:regular r:id="rId45"/>
      <p:bold r:id="rId47"/>
    </p:embeddedFont>
    <p:embeddedFont>
      <p:font typeface="Bricolage Grotesque"/>
      <p:bold r:id="rId4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notesMaster" Target="notesMasters/notesMaster1.xml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45" Type="http://schemas.openxmlformats.org/officeDocument/2006/relationships/font" Target="fonts/font1.fntdata"/><Relationship Id="rId46" Type="http://schemas.openxmlformats.org/officeDocument/2006/relationships/font" Target="fonts/font2.fntdata"/><Relationship Id="rId47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1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28-2.jpeg"/><Relationship Id="rId3" Type="http://schemas.openxmlformats.org/officeDocument/2006/relationships/image" Target="../media/image-1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23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875" dirty="0" spc="-2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0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 HỌC</a:t>
            </a:r>
            <a:r>
              <a:rPr lang="en-US" sz="1875" dirty="0" spc="-1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875" dirty="0" spc="-6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endParaRPr lang="en-US" sz="1875" dirty="0"/>
          </a:p>
        </p:txBody>
      </p:sp>
      <p:sp>
        <p:nvSpPr>
          <p:cNvPr id="3" name="Text 1"/>
          <p:cNvSpPr/>
          <p:nvPr/>
        </p:nvSpPr>
        <p:spPr>
          <a:xfrm>
            <a:off x="762000" y="1714500"/>
            <a:ext cx="10477500" cy="2952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46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</a:t>
            </a:r>
            <a:r>
              <a:rPr lang="en-US" sz="6446" b="1" dirty="0" spc="-5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người</a:t>
            </a:r>
            <a:r>
              <a:rPr lang="en-US" sz="6446" b="1" dirty="0" spc="-2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6446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bối</a:t>
            </a:r>
            <a:r>
              <a:rPr lang="en-US" sz="6446" b="1" dirty="0" spc="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6446" dirty="0"/>
          </a:p>
          <a:p>
            <a:pPr algn="l" indent="0" marL="0">
              <a:buNone/>
            </a:pPr>
            <a:r>
              <a:rPr lang="en-US" sz="6446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Individual</a:t>
            </a:r>
            <a:r>
              <a:rPr lang="en-US" sz="6446" b="1" dirty="0" spc="-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Psychology</a:t>
            </a:r>
            <a:endParaRPr lang="en-US" sz="6446" dirty="0"/>
          </a:p>
        </p:txBody>
      </p:sp>
      <p:sp>
        <p:nvSpPr>
          <p:cNvPr id="4" name="Shape 2"/>
          <p:cNvSpPr/>
          <p:nvPr/>
        </p:nvSpPr>
        <p:spPr>
          <a:xfrm>
            <a:off x="11811000" y="0"/>
            <a:ext cx="6477000" cy="10287000"/>
          </a:xfrm>
          <a:prstGeom prst="rect">
            <a:avLst/>
          </a:prstGeom>
          <a:solidFill>
            <a:srgbClr val="14695F"/>
          </a:solidFill>
          <a:ln/>
        </p:spPr>
      </p:sp>
      <p:pic>
        <p:nvPicPr>
          <p:cNvPr id="5" name="Moda image rect-1792855531952-67967430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192000" y="2603500"/>
            <a:ext cx="5334000" cy="3556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192000" y="7620000"/>
            <a:ext cx="53340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Minh</a:t>
            </a:r>
            <a:r>
              <a:rPr lang="en-US" sz="2100" b="1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100" b="1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100" b="1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100" b="1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100" b="1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100" b="1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b="1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2192000" y="8715375"/>
            <a:ext cx="5334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2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Dylan Gillis</a:t>
            </a:r>
            <a:r>
              <a:rPr lang="en-US" sz="1725" dirty="0" spc="1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725" dirty="0" spc="0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725" dirty="0"/>
          </a:p>
        </p:txBody>
      </p:sp>
      <p:sp>
        <p:nvSpPr>
          <p:cNvPr id="8" name="Text 5"/>
          <p:cNvSpPr/>
          <p:nvPr/>
        </p:nvSpPr>
        <p:spPr>
          <a:xfrm>
            <a:off x="12192000" y="9191625"/>
            <a:ext cx="533400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725" dirty="0" spc="2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1725" dirty="0" spc="1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ảnh</a:t>
            </a:r>
            <a:r>
              <a:rPr lang="en-US" sz="1725" dirty="0" spc="-8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1725" dirty="0" spc="-2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1725" dirty="0" spc="-5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</a:t>
            </a:r>
            <a:r>
              <a:rPr lang="en-US" sz="1725" dirty="0" spc="0" kern="0">
                <a:solidFill>
                  <a:srgbClr val="D5E9D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bệnh.</a:t>
            </a:r>
            <a:endParaRPr lang="en-US" sz="1725" dirty="0"/>
          </a:p>
        </p:txBody>
      </p:sp>
      <p:sp>
        <p:nvSpPr>
          <p:cNvPr id="9" name="Text 6"/>
          <p:cNvSpPr/>
          <p:nvPr/>
        </p:nvSpPr>
        <p:spPr>
          <a:xfrm>
            <a:off x="762000" y="5524500"/>
            <a:ext cx="1000125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55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5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2550" dirty="0" spc="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550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có.</a:t>
            </a:r>
            <a:r>
              <a:rPr lang="en-US" sz="2550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A02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550" dirty="0" spc="-2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550" dirty="0" spc="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550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 huống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5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hiểu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tiêu;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nghĩ.</a:t>
            </a:r>
            <a:endParaRPr lang="en-US" sz="2550" dirty="0"/>
          </a:p>
        </p:txBody>
      </p:sp>
      <p:sp>
        <p:nvSpPr>
          <p:cNvPr id="10" name="Shape 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1" name="Moda image moda-export-watermark-1010a3de-d304-4ada-a13f-aa361e65f15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🎯 A · LEARNING OBJECTIVES</a:t>
            </a:r>
            <a:endParaRPr lang="en-US" sz="1875" dirty="0"/>
          </a:p>
        </p:txBody>
      </p:sp>
      <p:pic>
        <p:nvPicPr>
          <p:cNvPr id="3" name="Moda flattened rect-1792855543398-32476809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Từ</a:t>
            </a:r>
            <a:r>
              <a:rPr lang="en-US" sz="4500" b="1" dirty="0" spc="1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 kiểm</a:t>
            </a:r>
            <a:r>
              <a:rPr lang="en-US" sz="4500" b="1" dirty="0" spc="-2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Giải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thích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Individual,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holism,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goal-directedness.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Phân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tích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Đánh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Đúng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 bằng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75" dirty="0"/>
          </a:p>
        </p:txBody>
      </p:sp>
      <p:sp>
        <p:nvSpPr>
          <p:cNvPr id="14" name="Connector line-1792855543419-347054344"/>
          <p:cNvSpPr/>
          <p:nvPr/>
        </p:nvSpPr>
        <p:spPr>
          <a:xfrm>
            <a:off x="590550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855543420-945900325"/>
          <p:cNvSpPr/>
          <p:nvPr/>
        </p:nvSpPr>
        <p:spPr>
          <a:xfrm>
            <a:off x="1152525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Sau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này,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individual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 nghĩa chủ nghĩa cá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nhân;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nghĩ–cảm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xúc–hành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cảnh;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 ý;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đưa</a:t>
            </a:r>
            <a:r>
              <a:rPr lang="en-US" sz="2475" dirty="0" spc="-3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cùng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vi;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sao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Adler. Đây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 học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đào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575" dirty="0" spc="-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02/38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16a1e4bd-3901-4d02-9c54-da6c97d2c24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HISTORICAL BACKGROUND</a:t>
            </a:r>
            <a:endParaRPr lang="en-US" sz="1875" dirty="0"/>
          </a:p>
        </p:txBody>
      </p:sp>
      <p:pic>
        <p:nvPicPr>
          <p:cNvPr id="3" name="Moda flattened rect-1792855547286-285895249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</a:t>
            </a:r>
            <a:r>
              <a:rPr lang="en-US" sz="4500" b="1" dirty="0" spc="-4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hành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A01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A02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A03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ti.</a:t>
            </a:r>
            <a:endParaRPr lang="en-US" sz="2475" dirty="0"/>
          </a:p>
        </p:txBody>
      </p:sp>
      <p:sp>
        <p:nvSpPr>
          <p:cNvPr id="14" name="Connector line-1792855547300-871202441"/>
          <p:cNvSpPr/>
          <p:nvPr/>
        </p:nvSpPr>
        <p:spPr>
          <a:xfrm>
            <a:off x="590550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855547300-823506628"/>
          <p:cNvSpPr/>
          <p:nvPr/>
        </p:nvSpPr>
        <p:spPr>
          <a:xfrm>
            <a:off x="1152525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3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A01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phái.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đây,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thuật: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 một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 khỏi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đời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sống,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Mind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trí.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 luận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thần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kinh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đại.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Adler,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Mind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Body;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APA2017,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pp3–6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03/38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723ce94c-e24e-454b-a5f2-5d0a6d7d5c4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🕰️ B · NGUỒN VÀ ẤN BẢN</a:t>
            </a:r>
            <a:endParaRPr lang="en-US" sz="1875" dirty="0"/>
          </a:p>
        </p:txBody>
      </p:sp>
      <p:pic>
        <p:nvPicPr>
          <p:cNvPr id="3" name="Moda flattened rect-1792855551285-74531780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loại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nguồn,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-3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mức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khẳng</a:t>
            </a:r>
            <a:r>
              <a:rPr lang="en-US" sz="4500" b="1" dirty="0" spc="1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00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6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Tác</a:t>
            </a:r>
            <a:r>
              <a:rPr lang="en-US" sz="2625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5715000" y="3152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Adler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chép: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giới hạn.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1028700" y="4286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Diễn</a:t>
            </a:r>
            <a:r>
              <a:rPr lang="en-US" sz="2625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5715000" y="4295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APA2017/Adler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Graduate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School.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028700" y="5429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2625" b="1" dirty="0" spc="8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định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715000" y="5438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cùng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Mind and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Body,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 năm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quán.</a:t>
            </a:r>
            <a:r>
              <a:rPr lang="en-US" sz="2475" dirty="0" spc="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Vì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thế, bài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locator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bịa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gốc.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metadata</a:t>
            </a:r>
            <a:r>
              <a:rPr lang="en-US" sz="1575" dirty="0" spc="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</a:t>
            </a:r>
            <a:r>
              <a:rPr lang="en-US" sz="1575" dirty="0" spc="-8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trang;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pp3–9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c30f7ed-b0b6-4948-9616-9cc6844389a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CORE THEORY</a:t>
            </a:r>
            <a:endParaRPr lang="en-US" sz="1875" dirty="0"/>
          </a:p>
        </p:txBody>
      </p:sp>
      <p:pic>
        <p:nvPicPr>
          <p:cNvPr id="3" name="Moda flattened rect-1792855554828-48917177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Individual: cá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như</a:t>
            </a:r>
            <a:r>
              <a:rPr lang="en-US" sz="4500" b="1" dirty="0" spc="-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chỉnh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Individual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 phải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 cá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 lập.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Thao</a:t>
            </a: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Carlson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Englar-Carlson,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Individual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 mạnh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r>
              <a:rPr lang="en-US" sz="2475" dirty="0" spc="-8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 vũ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 mình lên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r>
              <a:rPr lang="en-US" sz="2475" dirty="0" spc="-7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xúc,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suy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475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75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cứu;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nối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 lại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hiện.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APA2017,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p5,</a:t>
            </a:r>
            <a:r>
              <a:rPr lang="en-US" sz="1575" dirty="0" spc="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“individual</a:t>
            </a:r>
            <a:r>
              <a:rPr lang="en-US" sz="1575" dirty="0" spc="-6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psychology”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59ecf9f-3365-4090-be19-2eab62815c0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HOLISM</a:t>
            </a:r>
            <a:endParaRPr lang="en-US" sz="1875" dirty="0"/>
          </a:p>
        </p:txBody>
      </p:sp>
      <p:pic>
        <p:nvPicPr>
          <p:cNvPr id="3" name="Moda flattened rect-1792855558361-40713470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9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Toàn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 là</a:t>
            </a:r>
            <a:r>
              <a:rPr lang="en-US" sz="4500" b="1" dirty="0" spc="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yêu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cầu</a:t>
            </a:r>
            <a:r>
              <a:rPr lang="en-US" sz="4500" b="1" dirty="0" spc="-4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về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hệ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6953250" y="3714750"/>
            <a:ext cx="4476750" cy="1809750"/>
          </a:xfrm>
          <a:prstGeom prst="roundRect">
            <a:avLst>
              <a:gd name="adj" fmla="val 6316"/>
            </a:avLst>
          </a:prstGeom>
          <a:solidFill>
            <a:srgbClr val="37635A"/>
          </a:solidFill>
          <a:ln/>
        </p:spPr>
      </p:sp>
      <p:sp>
        <p:nvSpPr>
          <p:cNvPr id="6" name="Text 3"/>
          <p:cNvSpPr/>
          <p:nvPr/>
        </p:nvSpPr>
        <p:spPr>
          <a:xfrm>
            <a:off x="7239000" y="4095750"/>
            <a:ext cx="3905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</a:t>
            </a:r>
            <a:r>
              <a:rPr lang="en-US" sz="3000" b="1" dirty="0" spc="-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r>
              <a:rPr lang="en-US" sz="3000" b="1" dirty="0" spc="-1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3000" b="1" dirty="0" spc="-6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tình</a:t>
            </a:r>
            <a:r>
              <a:rPr lang="en-US" sz="30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huống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2952750"/>
            <a:ext cx="5048250" cy="1428750"/>
          </a:xfrm>
          <a:prstGeom prst="roundRect">
            <a:avLst>
              <a:gd name="adj" fmla="val 8000"/>
            </a:avLst>
          </a:prstGeom>
          <a:solidFill>
            <a:srgbClr val="254F49"/>
          </a:solidFill>
          <a:ln/>
        </p:spPr>
      </p:sp>
      <p:sp>
        <p:nvSpPr>
          <p:cNvPr id="8" name="Text 5"/>
          <p:cNvSpPr/>
          <p:nvPr/>
        </p:nvSpPr>
        <p:spPr>
          <a:xfrm>
            <a:off x="990600" y="3105150"/>
            <a:ext cx="45910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Phần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990600" y="3667125"/>
            <a:ext cx="4591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2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nói</a:t>
            </a:r>
            <a:r>
              <a:rPr lang="en-US" sz="22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2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 vi.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762000" y="4953000"/>
            <a:ext cx="5048250" cy="1428750"/>
          </a:xfrm>
          <a:prstGeom prst="roundRect">
            <a:avLst>
              <a:gd name="adj" fmla="val 8000"/>
            </a:avLst>
          </a:prstGeom>
          <a:solidFill>
            <a:srgbClr val="254F49"/>
          </a:solidFill>
          <a:ln/>
        </p:spPr>
      </p:sp>
      <p:sp>
        <p:nvSpPr>
          <p:cNvPr id="11" name="Text 8"/>
          <p:cNvSpPr/>
          <p:nvPr/>
        </p:nvSpPr>
        <p:spPr>
          <a:xfrm>
            <a:off x="990600" y="5105400"/>
            <a:ext cx="45910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550" b="1" dirty="0" spc="-5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90600" y="5667375"/>
            <a:ext cx="4591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Nó nối</a:t>
            </a:r>
            <a:r>
              <a:rPr lang="en-US" sz="225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250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2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2573000" y="3810000"/>
            <a:ext cx="4762500" cy="1714500"/>
          </a:xfrm>
          <a:prstGeom prst="roundRect">
            <a:avLst>
              <a:gd name="adj" fmla="val 6667"/>
            </a:avLst>
          </a:prstGeom>
          <a:solidFill>
            <a:srgbClr val="254F49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0" y="3962400"/>
            <a:ext cx="43053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5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550" b="1" dirty="0" spc="0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2801600" y="4524375"/>
            <a:ext cx="43053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r>
              <a:rPr lang="en-US" sz="22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250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2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2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250" dirty="0"/>
          </a:p>
        </p:txBody>
      </p:sp>
      <p:sp>
        <p:nvSpPr>
          <p:cNvPr id="16" name="Connector line-1792855558382-269696191"/>
          <p:cNvSpPr/>
          <p:nvPr/>
        </p:nvSpPr>
        <p:spPr>
          <a:xfrm>
            <a:off x="5810250" y="3667125"/>
            <a:ext cx="1143000" cy="952500"/>
          </a:xfrm>
          <a:prstGeom prst="bentConnector3">
            <a:avLst/>
          </a:prstGeom>
          <a:noFill/>
          <a:ln w="19050">
            <a:solidFill>
              <a:srgbClr val="A6D6C6"/>
            </a:solidFill>
            <a:prstDash val="solid"/>
            <a:headEnd type="none"/>
            <a:tailEnd type="none"/>
          </a:ln>
        </p:spPr>
      </p:sp>
      <p:sp>
        <p:nvSpPr>
          <p:cNvPr id="17" name="Connector line-1792855558382-72266194"/>
          <p:cNvSpPr/>
          <p:nvPr/>
        </p:nvSpPr>
        <p:spPr>
          <a:xfrm flipV="1">
            <a:off x="5810250" y="4619625"/>
            <a:ext cx="1143000" cy="1047750"/>
          </a:xfrm>
          <a:prstGeom prst="bentConnector3">
            <a:avLst/>
          </a:prstGeom>
          <a:noFill/>
          <a:ln w="19050">
            <a:solidFill>
              <a:srgbClr val="A6D6C6"/>
            </a:solidFill>
            <a:prstDash val="solid"/>
            <a:headEnd type="none"/>
            <a:tailEnd type="none"/>
          </a:ln>
        </p:spPr>
      </p:sp>
      <p:sp>
        <p:nvSpPr>
          <p:cNvPr id="18" name="Connector line-1792855558382-991365273"/>
          <p:cNvSpPr/>
          <p:nvPr/>
        </p:nvSpPr>
        <p:spPr>
          <a:xfrm>
            <a:off x="11430000" y="4619625"/>
            <a:ext cx="1143000" cy="47625"/>
          </a:xfrm>
          <a:prstGeom prst="bentConnector3">
            <a:avLst/>
          </a:prstGeom>
          <a:noFill/>
          <a:ln w="19050">
            <a:solidFill>
              <a:srgbClr val="A6D6C6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Hãy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nói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475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75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chuyện.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riêng,</a:t>
            </a:r>
            <a:r>
              <a:rPr lang="en-US" sz="24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câu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nói,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475" dirty="0" spc="-3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475" dirty="0" spc="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</a:t>
            </a:r>
            <a:r>
              <a:rPr lang="en-US" sz="24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247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đơn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vị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tích.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75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75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hơn;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p5;</a:t>
            </a:r>
            <a:r>
              <a:rPr lang="en-US" sz="1575" dirty="0" spc="-3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575" dirty="0" spc="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575" dirty="0" spc="-4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06/38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f3dec63-9078-4d22-b21f-af9317e156a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TÍNH THỐNG NHẤT</a:t>
            </a:r>
            <a:endParaRPr lang="en-US" sz="1875" dirty="0"/>
          </a:p>
        </p:txBody>
      </p:sp>
      <p:pic>
        <p:nvPicPr>
          <p:cNvPr id="3" name="Moda flattened rect-1792855562579-94793896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Suy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nghĩ,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cảm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xúc</a:t>
            </a:r>
            <a:r>
              <a:rPr lang="en-US" sz="4500" b="1" dirty="0" spc="-4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hành</a:t>
            </a:r>
            <a:r>
              <a:rPr lang="en-US" sz="4500" b="1" dirty="0" spc="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6953250" y="3714750"/>
            <a:ext cx="4476750" cy="1809750"/>
          </a:xfrm>
          <a:prstGeom prst="roundRect">
            <a:avLst>
              <a:gd name="adj" fmla="val 6316"/>
            </a:avLst>
          </a:prstGeom>
          <a:solidFill>
            <a:srgbClr val="CEE3D9"/>
          </a:solidFill>
          <a:ln/>
        </p:spPr>
      </p:sp>
      <p:sp>
        <p:nvSpPr>
          <p:cNvPr id="6" name="Text 3"/>
          <p:cNvSpPr/>
          <p:nvPr/>
        </p:nvSpPr>
        <p:spPr>
          <a:xfrm>
            <a:off x="7239000" y="4095750"/>
            <a:ext cx="390525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 spc="-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3000" b="1" dirty="0" spc="-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tình</a:t>
            </a:r>
            <a:r>
              <a:rPr lang="en-US" sz="30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huống</a:t>
            </a:r>
            <a:endParaRPr lang="en-US" sz="3000" dirty="0"/>
          </a:p>
        </p:txBody>
      </p:sp>
      <p:sp>
        <p:nvSpPr>
          <p:cNvPr id="7" name="Shape 4"/>
          <p:cNvSpPr/>
          <p:nvPr/>
        </p:nvSpPr>
        <p:spPr>
          <a:xfrm>
            <a:off x="762000" y="2952750"/>
            <a:ext cx="5048250" cy="1428750"/>
          </a:xfrm>
          <a:prstGeom prst="roundRect">
            <a:avLst>
              <a:gd name="adj" fmla="val 8000"/>
            </a:avLst>
          </a:prstGeom>
          <a:solidFill>
            <a:srgbClr val="E5E2D7"/>
          </a:solidFill>
          <a:ln/>
        </p:spPr>
      </p:sp>
      <p:sp>
        <p:nvSpPr>
          <p:cNvPr id="8" name="Text 5"/>
          <p:cNvSpPr/>
          <p:nvPr/>
        </p:nvSpPr>
        <p:spPr>
          <a:xfrm>
            <a:off x="990600" y="3105150"/>
            <a:ext cx="45910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Suy</a:t>
            </a:r>
            <a:r>
              <a:rPr lang="en-US" sz="2550" b="1" dirty="0" spc="-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990600" y="3667125"/>
            <a:ext cx="4591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“Có</a:t>
            </a:r>
            <a:r>
              <a:rPr lang="en-US" sz="22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 mình</a:t>
            </a:r>
            <a:r>
              <a:rPr lang="en-US" sz="225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25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chê”.</a:t>
            </a:r>
            <a:endParaRPr lang="en-US" sz="2250" dirty="0"/>
          </a:p>
        </p:txBody>
      </p:sp>
      <p:sp>
        <p:nvSpPr>
          <p:cNvPr id="10" name="Shape 7"/>
          <p:cNvSpPr/>
          <p:nvPr/>
        </p:nvSpPr>
        <p:spPr>
          <a:xfrm>
            <a:off x="762000" y="4953000"/>
            <a:ext cx="5048250" cy="1428750"/>
          </a:xfrm>
          <a:prstGeom prst="roundRect">
            <a:avLst>
              <a:gd name="adj" fmla="val 8000"/>
            </a:avLst>
          </a:prstGeom>
          <a:solidFill>
            <a:srgbClr val="E5E2D7"/>
          </a:solidFill>
          <a:ln/>
        </p:spPr>
      </p:sp>
      <p:sp>
        <p:nvSpPr>
          <p:cNvPr id="11" name="Text 8"/>
          <p:cNvSpPr/>
          <p:nvPr/>
        </p:nvSpPr>
        <p:spPr>
          <a:xfrm>
            <a:off x="990600" y="5105400"/>
            <a:ext cx="459105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550" b="1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90600" y="5667375"/>
            <a:ext cx="45910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Căng</a:t>
            </a:r>
            <a:r>
              <a:rPr lang="en-US" sz="22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25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250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25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2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250" dirty="0"/>
          </a:p>
        </p:txBody>
      </p:sp>
      <p:sp>
        <p:nvSpPr>
          <p:cNvPr id="13" name="Shape 10"/>
          <p:cNvSpPr/>
          <p:nvPr/>
        </p:nvSpPr>
        <p:spPr>
          <a:xfrm>
            <a:off x="12573000" y="3810000"/>
            <a:ext cx="4762500" cy="1714500"/>
          </a:xfrm>
          <a:prstGeom prst="roundRect">
            <a:avLst>
              <a:gd name="adj" fmla="val 6667"/>
            </a:avLst>
          </a:prstGeom>
          <a:solidFill>
            <a:srgbClr val="E5E2D7"/>
          </a:solidFill>
          <a:ln/>
        </p:spPr>
      </p:sp>
      <p:sp>
        <p:nvSpPr>
          <p:cNvPr id="14" name="Text 11"/>
          <p:cNvSpPr/>
          <p:nvPr/>
        </p:nvSpPr>
        <p:spPr>
          <a:xfrm>
            <a:off x="12801600" y="3962400"/>
            <a:ext cx="4305300" cy="504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550" b="1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12801600" y="4524375"/>
            <a:ext cx="4305300" cy="904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25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2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25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2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25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họp.</a:t>
            </a:r>
            <a:endParaRPr lang="en-US" sz="2250" dirty="0"/>
          </a:p>
        </p:txBody>
      </p:sp>
      <p:sp>
        <p:nvSpPr>
          <p:cNvPr id="16" name="Connector line-1792855562594-303162012"/>
          <p:cNvSpPr/>
          <p:nvPr/>
        </p:nvSpPr>
        <p:spPr>
          <a:xfrm>
            <a:off x="5810250" y="3667125"/>
            <a:ext cx="1143000" cy="952500"/>
          </a:xfrm>
          <a:prstGeom prst="bentConnector3">
            <a:avLst/>
          </a:prstGeom>
          <a:noFill/>
          <a:ln w="19050">
            <a:solidFill>
              <a:srgbClr val="14695F"/>
            </a:solidFill>
            <a:prstDash val="solid"/>
            <a:headEnd type="none"/>
            <a:tailEnd type="none"/>
          </a:ln>
        </p:spPr>
      </p:sp>
      <p:sp>
        <p:nvSpPr>
          <p:cNvPr id="17" name="Connector line-1792855562594-252366250"/>
          <p:cNvSpPr/>
          <p:nvPr/>
        </p:nvSpPr>
        <p:spPr>
          <a:xfrm flipV="1">
            <a:off x="5810250" y="4619625"/>
            <a:ext cx="1143000" cy="1047750"/>
          </a:xfrm>
          <a:prstGeom prst="bentConnector3">
            <a:avLst/>
          </a:prstGeom>
          <a:noFill/>
          <a:ln w="19050">
            <a:solidFill>
              <a:srgbClr val="14695F"/>
            </a:solidFill>
            <a:prstDash val="solid"/>
            <a:headEnd type="none"/>
            <a:tailEnd type="none"/>
          </a:ln>
        </p:spPr>
      </p:sp>
      <p:sp>
        <p:nvSpPr>
          <p:cNvPr id="18" name="Connector line-1792855562594-768796776"/>
          <p:cNvSpPr/>
          <p:nvPr/>
        </p:nvSpPr>
        <p:spPr>
          <a:xfrm>
            <a:off x="11430000" y="4619625"/>
            <a:ext cx="1143000" cy="47625"/>
          </a:xfrm>
          <a:prstGeom prst="bentConnector3">
            <a:avLst/>
          </a:prstGeom>
          <a:noFill/>
          <a:ln w="19050">
            <a:solidFill>
              <a:srgbClr val="14695F"/>
            </a:solidFill>
            <a:prstDash val="solid"/>
            <a:headEnd type="none"/>
            <a:tailEnd type="none"/>
          </a:ln>
        </p:spPr>
      </p:sp>
      <p:sp>
        <p:nvSpPr>
          <p:cNvPr id="19" name="Text 16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Trong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chê,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hợp: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</a:t>
            </a:r>
            <a:r>
              <a:rPr lang="en-US" sz="2475" dirty="0" spc="-3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mệt.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hiểu,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 ép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duy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endParaRPr lang="en-US" sz="2475" dirty="0"/>
          </a:p>
        </p:txBody>
      </p:sp>
      <p:sp>
        <p:nvSpPr>
          <p:cNvPr id="20" name="Text 17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p5;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[S3]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Unity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Individual;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575" dirty="0" spc="1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575" dirty="0"/>
          </a:p>
        </p:txBody>
      </p:sp>
      <p:sp>
        <p:nvSpPr>
          <p:cNvPr id="21" name="Text 18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07/38</a:t>
            </a:r>
            <a:endParaRPr lang="en-US" sz="1575" dirty="0"/>
          </a:p>
        </p:txBody>
      </p:sp>
      <p:sp>
        <p:nvSpPr>
          <p:cNvPr id="22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9bc2ecf-6356-4bd3-8e7f-988d6965235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SOCIAL CONTEXT</a:t>
            </a:r>
            <a:endParaRPr lang="en-US" sz="1875" dirty="0"/>
          </a:p>
        </p:txBody>
      </p:sp>
      <p:pic>
        <p:nvPicPr>
          <p:cNvPr id="3" name="Moda flattened rect-1792855566357-13025067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 nằm</a:t>
            </a:r>
            <a:r>
              <a:rPr lang="en-US" sz="4500" b="1" dirty="0" spc="-1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nhiều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bối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4500" dirty="0"/>
          </a:p>
        </p:txBody>
      </p:sp>
      <p:pic>
        <p:nvPicPr>
          <p:cNvPr id="5" name="Moda image rect-1792855566703-82692573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321719" y="2857500"/>
            <a:ext cx="5072063" cy="3381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6381750"/>
            <a:ext cx="8286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</a:t>
            </a:r>
            <a:r>
              <a:rPr lang="en-US" sz="172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72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72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172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172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1725" dirty="0" spc="1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172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Dylan</a:t>
            </a:r>
            <a:r>
              <a:rPr lang="en-US" sz="172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Gillis</a:t>
            </a:r>
            <a:r>
              <a:rPr lang="en-US" sz="172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72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725" dirty="0"/>
          </a:p>
        </p:txBody>
      </p:sp>
      <p:sp>
        <p:nvSpPr>
          <p:cNvPr id="7" name="Shape 3"/>
          <p:cNvSpPr/>
          <p:nvPr/>
        </p:nvSpPr>
        <p:spPr>
          <a:xfrm>
            <a:off x="9715500" y="2952750"/>
            <a:ext cx="7429500" cy="990600"/>
          </a:xfrm>
          <a:prstGeom prst="roundRect">
            <a:avLst>
              <a:gd name="adj" fmla="val 11538"/>
            </a:avLst>
          </a:prstGeom>
          <a:solidFill>
            <a:srgbClr val="E5E2D7"/>
          </a:solidFill>
          <a:ln/>
        </p:spPr>
      </p:sp>
      <p:sp>
        <p:nvSpPr>
          <p:cNvPr id="8" name="Text 4"/>
          <p:cNvSpPr/>
          <p:nvPr/>
        </p:nvSpPr>
        <p:spPr>
          <a:xfrm>
            <a:off x="9953625" y="3067050"/>
            <a:ext cx="2381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Gần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2477750" y="3076575"/>
            <a:ext cx="4333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</a:t>
            </a:r>
            <a:r>
              <a:rPr lang="en-US" sz="21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đình,</a:t>
            </a:r>
            <a:r>
              <a:rPr lang="en-US" sz="21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1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bè,</a:t>
            </a:r>
            <a:r>
              <a:rPr lang="en-US" sz="21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1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1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trợ.</a:t>
            </a:r>
            <a:endParaRPr lang="en-US" sz="2175" dirty="0"/>
          </a:p>
        </p:txBody>
      </p:sp>
      <p:sp>
        <p:nvSpPr>
          <p:cNvPr id="10" name="Shape 6"/>
          <p:cNvSpPr/>
          <p:nvPr/>
        </p:nvSpPr>
        <p:spPr>
          <a:xfrm>
            <a:off x="9715500" y="4095750"/>
            <a:ext cx="7429500" cy="990600"/>
          </a:xfrm>
          <a:prstGeom prst="roundRect">
            <a:avLst>
              <a:gd name="adj" fmla="val 11538"/>
            </a:avLst>
          </a:prstGeom>
          <a:solidFill>
            <a:srgbClr val="CEE3D9"/>
          </a:solidFill>
          <a:ln/>
        </p:spPr>
      </p:sp>
      <p:sp>
        <p:nvSpPr>
          <p:cNvPr id="11" name="Text 7"/>
          <p:cNvSpPr/>
          <p:nvPr/>
        </p:nvSpPr>
        <p:spPr>
          <a:xfrm>
            <a:off x="9953625" y="4210050"/>
            <a:ext cx="2381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2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400" b="1" dirty="0" spc="1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2477750" y="4219575"/>
            <a:ext cx="4333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Lớp</a:t>
            </a:r>
            <a:r>
              <a:rPr lang="en-US" sz="21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1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1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1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việc.</a:t>
            </a:r>
            <a:endParaRPr lang="en-US" sz="2175" dirty="0"/>
          </a:p>
        </p:txBody>
      </p:sp>
      <p:sp>
        <p:nvSpPr>
          <p:cNvPr id="13" name="Shape 9"/>
          <p:cNvSpPr/>
          <p:nvPr/>
        </p:nvSpPr>
        <p:spPr>
          <a:xfrm>
            <a:off x="9715500" y="5238750"/>
            <a:ext cx="7429500" cy="990600"/>
          </a:xfrm>
          <a:prstGeom prst="roundRect">
            <a:avLst>
              <a:gd name="adj" fmla="val 11538"/>
            </a:avLst>
          </a:prstGeom>
          <a:solidFill>
            <a:srgbClr val="E5E2D7"/>
          </a:solidFill>
          <a:ln/>
        </p:spPr>
      </p:sp>
      <p:sp>
        <p:nvSpPr>
          <p:cNvPr id="14" name="Text 10"/>
          <p:cNvSpPr/>
          <p:nvPr/>
        </p:nvSpPr>
        <p:spPr>
          <a:xfrm>
            <a:off x="9953625" y="5353050"/>
            <a:ext cx="2381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39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Rộng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2477750" y="5362575"/>
            <a:ext cx="4333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1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hóa,</a:t>
            </a:r>
            <a:r>
              <a:rPr lang="en-US" sz="21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1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1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2175" dirty="0"/>
          </a:p>
        </p:txBody>
      </p:sp>
      <p:sp>
        <p:nvSpPr>
          <p:cNvPr id="16" name="Text 12"/>
          <p:cNvSpPr/>
          <p:nvPr/>
        </p:nvSpPr>
        <p:spPr>
          <a:xfrm>
            <a:off x="762000" y="7239000"/>
            <a:ext cx="1638300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 nhiều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thân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đông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người.</a:t>
            </a:r>
            <a:r>
              <a:rPr lang="en-US" sz="2475" dirty="0" spc="-7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Ta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giữa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cảnh: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quen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thuộc,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đình,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quan, không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tròn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75" dirty="0" spc="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sẵn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đẳng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 cần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75" dirty="0" spc="-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xét.</a:t>
            </a:r>
            <a:endParaRPr lang="en-US" sz="2475" dirty="0"/>
          </a:p>
        </p:txBody>
      </p:sp>
      <p:sp>
        <p:nvSpPr>
          <p:cNvPr id="17" name="Text 13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pp5–6; [S3] Social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</a:t>
            </a:r>
            <a:endParaRPr lang="en-US" sz="1575" dirty="0"/>
          </a:p>
        </p:txBody>
      </p:sp>
      <p:sp>
        <p:nvSpPr>
          <p:cNvPr id="18" name="Text 14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08/38</a:t>
            </a:r>
            <a:endParaRPr lang="en-US" sz="1575" dirty="0"/>
          </a:p>
        </p:txBody>
      </p:sp>
      <p:sp>
        <p:nvSpPr>
          <p:cNvPr id="19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d4edf22e-a4a5-49f7-ae9c-f3f84fdd133d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GOAL-DIRECTEDNESS</a:t>
            </a:r>
            <a:endParaRPr lang="en-US" sz="1875" dirty="0"/>
          </a:p>
        </p:txBody>
      </p:sp>
      <p:pic>
        <p:nvPicPr>
          <p:cNvPr id="3" name="Moda flattened rect-1792855570683-70149801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Hướng</a:t>
            </a:r>
            <a:r>
              <a:rPr lang="en-US" sz="4500" b="1" dirty="0" spc="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đích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khác nguyên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nhân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duy</a:t>
            </a:r>
            <a:r>
              <a:rPr lang="en-US" sz="4500" b="1" dirty="0" spc="-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nhất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Nguyên nhân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3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hiện?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Hướng</a:t>
            </a:r>
            <a:r>
              <a:rPr lang="en-US" sz="2850" b="1" dirty="0" spc="1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Người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475" dirty="0" spc="-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tránh/đạt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tới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 hiểu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huống. Câu hỏi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bổ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 câu hỏi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phê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bình.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suy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lai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quay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ngược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r>
              <a:rPr lang="en-US" sz="2475" dirty="0" spc="-4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cần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[S1]</a:t>
            </a:r>
            <a:r>
              <a:rPr lang="en-US" sz="1575" dirty="0" spc="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1575" dirty="0" spc="-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“direction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</a:t>
            </a:r>
            <a:r>
              <a:rPr lang="en-US" sz="1575" dirty="0" spc="-8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movement”;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57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p6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2f3e602-5ef2-4c84-8f79-caf392a0faa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SUBJECTIVE MEANING</a:t>
            </a:r>
            <a:endParaRPr lang="en-US" sz="1875" dirty="0"/>
          </a:p>
        </p:txBody>
      </p:sp>
      <p:pic>
        <p:nvPicPr>
          <p:cNvPr id="3" name="Moda flattened rect-1792855592700-97536440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chủ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quan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-4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được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Sự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Đối</a:t>
            </a:r>
            <a:r>
              <a:rPr lang="en-US" sz="2850" b="1" dirty="0" spc="-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thoại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Hỏi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 nhau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mình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coi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nhìn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nét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mặt.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“quản lý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cáo”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“quản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 mình”.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Lắng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 giúp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sự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ấy;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tôn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của họ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 ánh</a:t>
            </a: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p5,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phenomenological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perspective;</a:t>
            </a:r>
            <a:r>
              <a:rPr lang="en-US" sz="1575" dirty="0" spc="-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ví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575" dirty="0" spc="-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4b05655c-0197-45fc-ad33-4607edb751e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ĐIỀU KHÔNG ĐƯỢC SUY RA</a:t>
            </a:r>
            <a:endParaRPr lang="en-US" sz="1875" dirty="0"/>
          </a:p>
        </p:txBody>
      </p:sp>
      <p:pic>
        <p:nvPicPr>
          <p:cNvPr id="3" name="Moda flattened rect-1792855596567-31490917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Hướng</a:t>
            </a:r>
            <a:r>
              <a:rPr lang="en-US" sz="4500" b="1" dirty="0" spc="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đích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7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đồng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cố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00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254F49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4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Tự</a:t>
            </a:r>
            <a:r>
              <a:rPr lang="en-US" sz="2625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báo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5715000" y="3152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“Tôi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 gian”.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37635A"/>
          </a:solidFill>
          <a:ln/>
        </p:spPr>
      </p:sp>
      <p:sp>
        <p:nvSpPr>
          <p:cNvPr id="9" name="Text 6"/>
          <p:cNvSpPr/>
          <p:nvPr/>
        </p:nvSpPr>
        <p:spPr>
          <a:xfrm>
            <a:off x="1028700" y="4286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69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Tác</a:t>
            </a:r>
            <a:r>
              <a:rPr lang="en-US" sz="2625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5715000" y="4295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Căng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thẳng giảm</a:t>
            </a: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254F49"/>
          </a:solidFill>
          <a:ln/>
        </p:spPr>
      </p:sp>
      <p:sp>
        <p:nvSpPr>
          <p:cNvPr id="12" name="Text 9"/>
          <p:cNvSpPr/>
          <p:nvPr/>
        </p:nvSpPr>
        <p:spPr>
          <a:xfrm>
            <a:off x="1028700" y="5429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Suy luận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715000" y="5438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giảm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 thẳng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ý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475" dirty="0" spc="-3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75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7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475" dirty="0" spc="-8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nhảy sang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“bạn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 tình làm</a:t>
            </a:r>
            <a:r>
              <a:rPr lang="en-US" sz="2475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vậy</a:t>
            </a:r>
            <a:r>
              <a:rPr lang="en-US" sz="24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túng”.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báo,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quan</a:t>
            </a:r>
            <a:r>
              <a:rPr lang="en-US" sz="2475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2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ra.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 nhau;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7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[S3]</a:t>
            </a:r>
            <a:r>
              <a:rPr lang="en-US" sz="1575" dirty="0" spc="-3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Self-Determination</a:t>
            </a:r>
            <a:r>
              <a:rPr lang="en-US" sz="1575" dirty="0" spc="-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1575" dirty="0" spc="3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Uniqueness;</a:t>
            </a:r>
            <a:r>
              <a:rPr lang="en-US" sz="1575" dirty="0" spc="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1575" dirty="0" spc="3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 của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11/38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c3c3ab54-5549-4f4f-85a4-c986697eda2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🧠 C · BẢN ĐỒ CURRICULUM</a:t>
            </a:r>
            <a:endParaRPr lang="en-US" sz="1875" dirty="0"/>
          </a:p>
        </p:txBody>
      </p:sp>
      <p:pic>
        <p:nvPicPr>
          <p:cNvPr id="3" name="Moda flattened rect-1792855600463-15139994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Định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vị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khái niệm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theo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A03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Inferiority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Feelings.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A08–A09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Lifestyle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Fictional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Finalism.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A10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Social</a:t>
            </a:r>
            <a:r>
              <a:rPr lang="en-US" sz="2475" dirty="0" spc="-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Interest.</a:t>
            </a:r>
            <a:endParaRPr lang="en-US" sz="2475" dirty="0"/>
          </a:p>
        </p:txBody>
      </p:sp>
      <p:sp>
        <p:nvSpPr>
          <p:cNvPr id="14" name="Connector line-1792855600473-355176662"/>
          <p:cNvSpPr/>
          <p:nvPr/>
        </p:nvSpPr>
        <p:spPr>
          <a:xfrm>
            <a:off x="590550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solid"/>
            <a:headEnd type="none"/>
            <a:tailEnd type="triangle" w="lg" len="lg"/>
          </a:ln>
        </p:spPr>
      </p:sp>
      <p:sp>
        <p:nvSpPr>
          <p:cNvPr id="15" name="Connector line-1792855600473-26727226"/>
          <p:cNvSpPr/>
          <p:nvPr/>
        </p:nvSpPr>
        <p:spPr>
          <a:xfrm>
            <a:off x="1152525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solid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3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lăng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kính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 ở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A03;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A08;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cấu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A09;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A10.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khăn,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thuật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 một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gặp.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curriculum;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[S2]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pp5–6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12/38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3c146cab-6a0a-436c-af59-a8795e817f9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PSYCHOLOGICAL MECHANISM</a:t>
            </a:r>
            <a:endParaRPr lang="en-US" sz="1875" dirty="0"/>
          </a:p>
        </p:txBody>
      </p:sp>
      <p:pic>
        <p:nvPicPr>
          <p:cNvPr id="3" name="Moda flattened rect-1792855604495-80261502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mô</a:t>
            </a:r>
            <a:r>
              <a:rPr lang="en-US" sz="4500" b="1" dirty="0" spc="-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hình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diễn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tiến</a:t>
            </a:r>
            <a:r>
              <a:rPr lang="en-US" sz="4500" b="1" dirty="0" spc="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để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khảo</a:t>
            </a:r>
            <a:r>
              <a:rPr lang="en-US" sz="4500" b="1" dirty="0" spc="-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Tình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huống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3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Lời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mời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 hiểu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“Sai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trị”.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Hành</a:t>
            </a:r>
            <a:r>
              <a:rPr lang="en-US" sz="2850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động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Trì hoãn → hệ quả cần kiểm.</a:t>
            </a:r>
            <a:endParaRPr lang="en-US" sz="2475" dirty="0"/>
          </a:p>
        </p:txBody>
      </p:sp>
      <p:sp>
        <p:nvSpPr>
          <p:cNvPr id="14" name="Connector line-1792855604509-181453018"/>
          <p:cNvSpPr/>
          <p:nvPr/>
        </p:nvSpPr>
        <p:spPr>
          <a:xfrm>
            <a:off x="590550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lgDash"/>
            <a:headEnd type="none"/>
            <a:tailEnd type="triangle" w="lg" len="lg"/>
          </a:ln>
        </p:spPr>
      </p:sp>
      <p:sp>
        <p:nvSpPr>
          <p:cNvPr id="15" name="Connector line-1792855604509-678930435"/>
          <p:cNvSpPr/>
          <p:nvPr/>
        </p:nvSpPr>
        <p:spPr>
          <a:xfrm>
            <a:off x="1152525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lgDash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857250" y="6191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75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1875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giả</a:t>
            </a:r>
            <a:r>
              <a:rPr lang="en-US" sz="1875" dirty="0" spc="1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75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khẳng</a:t>
            </a:r>
            <a:r>
              <a:rPr lang="en-US" sz="1875" dirty="0" spc="1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75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875" dirty="0" spc="-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Chuỗi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dưới</a:t>
            </a: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Adlerian: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nghĩa;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phù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hợp;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tạo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quả;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củng cố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ban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đầu.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Mỗi mũi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 lý,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thói quen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bước.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[S1–S3]; mô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giả</a:t>
            </a:r>
            <a:r>
              <a:rPr lang="en-US" sz="1575" dirty="0" spc="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575" dirty="0" spc="-2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6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13/38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3b34932-18c7-4790-afd0-75be7e54801e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FEEDBACK</a:t>
            </a:r>
            <a:endParaRPr lang="en-US" sz="1875" dirty="0"/>
          </a:p>
        </p:txBody>
      </p:sp>
      <p:pic>
        <p:nvPicPr>
          <p:cNvPr id="3" name="Moda flattened rect-1792855608479-31487745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7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Vòng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phản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hồi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duy</a:t>
            </a:r>
            <a:r>
              <a:rPr lang="en-US" sz="4500" b="1" dirty="0" spc="-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trì</a:t>
            </a:r>
            <a:r>
              <a:rPr lang="en-US" sz="4500" b="1" dirty="0" spc="-3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vấn</a:t>
            </a:r>
            <a:r>
              <a:rPr lang="en-US" sz="4500" b="1" dirty="0" spc="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đề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Ngắn</a:t>
            </a: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 nhõm.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Dài</a:t>
            </a: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2850" b="1" dirty="0" spc="-1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nhiều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lần.</a:t>
            </a:r>
            <a:endParaRPr lang="en-US" sz="2475" dirty="0"/>
          </a:p>
        </p:txBody>
      </p:sp>
      <p:sp>
        <p:nvSpPr>
          <p:cNvPr id="14" name="Connector line-1792855608490-495153328"/>
          <p:cNvSpPr/>
          <p:nvPr/>
        </p:nvSpPr>
        <p:spPr>
          <a:xfrm>
            <a:off x="590550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lgDash"/>
            <a:headEnd type="none"/>
            <a:tailEnd type="triangle" w="lg" len="lg"/>
          </a:ln>
        </p:spPr>
      </p:sp>
      <p:sp>
        <p:nvSpPr>
          <p:cNvPr id="15" name="Connector line-1792855608490-905546063"/>
          <p:cNvSpPr/>
          <p:nvPr/>
        </p:nvSpPr>
        <p:spPr>
          <a:xfrm>
            <a:off x="1152525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lgDash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857250" y="6191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75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1875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giả</a:t>
            </a:r>
            <a:r>
              <a:rPr lang="en-US" sz="1875" dirty="0" spc="1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75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khẳng</a:t>
            </a:r>
            <a:r>
              <a:rPr lang="en-US" sz="1875" dirty="0" spc="1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75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875" dirty="0" spc="-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đỡ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căng thẳng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ngay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75" dirty="0" spc="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khó.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thất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bại.</a:t>
            </a:r>
            <a:r>
              <a:rPr lang="en-US" sz="2475" dirty="0" spc="-5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dài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 tình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thật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giải.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 giáo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dục;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575" dirty="0" spc="-6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cơ chế</a:t>
            </a:r>
            <a:r>
              <a:rPr lang="en-US" sz="1575" dirty="0" spc="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1575" dirty="0" spc="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575" dirty="0" spc="-9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57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14/38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cb1aa8f2-548a-4e75-b060-70766d1b2bb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⚙️ D · KIỂM GIẢ THUYẾT</a:t>
            </a:r>
            <a:endParaRPr lang="en-US" sz="1875" dirty="0"/>
          </a:p>
        </p:txBody>
      </p:sp>
      <p:pic>
        <p:nvPicPr>
          <p:cNvPr id="3" name="Moda flattened rect-1792855612015-60756572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Khi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 kiện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</a:t>
            </a:r>
            <a:r>
              <a:rPr lang="en-US" sz="4500" b="1" dirty="0" spc="-2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khớp,</a:t>
            </a:r>
            <a:r>
              <a:rPr lang="en-US" sz="4500" b="1" dirty="0" spc="-3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bản</a:t>
            </a:r>
            <a:r>
              <a:rPr lang="en-US" sz="4500" b="1" dirty="0" spc="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</a:t>
            </a: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2850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A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Giả</a:t>
            </a: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Phép</a:t>
            </a: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phân</a:t>
            </a: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biệt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75" dirty="0" spc="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75" dirty="0" spc="-3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buýt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né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3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kém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475" dirty="0" spc="3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lại.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đầy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giá.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hiếm khi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tất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cả,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 phải có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Phương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 suy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575" dirty="0" spc="-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15/38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59ae6fa7-1e8e-4dd1-a2e6-01fa6a540aa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 1</a:t>
            </a:r>
            <a:endParaRPr lang="en-US" sz="1875" dirty="0"/>
          </a:p>
        </p:txBody>
      </p:sp>
      <p:pic>
        <p:nvPicPr>
          <p:cNvPr id="3" name="Moda flattened rect-1792855616815-52098389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sinh</a:t>
            </a:r>
            <a:r>
              <a:rPr lang="en-US" sz="4500" b="1" dirty="0" spc="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đến</a:t>
            </a:r>
            <a:r>
              <a:rPr lang="en-US" sz="4500" b="1" dirty="0" spc="-2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lớp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muộn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Dữ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buổi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Chưa</a:t>
            </a:r>
            <a:r>
              <a:rPr lang="en-US" sz="2850" b="1" dirty="0" spc="-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biết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Lịch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xe,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Bước</a:t>
            </a:r>
            <a:r>
              <a:rPr lang="en-US" sz="2850" b="1" dirty="0" spc="-2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Đối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buổi.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Bình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bài;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khác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tiện</a:t>
            </a:r>
            <a:r>
              <a:rPr lang="en-US" sz="2475" dirty="0" spc="3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“ba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buổi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điểm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nhau?” có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“em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chống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đối”.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75" dirty="0" spc="-3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buýt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 đúng các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buổi muộn,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rào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 khăn.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575" dirty="0" spc="1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bài;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vận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575" dirty="0" spc="1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16/38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d7a9e58-1fce-4715-ab83-692e7a10f8ef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 2</a:t>
            </a:r>
            <a:endParaRPr lang="en-US" sz="1875" dirty="0"/>
          </a:p>
        </p:txBody>
      </p:sp>
      <p:pic>
        <p:nvPicPr>
          <p:cNvPr id="3" name="Moda flattened rect-1792855620891-87146876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 chối</a:t>
            </a:r>
            <a:r>
              <a:rPr lang="en-US" sz="4500" b="1" dirty="0" spc="-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một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việc</a:t>
            </a:r>
            <a:r>
              <a:rPr lang="en-US" sz="4500" b="1" dirty="0" spc="-1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mới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Năng</a:t>
            </a:r>
            <a:r>
              <a:rPr lang="en-US" sz="2850" b="1" dirty="0" spc="-2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lực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2850" b="1" dirty="0" spc="-2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lực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Thời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Vai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Hương?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Hương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trách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án.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gian,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mơ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hồ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nghề nghiệp. Cũng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Hương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Hương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vai</a:t>
            </a: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trò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quyền;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xã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hội.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575" dirty="0" spc="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1575" dirty="0" spc="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17/38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155ee077-26f1-4661-8d28-13765d76126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💬 E · REAL-LIFE EXAMPLE 3</a:t>
            </a:r>
            <a:endParaRPr lang="en-US" sz="1875" dirty="0"/>
          </a:p>
        </p:txBody>
      </p:sp>
      <p:pic>
        <p:nvPicPr>
          <p:cNvPr id="3" name="Moda flattened rect-1792855624558-29375559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Ví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 3: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im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lặng</a:t>
            </a:r>
            <a:r>
              <a:rPr lang="en-US" sz="4500" b="1" dirty="0" spc="-1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họp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nhóm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Im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họp,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Bối</a:t>
            </a: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cảnh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Nhịp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Thử hỗ</a:t>
            </a:r>
            <a:r>
              <a:rPr lang="en-US" sz="2850" b="1" dirty="0" spc="-1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trợ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Cho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Quân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im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lặng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họp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Quân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tin;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khiến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chen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niềm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 nhân.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2475" dirty="0" spc="4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Quân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 hỗ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Ví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575" dirty="0" spc="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định;</a:t>
            </a:r>
            <a:r>
              <a:rPr lang="en-US" sz="1575" dirty="0" spc="18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tiếp,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phác</a:t>
            </a:r>
            <a:r>
              <a:rPr lang="en-US" sz="1575" dirty="0" spc="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1575" dirty="0" spc="1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1575" dirty="0" spc="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18/38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52f4180-3ad2-4de3-9f7a-af1ab3019725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1/3</a:t>
            </a:r>
            <a:endParaRPr lang="en-US" sz="1875" dirty="0"/>
          </a:p>
        </p:txBody>
      </p:sp>
      <p:pic>
        <p:nvPicPr>
          <p:cNvPr id="3" name="Moda flattened rect-1792855628198-51673599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Case: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 kiện</a:t>
            </a:r>
            <a:r>
              <a:rPr lang="en-US" sz="4500" b="1" dirty="0" spc="-4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câu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chuyện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00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254F49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Có</a:t>
            </a:r>
            <a:r>
              <a:rPr lang="en-US" sz="2625" b="1" dirty="0" spc="4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dữ</a:t>
            </a:r>
            <a:r>
              <a:rPr lang="en-US" sz="2625" b="1" dirty="0" spc="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5715000" y="3152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Hoãn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lần; phân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75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vẫn</a:t>
            </a:r>
            <a:r>
              <a:rPr lang="en-US" sz="247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xong.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37635A"/>
          </a:solidFill>
          <a:ln/>
        </p:spPr>
      </p:sp>
      <p:sp>
        <p:nvSpPr>
          <p:cNvPr id="9" name="Text 6"/>
          <p:cNvSpPr/>
          <p:nvPr/>
        </p:nvSpPr>
        <p:spPr>
          <a:xfrm>
            <a:off x="1028700" y="4286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Mai</a:t>
            </a:r>
            <a:r>
              <a:rPr lang="en-US" sz="2625" b="1" dirty="0" spc="3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tự</a:t>
            </a:r>
            <a:r>
              <a:rPr lang="en-US" sz="2625" b="1" dirty="0" spc="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báo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5715000" y="4295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Khó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254F49"/>
          </a:solidFill>
          <a:ln/>
        </p:spPr>
      </p:sp>
      <p:sp>
        <p:nvSpPr>
          <p:cNvPr id="12" name="Text 9"/>
          <p:cNvSpPr/>
          <p:nvPr/>
        </p:nvSpPr>
        <p:spPr>
          <a:xfrm>
            <a:off x="1028700" y="5429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0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Cần</a:t>
            </a:r>
            <a:r>
              <a:rPr lang="en-US" sz="2625" b="1" dirty="0" spc="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715000" y="5438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Sức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họp,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khối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định: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Mai,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mới,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xin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75" dirty="0" spc="-3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 phân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 hạn,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ngày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</a:t>
            </a:r>
            <a:r>
              <a:rPr lang="en-US" sz="247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cuộc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lời. Quản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7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Mai</a:t>
            </a:r>
            <a:r>
              <a:rPr lang="en-US" sz="2475" dirty="0" spc="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r>
              <a:rPr lang="en-US" sz="2475" dirty="0" spc="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 điều</a:t>
            </a:r>
            <a:r>
              <a:rPr lang="en-US" sz="2475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ca,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-3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 duy</a:t>
            </a: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trạng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</a:t>
            </a:r>
            <a:r>
              <a:rPr lang="en-US" sz="247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3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575" dirty="0" spc="14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575" dirty="0" spc="-5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tổng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hợp, không hồ</a:t>
            </a:r>
            <a:r>
              <a:rPr lang="en-US" sz="1575" dirty="0" spc="-6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sơ</a:t>
            </a:r>
            <a:r>
              <a:rPr lang="en-US" sz="1575" dirty="0" spc="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1575" dirty="0" spc="-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19/38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30d484f4-9520-453e-ac61-d983108bd2d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2/3</a:t>
            </a:r>
            <a:endParaRPr lang="en-US" sz="1875" dirty="0"/>
          </a:p>
        </p:txBody>
      </p:sp>
      <p:pic>
        <p:nvPicPr>
          <p:cNvPr id="3" name="Moda flattened rect-1792855648081-514128972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Case: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ba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cạnh</a:t>
            </a:r>
            <a:r>
              <a:rPr lang="en-US" sz="4500" b="1" dirty="0" spc="-1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tranh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2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Kỹ</a:t>
            </a: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năng/tiêu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chí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475" dirty="0" spc="-3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Ý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sợ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ngủ,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một: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rõ.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hai: Mai hiểu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nguy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mất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chỗ</a:t>
            </a:r>
            <a:r>
              <a:rPr lang="en-US" sz="2475" dirty="0" spc="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đứng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hoãn có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bảo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vệ.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ba: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ngủ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 khó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 buổi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trở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nên quá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 làm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ẩn”;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áp dụng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[S1–S3];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1575" dirty="0" spc="-9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1575" dirty="0" spc="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7303121-c2a7-4c8e-882f-2e881d6bd63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📋 F · CASE STUDY 3/3</a:t>
            </a:r>
            <a:endParaRPr lang="en-US" sz="1875" dirty="0"/>
          </a:p>
        </p:txBody>
      </p:sp>
      <p:pic>
        <p:nvPicPr>
          <p:cNvPr id="3" name="Moda flattened rect-1792855651194-34281521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Case: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hỗ</a:t>
            </a:r>
            <a:r>
              <a:rPr lang="en-US" sz="4500" b="1" dirty="0" spc="-1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trợ</a:t>
            </a:r>
            <a:r>
              <a:rPr lang="en-US" sz="4500" b="1" dirty="0" spc="-4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kiểm</a:t>
            </a:r>
            <a:r>
              <a:rPr lang="en-US" sz="4500" b="1" dirty="0" spc="-2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tra</a:t>
            </a:r>
            <a:r>
              <a:rPr lang="en-US" sz="4500" b="1" dirty="0" spc="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từng</a:t>
            </a:r>
            <a:r>
              <a:rPr lang="en-US" sz="4500" b="1" dirty="0" spc="-4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bước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Thỏa</a:t>
            </a:r>
            <a:r>
              <a:rPr lang="en-US" sz="2850" b="1" dirty="0" spc="-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thuận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287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Mai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4845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Điều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chỉnh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4845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Tiêu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chí, nhịp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họp,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333750"/>
            <a:ext cx="5143500" cy="2524125"/>
          </a:xfrm>
          <a:prstGeom prst="roundRect">
            <a:avLst>
              <a:gd name="adj" fmla="val 4528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68200" y="3571875"/>
            <a:ext cx="46101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Đánh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giá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68200" y="4476750"/>
            <a:ext cx="46101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6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thiếu.</a:t>
            </a:r>
            <a:endParaRPr lang="en-US" sz="2475" dirty="0"/>
          </a:p>
        </p:txBody>
      </p:sp>
      <p:sp>
        <p:nvSpPr>
          <p:cNvPr id="14" name="Connector line-1792855651203-432414135"/>
          <p:cNvSpPr/>
          <p:nvPr/>
        </p:nvSpPr>
        <p:spPr>
          <a:xfrm>
            <a:off x="590550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lgDash"/>
            <a:headEnd type="none"/>
            <a:tailEnd type="triangle" w="lg" len="lg"/>
          </a:ln>
        </p:spPr>
      </p:sp>
      <p:sp>
        <p:nvSpPr>
          <p:cNvPr id="15" name="Connector line-1792855651203-103173488"/>
          <p:cNvSpPr/>
          <p:nvPr/>
        </p:nvSpPr>
        <p:spPr>
          <a:xfrm>
            <a:off x="11525250" y="4595813"/>
            <a:ext cx="476250" cy="95"/>
          </a:xfrm>
          <a:custGeom>
            <a:avLst/>
            <a:gdLst/>
            <a:ahLst/>
            <a:cxnLst/>
            <a:rect l="l" t="t" r="r" b="b"/>
            <a:pathLst>
              <a:path w="476250" h="95">
                <a:moveTo>
                  <a:pt x="0" y="0"/>
                </a:moveTo>
                <a:lnTo>
                  <a:pt x="238125" y="0"/>
                </a:lnTo>
                <a:lnTo>
                  <a:pt x="238125" y="0"/>
                </a:lnTo>
                <a:lnTo>
                  <a:pt x="476250" y="0"/>
                </a:lnTo>
              </a:path>
            </a:pathLst>
          </a:custGeom>
          <a:ln w="19050">
            <a:solidFill>
              <a:srgbClr val="14695F"/>
            </a:solidFill>
            <a:prstDash val="lgDash"/>
            <a:headEnd type="none"/>
            <a:tailEnd type="triangle" w="lg" len="lg"/>
          </a:ln>
        </p:spPr>
      </p:sp>
      <p:sp>
        <p:nvSpPr>
          <p:cNvPr id="16" name="Text 13"/>
          <p:cNvSpPr/>
          <p:nvPr/>
        </p:nvSpPr>
        <p:spPr>
          <a:xfrm>
            <a:off x="857250" y="6191250"/>
            <a:ext cx="161925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875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875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1875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 giả</a:t>
            </a:r>
            <a:r>
              <a:rPr lang="en-US" sz="1875" dirty="0" spc="1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75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75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khẳng</a:t>
            </a:r>
            <a:r>
              <a:rPr lang="en-US" sz="1875" dirty="0" spc="1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1875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1875" dirty="0" spc="-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endParaRPr lang="en-US" sz="1875" dirty="0"/>
          </a:p>
        </p:txBody>
      </p:sp>
      <p:sp>
        <p:nvSpPr>
          <p:cNvPr id="17" name="Text 14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Cùng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 thử,</a:t>
            </a:r>
            <a:r>
              <a:rPr lang="en-US" sz="2475" dirty="0" spc="4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tập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dõi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nghiệm,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tải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lần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hoãn.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Mai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dễ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liên quan;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Adler.</a:t>
            </a:r>
            <a:endParaRPr lang="en-US" sz="2475" dirty="0"/>
          </a:p>
        </p:txBody>
      </p:sp>
      <p:sp>
        <p:nvSpPr>
          <p:cNvPr id="18" name="Text 15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 giáo dục, không</a:t>
            </a:r>
            <a:r>
              <a:rPr lang="en-US" sz="1575" dirty="0" spc="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 tự</a:t>
            </a:r>
            <a:r>
              <a:rPr lang="en-US" sz="1575" dirty="0" spc="8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575" dirty="0"/>
          </a:p>
        </p:txBody>
      </p:sp>
      <p:sp>
        <p:nvSpPr>
          <p:cNvPr id="19" name="Text 16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21/38</a:t>
            </a:r>
            <a:endParaRPr lang="en-US" sz="1575" dirty="0"/>
          </a:p>
        </p:txBody>
      </p:sp>
      <p:sp>
        <p:nvSpPr>
          <p:cNvPr id="20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8b8e9415-e360-4bc0-b88e-5071100189e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MODERN SCIENTIFIC PERSPECTIVE</a:t>
            </a:r>
            <a:endParaRPr lang="en-US" sz="1875" dirty="0"/>
          </a:p>
        </p:txBody>
      </p:sp>
      <p:pic>
        <p:nvPicPr>
          <p:cNvPr id="3" name="Moda flattened rect-1792855654457-78885586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Một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khung hiểu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không phải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phép kiểm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Mạch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lạc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 hợp.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Phản</a:t>
            </a: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75" dirty="0" spc="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kiện,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khoa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còn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“Mọi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tiêu”</a:t>
            </a:r>
            <a:r>
              <a:rPr lang="en-US" sz="2475" dirty="0" spc="-3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rất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 đặt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khi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 của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khác nhau.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Phân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tích</a:t>
            </a:r>
            <a:r>
              <a:rPr lang="en-US" sz="1575" dirty="0" spc="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 bài; không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1575" dirty="0" spc="1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1575" dirty="0" spc="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57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1575" dirty="0" spc="-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sai/toàn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22/38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d1f5e01-128e-4eb9-9b0c-eb2773c3757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NGHIÊN CỨU ĐIỀU TRỊ</a:t>
            </a:r>
            <a:endParaRPr lang="en-US" sz="1875" dirty="0"/>
          </a:p>
        </p:txBody>
      </p:sp>
      <p:pic>
        <p:nvPicPr>
          <p:cNvPr id="3" name="Moda flattened rect-1792855657581-45634084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44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RCT</a:t>
            </a:r>
            <a:r>
              <a:rPr lang="en-US" sz="4500" b="1" dirty="0" spc="-15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2014:</a:t>
            </a:r>
            <a:r>
              <a:rPr lang="en-US" sz="4500" b="1" dirty="0" spc="-2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kết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quả</a:t>
            </a:r>
            <a:r>
              <a:rPr lang="en-US" sz="4500" b="1" dirty="0" spc="-1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trong</a:t>
            </a:r>
            <a:r>
              <a:rPr lang="en-US" sz="4500" b="1" dirty="0" spc="3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phạm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hẹp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44767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0" b="1" dirty="0" spc="-5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58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762000" y="54292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2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2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250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2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2014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6191250" y="3000375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254F49"/>
          </a:solidFill>
          <a:ln/>
        </p:spPr>
      </p:sp>
      <p:sp>
        <p:nvSpPr>
          <p:cNvPr id="8" name="Text 5"/>
          <p:cNvSpPr/>
          <p:nvPr/>
        </p:nvSpPr>
        <p:spPr>
          <a:xfrm>
            <a:off x="6429375" y="3143250"/>
            <a:ext cx="314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Mẫu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9810750" y="3143250"/>
            <a:ext cx="7000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58 học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191250" y="4124325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37635A"/>
          </a:solidFill>
          <a:ln/>
        </p:spPr>
      </p:sp>
      <p:sp>
        <p:nvSpPr>
          <p:cNvPr id="11" name="Text 8"/>
          <p:cNvSpPr/>
          <p:nvPr/>
        </p:nvSpPr>
        <p:spPr>
          <a:xfrm>
            <a:off x="6429375" y="4267200"/>
            <a:ext cx="314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Thiết</a:t>
            </a:r>
            <a:r>
              <a:rPr lang="en-US" sz="2550" b="1" dirty="0" spc="-33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810750" y="4267200"/>
            <a:ext cx="7000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Ngẫu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nhiên, có</a:t>
            </a:r>
            <a:r>
              <a:rPr lang="en-US" sz="2400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191250" y="5248275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254F49"/>
          </a:solidFill>
          <a:ln/>
        </p:spPr>
      </p:sp>
      <p:sp>
        <p:nvSpPr>
          <p:cNvPr id="14" name="Text 11"/>
          <p:cNvSpPr/>
          <p:nvPr/>
        </p:nvSpPr>
        <p:spPr>
          <a:xfrm>
            <a:off x="6429375" y="5391150"/>
            <a:ext cx="314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Phạm</a:t>
            </a:r>
            <a:r>
              <a:rPr lang="en-US" sz="2550" b="1" dirty="0" spc="2" kern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810750" y="5391150"/>
            <a:ext cx="7000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</a:t>
            </a:r>
            <a:r>
              <a:rPr lang="en-US" sz="2400" dirty="0" spc="-5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AdPT,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Meany-Walen,</a:t>
            </a:r>
            <a:r>
              <a:rPr lang="en-US" sz="2475" dirty="0" spc="-2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Bratton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Kottman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(2014)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</a:t>
            </a:r>
            <a:r>
              <a:rPr lang="en-US" sz="247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play</a:t>
            </a:r>
            <a:r>
              <a:rPr lang="en-US" sz="2475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therapy</a:t>
            </a:r>
            <a:r>
              <a:rPr lang="en-US" sz="2475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58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gây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gián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đoạn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lớp,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-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75" dirty="0" spc="-4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ngẫu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nhiên có</a:t>
            </a:r>
            <a:r>
              <a:rPr lang="en-US" sz="247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chứng.</a:t>
            </a:r>
            <a:r>
              <a:rPr lang="en-US" sz="2475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 cải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viên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chấm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mù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nhóm.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abstract,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247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văn;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thêm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7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ứng,</a:t>
            </a:r>
            <a:r>
              <a:rPr lang="en-US" sz="2475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bền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dài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75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7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75" dirty="0" spc="-2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trẻ.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[S4]</a:t>
            </a:r>
            <a:r>
              <a:rPr lang="en-US" sz="1575" dirty="0" spc="-9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Meany-Walen</a:t>
            </a:r>
            <a:r>
              <a:rPr lang="en-US" sz="1575" dirty="0" spc="-3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al.2014,</a:t>
            </a:r>
            <a:r>
              <a:rPr lang="en-US" sz="1575" dirty="0" spc="-7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Abstract,</a:t>
            </a:r>
            <a:r>
              <a:rPr lang="en-US" sz="1575" dirty="0" spc="-4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DOI10.1002/j.1556-6676.2014.00129.x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5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23/38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6b47099b-7010-4930-b955-24da858e427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NGHIÊN CỨU MỚI</a:t>
            </a:r>
            <a:endParaRPr lang="en-US" sz="1875" dirty="0"/>
          </a:p>
        </p:txBody>
      </p:sp>
      <p:pic>
        <p:nvPicPr>
          <p:cNvPr id="3" name="Moda flattened rect-1792855660605-58398041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Cập</a:t>
            </a:r>
            <a:r>
              <a:rPr lang="en-US" sz="4500" b="1" dirty="0" spc="-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nhật</a:t>
            </a:r>
            <a:r>
              <a:rPr lang="en-US" sz="4500" b="1" dirty="0" spc="-1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2026: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nhóm</a:t>
            </a:r>
            <a:r>
              <a:rPr lang="en-US" sz="4500" b="1" dirty="0" spc="-4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</a:t>
            </a:r>
            <a:r>
              <a:rPr lang="en-US" sz="4500" b="1" dirty="0" spc="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chờ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447675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94</a:t>
            </a:r>
            <a:endParaRPr lang="en-US" sz="13500" dirty="0"/>
          </a:p>
        </p:txBody>
      </p:sp>
      <p:sp>
        <p:nvSpPr>
          <p:cNvPr id="6" name="Text 3"/>
          <p:cNvSpPr/>
          <p:nvPr/>
        </p:nvSpPr>
        <p:spPr>
          <a:xfrm>
            <a:off x="762000" y="5429250"/>
            <a:ext cx="4762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học</a:t>
            </a:r>
            <a:r>
              <a:rPr lang="en-US" sz="22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25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22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25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25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</a:t>
            </a:r>
            <a:endParaRPr lang="en-US" sz="2250" dirty="0"/>
          </a:p>
        </p:txBody>
      </p:sp>
      <p:sp>
        <p:nvSpPr>
          <p:cNvPr id="7" name="Shape 4"/>
          <p:cNvSpPr/>
          <p:nvPr/>
        </p:nvSpPr>
        <p:spPr>
          <a:xfrm>
            <a:off x="6191250" y="3000375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8" name="Text 5"/>
          <p:cNvSpPr/>
          <p:nvPr/>
        </p:nvSpPr>
        <p:spPr>
          <a:xfrm>
            <a:off x="6429375" y="3143250"/>
            <a:ext cx="314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94</a:t>
            </a:r>
            <a:endParaRPr lang="en-US" sz="2550" dirty="0"/>
          </a:p>
        </p:txBody>
      </p:sp>
      <p:sp>
        <p:nvSpPr>
          <p:cNvPr id="9" name="Text 6"/>
          <p:cNvSpPr/>
          <p:nvPr/>
        </p:nvSpPr>
        <p:spPr>
          <a:xfrm>
            <a:off x="9810750" y="3143250"/>
            <a:ext cx="7000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Tổng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cáo.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191250" y="4124325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CEE3D9"/>
          </a:solidFill>
          <a:ln/>
        </p:spPr>
      </p:sp>
      <p:sp>
        <p:nvSpPr>
          <p:cNvPr id="11" name="Text 8"/>
          <p:cNvSpPr/>
          <p:nvPr/>
        </p:nvSpPr>
        <p:spPr>
          <a:xfrm>
            <a:off x="6429375" y="4267200"/>
            <a:ext cx="314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48</a:t>
            </a:r>
            <a:r>
              <a:rPr lang="en-US" sz="2550" b="1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550" b="1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endParaRPr lang="en-US" sz="2550" dirty="0"/>
          </a:p>
        </p:txBody>
      </p:sp>
      <p:sp>
        <p:nvSpPr>
          <p:cNvPr id="12" name="Text 9"/>
          <p:cNvSpPr/>
          <p:nvPr/>
        </p:nvSpPr>
        <p:spPr>
          <a:xfrm>
            <a:off x="9810750" y="4267200"/>
            <a:ext cx="7000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Can thiệp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0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endParaRPr lang="en-US" sz="2400" dirty="0"/>
          </a:p>
        </p:txBody>
      </p:sp>
      <p:sp>
        <p:nvSpPr>
          <p:cNvPr id="13" name="Shape 10"/>
          <p:cNvSpPr/>
          <p:nvPr/>
        </p:nvSpPr>
        <p:spPr>
          <a:xfrm>
            <a:off x="6191250" y="5248275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14" name="Text 11"/>
          <p:cNvSpPr/>
          <p:nvPr/>
        </p:nvSpPr>
        <p:spPr>
          <a:xfrm>
            <a:off x="6429375" y="5391150"/>
            <a:ext cx="3143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b="1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thận</a:t>
            </a:r>
            <a:r>
              <a:rPr lang="en-US" sz="2550" b="1" dirty="0" spc="-1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trọng</a:t>
            </a:r>
            <a:endParaRPr lang="en-US" sz="2550" dirty="0"/>
          </a:p>
        </p:txBody>
      </p:sp>
      <p:sp>
        <p:nvSpPr>
          <p:cNvPr id="15" name="Text 12"/>
          <p:cNvSpPr/>
          <p:nvPr/>
        </p:nvSpPr>
        <p:spPr>
          <a:xfrm>
            <a:off x="9810750" y="5391150"/>
            <a:ext cx="70008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0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0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00" dirty="0"/>
          </a:p>
        </p:txBody>
      </p:sp>
      <p:sp>
        <p:nvSpPr>
          <p:cNvPr id="16" name="Text 13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Owen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 (2026)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94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 bốn–năm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48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chơi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46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 khó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khăn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thị,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thẩm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cáo.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chờ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ý,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kỳ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vọng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thành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chung; không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minh.</a:t>
            </a:r>
            <a:endParaRPr lang="en-US" sz="2475" dirty="0"/>
          </a:p>
        </p:txBody>
      </p:sp>
      <p:sp>
        <p:nvSpPr>
          <p:cNvPr id="17" name="Text 14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[S5]</a:t>
            </a:r>
            <a:r>
              <a:rPr lang="en-US" sz="1575" dirty="0" spc="-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Owen</a:t>
            </a:r>
            <a:r>
              <a:rPr lang="en-US" sz="1575" dirty="0" spc="-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et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al.2026,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Abstract;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Methods2.1;</a:t>
            </a:r>
            <a:r>
              <a:rPr lang="en-US" sz="1575" dirty="0" spc="-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DOI10.1002/jcad.70056</a:t>
            </a:r>
            <a:endParaRPr lang="en-US" sz="1575" dirty="0"/>
          </a:p>
        </p:txBody>
      </p:sp>
      <p:sp>
        <p:nvSpPr>
          <p:cNvPr id="18" name="Text 15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9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24/38</a:t>
            </a:r>
            <a:endParaRPr lang="en-US" sz="1575" dirty="0"/>
          </a:p>
        </p:txBody>
      </p:sp>
      <p:sp>
        <p:nvSpPr>
          <p:cNvPr id="19" name="Shape 1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9b024d79-5cc4-42f1-892a-56625f01bbe3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CẤP ĐỘ SUY LUẬN</a:t>
            </a:r>
            <a:endParaRPr lang="en-US" sz="1875" dirty="0"/>
          </a:p>
        </p:txBody>
      </p:sp>
      <p:pic>
        <p:nvPicPr>
          <p:cNvPr id="3" name="Moda flattened rect-1792855663603-24974758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Ba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cấp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bằng</a:t>
            </a:r>
            <a:r>
              <a:rPr lang="en-US" sz="4500" b="1" dirty="0" spc="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chứng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</a:t>
            </a:r>
            <a:r>
              <a:rPr lang="en-US" sz="4500" b="1" dirty="0" spc="-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tách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riêng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00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Thành</a:t>
            </a:r>
            <a:r>
              <a:rPr lang="en-US" sz="2625" b="1" dirty="0" spc="-1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tố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5715000" y="3152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1028700" y="4286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Gói</a:t>
            </a:r>
            <a:r>
              <a:rPr lang="en-US" sz="2625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can</a:t>
            </a:r>
            <a:r>
              <a:rPr lang="en-US" sz="2625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thiệp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5715000" y="4295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Nhiều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lúc.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028700" y="5429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Hệ</a:t>
            </a:r>
            <a:r>
              <a:rPr lang="en-US" sz="2625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thống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715000" y="5438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Những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Nghiên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 quan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câu hỏi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câu hỏi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thử.</a:t>
            </a:r>
            <a:r>
              <a:rPr lang="en-US" sz="2475" dirty="0" spc="-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những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đặc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Chuyển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vượt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kiện.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75" dirty="0" spc="-2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CBT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khoảng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trống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Ranh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575" dirty="0" spc="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pháp;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[S4–S5]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dùng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1575" dirty="0" spc="-6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25/38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77da9a37-94b2-47b3-bc95-a2cfd443dd76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🔬 G · GIỚI HẠN VÀ GIẢI THÍCH THAY THẾ</a:t>
            </a:r>
            <a:endParaRPr lang="en-US" sz="1875" dirty="0"/>
          </a:p>
        </p:txBody>
      </p:sp>
      <p:pic>
        <p:nvPicPr>
          <p:cNvPr id="3" name="Moda flattened rect-1792855666697-32321065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Hỗ</a:t>
            </a:r>
            <a:r>
              <a:rPr lang="en-US" sz="4500" b="1" dirty="0" spc="-1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trợ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1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kiện,</a:t>
            </a:r>
            <a:r>
              <a:rPr lang="en-US" sz="4500" b="1" dirty="0" spc="-1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giới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r>
              <a:rPr lang="en-US" sz="4500" b="1" dirty="0" spc="-2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rõ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Có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hỗ</a:t>
            </a:r>
            <a:r>
              <a:rPr lang="en-US" sz="2850" b="1" dirty="0" spc="-1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trợ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Chưa</a:t>
            </a:r>
            <a:r>
              <a:rPr lang="en-US" sz="2850" b="1" dirty="0" spc="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đủ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Cơ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Không</a:t>
            </a:r>
            <a:r>
              <a:rPr lang="en-US" sz="2850" b="1" dirty="0" spc="-1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ngoại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suy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Mọi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tuổi,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đề,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hóa.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cho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thấy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thiệp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Chúng không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 suy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triệu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 phục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tiêu.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 phép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trực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 phủ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cũng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nguồn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năm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2026.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[S4–S5]; giới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575" dirty="0" spc="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26/38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0c61acde-9f64-434e-a7ed-21cf4c3d9c61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PRACTICAL APPLICATIONS</a:t>
            </a:r>
            <a:endParaRPr lang="en-US" sz="1875" dirty="0"/>
          </a:p>
        </p:txBody>
      </p:sp>
      <p:pic>
        <p:nvPicPr>
          <p:cNvPr id="3" name="Moda flattened rect-1792855669912-70628619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Giao tiếp: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hỏi</a:t>
            </a:r>
            <a:r>
              <a:rPr lang="en-US" sz="4500" b="1" dirty="0" spc="-4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trước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khi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diễn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giải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Quan</a:t>
            </a: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sát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Chuyện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ra?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Lắng</a:t>
            </a: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nghe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Bạn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 nó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nào?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Kiểm</a:t>
            </a: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lại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Mình</a:t>
            </a:r>
            <a:r>
              <a:rPr lang="en-US" sz="2475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sót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gì?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mở: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ra,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 ý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bạn,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mong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475" dirty="0" spc="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đi?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mình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đúng.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xây</a:t>
            </a:r>
            <a:r>
              <a:rPr lang="en-US" sz="2475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dựng;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chối.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475" dirty="0" spc="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phủ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họ,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ẩn”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Ứng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157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can thiệp</a:t>
            </a:r>
            <a:r>
              <a:rPr lang="en-US" sz="1575" dirty="0" spc="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1575" dirty="0" spc="6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575" dirty="0" spc="-1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6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27/38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9682383c-6288-4bad-8a1b-d47ef10ae20d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🧭 H · ỨNG DỤNG CÓ ĐIỀU KIỆN</a:t>
            </a:r>
            <a:endParaRPr lang="en-US" sz="1875" dirty="0"/>
          </a:p>
        </p:txBody>
      </p:sp>
      <p:pic>
        <p:nvPicPr>
          <p:cNvPr id="3" name="Moda flattened rect-1792855673863-46213296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Giáo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dục</a:t>
            </a:r>
            <a:r>
              <a:rPr lang="en-US" sz="4500" b="1" dirty="0" spc="-4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công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việc:</a:t>
            </a:r>
            <a:r>
              <a:rPr lang="en-US" sz="4500" b="1" dirty="0" spc="-3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sửa</a:t>
            </a:r>
            <a:r>
              <a:rPr lang="en-US" sz="4500" b="1" dirty="0" spc="16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điều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kiện</a:t>
            </a:r>
            <a:endParaRPr lang="en-US" sz="4500" dirty="0"/>
          </a:p>
        </p:txBody>
      </p:sp>
      <p:pic>
        <p:nvPicPr>
          <p:cNvPr id="5" name="Moda image rect-1792855674204-77136007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2603500" y="2857500"/>
            <a:ext cx="4508500" cy="338137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62000" y="6381750"/>
            <a:ext cx="8286750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2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Ảnh lớp</a:t>
            </a:r>
            <a:r>
              <a:rPr lang="en-US" sz="172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172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172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họa</a:t>
            </a:r>
            <a:r>
              <a:rPr lang="en-US" sz="172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725" dirty="0" spc="-6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Nathan</a:t>
            </a:r>
            <a:r>
              <a:rPr lang="en-US" sz="172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Cima</a:t>
            </a:r>
            <a:r>
              <a:rPr lang="en-US" sz="172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/</a:t>
            </a:r>
            <a:r>
              <a:rPr lang="en-US" sz="172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Unsplash</a:t>
            </a:r>
            <a:endParaRPr lang="en-US" sz="1725" dirty="0"/>
          </a:p>
        </p:txBody>
      </p:sp>
      <p:sp>
        <p:nvSpPr>
          <p:cNvPr id="7" name="Shape 3"/>
          <p:cNvSpPr/>
          <p:nvPr/>
        </p:nvSpPr>
        <p:spPr>
          <a:xfrm>
            <a:off x="9715500" y="2952750"/>
            <a:ext cx="7429500" cy="990600"/>
          </a:xfrm>
          <a:prstGeom prst="roundRect">
            <a:avLst>
              <a:gd name="adj" fmla="val 11538"/>
            </a:avLst>
          </a:prstGeom>
          <a:solidFill>
            <a:srgbClr val="E5E2D7"/>
          </a:solidFill>
          <a:ln/>
        </p:spPr>
      </p:sp>
      <p:sp>
        <p:nvSpPr>
          <p:cNvPr id="8" name="Text 4"/>
          <p:cNvSpPr/>
          <p:nvPr/>
        </p:nvSpPr>
        <p:spPr>
          <a:xfrm>
            <a:off x="9953625" y="3067050"/>
            <a:ext cx="2381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</a:t>
            </a:r>
            <a:r>
              <a:rPr lang="en-US" sz="2400" b="1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2477750" y="3076575"/>
            <a:ext cx="4333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-7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Kỹ</a:t>
            </a:r>
            <a:r>
              <a:rPr lang="en-US" sz="21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1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lựa</a:t>
            </a:r>
            <a:r>
              <a:rPr lang="en-US" sz="21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chọn.</a:t>
            </a:r>
            <a:endParaRPr lang="en-US" sz="2175" dirty="0"/>
          </a:p>
        </p:txBody>
      </p:sp>
      <p:sp>
        <p:nvSpPr>
          <p:cNvPr id="10" name="Shape 6"/>
          <p:cNvSpPr/>
          <p:nvPr/>
        </p:nvSpPr>
        <p:spPr>
          <a:xfrm>
            <a:off x="9715500" y="4095750"/>
            <a:ext cx="7429500" cy="990600"/>
          </a:xfrm>
          <a:prstGeom prst="roundRect">
            <a:avLst>
              <a:gd name="adj" fmla="val 11538"/>
            </a:avLst>
          </a:prstGeom>
          <a:solidFill>
            <a:srgbClr val="CEE3D9"/>
          </a:solidFill>
          <a:ln/>
        </p:spPr>
      </p:sp>
      <p:sp>
        <p:nvSpPr>
          <p:cNvPr id="11" name="Text 7"/>
          <p:cNvSpPr/>
          <p:nvPr/>
        </p:nvSpPr>
        <p:spPr>
          <a:xfrm>
            <a:off x="9953625" y="4210050"/>
            <a:ext cx="2381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-12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Tổ</a:t>
            </a:r>
            <a:r>
              <a:rPr lang="en-US" sz="2400" b="1" dirty="0" spc="1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2477750" y="4219575"/>
            <a:ext cx="4333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Quy</a:t>
            </a:r>
            <a:r>
              <a:rPr lang="en-US" sz="21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1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1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1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2175" dirty="0"/>
          </a:p>
        </p:txBody>
      </p:sp>
      <p:sp>
        <p:nvSpPr>
          <p:cNvPr id="13" name="Shape 9"/>
          <p:cNvSpPr/>
          <p:nvPr/>
        </p:nvSpPr>
        <p:spPr>
          <a:xfrm>
            <a:off x="9715500" y="5238750"/>
            <a:ext cx="7429500" cy="990600"/>
          </a:xfrm>
          <a:prstGeom prst="roundRect">
            <a:avLst>
              <a:gd name="adj" fmla="val 11538"/>
            </a:avLst>
          </a:prstGeom>
          <a:solidFill>
            <a:srgbClr val="E5E2D7"/>
          </a:solidFill>
          <a:ln/>
        </p:spPr>
      </p:sp>
      <p:sp>
        <p:nvSpPr>
          <p:cNvPr id="14" name="Text 10"/>
          <p:cNvSpPr/>
          <p:nvPr/>
        </p:nvSpPr>
        <p:spPr>
          <a:xfrm>
            <a:off x="9953625" y="5353050"/>
            <a:ext cx="23812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Đánh</a:t>
            </a:r>
            <a:r>
              <a:rPr lang="en-US" sz="2400" b="1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12477750" y="5362575"/>
            <a:ext cx="4333875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1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gì</a:t>
            </a:r>
            <a:r>
              <a:rPr lang="en-US" sz="21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sự</a:t>
            </a:r>
            <a:r>
              <a:rPr lang="en-US" sz="21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đổi?</a:t>
            </a:r>
            <a:endParaRPr lang="en-US" sz="2175" dirty="0"/>
          </a:p>
        </p:txBody>
      </p:sp>
      <p:sp>
        <p:nvSpPr>
          <p:cNvPr id="16" name="Text 12"/>
          <p:cNvSpPr/>
          <p:nvPr/>
        </p:nvSpPr>
        <p:spPr>
          <a:xfrm>
            <a:off x="762000" y="7239000"/>
            <a:ext cx="16383000" cy="2143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yêu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3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ràng: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 cụ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thể,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 chuẩn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gia.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Hãy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</a:t>
            </a:r>
            <a:r>
              <a:rPr lang="en-US" sz="2475" dirty="0" spc="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tổ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chức,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niềm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ngắt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lực,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môi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mắc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phức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mới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thiện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bất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 lý.</a:t>
            </a:r>
            <a:endParaRPr lang="en-US" sz="2475" dirty="0"/>
          </a:p>
        </p:txBody>
      </p:sp>
      <p:sp>
        <p:nvSpPr>
          <p:cNvPr id="17" name="Text 13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Gợi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dục,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575" dirty="0" spc="-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chăm</a:t>
            </a:r>
            <a:r>
              <a:rPr lang="en-US" sz="1575" dirty="0" spc="-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sóc</a:t>
            </a:r>
            <a:r>
              <a:rPr lang="en-US" sz="1575" dirty="0" spc="-6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chuyên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môn</a:t>
            </a:r>
            <a:endParaRPr lang="en-US" sz="1575" dirty="0"/>
          </a:p>
        </p:txBody>
      </p:sp>
      <p:sp>
        <p:nvSpPr>
          <p:cNvPr id="18" name="Text 14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28/38</a:t>
            </a:r>
            <a:endParaRPr lang="en-US" sz="1575" dirty="0"/>
          </a:p>
        </p:txBody>
      </p:sp>
      <p:sp>
        <p:nvSpPr>
          <p:cNvPr id="19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d92d6637-19ed-4697-b298-53048db29f8f" descr="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🗺️ I · VISUAL EXPLANATION</a:t>
            </a:r>
            <a:endParaRPr lang="en-US" sz="1875" dirty="0"/>
          </a:p>
        </p:txBody>
      </p:sp>
      <p:pic>
        <p:nvPicPr>
          <p:cNvPr id="3" name="Moda flattened rect-1792855677895-610894965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sơ</a:t>
            </a:r>
            <a:r>
              <a:rPr lang="en-US" sz="4500" b="1" dirty="0" spc="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đồ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của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bài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000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28700" y="3143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Nút</a:t>
            </a:r>
            <a:endParaRPr lang="en-US" sz="2625" dirty="0"/>
          </a:p>
        </p:txBody>
      </p:sp>
      <p:sp>
        <p:nvSpPr>
          <p:cNvPr id="7" name="Text 4"/>
          <p:cNvSpPr/>
          <p:nvPr/>
        </p:nvSpPr>
        <p:spPr>
          <a:xfrm>
            <a:off x="5715000" y="3152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Dữ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niệm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762000" y="4143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1028700" y="4286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2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Đường</a:t>
            </a:r>
            <a:r>
              <a:rPr lang="en-US" sz="2625" b="1" dirty="0" spc="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nối</a:t>
            </a:r>
            <a:endParaRPr lang="en-US" sz="2625" dirty="0"/>
          </a:p>
        </p:txBody>
      </p:sp>
      <p:sp>
        <p:nvSpPr>
          <p:cNvPr id="10" name="Text 7"/>
          <p:cNvSpPr/>
          <p:nvPr/>
        </p:nvSpPr>
        <p:spPr>
          <a:xfrm>
            <a:off x="5715000" y="4295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762000" y="5286375"/>
            <a:ext cx="16383000" cy="1000125"/>
          </a:xfrm>
          <a:prstGeom prst="roundRect">
            <a:avLst>
              <a:gd name="adj" fmla="val 11429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028700" y="5429250"/>
            <a:ext cx="419100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25" b="1" dirty="0" spc="-25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Đường</a:t>
            </a:r>
            <a:r>
              <a:rPr lang="en-US" sz="2625" b="1" dirty="0" spc="10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đứt</a:t>
            </a:r>
            <a:endParaRPr lang="en-US" sz="2625" dirty="0"/>
          </a:p>
        </p:txBody>
      </p:sp>
      <p:sp>
        <p:nvSpPr>
          <p:cNvPr id="13" name="Text 10"/>
          <p:cNvSpPr/>
          <p:nvPr/>
        </p:nvSpPr>
        <p:spPr>
          <a:xfrm>
            <a:off x="5715000" y="5438775"/>
            <a:ext cx="10953750" cy="714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Giả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Nút trung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tâm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tình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thể;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vòng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 phạm vi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 xét,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tầng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phẫu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cấp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quyết</a:t>
            </a:r>
            <a:r>
              <a:rPr lang="en-US" sz="2475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 quan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khảo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sát.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Mũi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“giả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thuyết”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khẳng</a:t>
            </a:r>
            <a:r>
              <a:rPr lang="en-US" sz="2475" dirty="0" spc="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nhận. Bản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do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biên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soạn,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475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bày.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[S1–S3];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1575" dirty="0" spc="-2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giáo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29/38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67606621-fa82-4ab6-80cf-3f68846d6ea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 1/2</a:t>
            </a:r>
            <a:endParaRPr lang="en-US" sz="1875" dirty="0"/>
          </a:p>
        </p:txBody>
      </p:sp>
      <p:pic>
        <p:nvPicPr>
          <p:cNvPr id="3" name="Moda flattened rect-1792855706697-146378764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Bốn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</a:t>
            </a:r>
            <a:r>
              <a:rPr lang="en-US" sz="4500" b="1" dirty="0" spc="-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cốt</a:t>
            </a:r>
            <a:r>
              <a:rPr lang="en-US" sz="4500" b="1" dirty="0" spc="0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lõi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cần giữ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254F49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1–2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Chỉnh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37635A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Hướng</a:t>
            </a:r>
            <a:r>
              <a:rPr lang="en-US" sz="247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cố</a:t>
            </a:r>
            <a:r>
              <a:rPr lang="en-US" sz="2475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254F49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5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475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 dữ kiện.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Individual nói</a:t>
            </a:r>
            <a:r>
              <a:rPr lang="en-US" sz="2475" dirty="0" spc="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chia</a:t>
            </a:r>
            <a:r>
              <a:rPr lang="en-US" sz="2475" dirty="0" spc="-1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thích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Adlerian,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cô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2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cảnh,</a:t>
            </a:r>
            <a:r>
              <a:rPr lang="en-US" sz="2475" dirty="0" spc="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ép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2475" dirty="0" spc="-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2475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chuyện.</a:t>
            </a:r>
            <a:r>
              <a:rPr lang="en-US" sz="2475" dirty="0" spc="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 không</a:t>
            </a:r>
            <a:r>
              <a:rPr lang="en-US" sz="2475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định.</a:t>
            </a:r>
            <a:r>
              <a:rPr lang="en-US" sz="2475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sát,</a:t>
            </a:r>
            <a:r>
              <a:rPr lang="en-US" sz="2475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 báo</a:t>
            </a:r>
            <a:r>
              <a:rPr lang="en-US" sz="2475" dirty="0" spc="-1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75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C–D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30/38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27fec1b7-cc79-4555-908f-beb3f66070e4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💡 J · KEY TAKEAWAYS 2/2</a:t>
            </a:r>
            <a:endParaRPr lang="en-US" sz="1875" dirty="0"/>
          </a:p>
        </p:txBody>
      </p:sp>
      <p:pic>
        <p:nvPicPr>
          <p:cNvPr id="3" name="Moda flattened rect-1792855710027-407434908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Bốn nguyên</a:t>
            </a:r>
            <a:r>
              <a:rPr lang="en-US" sz="4500" b="1" dirty="0" spc="-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tắc</a:t>
            </a:r>
            <a:r>
              <a:rPr lang="en-US" sz="4500" b="1" dirty="0" spc="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để</a:t>
            </a:r>
            <a:r>
              <a:rPr lang="en-US" sz="4500" b="1" dirty="0" spc="-15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tránh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lạm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</a:t>
            </a:r>
            <a:endParaRPr lang="en-US" sz="4500" dirty="0"/>
          </a:p>
        </p:txBody>
      </p:sp>
      <p:sp>
        <p:nvSpPr>
          <p:cNvPr id="5" name="Shape 2"/>
          <p:cNvSpPr/>
          <p:nvPr/>
        </p:nvSpPr>
        <p:spPr>
          <a:xfrm>
            <a:off x="7620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6" name="Text 3"/>
          <p:cNvSpPr/>
          <p:nvPr/>
        </p:nvSpPr>
        <p:spPr>
          <a:xfrm>
            <a:off x="10096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0096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Giữ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cạnh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tranh.</a:t>
            </a:r>
            <a:endParaRPr lang="en-US" sz="2475" dirty="0"/>
          </a:p>
        </p:txBody>
      </p:sp>
      <p:sp>
        <p:nvSpPr>
          <p:cNvPr id="8" name="Shape 5"/>
          <p:cNvSpPr/>
          <p:nvPr/>
        </p:nvSpPr>
        <p:spPr>
          <a:xfrm>
            <a:off x="638175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CEE3D9"/>
          </a:solidFill>
          <a:ln/>
        </p:spPr>
      </p:sp>
      <p:sp>
        <p:nvSpPr>
          <p:cNvPr id="9" name="Text 6"/>
          <p:cNvSpPr/>
          <p:nvPr/>
        </p:nvSpPr>
        <p:spPr>
          <a:xfrm>
            <a:off x="662940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6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6–7</a:t>
            </a:r>
            <a:endParaRPr lang="en-US" sz="2850" dirty="0"/>
          </a:p>
        </p:txBody>
      </p:sp>
      <p:sp>
        <p:nvSpPr>
          <p:cNvPr id="10" name="Text 7"/>
          <p:cNvSpPr/>
          <p:nvPr/>
        </p:nvSpPr>
        <p:spPr>
          <a:xfrm>
            <a:off x="662940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Sửa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nhãn.</a:t>
            </a:r>
            <a:endParaRPr lang="en-US" sz="2475" dirty="0"/>
          </a:p>
        </p:txBody>
      </p:sp>
      <p:sp>
        <p:nvSpPr>
          <p:cNvPr id="11" name="Shape 8"/>
          <p:cNvSpPr/>
          <p:nvPr/>
        </p:nvSpPr>
        <p:spPr>
          <a:xfrm>
            <a:off x="12001500" y="3238500"/>
            <a:ext cx="5143500" cy="2667000"/>
          </a:xfrm>
          <a:prstGeom prst="roundRect">
            <a:avLst>
              <a:gd name="adj" fmla="val 4286"/>
            </a:avLst>
          </a:prstGeom>
          <a:solidFill>
            <a:srgbClr val="E5E2D7"/>
          </a:solidFill>
          <a:ln/>
        </p:spPr>
      </p:sp>
      <p:sp>
        <p:nvSpPr>
          <p:cNvPr id="12" name="Text 9"/>
          <p:cNvSpPr/>
          <p:nvPr/>
        </p:nvSpPr>
        <p:spPr>
          <a:xfrm>
            <a:off x="12249150" y="3476625"/>
            <a:ext cx="4648200" cy="809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</a:t>
            </a:r>
            <a:endParaRPr lang="en-US" sz="2850" dirty="0"/>
          </a:p>
        </p:txBody>
      </p:sp>
      <p:sp>
        <p:nvSpPr>
          <p:cNvPr id="13" name="Text 10"/>
          <p:cNvSpPr/>
          <p:nvPr/>
        </p:nvSpPr>
        <p:spPr>
          <a:xfrm>
            <a:off x="12249150" y="4476750"/>
            <a:ext cx="4648200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Outcome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thống.</a:t>
            </a:r>
            <a:endParaRPr lang="en-US" sz="2475" dirty="0"/>
          </a:p>
        </p:txBody>
      </p:sp>
      <p:sp>
        <p:nvSpPr>
          <p:cNvPr id="14" name="Text 11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Một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phù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hợp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bị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bởi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trái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chiều. Hỗ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tế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đòi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 nhân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cách.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Cuối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cùng,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tắc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này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75" dirty="0" spc="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mức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lắng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nghe, giáo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kiện;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trao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chẩn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trị.</a:t>
            </a:r>
            <a:endParaRPr lang="en-US" sz="2475" dirty="0"/>
          </a:p>
        </p:txBody>
      </p:sp>
      <p:sp>
        <p:nvSpPr>
          <p:cNvPr id="15" name="Text 12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E–H</a:t>
            </a:r>
            <a:endParaRPr lang="en-US" sz="1575" dirty="0"/>
          </a:p>
        </p:txBody>
      </p:sp>
      <p:sp>
        <p:nvSpPr>
          <p:cNvPr id="16" name="Text 13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31/38</a:t>
            </a:r>
            <a:endParaRPr lang="en-US" sz="1575" dirty="0"/>
          </a:p>
        </p:txBody>
      </p:sp>
      <p:sp>
        <p:nvSpPr>
          <p:cNvPr id="17" name="Shape 14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f234e9fc-d94a-4956-ad7f-d08b25eb6740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1/5</a:t>
            </a:r>
            <a:endParaRPr lang="en-US" sz="1875" dirty="0"/>
          </a:p>
        </p:txBody>
      </p:sp>
      <p:pic>
        <p:nvPicPr>
          <p:cNvPr id="3" name="Moda flattened rect-1792855713143-76678085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1: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Individual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nghĩa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-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 spc="-6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Shape 3"/>
          <p:cNvSpPr/>
          <p:nvPr/>
        </p:nvSpPr>
        <p:spPr>
          <a:xfrm>
            <a:off x="6191250" y="30480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7" name="Text 4"/>
          <p:cNvSpPr/>
          <p:nvPr/>
        </p:nvSpPr>
        <p:spPr>
          <a:xfrm>
            <a:off x="6477000" y="32004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2550" b="1" dirty="0" spc="-5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9620250" y="32004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Tính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0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 nhân.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91250" y="417195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CEE3D9"/>
          </a:solidFill>
          <a:ln/>
        </p:spPr>
      </p:sp>
      <p:sp>
        <p:nvSpPr>
          <p:cNvPr id="10" name="Text 7"/>
          <p:cNvSpPr/>
          <p:nvPr/>
        </p:nvSpPr>
        <p:spPr>
          <a:xfrm>
            <a:off x="6477000" y="432435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37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Tránh</a:t>
            </a:r>
            <a:r>
              <a:rPr lang="en-US" sz="2550" b="1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nhầm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620250" y="432435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Chủ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91250" y="52959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0" y="54483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18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Lập</a:t>
            </a:r>
            <a:r>
              <a:rPr lang="en-US" sz="2550" b="1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620250" y="54483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40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 giải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đang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individual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mạnh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chia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cắt.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có nghĩa coi cá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cộng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đồng.</a:t>
            </a: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dịch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rồi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cổ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vũ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 nghĩa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nhân.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 còn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 cần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nhớ: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lên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hướng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 khẳng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nó.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[S2]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p5;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A/C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32/38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0062fb30-f01f-44e2-afa3-22f780f3096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2/5</a:t>
            </a:r>
            <a:endParaRPr lang="en-US" sz="1875" dirty="0"/>
          </a:p>
        </p:txBody>
      </p:sp>
      <p:pic>
        <p:nvPicPr>
          <p:cNvPr id="3" name="Moda flattened rect-1792855716134-996189807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2: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có</a:t>
            </a:r>
            <a:r>
              <a:rPr lang="en-US" sz="4500" b="1" dirty="0" spc="-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tác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dụng</a:t>
            </a:r>
            <a:r>
              <a:rPr lang="en-US" sz="4500" b="1" dirty="0" spc="-3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tức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cố</a:t>
            </a:r>
            <a:r>
              <a:rPr lang="en-US" sz="4500" b="1" dirty="0" spc="-1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ý?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 spc="-39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15000" dirty="0"/>
          </a:p>
        </p:txBody>
      </p:sp>
      <p:sp>
        <p:nvSpPr>
          <p:cNvPr id="6" name="Shape 3"/>
          <p:cNvSpPr/>
          <p:nvPr/>
        </p:nvSpPr>
        <p:spPr>
          <a:xfrm>
            <a:off x="6191250" y="30480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7" name="Text 4"/>
          <p:cNvSpPr/>
          <p:nvPr/>
        </p:nvSpPr>
        <p:spPr>
          <a:xfrm>
            <a:off x="6477000" y="32004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79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</a:t>
            </a:r>
            <a:r>
              <a:rPr lang="en-US" sz="2550" b="1" dirty="0" spc="-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9620250" y="32004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-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xảy</a:t>
            </a:r>
            <a:r>
              <a:rPr lang="en-US" sz="2400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40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hiện.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91250" y="417195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CEE3D9"/>
          </a:solidFill>
          <a:ln/>
        </p:spPr>
      </p:sp>
      <p:sp>
        <p:nvSpPr>
          <p:cNvPr id="10" name="Text 7"/>
          <p:cNvSpPr/>
          <p:nvPr/>
        </p:nvSpPr>
        <p:spPr>
          <a:xfrm>
            <a:off x="6477000" y="432435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Ý</a:t>
            </a:r>
            <a:r>
              <a:rPr lang="en-US" sz="2550" b="1" dirty="0" spc="1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620250" y="432435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91250" y="52959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0" y="54483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-4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Kết</a:t>
            </a:r>
            <a:r>
              <a:rPr lang="en-US" sz="2550" b="1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620250" y="54483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400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đương.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 không.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hoãn làm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nhẹ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nhõm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 quan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475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hoặc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báo;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tính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toán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475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trước.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 hiểu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đích,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hỏi,</a:t>
            </a:r>
            <a:r>
              <a:rPr lang="en-US" sz="2475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75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khác.</a:t>
            </a:r>
            <a:r>
              <a:rPr lang="en-US" sz="2475" dirty="0" spc="-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luận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biến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ý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chắc</a:t>
            </a:r>
            <a:r>
              <a:rPr lang="en-US" sz="2475" dirty="0" spc="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trước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vi.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C11/D; ví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 giả</a:t>
            </a:r>
            <a:r>
              <a:rPr lang="en-US" sz="1575" dirty="0" spc="1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33/38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3802db86-a654-4374-a50e-382b97ffa45b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3/5</a:t>
            </a:r>
            <a:endParaRPr lang="en-US" sz="1875" dirty="0"/>
          </a:p>
        </p:txBody>
      </p:sp>
      <p:pic>
        <p:nvPicPr>
          <p:cNvPr id="3" name="Moda flattened rect-1792855719410-82610878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4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3: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học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sinh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muộn</a:t>
            </a:r>
            <a:r>
              <a:rPr lang="en-US" sz="4500" b="1" dirty="0" spc="-1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vì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chống</a:t>
            </a:r>
            <a:r>
              <a:rPr lang="en-US" sz="4500" b="1" dirty="0" spc="1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đối?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 spc="-44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Shape 3"/>
          <p:cNvSpPr/>
          <p:nvPr/>
        </p:nvSpPr>
        <p:spPr>
          <a:xfrm>
            <a:off x="6191250" y="30480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7" name="Text 4"/>
          <p:cNvSpPr/>
          <p:nvPr/>
        </p:nvSpPr>
        <p:spPr>
          <a:xfrm>
            <a:off x="6477000" y="32004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Đã</a:t>
            </a:r>
            <a:r>
              <a:rPr lang="en-US" sz="2550" b="1" dirty="0" spc="-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9620250" y="32004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Hành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đến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91250" y="417195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CEE3D9"/>
          </a:solidFill>
          <a:ln/>
        </p:spPr>
      </p:sp>
      <p:sp>
        <p:nvSpPr>
          <p:cNvPr id="10" name="Text 7"/>
          <p:cNvSpPr/>
          <p:nvPr/>
        </p:nvSpPr>
        <p:spPr>
          <a:xfrm>
            <a:off x="6477000" y="432435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b="1" dirty="0" spc="-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620250" y="432435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240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00" dirty="0" spc="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buổi.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91250" y="52959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0" y="54483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Bước</a:t>
            </a:r>
            <a:r>
              <a:rPr lang="en-US" sz="2550" b="1" dirty="0" spc="-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đúng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620250" y="54483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</a:t>
            </a:r>
            <a:r>
              <a:rPr lang="en-US" sz="2400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sánh</a:t>
            </a:r>
            <a:r>
              <a:rPr lang="en-US" sz="240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đoán.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chưa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 dữ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kiện.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3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lại,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việc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nhà,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sức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khỏe,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học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sinh.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muộn chỉ</a:t>
            </a:r>
            <a:r>
              <a:rPr lang="en-US" sz="2475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gắn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tuyến</a:t>
            </a:r>
            <a:r>
              <a:rPr lang="en-US" sz="2475" dirty="0" spc="-2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xem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kiện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75" dirty="0" spc="-2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yếu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-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quan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hệ.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 đúng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nhãn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nhanh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hơn,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giúp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ít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hai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thuyết.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E1;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gán</a:t>
            </a:r>
            <a:r>
              <a:rPr lang="en-US" sz="1575" dirty="0" spc="9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575" dirty="0" spc="-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1575" dirty="0" spc="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hành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34/38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9cef5f86-308f-4aee-b892-6b03a038f72a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4/5</a:t>
            </a:r>
            <a:endParaRPr lang="en-US" sz="1875" dirty="0"/>
          </a:p>
        </p:txBody>
      </p:sp>
      <p:pic>
        <p:nvPicPr>
          <p:cNvPr id="3" name="Moda flattened rect-1792855722569-54606763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-7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4:</a:t>
            </a: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nhóm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trị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liệu cải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thiện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nói</a:t>
            </a:r>
            <a:r>
              <a:rPr lang="en-US" sz="4500" b="1" dirty="0" spc="-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gì?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 spc="-1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Shape 3"/>
          <p:cNvSpPr/>
          <p:nvPr/>
        </p:nvSpPr>
        <p:spPr>
          <a:xfrm>
            <a:off x="6191250" y="30480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7" name="Text 4"/>
          <p:cNvSpPr/>
          <p:nvPr/>
        </p:nvSpPr>
        <p:spPr>
          <a:xfrm>
            <a:off x="6477000" y="32004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Được</a:t>
            </a:r>
            <a:r>
              <a:rPr lang="en-US" sz="2550" b="1" dirty="0" spc="-28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xét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9620250" y="32004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Gói,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40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91250" y="417195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CEE3D9"/>
          </a:solidFill>
          <a:ln/>
        </p:spPr>
      </p:sp>
      <p:sp>
        <p:nvSpPr>
          <p:cNvPr id="10" name="Text 7"/>
          <p:cNvSpPr/>
          <p:nvPr/>
        </p:nvSpPr>
        <p:spPr>
          <a:xfrm>
            <a:off x="6477000" y="432435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1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2550" b="1" dirty="0" spc="1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b="1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620250" y="432435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5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Toàn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 đúng.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91250" y="52959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0" y="54483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4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Cần</a:t>
            </a:r>
            <a:r>
              <a:rPr lang="en-US" sz="2550" b="1" dirty="0" spc="-6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thêm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620250" y="54483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Phép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 cơ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chế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475" dirty="0" spc="-3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 có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hỗ</a:t>
            </a:r>
            <a:r>
              <a:rPr lang="en-US" sz="2475" dirty="0" spc="-2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trợ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 quả của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điều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kiện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cứu,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chất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lượng</a:t>
            </a:r>
            <a:r>
              <a:rPr lang="en-US" sz="2475" dirty="0" spc="-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thiết</a:t>
            </a:r>
            <a:r>
              <a:rPr lang="en-US" sz="2475" dirty="0" spc="-4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đo.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xác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nhận</a:t>
            </a:r>
            <a:r>
              <a:rPr lang="en-US" sz="2475" dirty="0" spc="-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rằng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cảm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xúc</a:t>
            </a:r>
            <a:r>
              <a:rPr lang="en-US" sz="2475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đều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nhất.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Muốn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 chế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nghĩa,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đo</a:t>
            </a:r>
            <a:r>
              <a:rPr lang="en-US" sz="2475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r>
              <a:rPr lang="en-US" sz="2475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chung.</a:t>
            </a:r>
            <a:r>
              <a:rPr lang="en-US" sz="2475" dirty="0" spc="-2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75" dirty="0" spc="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thường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gặp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 của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gói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suy</a:t>
            </a:r>
            <a:r>
              <a:rPr lang="en-US" sz="2475" dirty="0" spc="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</a:t>
            </a:r>
            <a:r>
              <a:rPr lang="en-US" sz="2475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75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Adler.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[S4–S5];</a:t>
            </a:r>
            <a:r>
              <a:rPr lang="en-US" sz="1575" dirty="0" spc="-1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A02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35/38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12a373f7-c3ff-474e-aef2-f9275b704258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❓ K · KNOWLEDGE CHECK 5/5</a:t>
            </a:r>
            <a:endParaRPr lang="en-US" sz="1875" dirty="0"/>
          </a:p>
        </p:txBody>
      </p:sp>
      <p:pic>
        <p:nvPicPr>
          <p:cNvPr id="3" name="Moda flattened rect-1792855725568-252866251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Câu</a:t>
            </a:r>
            <a:r>
              <a:rPr lang="en-US" sz="4500" b="1" dirty="0" spc="-1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5: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thế</a:t>
            </a: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nào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là</a:t>
            </a:r>
            <a:r>
              <a:rPr lang="en-US" sz="4500" b="1" dirty="0" spc="3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cách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r>
              <a:rPr lang="en-US" sz="4500" b="1" dirty="0" spc="-2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toàn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thể</a:t>
            </a:r>
            <a:r>
              <a:rPr lang="en-US" sz="4500" b="1" dirty="0" spc="-28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tốt?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4762500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0" b="1" dirty="0" spc="-16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15000" dirty="0"/>
          </a:p>
        </p:txBody>
      </p:sp>
      <p:sp>
        <p:nvSpPr>
          <p:cNvPr id="6" name="Shape 3"/>
          <p:cNvSpPr/>
          <p:nvPr/>
        </p:nvSpPr>
        <p:spPr>
          <a:xfrm>
            <a:off x="6191250" y="30480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7" name="Text 4"/>
          <p:cNvSpPr/>
          <p:nvPr/>
        </p:nvSpPr>
        <p:spPr>
          <a:xfrm>
            <a:off x="6477000" y="32004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550" b="1" dirty="0" spc="0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endParaRPr lang="en-US" sz="2550" dirty="0"/>
          </a:p>
        </p:txBody>
      </p:sp>
      <p:sp>
        <p:nvSpPr>
          <p:cNvPr id="8" name="Text 5"/>
          <p:cNvSpPr/>
          <p:nvPr/>
        </p:nvSpPr>
        <p:spPr>
          <a:xfrm>
            <a:off x="9620250" y="32004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bỏ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 nguồn</a:t>
            </a:r>
            <a:r>
              <a:rPr lang="en-US" sz="2400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lực.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6191250" y="417195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CEE3D9"/>
          </a:solidFill>
          <a:ln/>
        </p:spPr>
      </p:sp>
      <p:sp>
        <p:nvSpPr>
          <p:cNvPr id="10" name="Text 7"/>
          <p:cNvSpPr/>
          <p:nvPr/>
        </p:nvSpPr>
        <p:spPr>
          <a:xfrm>
            <a:off x="6477000" y="432435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5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b="1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thoại</a:t>
            </a:r>
            <a:endParaRPr lang="en-US" sz="2550" dirty="0"/>
          </a:p>
        </p:txBody>
      </p:sp>
      <p:sp>
        <p:nvSpPr>
          <p:cNvPr id="11" name="Text 8"/>
          <p:cNvSpPr/>
          <p:nvPr/>
        </p:nvSpPr>
        <p:spPr>
          <a:xfrm>
            <a:off x="9620250" y="432435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Chấp nhận</a:t>
            </a:r>
            <a:r>
              <a:rPr lang="en-US" sz="2400" dirty="0" spc="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sửa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nghĩa.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6191250" y="5295900"/>
            <a:ext cx="10953750" cy="952500"/>
          </a:xfrm>
          <a:prstGeom prst="roundRect">
            <a:avLst>
              <a:gd name="adj" fmla="val 12000"/>
            </a:avLst>
          </a:prstGeom>
          <a:solidFill>
            <a:srgbClr val="E5E2D7"/>
          </a:solidFill>
          <a:ln/>
        </p:spPr>
      </p:sp>
      <p:sp>
        <p:nvSpPr>
          <p:cNvPr id="13" name="Text 10"/>
          <p:cNvSpPr/>
          <p:nvPr/>
        </p:nvSpPr>
        <p:spPr>
          <a:xfrm>
            <a:off x="6477000" y="5448300"/>
            <a:ext cx="27622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b="1" dirty="0" spc="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b="1" dirty="0" spc="-2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550" b="1" dirty="0" spc="-3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550" b="1" dirty="0" spc="-1" kern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</a:t>
            </a:r>
            <a:endParaRPr lang="en-US" sz="2550" dirty="0"/>
          </a:p>
        </p:txBody>
      </p:sp>
      <p:sp>
        <p:nvSpPr>
          <p:cNvPr id="14" name="Text 11"/>
          <p:cNvSpPr/>
          <p:nvPr/>
        </p:nvSpPr>
        <p:spPr>
          <a:xfrm>
            <a:off x="9620250" y="5448300"/>
            <a:ext cx="71437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Nêu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biệt.</a:t>
            </a:r>
            <a:endParaRPr lang="en-US" sz="2400" dirty="0"/>
          </a:p>
        </p:txBody>
      </p:sp>
      <p:sp>
        <p:nvSpPr>
          <p:cNvPr id="15" name="Text 12"/>
          <p:cNvSpPr/>
          <p:nvPr/>
        </p:nvSpPr>
        <p:spPr>
          <a:xfrm>
            <a:off x="762000" y="7143750"/>
            <a:ext cx="16383000" cy="223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án: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nối các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mặt</a:t>
            </a:r>
            <a:r>
              <a:rPr lang="en-US" sz="2475" dirty="0" spc="-2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trải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nghiệm</a:t>
            </a:r>
            <a:r>
              <a:rPr lang="en-US" sz="2475" dirty="0" spc="-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bối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cảnh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75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rõ</a:t>
            </a:r>
            <a:r>
              <a:rPr lang="en-US" sz="2475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</a:t>
            </a:r>
            <a:r>
              <a:rPr lang="en-US" sz="2475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thuyết,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cho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phép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người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ấy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chỉnh lại</a:t>
            </a:r>
            <a:r>
              <a:rPr lang="en-US" sz="2475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nêu dữ kiện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475" dirty="0" spc="-1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sẽ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làm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hiểu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đổi.</a:t>
            </a:r>
            <a:r>
              <a:rPr lang="en-US" sz="2475" dirty="0" spc="-4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“Tôi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475" dirty="0" spc="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phản</a:t>
            </a:r>
            <a:r>
              <a:rPr lang="en-US" sz="2475" dirty="0" spc="2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bạn”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r>
              <a:rPr lang="en-US" sz="2475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chuẩn</a:t>
            </a:r>
            <a:r>
              <a:rPr lang="en-US" sz="2475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tốt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nếu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khả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năng</a:t>
            </a:r>
            <a:r>
              <a:rPr lang="en-US" sz="2475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sai.</a:t>
            </a:r>
            <a:r>
              <a:rPr lang="en-US" sz="2475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75" dirty="0" spc="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đồ</a:t>
            </a:r>
            <a:r>
              <a:rPr lang="en-US" sz="2475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vừa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2475" dirty="0" spc="1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 hỏi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hữu</a:t>
            </a:r>
            <a:r>
              <a:rPr lang="en-US" sz="2475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ích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hơn</a:t>
            </a:r>
            <a:r>
              <a:rPr lang="en-US" sz="2475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475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chuyện</a:t>
            </a:r>
            <a:r>
              <a:rPr lang="en-US" sz="2475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hoàn</a:t>
            </a:r>
            <a:r>
              <a:rPr lang="en-US" sz="2475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hảo</a:t>
            </a:r>
            <a:r>
              <a:rPr lang="en-US" sz="2475" dirty="0" spc="1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nhưng</a:t>
            </a:r>
            <a:r>
              <a:rPr lang="en-US" sz="2475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75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475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kiểm.</a:t>
            </a:r>
            <a:endParaRPr lang="en-US" sz="2475" dirty="0"/>
          </a:p>
        </p:txBody>
      </p:sp>
      <p:sp>
        <p:nvSpPr>
          <p:cNvPr id="16" name="Text 13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C–H</a:t>
            </a:r>
            <a:endParaRPr lang="en-US" sz="1575" dirty="0"/>
          </a:p>
        </p:txBody>
      </p:sp>
      <p:sp>
        <p:nvSpPr>
          <p:cNvPr id="17" name="Text 14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36/38</a:t>
            </a:r>
            <a:endParaRPr lang="en-US" sz="1575" dirty="0"/>
          </a:p>
        </p:txBody>
      </p:sp>
      <p:sp>
        <p:nvSpPr>
          <p:cNvPr id="18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9" name="Moda image moda-export-watermark-7756a07d-d59f-4a9f-baa2-fdaf68532797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5F0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14695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1/2</a:t>
            </a:r>
            <a:endParaRPr lang="en-US" sz="1875" dirty="0"/>
          </a:p>
        </p:txBody>
      </p:sp>
      <p:pic>
        <p:nvPicPr>
          <p:cNvPr id="3" name="Moda flattened rect-1792855728643-39542901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0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lý</a:t>
            </a:r>
            <a:r>
              <a:rPr lang="en-US" sz="4500" b="1" dirty="0" spc="-1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thuyết</a:t>
            </a:r>
            <a:r>
              <a:rPr lang="en-US" sz="4500" b="1" dirty="0" spc="9" kern="0">
                <a:solidFill>
                  <a:srgbClr val="182B2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đã đọc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1000125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S1:</a:t>
            </a:r>
            <a:r>
              <a:rPr lang="en-US" sz="2550" dirty="0" spc="-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Adler,</a:t>
            </a:r>
            <a:r>
              <a:rPr lang="en-US" sz="2550" dirty="0" spc="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Mind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5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550" dirty="0" spc="-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What</a:t>
            </a:r>
            <a:r>
              <a:rPr lang="en-US" sz="2550" dirty="0" spc="-1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Life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Should</a:t>
            </a:r>
            <a:r>
              <a:rPr lang="en-US" sz="25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Mean</a:t>
            </a:r>
            <a:r>
              <a:rPr lang="en-US" sz="2550" dirty="0" spc="-1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</a:t>
            </a:r>
            <a:r>
              <a:rPr lang="en-US" sz="2550" dirty="0" spc="-5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You,</a:t>
            </a:r>
            <a:r>
              <a:rPr lang="en-US" sz="255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</a:t>
            </a:r>
            <a:r>
              <a:rPr lang="en-US" sz="2550" dirty="0" spc="2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điện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tử;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 nhận</a:t>
            </a:r>
            <a:r>
              <a:rPr lang="en-US" sz="2550" dirty="0" spc="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đã</a:t>
            </a:r>
            <a:r>
              <a:rPr lang="en-US" sz="2550" dirty="0" spc="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25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r>
              <a:rPr lang="en-US" sz="255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in.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S2:</a:t>
            </a:r>
            <a:r>
              <a:rPr lang="en-US" sz="255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Carlson</a:t>
            </a:r>
            <a:r>
              <a:rPr lang="en-US" sz="255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Englar-Carlson,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Adlerian</a:t>
            </a:r>
            <a:r>
              <a:rPr lang="en-US" sz="2550" dirty="0" spc="-25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Psychotherapy</a:t>
            </a:r>
            <a:r>
              <a:rPr lang="en-US" sz="2550" dirty="0" spc="-3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(APA,</a:t>
            </a:r>
            <a:r>
              <a:rPr lang="en-US" sz="255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2017),</a:t>
            </a:r>
            <a:r>
              <a:rPr lang="en-US" sz="2550" dirty="0" spc="-1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Introduction,</a:t>
            </a:r>
            <a:r>
              <a:rPr lang="en-US" sz="25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550" dirty="0" spc="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mẫu</a:t>
            </a:r>
            <a:r>
              <a:rPr lang="en-US" sz="255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3–9.</a:t>
            </a:r>
            <a:r>
              <a:rPr lang="en-US" sz="25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S3:</a:t>
            </a:r>
            <a:r>
              <a:rPr lang="en-US" sz="2550" dirty="0" spc="-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550" dirty="0" spc="-2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Graduate</a:t>
            </a:r>
            <a:r>
              <a:rPr lang="en-US" sz="255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School,</a:t>
            </a:r>
            <a:r>
              <a:rPr lang="en-US" sz="25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Theory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and</a:t>
            </a:r>
            <a:r>
              <a:rPr lang="en-US" sz="255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Application,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2550" dirty="0" spc="-4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Unity, Goal</a:t>
            </a:r>
            <a:r>
              <a:rPr lang="en-US" sz="2550" dirty="0" spc="-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Orientation</a:t>
            </a:r>
            <a:r>
              <a:rPr lang="en-US" sz="255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Social</a:t>
            </a:r>
            <a:r>
              <a:rPr lang="en-US" sz="2550" dirty="0" spc="-18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Context.</a:t>
            </a:r>
            <a:r>
              <a:rPr lang="en-US" sz="25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r>
              <a:rPr lang="en-US" sz="2550" dirty="0" spc="-3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S3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</a:t>
            </a:r>
            <a:r>
              <a:rPr lang="en-US" sz="25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thích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550" dirty="0" spc="-1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550" dirty="0" spc="-1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truyền</a:t>
            </a:r>
            <a:r>
              <a:rPr lang="en-US" sz="255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thống; không</a:t>
            </a:r>
            <a:r>
              <a:rPr lang="en-US" sz="255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550" dirty="0" spc="-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như</a:t>
            </a:r>
            <a:r>
              <a:rPr lang="en-US" sz="255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5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 hiệu</a:t>
            </a:r>
            <a:r>
              <a:rPr lang="en-US" sz="255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</a:t>
            </a:r>
            <a:r>
              <a:rPr lang="en-US" sz="255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độc</a:t>
            </a:r>
            <a:r>
              <a:rPr lang="en-US" sz="255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1620500" y="3048000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7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S1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1620500" y="3762375"/>
            <a:ext cx="542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3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Văn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-6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Adler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qua</a:t>
            </a:r>
            <a:r>
              <a:rPr lang="en-US" sz="2400" dirty="0" spc="-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chép.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620500" y="4857750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3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S2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1620500" y="5572125"/>
            <a:ext cx="542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Giáo</a:t>
            </a:r>
            <a:r>
              <a:rPr lang="en-US" sz="2400" dirty="0" spc="9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400" dirty="0" spc="1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đại,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pp3–9.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620500" y="6667500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22" kern="0">
                <a:solidFill>
                  <a:srgbClr val="14695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S3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11620500" y="7381875"/>
            <a:ext cx="542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</a:t>
            </a:r>
            <a:r>
              <a:rPr lang="en-US" sz="2400" dirty="0" spc="1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400" dirty="0" spc="7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400" dirty="0" spc="0" kern="0">
                <a:solidFill>
                  <a:srgbClr val="182B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phái.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Chi</a:t>
            </a:r>
            <a:r>
              <a:rPr lang="en-US" sz="1575" dirty="0" spc="-4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tiết</a:t>
            </a:r>
            <a:r>
              <a:rPr lang="en-US" sz="1575" dirty="0" spc="-5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URL/locator</a:t>
            </a:r>
            <a:r>
              <a:rPr lang="en-US" sz="1575" dirty="0" spc="-1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1575" dirty="0" spc="-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lesson</a:t>
            </a:r>
            <a:r>
              <a:rPr lang="en-US" sz="1575" dirty="0" spc="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575" dirty="0" spc="-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</a:t>
            </a:r>
            <a:r>
              <a:rPr lang="en-US" sz="1575" dirty="0" spc="-1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575" dirty="0" spc="-8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a02-research.md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23" kern="0">
                <a:solidFill>
                  <a:srgbClr val="5E6E6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37/38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61c9ae57-73e3-47d4-82d2-acd7ef53d822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23D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2000" y="457200"/>
            <a:ext cx="15049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75" dirty="0">
                <a:solidFill>
                  <a:srgbClr val="A6D6C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📚 L · REFERENCES 2/2</a:t>
            </a:r>
            <a:endParaRPr lang="en-US" sz="1875" dirty="0"/>
          </a:p>
        </p:txBody>
      </p:sp>
      <p:pic>
        <p:nvPicPr>
          <p:cNvPr id="3" name="Moda flattened rect-1792855731639-869777296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554450" y="400050"/>
            <a:ext cx="571500" cy="571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62000" y="1190625"/>
            <a:ext cx="167640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Nguồn</a:t>
            </a:r>
            <a:r>
              <a:rPr lang="en-US" sz="4500" b="1" dirty="0" spc="-29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thực</a:t>
            </a:r>
            <a:r>
              <a:rPr lang="en-US" sz="4500" b="1" dirty="0" spc="2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nghiệm</a:t>
            </a:r>
            <a:r>
              <a:rPr lang="en-US" sz="4500" b="1" dirty="0" spc="-48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và bước</a:t>
            </a:r>
            <a:r>
              <a:rPr lang="en-US" sz="4500" b="1" dirty="0" spc="1" kern="0">
                <a:solidFill>
                  <a:srgbClr val="F5F0E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tiếp</a:t>
            </a:r>
            <a:endParaRPr lang="en-US" sz="4500" dirty="0"/>
          </a:p>
        </p:txBody>
      </p:sp>
      <p:sp>
        <p:nvSpPr>
          <p:cNvPr id="5" name="Text 2"/>
          <p:cNvSpPr/>
          <p:nvPr/>
        </p:nvSpPr>
        <p:spPr>
          <a:xfrm>
            <a:off x="762000" y="2952750"/>
            <a:ext cx="10001250" cy="5715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S4: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Meany-Walen,</a:t>
            </a:r>
            <a:r>
              <a:rPr lang="en-US" sz="2550" dirty="0" spc="-2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Bratton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2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Kottman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(2014),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Journal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of Counseling &amp;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Development,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92,</a:t>
            </a:r>
            <a:r>
              <a:rPr lang="en-US" sz="255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47–56;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abstract.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S5:</a:t>
            </a:r>
            <a:r>
              <a:rPr lang="en-US" sz="2550" dirty="0" spc="-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Owen,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Ziomek-Daigle,</a:t>
            </a:r>
            <a:r>
              <a:rPr lang="en-US" sz="2550" dirty="0" spc="-2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Moore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Appling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(2026),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</a:t>
            </a:r>
            <a:r>
              <a:rPr lang="en-US" sz="2550" dirty="0" spc="-1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tạp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chí,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104,</a:t>
            </a:r>
            <a:r>
              <a:rPr lang="en-US" sz="2550" dirty="0" spc="-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621–632;</a:t>
            </a:r>
            <a:r>
              <a:rPr lang="en-US" sz="255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abstract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phương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pháp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lọc.</a:t>
            </a:r>
            <a:r>
              <a:rPr lang="en-US" sz="255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Đây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 khảo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sát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550" dirty="0" spc="-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giảng</a:t>
            </a:r>
            <a:r>
              <a:rPr lang="en-US" sz="2550" dirty="0" spc="-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dạy,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dirty="0" spc="-1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systematic</a:t>
            </a:r>
            <a:r>
              <a:rPr lang="en-US" sz="2550" dirty="0" spc="-2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review.</a:t>
            </a:r>
            <a:r>
              <a:rPr lang="en-US" sz="2550" dirty="0" spc="-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550" dirty="0" spc="-27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A03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Inferiority</a:t>
            </a:r>
            <a:r>
              <a:rPr lang="en-US" sz="2550" dirty="0" spc="-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Feelings;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câu</a:t>
            </a:r>
            <a:r>
              <a:rPr lang="en-US" sz="2550" dirty="0" spc="-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hỏi</a:t>
            </a:r>
            <a:r>
              <a:rPr lang="en-US" sz="2550" dirty="0" spc="-18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về</a:t>
            </a:r>
            <a:r>
              <a:rPr lang="en-US" sz="255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thuyết</a:t>
            </a:r>
            <a:r>
              <a:rPr lang="en-US" sz="2550" dirty="0" spc="9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550" dirty="0" spc="-15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-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550" dirty="0" spc="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chứng</a:t>
            </a:r>
            <a:r>
              <a:rPr lang="en-US" sz="255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hiệu</a:t>
            </a:r>
            <a:r>
              <a:rPr lang="en-US" sz="255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quả.</a:t>
            </a:r>
            <a:endParaRPr lang="en-US" sz="2550" dirty="0"/>
          </a:p>
        </p:txBody>
      </p:sp>
      <p:sp>
        <p:nvSpPr>
          <p:cNvPr id="6" name="Text 3"/>
          <p:cNvSpPr/>
          <p:nvPr/>
        </p:nvSpPr>
        <p:spPr>
          <a:xfrm>
            <a:off x="11620500" y="3048000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6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Giới</a:t>
            </a:r>
            <a:r>
              <a:rPr lang="en-US" sz="2850" b="1" dirty="0" spc="0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hạn</a:t>
            </a:r>
            <a:endParaRPr lang="en-US" sz="2850" dirty="0"/>
          </a:p>
        </p:txBody>
      </p:sp>
      <p:sp>
        <p:nvSpPr>
          <p:cNvPr id="7" name="Text 4"/>
          <p:cNvSpPr/>
          <p:nvPr/>
        </p:nvSpPr>
        <p:spPr>
          <a:xfrm>
            <a:off x="11620500" y="3762375"/>
            <a:ext cx="542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đọc</a:t>
            </a:r>
            <a:r>
              <a:rPr lang="en-US" sz="2400" dirty="0" spc="-1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toàn</a:t>
            </a:r>
            <a:r>
              <a:rPr lang="en-US" sz="2400" dirty="0" spc="-1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văn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mọi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nghiên</a:t>
            </a:r>
            <a:r>
              <a:rPr lang="en-US" sz="2400" dirty="0" spc="14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cứu.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11620500" y="4857750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36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A03</a:t>
            </a:r>
            <a:endParaRPr lang="en-US" sz="2850" dirty="0"/>
          </a:p>
        </p:txBody>
      </p:sp>
      <p:sp>
        <p:nvSpPr>
          <p:cNvPr id="9" name="Text 6"/>
          <p:cNvSpPr/>
          <p:nvPr/>
        </p:nvSpPr>
        <p:spPr>
          <a:xfrm>
            <a:off x="11620500" y="5572125"/>
            <a:ext cx="542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Cảm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giác</a:t>
            </a:r>
            <a:r>
              <a:rPr lang="en-US" sz="2400" dirty="0" spc="3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ti.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1620500" y="6667500"/>
            <a:ext cx="54292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850" b="1" dirty="0" spc="-1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Cách</a:t>
            </a:r>
            <a:r>
              <a:rPr lang="en-US" sz="2850" b="1" dirty="0" spc="2" kern="0">
                <a:solidFill>
                  <a:srgbClr val="A6D6C6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đọc</a:t>
            </a:r>
            <a:endParaRPr lang="en-US" sz="2850" dirty="0"/>
          </a:p>
        </p:txBody>
      </p:sp>
      <p:sp>
        <p:nvSpPr>
          <p:cNvPr id="11" name="Text 8"/>
          <p:cNvSpPr/>
          <p:nvPr/>
        </p:nvSpPr>
        <p:spPr>
          <a:xfrm>
            <a:off x="11620500" y="7381875"/>
            <a:ext cx="542925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Nguồn,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claim</a:t>
            </a:r>
            <a:r>
              <a:rPr lang="en-US" sz="2400" dirty="0" spc="-16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400" dirty="0" spc="0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2400" dirty="0" spc="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2400" dirty="0" spc="32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400" dirty="0" spc="1" kern="0">
                <a:solidFill>
                  <a:srgbClr val="F5F0E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cùng.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762000" y="9572625"/>
            <a:ext cx="16764000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3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DOI</a:t>
            </a:r>
            <a:r>
              <a:rPr lang="en-US" sz="1575" dirty="0" spc="-4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S4:10.1002/j.1556-6676.2014.00129.x</a:t>
            </a:r>
            <a:r>
              <a:rPr lang="en-US" sz="1575" dirty="0" spc="-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5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S5:10.1002/jcad.70056</a:t>
            </a:r>
            <a:endParaRPr lang="en-US" sz="1575" dirty="0"/>
          </a:p>
        </p:txBody>
      </p:sp>
      <p:sp>
        <p:nvSpPr>
          <p:cNvPr id="13" name="Text 10"/>
          <p:cNvSpPr/>
          <p:nvPr/>
        </p:nvSpPr>
        <p:spPr>
          <a:xfrm>
            <a:off x="762000" y="10001250"/>
            <a:ext cx="1676400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75" dirty="0" spc="-21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A02</a:t>
            </a:r>
            <a:r>
              <a:rPr lang="en-US" sz="1575" dirty="0" spc="0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Editorial</a:t>
            </a:r>
            <a:r>
              <a:rPr lang="en-US" sz="1575" dirty="0" spc="-7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Learning</a:t>
            </a:r>
            <a:r>
              <a:rPr lang="en-US" sz="1575" dirty="0" spc="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575" dirty="0" spc="-12" kern="0">
                <a:solidFill>
                  <a:srgbClr val="BDD3C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38/38</a:t>
            </a:r>
            <a:endParaRPr lang="en-US" sz="1575" dirty="0"/>
          </a:p>
        </p:txBody>
      </p:sp>
      <p:sp>
        <p:nvSpPr>
          <p:cNvPr id="14" name="Shape 1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5" name="Moda image moda-export-watermark-59d0fa66-ae23-493a-add2-330eada0b36c" descr="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38</Slides>
  <Notes>38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2026-10-24T15:32:00Z</dcterms:created>
  <dcterms:modified xsi:type="dcterms:W3CDTF">2026-10-24T15:32:00Z</dcterms:modified>
</cp:coreProperties>
</file>