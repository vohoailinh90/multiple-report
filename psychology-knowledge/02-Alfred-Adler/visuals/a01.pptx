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8288000" cy="10287000"/>
  <p:notesSz cx="10287000" cy="18288000"/>
  <p:embeddedFontLst>
    <p:embeddedFont>
      <p:font typeface="Be Vietnam Pro"/>
      <p:regular r:id="rId45"/>
    </p:embeddedFont>
    <p:embeddedFont>
      <p:font typeface="Bricolage Grotesque"/>
      <p:bold r:id="rId4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font" Target="fonts/font1.fntdata"/><Relationship Id="rId4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4-2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image" Target="../media/image-12-3.jpe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9-2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ohoailinh90/Multiple-report/blob/psychology/sample-and-coordination/psychology-knowledge/02-Alfred-Adler/lessons/01-cuoc-doi-va-khac-biet-voi-freud.md" TargetMode="External"/><Relationship Id="rId1" Type="http://schemas.openxmlformats.org/officeDocument/2006/relationships/image" Target="../media/image-37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ohoailinh90/Multiple-report/blob/psychology/sample-and-coordination/psychology-knowledge/02-Alfred-Adler/lessons/01-cuoc-doi-va-khac-biet-voi-freud.md" TargetMode="External"/><Relationship Id="rId1" Type="http://schemas.openxmlformats.org/officeDocument/2006/relationships/image" Target="../media/image-38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01500" y="0"/>
            <a:ext cx="6286500" cy="10287000"/>
          </a:xfrm>
          <a:prstGeom prst="rect">
            <a:avLst/>
          </a:prstGeom>
          <a:solidFill>
            <a:srgbClr val="14695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19125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A01 / PSYCHOLOGY KNOWLEDGE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2095500"/>
            <a:ext cx="1066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 spc="-2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Adler:</a:t>
            </a:r>
            <a:r>
              <a:rPr lang="en-US" sz="66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năng</a:t>
            </a:r>
            <a:r>
              <a:rPr lang="en-US" sz="6600" b="1" dirty="0" spc="-4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lực,</a:t>
            </a:r>
            <a:r>
              <a:rPr lang="en-US" sz="66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chỗ</a:t>
            </a:r>
            <a:r>
              <a:rPr lang="en-US" sz="6600" b="1" dirty="0" spc="1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đứng</a:t>
            </a:r>
            <a:endParaRPr lang="en-US" sz="6600" dirty="0"/>
          </a:p>
          <a:p>
            <a:pPr algn="l" indent="0" marL="0">
              <a:buNone/>
            </a:pPr>
            <a:r>
              <a:rPr lang="en-US" sz="6600" b="1" dirty="0" spc="-10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và</a:t>
            </a:r>
            <a:r>
              <a:rPr lang="en-US" sz="66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 hệ</a:t>
            </a:r>
            <a:r>
              <a:rPr lang="en-US" sz="66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cộng</a:t>
            </a:r>
            <a:r>
              <a:rPr lang="en-US" sz="6600" b="1" dirty="0" spc="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đồng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62000" y="5810250"/>
            <a:ext cx="10477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58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475" dirty="0" spc="-8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75" dirty="0" spc="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-9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3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75" dirty="0" spc="1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75" dirty="0" spc="8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75" dirty="0" spc="-13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75" dirty="0" spc="18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475" dirty="0" spc="-8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75" dirty="0" spc="-3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-4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75" dirty="0" spc="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75" dirty="0" spc="-17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75" dirty="0" spc="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75" dirty="0" spc="-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1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r>
              <a:rPr lang="en-US" sz="2475" dirty="0" spc="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-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 đặt</a:t>
            </a:r>
            <a:r>
              <a:rPr lang="en-US" sz="2475" dirty="0" spc="-1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75" dirty="0" spc="-13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75" dirty="0" spc="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75" dirty="0" spc="-3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75" dirty="0" spc="-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475" dirty="0" spc="-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-16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15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75" dirty="0" spc="-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</a:t>
            </a:r>
            <a:r>
              <a:rPr lang="en-US" sz="2475" dirty="0" spc="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75" dirty="0" spc="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18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75" dirty="0" spc="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475" dirty="0" spc="-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475" dirty="0" spc="8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75" dirty="0" spc="2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75" dirty="0" spc="-17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4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social</a:t>
            </a:r>
            <a:r>
              <a:rPr lang="en-US" sz="2475" dirty="0" spc="-25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interest.</a:t>
            </a:r>
            <a:r>
              <a:rPr lang="en-US" sz="2475" dirty="0" spc="-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75" dirty="0" spc="-3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75" dirty="0" spc="-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75" dirty="0" spc="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75" dirty="0" spc="-9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475" dirty="0" spc="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2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75" dirty="0" spc="-13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475" dirty="0" spc="-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r>
              <a:rPr lang="en-US" sz="2475" dirty="0" spc="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75" dirty="0" spc="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hiện</a:t>
            </a:r>
            <a:r>
              <a:rPr lang="en-US" sz="2475" dirty="0" spc="13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475" dirty="0" spc="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75" dirty="0" spc="8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75" dirty="0" spc="2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75" dirty="0" spc="-15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475" dirty="0" spc="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 quan</a:t>
            </a:r>
            <a:r>
              <a:rPr lang="en-US" sz="2475" dirty="0" spc="-2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75" dirty="0" spc="-17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quả</a:t>
            </a:r>
            <a:r>
              <a:rPr lang="en-US" sz="2475" dirty="0" spc="8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75" dirty="0" spc="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liệu;</a:t>
            </a:r>
            <a:r>
              <a:rPr lang="en-US" sz="2475" dirty="0" spc="1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dùng</a:t>
            </a:r>
            <a:r>
              <a:rPr lang="en-US" sz="2475" dirty="0" spc="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75" dirty="0" spc="-3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0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75" dirty="0" spc="14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9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75" dirty="0" spc="-9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6" kern="0">
                <a:solidFill>
                  <a:srgbClr val="D3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endParaRPr lang="en-US" sz="2475" dirty="0"/>
          </a:p>
        </p:txBody>
      </p:sp>
      <p:pic>
        <p:nvPicPr>
          <p:cNvPr id="6" name="Moda image rect-1792822905398-9455039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82500" y="1728556"/>
            <a:ext cx="5524500" cy="42581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73000" y="742950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Tư</a:t>
            </a:r>
            <a:r>
              <a:rPr lang="en-US" sz="225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liệu</a:t>
            </a:r>
            <a:r>
              <a:rPr lang="en-US" sz="225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lý</a:t>
            </a:r>
            <a:r>
              <a:rPr lang="en-US" sz="225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225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2250" b="1" dirty="0" spc="-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1912</a:t>
            </a:r>
            <a:endParaRPr lang="en-US" sz="2250" dirty="0"/>
          </a:p>
          <a:p>
            <a:pPr algn="l" indent="0" marL="0">
              <a:buNone/>
            </a:pPr>
            <a:r>
              <a:rPr lang="en-US" sz="2250" b="1" dirty="0" spc="-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Sơ</a:t>
            </a:r>
            <a:r>
              <a:rPr lang="en-US" sz="225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225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</a:t>
            </a:r>
            <a:r>
              <a:rPr lang="en-US" sz="225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Alfred</a:t>
            </a:r>
            <a:r>
              <a:rPr lang="en-US" sz="2250" b="1" dirty="0" spc="-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Adler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2573000" y="9048750"/>
            <a:ext cx="4953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Wikimedia</a:t>
            </a:r>
            <a:r>
              <a:rPr lang="en-US" sz="16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</a:t>
            </a:r>
            <a:r>
              <a:rPr lang="en-US" sz="16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</a:t>
            </a:r>
            <a:r>
              <a:rPr lang="en-US" sz="16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6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5c3b97af-0186-44fe-b2c9-f72d54f150e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🎯 A · LEARNING OBJECTIVES</a:t>
            </a:r>
            <a:endParaRPr lang="en-US" sz="1950" dirty="0"/>
          </a:p>
        </p:txBody>
      </p:sp>
      <p:pic>
        <p:nvPicPr>
          <p:cNvPr id="3" name="Moda flattened rect-1792822552083-73752276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Sau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bài này, bạn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r>
              <a:rPr lang="en-US" sz="4500" b="1" dirty="0" spc="-4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-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5275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9087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Định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vị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09575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Ai, lúc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400" dirty="0"/>
          </a:p>
        </p:txBody>
      </p:sp>
      <p:sp>
        <p:nvSpPr>
          <p:cNvPr id="8" name="Connector line-1792822552093-676528374"/>
          <p:cNvSpPr/>
          <p:nvPr/>
        </p:nvSpPr>
        <p:spPr>
          <a:xfrm>
            <a:off x="6000750" y="4191000"/>
            <a:ext cx="28575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6"/>
          <p:cNvSpPr/>
          <p:nvPr/>
        </p:nvSpPr>
        <p:spPr>
          <a:xfrm>
            <a:off x="6381750" y="323850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CDE1D7"/>
          </a:solidFill>
          <a:ln/>
        </p:spPr>
      </p:sp>
      <p:sp>
        <p:nvSpPr>
          <p:cNvPr id="10" name="Text 7"/>
          <p:cNvSpPr/>
          <p:nvPr/>
        </p:nvSpPr>
        <p:spPr>
          <a:xfrm>
            <a:off x="6648450" y="34766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Giải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thích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6648450" y="438150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 niệm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endParaRPr lang="en-US" sz="2400" dirty="0"/>
          </a:p>
        </p:txBody>
      </p:sp>
      <p:sp>
        <p:nvSpPr>
          <p:cNvPr id="12" name="Connector line-1792822552098-316468541"/>
          <p:cNvSpPr/>
          <p:nvPr/>
        </p:nvSpPr>
        <p:spPr>
          <a:xfrm>
            <a:off x="11620500" y="4476750"/>
            <a:ext cx="28575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0"/>
          <p:cNvSpPr/>
          <p:nvPr/>
        </p:nvSpPr>
        <p:spPr>
          <a:xfrm>
            <a:off x="12001500" y="352425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E7E0D4"/>
          </a:solidFill>
          <a:ln/>
        </p:spPr>
      </p:sp>
      <p:sp>
        <p:nvSpPr>
          <p:cNvPr id="14" name="Text 11"/>
          <p:cNvSpPr/>
          <p:nvPr/>
        </p:nvSpPr>
        <p:spPr>
          <a:xfrm>
            <a:off x="12268200" y="376237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Đánh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giá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2268200" y="466725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 các mốc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1911;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individual theo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cảnh;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-3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Freud,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hiệu.</a:t>
            </a:r>
            <a:r>
              <a:rPr lang="en-US" sz="2400" dirty="0" spc="-5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một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3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nhân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giáo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dục,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1650" dirty="0" spc="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02/38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28c5fe2-d97a-4a5a-a13c-bc26ecc41f0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HISTORICAL BACKGROUND</a:t>
            </a:r>
            <a:endParaRPr lang="en-US" sz="1950" dirty="0"/>
          </a:p>
        </p:txBody>
      </p:sp>
      <p:pic>
        <p:nvPicPr>
          <p:cNvPr id="3" name="Moda flattened rect-1792822911067-86930312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1870–1911: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bác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sĩ</a:t>
            </a:r>
            <a:r>
              <a:rPr lang="en-US" sz="4500" b="1" dirty="0" spc="-4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 bước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4500" b="1" dirty="0" spc="-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hóa</a:t>
            </a:r>
            <a:endParaRPr lang="en-US" sz="4500" dirty="0"/>
          </a:p>
        </p:txBody>
      </p:sp>
      <p:pic>
        <p:nvPicPr>
          <p:cNvPr id="5" name="Moda image rect-1792822911304-39095288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15264" y="3333750"/>
            <a:ext cx="5560971" cy="4286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8239125"/>
            <a:ext cx="6667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1650" dirty="0" spc="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Adler,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1912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Commons</a:t>
            </a:r>
            <a:r>
              <a:rPr lang="en-US" sz="1650" dirty="0" spc="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7810500" y="3000375"/>
            <a:ext cx="9334500" cy="428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62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Vienna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625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1870,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62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1895. Công</a:t>
            </a:r>
            <a:r>
              <a:rPr lang="en-US" sz="262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62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1907</a:t>
            </a:r>
            <a:r>
              <a:rPr lang="en-US" sz="262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 hụt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62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62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62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 phát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trừ.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Ông</a:t>
            </a:r>
            <a:r>
              <a:rPr lang="en-US" sz="262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625" dirty="0" spc="-4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1911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62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62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tiếp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cận</a:t>
            </a:r>
            <a:r>
              <a:rPr lang="en-US" sz="262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62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62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62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625" dirty="0" spc="2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62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62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tưởng;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62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62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 thơ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62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endParaRPr lang="en-US" sz="2625" dirty="0"/>
          </a:p>
        </p:txBody>
      </p:sp>
      <p:sp>
        <p:nvSpPr>
          <p:cNvPr id="8" name="Text 4"/>
          <p:cNvSpPr/>
          <p:nvPr/>
        </p:nvSpPr>
        <p:spPr>
          <a:xfrm>
            <a:off x="7810500" y="7620000"/>
            <a:ext cx="9334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1870</a:t>
            </a:r>
            <a:r>
              <a:rPr lang="en-US" sz="2250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250" dirty="0" spc="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1895</a:t>
            </a:r>
            <a:r>
              <a:rPr lang="en-US" sz="2250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Sinh</a:t>
            </a:r>
            <a:r>
              <a:rPr lang="en-US" sz="2250" dirty="0" spc="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Vienna;</a:t>
            </a:r>
            <a:r>
              <a:rPr lang="en-US" sz="2250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250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khoa.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5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1907</a:t>
            </a:r>
            <a:r>
              <a:rPr lang="en-US" sz="2250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7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7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1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Organminderwertigkeit.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1911</a:t>
            </a:r>
            <a:r>
              <a:rPr lang="en-US" sz="2250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4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250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250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250" dirty="0" spc="-28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1650" dirty="0" spc="-1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650" dirty="0" spc="-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lập/đổi tên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Horn,</a:t>
            </a:r>
            <a:r>
              <a:rPr lang="en-US" sz="1650" dirty="0" spc="-9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Biografie và</a:t>
            </a:r>
            <a:r>
              <a:rPr lang="en-US" sz="1650" dirty="0" spc="-2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Werke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03/38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57ff79c9-fa2e-4420-b1b5-3cd39244814c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LỊCH SỬ 1920–1937</a:t>
            </a:r>
            <a:endParaRPr lang="en-US" sz="1950" dirty="0"/>
          </a:p>
        </p:txBody>
      </p:sp>
      <p:pic>
        <p:nvPicPr>
          <p:cNvPr id="3" name="Moda flattened rect-1792822559920-53362905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Giáo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dục</a:t>
            </a:r>
            <a:r>
              <a:rPr lang="en-US" sz="4500" b="1" dirty="0" spc="-4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cộng</a:t>
            </a:r>
            <a:r>
              <a:rPr lang="en-US" sz="4500" b="1" dirty="0" spc="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đồng</a:t>
            </a:r>
            <a:r>
              <a:rPr lang="en-US" sz="4500" b="1" dirty="0" spc="2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</a:t>
            </a:r>
            <a:r>
              <a:rPr lang="en-US" sz="4500" b="1" dirty="0" spc="-3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vào</a:t>
            </a:r>
            <a:r>
              <a:rPr lang="en-US" sz="4500" b="1" dirty="0" spc="-3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chương</a:t>
            </a:r>
            <a:r>
              <a:rPr lang="en-US" sz="4500" b="1" dirty="0" spc="-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trình</a:t>
            </a:r>
            <a:endParaRPr lang="en-US" sz="4500" dirty="0"/>
          </a:p>
        </p:txBody>
      </p:sp>
      <p:pic>
        <p:nvPicPr>
          <p:cNvPr id="5" name="Moda image rect-1792822560199-29007977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67100" y="2952750"/>
            <a:ext cx="5857301" cy="3905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714375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1725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1725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725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725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725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725" dirty="0" spc="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đại,</a:t>
            </a:r>
            <a:r>
              <a:rPr lang="en-US" sz="1725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Vienna</a:t>
            </a:r>
            <a:r>
              <a:rPr lang="en-US" sz="1725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 niên</a:t>
            </a:r>
            <a:r>
              <a:rPr lang="en-US" sz="1725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1920.</a:t>
            </a:r>
            <a:endParaRPr lang="en-US" sz="1725" dirty="0"/>
          </a:p>
          <a:p>
            <a:pPr algn="l" indent="0" marL="0">
              <a:buNone/>
            </a:pPr>
            <a:r>
              <a:rPr lang="en-US" sz="1725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Quilia /</a:t>
            </a:r>
            <a:r>
              <a:rPr lang="en-US" sz="1725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725" dirty="0"/>
          </a:p>
        </p:txBody>
      </p:sp>
      <p:sp>
        <p:nvSpPr>
          <p:cNvPr id="7" name="Text 3"/>
          <p:cNvSpPr/>
          <p:nvPr/>
        </p:nvSpPr>
        <p:spPr>
          <a:xfrm>
            <a:off x="8572500" y="3000375"/>
            <a:ext cx="8667750" cy="509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5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Vienna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nhận</a:t>
            </a:r>
            <a:r>
              <a:rPr lang="en-US" sz="262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62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62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niên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1920.</a:t>
            </a:r>
            <a:r>
              <a:rPr lang="en-US" sz="262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Menschenkenntnis</a:t>
            </a:r>
            <a:r>
              <a:rPr lang="en-US" sz="262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62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1927,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62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62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 Anh</a:t>
            </a:r>
            <a:r>
              <a:rPr lang="en-US" sz="262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Understanding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Human</a:t>
            </a:r>
            <a:r>
              <a:rPr lang="en-US" sz="262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Nature.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Ông</a:t>
            </a:r>
            <a:r>
              <a:rPr lang="en-US" sz="262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62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Aberdeen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1937.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 dục cho</a:t>
            </a:r>
            <a:r>
              <a:rPr lang="en-US" sz="262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62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62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625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liệu; còn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625" dirty="0" spc="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tiếp cận</a:t>
            </a:r>
            <a:r>
              <a:rPr lang="en-US" sz="262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625" dirty="0" spc="-3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62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62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câu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62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62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625" dirty="0"/>
          </a:p>
        </p:txBody>
      </p:sp>
      <p:sp>
        <p:nvSpPr>
          <p:cNvPr id="8" name="Text 4"/>
          <p:cNvSpPr/>
          <p:nvPr/>
        </p:nvSpPr>
        <p:spPr>
          <a:xfrm>
            <a:off x="8572500" y="8334375"/>
            <a:ext cx="8667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1920s</a:t>
            </a:r>
            <a:r>
              <a:rPr lang="en-US" sz="2250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·</a:t>
            </a:r>
            <a:r>
              <a:rPr lang="en-US" sz="2250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1927</a:t>
            </a:r>
            <a:r>
              <a:rPr lang="en-US" sz="2250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·</a:t>
            </a:r>
            <a:r>
              <a:rPr lang="en-US" sz="2250" dirty="0" spc="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1937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1650" dirty="0" spc="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650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Biografie/Werke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 Thư mục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04/38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beb08f08-3606-4bf5-926a-062e1d6352b3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ĐỌC LỊCH SỬ TƯ TƯỞNG</a:t>
            </a:r>
            <a:endParaRPr lang="en-US" sz="1950" dirty="0"/>
          </a:p>
        </p:txBody>
      </p:sp>
      <p:pic>
        <p:nvPicPr>
          <p:cNvPr id="3" name="Moda flattened rect-1792822564004-19934903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1911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 chỉ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chuyện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thầy</a:t>
            </a:r>
            <a:r>
              <a:rPr lang="en-US" sz="4500" b="1" dirty="0" spc="-1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trò</a:t>
            </a:r>
            <a:r>
              <a:rPr lang="en-US" sz="4500" b="1" dirty="0" spc="-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bất hòa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5275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234E48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14325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Sự</a:t>
            </a:r>
            <a:r>
              <a:rPr lang="en-US" sz="2700" b="1" dirty="0" spc="4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715000" y="314325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3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Rời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1911.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143375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234E48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333875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2700" b="1" dirty="0" spc="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2700" b="1" dirty="0" spc="3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</a:t>
            </a:r>
            <a:r>
              <a:rPr lang="en-US" sz="2700" b="1" dirty="0" spc="-20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tưởng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715000" y="4333875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vị,</a:t>
            </a:r>
            <a:r>
              <a:rPr lang="en-US" sz="247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33400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234E48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52450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2700" b="1" dirty="0" spc="-1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chưa</a:t>
            </a:r>
            <a:r>
              <a:rPr lang="en-US" sz="2700" b="1" dirty="0" spc="0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biết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715000" y="552450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7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Chuyện</a:t>
            </a:r>
            <a:r>
              <a:rPr lang="en-US" sz="2400" dirty="0" spc="-3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“học</a:t>
            </a:r>
            <a:r>
              <a:rPr lang="en-US" sz="2400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thầy”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thích, hỏi</a:t>
            </a:r>
            <a:r>
              <a:rPr lang="en-US" sz="24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-2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quát?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gian;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650" dirty="0" spc="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bài, không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-1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650" dirty="0" spc="-5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650" dirty="0" spc="-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650" dirty="0" spc="-15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Adler/Freud.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[S1–S2]</a:t>
            </a:r>
            <a:r>
              <a:rPr lang="en-US" sz="1650" dirty="0" spc="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1650" dirty="0" spc="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1650" dirty="0" spc="-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1922f0e-96b6-41d2-b7de-06f68130509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NGUỒN VÀ KHOẢNG CÁCH</a:t>
            </a:r>
            <a:endParaRPr lang="en-US" sz="1950" dirty="0"/>
          </a:p>
        </p:txBody>
      </p:sp>
      <p:pic>
        <p:nvPicPr>
          <p:cNvPr id="3" name="Moda flattened rect-1792822567179-65750044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nói</a:t>
            </a:r>
            <a:r>
              <a:rPr lang="en-US" sz="4500" b="1" dirty="0" spc="-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gì,</a:t>
            </a:r>
            <a:r>
              <a:rPr lang="en-US" sz="4500" b="1" dirty="0" spc="-4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-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ta</a:t>
            </a:r>
            <a:r>
              <a:rPr lang="en-US" sz="4500" b="1" dirty="0" spc="-2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thực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sự</a:t>
            </a:r>
            <a:r>
              <a:rPr lang="en-US" sz="4500" b="1" dirty="0" spc="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 đọc</a:t>
            </a:r>
            <a:r>
              <a:rPr lang="en-US" sz="4500" b="1" dirty="0" spc="-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pic>
        <p:nvPicPr>
          <p:cNvPr id="5" name="Moda image rect-1792822567505-91183694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22582" y="3000375"/>
            <a:ext cx="5746337" cy="4429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76200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Adler,</a:t>
            </a:r>
            <a:r>
              <a:rPr lang="en-US" sz="1725" dirty="0" spc="-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725" dirty="0" spc="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1725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1725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725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1912 · Commons</a:t>
            </a:r>
            <a:r>
              <a:rPr lang="en-US" sz="1725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725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domain.</a:t>
            </a:r>
            <a:r>
              <a:rPr lang="en-US" sz="1725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725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725" dirty="0" spc="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725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725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1725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725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725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A01.</a:t>
            </a:r>
            <a:endParaRPr lang="en-US" sz="1725" dirty="0"/>
          </a:p>
        </p:txBody>
      </p:sp>
      <p:sp>
        <p:nvSpPr>
          <p:cNvPr id="7" name="Text 3"/>
          <p:cNvSpPr/>
          <p:nvPr/>
        </p:nvSpPr>
        <p:spPr>
          <a:xfrm>
            <a:off x="8572500" y="3000375"/>
            <a:ext cx="866775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62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625" dirty="0" spc="2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 sử.</a:t>
            </a:r>
            <a:r>
              <a:rPr lang="en-US" sz="262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Boeree</a:t>
            </a:r>
            <a:r>
              <a:rPr lang="en-US" sz="262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62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62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62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phái.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62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tuyển</a:t>
            </a:r>
            <a:r>
              <a:rPr lang="en-US" sz="262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62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Stein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62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62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62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62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sau,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phải giữ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r>
              <a:rPr lang="en-US" sz="262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Mind and</a:t>
            </a:r>
            <a:r>
              <a:rPr lang="en-US" sz="262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62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bản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chép,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62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in;</a:t>
            </a:r>
            <a:r>
              <a:rPr lang="en-US" sz="2625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62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62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62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62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62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62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62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62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62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62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62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ấn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625" dirty="0"/>
          </a:p>
        </p:txBody>
      </p:sp>
      <p:sp>
        <p:nvSpPr>
          <p:cNvPr id="8" name="Text 4"/>
          <p:cNvSpPr/>
          <p:nvPr/>
        </p:nvSpPr>
        <p:spPr>
          <a:xfrm>
            <a:off x="8572500" y="8286750"/>
            <a:ext cx="8667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</a:t>
            </a:r>
            <a:r>
              <a:rPr lang="en-US" sz="2250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250" dirty="0" spc="5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250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250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17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250" dirty="0" spc="1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650" dirty="0" spc="1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9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dirty="0" spc="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650" dirty="0" spc="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[S1–S4],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a01-research.md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06/38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2ef4e5ef-02f7-4cca-bd55-54e7f16e7797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CORE THEORY 1</a:t>
            </a:r>
            <a:endParaRPr lang="en-US" sz="1950" dirty="0"/>
          </a:p>
        </p:txBody>
      </p:sp>
      <p:pic>
        <p:nvPicPr>
          <p:cNvPr id="3" name="Moda flattened rect-1792822570578-87488469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Individual:</a:t>
            </a:r>
            <a:r>
              <a:rPr lang="en-US" sz="4500" b="1" dirty="0" spc="-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chỉnh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4500" b="1" dirty="0" spc="-1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hoàn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809625" y="2857500"/>
            <a:ext cx="6000750" cy="3762375"/>
          </a:xfrm>
          <a:prstGeom prst="ellipse">
            <a:avLst/>
          </a:prstGeom>
          <a:solidFill>
            <a:srgbClr val="234E48"/>
          </a:solidFill>
          <a:ln/>
        </p:spPr>
      </p:sp>
      <p:sp>
        <p:nvSpPr>
          <p:cNvPr id="6" name="Shape 3"/>
          <p:cNvSpPr/>
          <p:nvPr/>
        </p:nvSpPr>
        <p:spPr>
          <a:xfrm>
            <a:off x="1619250" y="3286125"/>
            <a:ext cx="4381500" cy="2905125"/>
          </a:xfrm>
          <a:prstGeom prst="ellipse">
            <a:avLst/>
          </a:prstGeom>
          <a:solidFill>
            <a:srgbClr val="326B5C"/>
          </a:solidFill>
          <a:ln/>
        </p:spPr>
      </p:sp>
      <p:sp>
        <p:nvSpPr>
          <p:cNvPr id="7" name="Shape 4"/>
          <p:cNvSpPr/>
          <p:nvPr/>
        </p:nvSpPr>
        <p:spPr>
          <a:xfrm>
            <a:off x="2619375" y="3810000"/>
            <a:ext cx="2381250" cy="1809750"/>
          </a:xfrm>
          <a:prstGeom prst="ellipse">
            <a:avLst/>
          </a:prstGeom>
          <a:solidFill>
            <a:srgbClr val="14695F"/>
          </a:solidFill>
          <a:ln/>
        </p:spPr>
      </p:sp>
      <p:sp>
        <p:nvSpPr>
          <p:cNvPr id="8" name="Text 5"/>
          <p:cNvSpPr/>
          <p:nvPr/>
        </p:nvSpPr>
        <p:spPr>
          <a:xfrm>
            <a:off x="2857500" y="428625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</a:t>
            </a:r>
            <a:r>
              <a:rPr lang="en-US" sz="285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8096250" y="2952750"/>
            <a:ext cx="2857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</a:t>
            </a:r>
            <a:r>
              <a:rPr lang="en-US" sz="2850" b="1" dirty="0" spc="-25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người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11239500" y="3000375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 nghĩ,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xúc,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8096250" y="4143375"/>
            <a:ext cx="2857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2850" b="1" dirty="0" spc="-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11239500" y="41910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đình,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8096250" y="5334000"/>
            <a:ext cx="2857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Hoàn</a:t>
            </a:r>
            <a:r>
              <a:rPr lang="en-US" sz="2850" b="1" dirty="0" spc="-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11239500" y="5381625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8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7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7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7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Individual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không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cắt.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nghĩ, cảm xúc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sống,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môi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hệ.</a:t>
            </a:r>
            <a:r>
              <a:rPr lang="en-US" sz="2400" dirty="0" spc="3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học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“lười”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sớm.</a:t>
            </a:r>
            <a:r>
              <a:rPr lang="en-US" sz="2400" dirty="0" spc="-6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làm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đúng;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 chọn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Holism</a:t>
            </a:r>
            <a:r>
              <a:rPr lang="en-US" sz="1650" dirty="0" spc="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15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4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650" dirty="0" spc="-1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650" dirty="0" spc="-1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xét,</a:t>
            </a:r>
            <a:r>
              <a:rPr lang="en-US" sz="1650" dirty="0" spc="5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7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Theory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650" dirty="0" spc="-9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Biografie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5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07/38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6890ec53-44fe-4c51-ac0c-5a84530d869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CORE THEORY 2</a:t>
            </a:r>
            <a:endParaRPr lang="en-US" sz="1950" dirty="0"/>
          </a:p>
        </p:txBody>
      </p:sp>
      <p:pic>
        <p:nvPicPr>
          <p:cNvPr id="3" name="Moda flattened rect-1792822573672-91102177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Mục tiêu</a:t>
            </a:r>
            <a:r>
              <a:rPr lang="en-US" sz="4500" b="1" dirty="0" spc="-2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tổ</a:t>
            </a:r>
            <a:r>
              <a:rPr lang="en-US" sz="4500" b="1" dirty="0" spc="-2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chức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hiện</a:t>
            </a:r>
            <a:r>
              <a:rPr lang="en-US" sz="4500" b="1" dirty="0" spc="-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tại,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2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kéo</a:t>
            </a:r>
            <a:r>
              <a:rPr lang="en-US" sz="4500" b="1" dirty="0" spc="-4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ngược</a:t>
            </a:r>
            <a:r>
              <a:rPr lang="en-US" sz="4500" b="1" dirty="0" spc="-1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thời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gian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4766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Hiện</a:t>
            </a:r>
            <a:r>
              <a:rPr lang="en-US" sz="2850" b="1" dirty="0" spc="-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tại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38150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endParaRPr lang="en-US" sz="2400" dirty="0"/>
          </a:p>
        </p:txBody>
      </p:sp>
      <p:sp>
        <p:nvSpPr>
          <p:cNvPr id="8" name="Connector line-1792822573680-490319683"/>
          <p:cNvSpPr/>
          <p:nvPr/>
        </p:nvSpPr>
        <p:spPr>
          <a:xfrm>
            <a:off x="6000750" y="4476750"/>
            <a:ext cx="28575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6"/>
          <p:cNvSpPr/>
          <p:nvPr/>
        </p:nvSpPr>
        <p:spPr>
          <a:xfrm>
            <a:off x="6381750" y="323850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CDE1D7"/>
          </a:solidFill>
          <a:ln/>
        </p:spPr>
      </p:sp>
      <p:sp>
        <p:nvSpPr>
          <p:cNvPr id="10" name="Text 7"/>
          <p:cNvSpPr/>
          <p:nvPr/>
        </p:nvSpPr>
        <p:spPr>
          <a:xfrm>
            <a:off x="6648450" y="34766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8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Lựa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chọn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6648450" y="438150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Chiến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đuổi.</a:t>
            </a:r>
            <a:endParaRPr lang="en-US" sz="2400" dirty="0"/>
          </a:p>
        </p:txBody>
      </p:sp>
      <p:sp>
        <p:nvSpPr>
          <p:cNvPr id="12" name="Connector line-1792822573683-130297698"/>
          <p:cNvSpPr/>
          <p:nvPr/>
        </p:nvSpPr>
        <p:spPr>
          <a:xfrm>
            <a:off x="11620500" y="4476750"/>
            <a:ext cx="28575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0"/>
          <p:cNvSpPr/>
          <p:nvPr/>
        </p:nvSpPr>
        <p:spPr>
          <a:xfrm>
            <a:off x="12001500" y="323850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E7E0D4"/>
          </a:solidFill>
          <a:ln/>
        </p:spPr>
      </p:sp>
      <p:sp>
        <p:nvSpPr>
          <p:cNvPr id="14" name="Text 11"/>
          <p:cNvSpPr/>
          <p:nvPr/>
        </p:nvSpPr>
        <p:spPr>
          <a:xfrm>
            <a:off x="12268200" y="34766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kiểm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2268200" y="438150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400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chỗ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đứng.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400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rõ.</a:t>
            </a:r>
            <a:r>
              <a:rPr lang="en-US" sz="2400" dirty="0" spc="-7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gian: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hôm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khảo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3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 bảo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đúng,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1650" dirty="0" spc="1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“mục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thật”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ấy.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Lifestyle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1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Teleology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 2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08/38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5ca53802-4567-4313-a143-52c444eb543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CORE THEORY 3</a:t>
            </a:r>
            <a:endParaRPr lang="en-US" sz="1950" dirty="0"/>
          </a:p>
        </p:txBody>
      </p:sp>
      <p:pic>
        <p:nvPicPr>
          <p:cNvPr id="3" name="Moda flattened rect-1792822873516-66382125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8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Vượt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khó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khác</a:t>
            </a:r>
            <a:r>
              <a:rPr lang="en-US" sz="4500" b="1" dirty="0" spc="-5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với</a:t>
            </a:r>
            <a:r>
              <a:rPr lang="en-US" sz="4500" b="1" dirty="0" spc="-4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vượt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lên</a:t>
            </a:r>
            <a:r>
              <a:rPr lang="en-US" sz="4500" b="1" dirty="0" spc="-1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trên</a:t>
            </a:r>
            <a:r>
              <a:rPr lang="en-US" sz="4500" b="1" dirty="0" spc="-3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người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khác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CDE1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Phát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triển năng</a:t>
            </a:r>
            <a:r>
              <a:rPr lang="en-US" sz="2850" b="1" dirty="0" spc="-2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lực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91625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9458325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Ưu thế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 nhân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9458325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62000" y="5524500"/>
            <a:ext cx="16525875" cy="952500"/>
          </a:xfrm>
          <a:prstGeom prst="roundRect">
            <a:avLst>
              <a:gd name="adj" fmla="val 12000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743575"/>
            <a:ext cx="428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Giữ</a:t>
            </a:r>
            <a:r>
              <a:rPr lang="en-US" sz="2625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mở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5619750" y="5715000"/>
            <a:ext cx="1123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tuyển,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đuổi</a:t>
            </a:r>
            <a:r>
              <a:rPr lang="en-US" sz="2400" dirty="0" spc="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cá nhân bằng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vậy,</a:t>
            </a:r>
            <a:r>
              <a:rPr lang="en-US" sz="2400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superiority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văn.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chăm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400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vượt.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nào;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thành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 trừ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cạnh</a:t>
            </a:r>
            <a:r>
              <a:rPr lang="en-US" sz="1650" dirty="0" spc="-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650" dirty="0" spc="-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Alfred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Adler;</a:t>
            </a:r>
            <a:r>
              <a:rPr lang="en-US" sz="1650" dirty="0" spc="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1650" dirty="0" spc="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5c6fab0a-86e0-4273-a84e-119d20ea86a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CORE THEORY 4</a:t>
            </a:r>
            <a:endParaRPr lang="en-US" sz="1950" dirty="0"/>
          </a:p>
        </p:txBody>
      </p:sp>
      <p:pic>
        <p:nvPicPr>
          <p:cNvPr id="3" name="Moda flattened rect-1792822579886-57663855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Social</a:t>
            </a:r>
            <a:r>
              <a:rPr lang="en-US" sz="4500" b="1" dirty="0" spc="-2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interest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phải</a:t>
            </a:r>
            <a:r>
              <a:rPr lang="en-US" sz="4500" b="1" dirty="0" spc="-3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mức</a:t>
            </a:r>
            <a:r>
              <a:rPr lang="en-US" sz="4500" b="1" dirty="0" spc="1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</a:t>
            </a:r>
            <a:r>
              <a:rPr lang="en-US" sz="4500" b="1" dirty="0" spc="-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hoạt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náo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CDE1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Hợp</a:t>
            </a:r>
            <a:r>
              <a:rPr lang="en-US" sz="2850" b="1" dirty="0" spc="-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tác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91625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9458325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Hướng</a:t>
            </a:r>
            <a:r>
              <a:rPr lang="en-US" sz="2850" b="1" dirty="0" spc="-17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ngoại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9458325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biểu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khác, không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đương.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62000" y="5524500"/>
            <a:ext cx="16525875" cy="952500"/>
          </a:xfrm>
          <a:prstGeom prst="roundRect">
            <a:avLst>
              <a:gd name="adj" fmla="val 12000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743575"/>
            <a:ext cx="428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Hoàn</a:t>
            </a:r>
            <a:r>
              <a:rPr lang="en-US" sz="2625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5619750" y="5715000"/>
            <a:ext cx="1123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gia?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Social</a:t>
            </a:r>
            <a:r>
              <a:rPr lang="en-US" sz="2400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interest,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Gemeinschaftsgefühl,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 nhân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r>
              <a:rPr lang="en-US" sz="2400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tốt;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 tự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có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không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phần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r>
              <a:rPr lang="en-US" sz="2400" dirty="0" spc="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ngoại.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thiếu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social</a:t>
            </a:r>
            <a:r>
              <a:rPr lang="en-US" sz="1650" dirty="0" spc="-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interest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650" dirty="0" spc="-1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dirty="0" spc="-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tội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 Social</a:t>
            </a:r>
            <a:r>
              <a:rPr lang="en-US" sz="1650" dirty="0" spc="-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Interest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Alfred</a:t>
            </a:r>
            <a:r>
              <a:rPr lang="en-US" sz="1650" dirty="0" spc="-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e9aca1f6-d931-4eaf-b971-920aafe8b59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PRIMARY TEXT, QUA BẢN CHÉP</a:t>
            </a:r>
            <a:endParaRPr lang="en-US" sz="1950" dirty="0"/>
          </a:p>
        </p:txBody>
      </p:sp>
      <p:pic>
        <p:nvPicPr>
          <p:cNvPr id="3" name="Moda flattened rect-1792822583170-72452176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00" b="1" dirty="0" spc="-3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chương</a:t>
            </a:r>
            <a:r>
              <a:rPr lang="en-US" sz="4500" b="1" dirty="0" spc="-1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Adler</a:t>
            </a:r>
            <a:r>
              <a:rPr lang="en-US" sz="4500" b="1" dirty="0" spc="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r>
              <a:rPr lang="en-US" sz="4500" b="1" dirty="0" spc="-4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cũng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-4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phản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biện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CDE1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Văn</a:t>
            </a: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Thân–tâm,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91625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9458325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Phạm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</a:t>
            </a:r>
            <a:r>
              <a:rPr lang="en-US" sz="2850" b="1" dirty="0" spc="-1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rộng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9458325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Khẳng</a:t>
            </a:r>
            <a:r>
              <a:rPr lang="en-US" sz="2400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xúc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62000" y="5524500"/>
            <a:ext cx="16525875" cy="952500"/>
          </a:xfrm>
          <a:prstGeom prst="roundRect">
            <a:avLst>
              <a:gd name="adj" fmla="val 12000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743575"/>
            <a:ext cx="428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Ranh</a:t>
            </a:r>
            <a:r>
              <a:rPr lang="en-US" sz="2625" b="1" dirty="0" spc="-1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giới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5619750" y="5715000"/>
            <a:ext cx="1123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Chức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Mind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thân–tâm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tâm,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400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3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 về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xúc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sống.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lịch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 trung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chỉ chọn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đại.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lập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3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nghiệm.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 thành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tội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lo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 ý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túng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Metadata</a:t>
            </a:r>
            <a:r>
              <a:rPr lang="en-US" sz="1650" dirty="0" spc="-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quán1931/1932/1933;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ấn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bản/trang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Mind and Body,</a:t>
            </a:r>
            <a:r>
              <a:rPr lang="en-US" sz="1650" dirty="0" spc="-9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selected-chapter-text-read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8111ef8-8d30-445a-b476-7fba5d83f49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SO SÁNH CÓ PHẠM VI</a:t>
            </a:r>
            <a:endParaRPr lang="en-US" sz="1950" dirty="0"/>
          </a:p>
        </p:txBody>
      </p:sp>
      <p:pic>
        <p:nvPicPr>
          <p:cNvPr id="3" name="Moda flattened rect-1792822917160-86712741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Adler</a:t>
            </a:r>
            <a:r>
              <a:rPr lang="en-US" sz="4500" b="1" dirty="0" spc="-4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-1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Freud:</a:t>
            </a:r>
            <a:r>
              <a:rPr lang="en-US" sz="4500" b="1" dirty="0" spc="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r>
              <a:rPr lang="en-US" sz="4500" b="1" dirty="0" spc="-1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trọng</a:t>
            </a:r>
            <a:r>
              <a:rPr lang="en-US" sz="4500" b="1" dirty="0" spc="-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tâm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4500" dirty="0"/>
          </a:p>
        </p:txBody>
      </p:sp>
      <p:pic>
        <p:nvPicPr>
          <p:cNvPr id="5" name="Moda image rect-1792822917458-23841665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2000" y="3829923"/>
            <a:ext cx="2667000" cy="2055653"/>
          </a:xfrm>
          <a:prstGeom prst="rect">
            <a:avLst/>
          </a:prstGeom>
        </p:spPr>
      </p:pic>
      <p:pic>
        <p:nvPicPr>
          <p:cNvPr id="6" name="Moda image rect-1792822917770-132424945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4987" y="3000375"/>
            <a:ext cx="2561776" cy="37147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2000" y="7096125"/>
            <a:ext cx="57150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Adler:</a:t>
            </a: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650" dirty="0" spc="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1912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</a:t>
            </a:r>
            <a:r>
              <a:rPr lang="en-US" sz="1650" dirty="0" spc="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 spc="-2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Freud:</a:t>
            </a: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Halberstadt,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1921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Commons</a:t>
            </a:r>
            <a:r>
              <a:rPr lang="en-US" sz="1650" dirty="0" spc="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7810500" y="3000375"/>
            <a:ext cx="9429750" cy="442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62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Adlerian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62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r>
              <a:rPr lang="en-US" sz="262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62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625" dirty="0" spc="-3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62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II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1910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62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đột,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 nén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chống cự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62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625" dirty="0" spc="-2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r>
              <a:rPr lang="en-US" sz="262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62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62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62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chọn,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62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62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62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62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62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khứ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625" dirty="0" spc="-3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quan</a:t>
            </a:r>
            <a:r>
              <a:rPr lang="en-US" sz="262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62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62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62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endParaRPr lang="en-US" sz="2625" dirty="0"/>
          </a:p>
        </p:txBody>
      </p:sp>
      <p:sp>
        <p:nvSpPr>
          <p:cNvPr id="9" name="Text 4"/>
          <p:cNvSpPr/>
          <p:nvPr/>
        </p:nvSpPr>
        <p:spPr>
          <a:xfrm>
            <a:off x="7810500" y="7715250"/>
            <a:ext cx="9429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Adler:</a:t>
            </a:r>
            <a:r>
              <a:rPr lang="en-US" sz="2475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-17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475" dirty="0"/>
          </a:p>
          <a:p>
            <a:pPr algn="l" indent="0" marL="0">
              <a:buNone/>
            </a:pPr>
            <a:r>
              <a:rPr lang="en-US" sz="2475" dirty="0" spc="-38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Freud,</a:t>
            </a:r>
            <a:r>
              <a:rPr lang="en-US" sz="2475" dirty="0" spc="-29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</a:t>
            </a:r>
            <a:r>
              <a:rPr lang="en-US" sz="2475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II:</a:t>
            </a:r>
            <a:r>
              <a:rPr lang="en-US" sz="2475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475" dirty="0" spc="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475" dirty="0" spc="-16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 nén</a:t>
            </a:r>
            <a:endParaRPr lang="en-US" sz="2475" dirty="0"/>
          </a:p>
        </p:txBody>
      </p:sp>
      <p:sp>
        <p:nvSpPr>
          <p:cNvPr id="10" name="Text 5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650" dirty="0" spc="-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đúng/sai;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-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chân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650" dirty="0" spc="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địch.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[S1–S4],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650" dirty="0" spc="-2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1650" dirty="0" spc="-1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II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12/38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d230a26f-15fd-4ac0-a149-507121211734" descr="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PSYCHOLOGICAL MECHANISM</a:t>
            </a:r>
            <a:endParaRPr lang="en-US" sz="1950" dirty="0"/>
          </a:p>
        </p:txBody>
      </p:sp>
      <p:pic>
        <p:nvPicPr>
          <p:cNvPr id="3" name="Moda flattened rect-1792822600128-83449376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Bản</a:t>
            </a:r>
            <a:r>
              <a:rPr lang="en-US" sz="4500" b="1" dirty="0" spc="1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4500" b="1" dirty="0" spc="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cơ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chế: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khó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khăn</a:t>
            </a:r>
            <a:r>
              <a:rPr lang="en-US" sz="4500" b="1" dirty="0" spc="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đến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phản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hồi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234E48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4766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1–2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38150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Nhiệm vụ → ý nghĩa được gán.</a:t>
            </a:r>
            <a:endParaRPr lang="en-US" sz="2400" dirty="0"/>
          </a:p>
        </p:txBody>
      </p:sp>
      <p:sp>
        <p:nvSpPr>
          <p:cNvPr id="8" name="Connector line-1792822600136-527775105"/>
          <p:cNvSpPr/>
          <p:nvPr/>
        </p:nvSpPr>
        <p:spPr>
          <a:xfrm>
            <a:off x="6000750" y="4476750"/>
            <a:ext cx="28575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6"/>
          <p:cNvSpPr/>
          <p:nvPr/>
        </p:nvSpPr>
        <p:spPr>
          <a:xfrm>
            <a:off x="6381750" y="323850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234E48"/>
          </a:solidFill>
          <a:ln/>
        </p:spPr>
      </p:sp>
      <p:sp>
        <p:nvSpPr>
          <p:cNvPr id="10" name="Text 7"/>
          <p:cNvSpPr/>
          <p:nvPr/>
        </p:nvSpPr>
        <p:spPr>
          <a:xfrm>
            <a:off x="6648450" y="34766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3–4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6648450" y="438150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 giả định → chiến lược.</a:t>
            </a:r>
            <a:endParaRPr lang="en-US" sz="2400" dirty="0"/>
          </a:p>
        </p:txBody>
      </p:sp>
      <p:sp>
        <p:nvSpPr>
          <p:cNvPr id="12" name="Connector line-1792822600140-288256666"/>
          <p:cNvSpPr/>
          <p:nvPr/>
        </p:nvSpPr>
        <p:spPr>
          <a:xfrm>
            <a:off x="11620500" y="4476750"/>
            <a:ext cx="28575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0"/>
          <p:cNvSpPr/>
          <p:nvPr/>
        </p:nvSpPr>
        <p:spPr>
          <a:xfrm>
            <a:off x="12001500" y="323850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234E48"/>
          </a:solidFill>
          <a:ln/>
        </p:spPr>
      </p:sp>
      <p:sp>
        <p:nvSpPr>
          <p:cNvPr id="14" name="Text 11"/>
          <p:cNvSpPr/>
          <p:nvPr/>
        </p:nvSpPr>
        <p:spPr>
          <a:xfrm>
            <a:off x="12268200" y="34766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5–6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2268200" y="438150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 → xem xét lại.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giảng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 gồm gặp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 an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đứng,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hồi.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-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xuất,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 Cần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cạnh,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niềm tin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650" dirty="0" spc="-5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650" dirty="0" spc="14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650" dirty="0" spc="-9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650" dirty="0" spc="-7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1650" dirty="0" spc="7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650" dirty="0" spc="14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giảng</a:t>
            </a:r>
            <a:r>
              <a:rPr lang="en-US" sz="1650" dirty="0" spc="-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dạy,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[S3–S4],</a:t>
            </a:r>
            <a:r>
              <a:rPr lang="en-US" sz="1650" dirty="0" spc="-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13/38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4df8798-3d7a-4ab5-97a3-8ac01fc2039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NHIỆM VỤ VÀ TỰ ĐÁNH GIÁ</a:t>
            </a:r>
            <a:endParaRPr lang="en-US" sz="1950" dirty="0"/>
          </a:p>
        </p:txBody>
      </p:sp>
      <p:pic>
        <p:nvPicPr>
          <p:cNvPr id="3" name="Moda flattened rect-1792822603710-62725179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6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Bước</a:t>
            </a:r>
            <a:r>
              <a:rPr lang="en-US" sz="4500" b="1" dirty="0" spc="-2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1–2:</a:t>
            </a:r>
            <a:r>
              <a:rPr lang="en-US" sz="4500" b="1" dirty="0" spc="-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khó khăn,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hai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00" b="1" dirty="0" spc="-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gán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667125"/>
            <a:ext cx="4476750" cy="2190750"/>
          </a:xfrm>
          <a:prstGeom prst="roundRect">
            <a:avLst>
              <a:gd name="adj" fmla="val 5217"/>
            </a:avLst>
          </a:prstGeom>
          <a:solidFill>
            <a:srgbClr val="CDE1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905250"/>
            <a:ext cx="3943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Sự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810125"/>
            <a:ext cx="3943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572500" y="2857500"/>
            <a:ext cx="8572500" cy="1714500"/>
          </a:xfrm>
          <a:prstGeom prst="roundRect">
            <a:avLst>
              <a:gd name="adj" fmla="val 6667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8839200" y="3095625"/>
            <a:ext cx="8039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Ý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2850" b="1" dirty="0" spc="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8839200" y="4000500"/>
            <a:ext cx="8039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8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572500" y="4953000"/>
            <a:ext cx="8572500" cy="1714500"/>
          </a:xfrm>
          <a:prstGeom prst="roundRect">
            <a:avLst>
              <a:gd name="adj" fmla="val 6667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8839200" y="5191125"/>
            <a:ext cx="8039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Ý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285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8839200" y="6096000"/>
            <a:ext cx="8039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2400" dirty="0"/>
          </a:p>
        </p:txBody>
      </p:sp>
      <p:sp>
        <p:nvSpPr>
          <p:cNvPr id="14" name="Connector line-1792822603720-574995208"/>
          <p:cNvSpPr/>
          <p:nvPr/>
        </p:nvSpPr>
        <p:spPr>
          <a:xfrm>
            <a:off x="5238750" y="4762500"/>
            <a:ext cx="17145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5" name="Connector line-1792822603720-653167982"/>
          <p:cNvSpPr/>
          <p:nvPr/>
        </p:nvSpPr>
        <p:spPr>
          <a:xfrm>
            <a:off x="6953250" y="3714750"/>
            <a:ext cx="0" cy="209550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6" name="Connector line-1792822603720-466384084"/>
          <p:cNvSpPr/>
          <p:nvPr/>
        </p:nvSpPr>
        <p:spPr>
          <a:xfrm>
            <a:off x="6953250" y="3714750"/>
            <a:ext cx="15240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822603720-550756616"/>
          <p:cNvSpPr/>
          <p:nvPr/>
        </p:nvSpPr>
        <p:spPr>
          <a:xfrm>
            <a:off x="6953250" y="5810250"/>
            <a:ext cx="15240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5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 kỹ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tôn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câu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r>
              <a:rPr lang="en-US" sz="2400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2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400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suy.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có</a:t>
            </a:r>
            <a:r>
              <a:rPr lang="en-US" sz="2400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 năng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D1–D2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Minh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14/38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4f33ce5-8c65-49a9-a980-848ec693320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MỤC TIÊU VÀ CÁCH ỨNG PHÓ</a:t>
            </a:r>
            <a:endParaRPr lang="en-US" sz="1950" dirty="0"/>
          </a:p>
        </p:txBody>
      </p:sp>
      <p:pic>
        <p:nvPicPr>
          <p:cNvPr id="3" name="Moda flattened rect-1792822606460-16837179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6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Bước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3–4: từ</a:t>
            </a:r>
            <a:r>
              <a:rPr lang="en-US" sz="4500" b="1" dirty="0" spc="-3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hướng</a:t>
            </a:r>
            <a:r>
              <a:rPr lang="en-US" sz="4500" b="1" dirty="0" spc="-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tìm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an</a:t>
            </a:r>
            <a:r>
              <a:rPr lang="en-US" sz="4500" b="1" dirty="0" spc="-2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toàn</a:t>
            </a:r>
            <a:r>
              <a:rPr lang="en-US" sz="4500" b="1" dirty="0" spc="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đến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chiến</a:t>
            </a:r>
            <a:r>
              <a:rPr lang="en-US" sz="4500" b="1" dirty="0" spc="-5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lược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Học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thêm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38175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CDE1D7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Xin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hỗ</a:t>
            </a:r>
            <a:r>
              <a:rPr lang="en-US" sz="2850" b="1" dirty="0" spc="-1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trợ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200150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Tránh/kiểm</a:t>
            </a:r>
            <a:r>
              <a:rPr lang="en-US" sz="2850" b="1" dirty="0" spc="-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soát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 nhân có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dirty="0" spc="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 hỗ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trợ,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 Danh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bệnh.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hệ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bằng,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 không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niềm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-1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650" dirty="0" spc="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D3–D4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Mô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b253a09-45e7-44a1-81d0-d52105570d5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VÒNG PHẢN HỒI</a:t>
            </a:r>
            <a:endParaRPr lang="en-US" sz="1950" dirty="0"/>
          </a:p>
        </p:txBody>
      </p:sp>
      <p:pic>
        <p:nvPicPr>
          <p:cNvPr id="3" name="Moda flattened rect-1792822609606-2705295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6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Bước</a:t>
            </a:r>
            <a:r>
              <a:rPr lang="en-US" sz="4500" b="1" dirty="0" spc="-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5–6: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phản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hồi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giữ</a:t>
            </a:r>
            <a:r>
              <a:rPr lang="en-US" sz="4500" b="1" dirty="0" spc="-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hoặc</a:t>
            </a:r>
            <a:r>
              <a:rPr lang="en-US" sz="4500" b="1" dirty="0" spc="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chiến</a:t>
            </a:r>
            <a:r>
              <a:rPr lang="en-US" sz="4500" b="1" dirty="0" spc="-5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lược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95625"/>
            <a:ext cx="5191125" cy="2428875"/>
          </a:xfrm>
          <a:prstGeom prst="roundRect">
            <a:avLst>
              <a:gd name="adj" fmla="val 4706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3337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Ngắn</a:t>
            </a: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238625"/>
            <a:ext cx="46577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381750" y="3095625"/>
            <a:ext cx="5191125" cy="2428875"/>
          </a:xfrm>
          <a:prstGeom prst="roundRect">
            <a:avLst>
              <a:gd name="adj" fmla="val 4706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3337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Dài</a:t>
            </a:r>
            <a:r>
              <a:rPr lang="en-US" sz="2850" b="1" dirty="0" spc="-1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hơn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238625"/>
            <a:ext cx="46577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 hội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2001500" y="3095625"/>
            <a:ext cx="5191125" cy="2428875"/>
          </a:xfrm>
          <a:prstGeom prst="roundRect">
            <a:avLst>
              <a:gd name="adj" fmla="val 4706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3337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Dữ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r>
              <a:rPr lang="en-US" sz="2850" b="1" dirty="0" spc="-1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mới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238625"/>
            <a:ext cx="465772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400" dirty="0"/>
          </a:p>
        </p:txBody>
      </p:sp>
      <p:sp>
        <p:nvSpPr>
          <p:cNvPr id="14" name="Connector line-1792822609615-528843983"/>
          <p:cNvSpPr/>
          <p:nvPr/>
        </p:nvSpPr>
        <p:spPr>
          <a:xfrm>
            <a:off x="5953125" y="4333875"/>
            <a:ext cx="333375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5" name="Connector line-1792822609616-776251511"/>
          <p:cNvSpPr/>
          <p:nvPr/>
        </p:nvSpPr>
        <p:spPr>
          <a:xfrm>
            <a:off x="11572875" y="4333875"/>
            <a:ext cx="333375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6" name="Connector line-1792822609616-339203606"/>
          <p:cNvSpPr/>
          <p:nvPr/>
        </p:nvSpPr>
        <p:spPr>
          <a:xfrm>
            <a:off x="14573250" y="5715000"/>
            <a:ext cx="0" cy="47625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7" name="Connector line-1792822609616-138514244"/>
          <p:cNvSpPr/>
          <p:nvPr/>
        </p:nvSpPr>
        <p:spPr>
          <a:xfrm flipH="1">
            <a:off x="3333750" y="6191250"/>
            <a:ext cx="112395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8" name="Connector line-1792822609616-239061270"/>
          <p:cNvSpPr/>
          <p:nvPr/>
        </p:nvSpPr>
        <p:spPr>
          <a:xfrm flipV="1">
            <a:off x="3333750" y="5715000"/>
            <a:ext cx="0" cy="47625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6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hội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hiểu.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gia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-3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thích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 ý hơn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“em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chống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viên”.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mọi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giá;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 khả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ích.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 vòng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650" dirty="0" spc="-1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650" dirty="0" spc="1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D5–D6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giảng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16/38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300d6b4c-e6e1-454a-9697-33354b85a2e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PHẢN BIỆN PHƯƠNG PHÁP</a:t>
            </a:r>
            <a:endParaRPr lang="en-US" sz="1950" dirty="0"/>
          </a:p>
        </p:txBody>
      </p:sp>
      <p:pic>
        <p:nvPicPr>
          <p:cNvPr id="3" name="Moda flattened rect-1792822612893-65625062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Khi</a:t>
            </a:r>
            <a:r>
              <a:rPr lang="en-US" sz="4500" b="1" dirty="0" spc="-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“mục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tiêu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bí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mật” làm giả</a:t>
            </a: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 sai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667125"/>
            <a:ext cx="4476750" cy="2190750"/>
          </a:xfrm>
          <a:prstGeom prst="roundRect">
            <a:avLst>
              <a:gd name="adj" fmla="val 5217"/>
            </a:avLst>
          </a:prstGeom>
          <a:solidFill>
            <a:srgbClr val="326B5C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905250"/>
            <a:ext cx="3943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Dễ</a:t>
            </a:r>
            <a:r>
              <a:rPr lang="en-US" sz="2850" b="1" dirty="0" spc="-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mắc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810125"/>
            <a:ext cx="3943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 thích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-3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572500" y="2857500"/>
            <a:ext cx="8572500" cy="1714500"/>
          </a:xfrm>
          <a:prstGeom prst="roundRect">
            <a:avLst>
              <a:gd name="adj" fmla="val 6667"/>
            </a:avLst>
          </a:prstGeom>
          <a:solidFill>
            <a:srgbClr val="234E48"/>
          </a:solidFill>
          <a:ln/>
        </p:spPr>
      </p:sp>
      <p:sp>
        <p:nvSpPr>
          <p:cNvPr id="9" name="Text 6"/>
          <p:cNvSpPr/>
          <p:nvPr/>
        </p:nvSpPr>
        <p:spPr>
          <a:xfrm>
            <a:off x="8839200" y="3095625"/>
            <a:ext cx="8039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2850" b="1" dirty="0" spc="-3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2850" b="1" dirty="0" spc="-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kiểm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8839200" y="4000500"/>
            <a:ext cx="8039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ý?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572500" y="4953000"/>
            <a:ext cx="8572500" cy="1714500"/>
          </a:xfrm>
          <a:prstGeom prst="roundRect">
            <a:avLst>
              <a:gd name="adj" fmla="val 6667"/>
            </a:avLst>
          </a:prstGeom>
          <a:solidFill>
            <a:srgbClr val="234E48"/>
          </a:solidFill>
          <a:ln/>
        </p:spPr>
      </p:sp>
      <p:sp>
        <p:nvSpPr>
          <p:cNvPr id="12" name="Text 9"/>
          <p:cNvSpPr/>
          <p:nvPr/>
        </p:nvSpPr>
        <p:spPr>
          <a:xfrm>
            <a:off x="8839200" y="5191125"/>
            <a:ext cx="8039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Nguyên</a:t>
            </a:r>
            <a:r>
              <a:rPr lang="en-US" sz="2850" b="1" dirty="0" spc="-7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tắc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8839200" y="6096000"/>
            <a:ext cx="8039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14" name="Connector line-1792822612901-380612094"/>
          <p:cNvSpPr/>
          <p:nvPr/>
        </p:nvSpPr>
        <p:spPr>
          <a:xfrm>
            <a:off x="5238750" y="4762500"/>
            <a:ext cx="17145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5" name="Connector line-1792822612902-367576499"/>
          <p:cNvSpPr/>
          <p:nvPr/>
        </p:nvSpPr>
        <p:spPr>
          <a:xfrm>
            <a:off x="6953250" y="3714750"/>
            <a:ext cx="0" cy="209550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6" name="Connector line-1792822612902-82753678"/>
          <p:cNvSpPr/>
          <p:nvPr/>
        </p:nvSpPr>
        <p:spPr>
          <a:xfrm>
            <a:off x="6953250" y="3714750"/>
            <a:ext cx="15240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822612902-667538867"/>
          <p:cNvSpPr/>
          <p:nvPr/>
        </p:nvSpPr>
        <p:spPr>
          <a:xfrm>
            <a:off x="6953250" y="5810250"/>
            <a:ext cx="15240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5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tiêu, còn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thầm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-3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r>
              <a:rPr lang="en-US" sz="2400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tôn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bằng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 hiểu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thân.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mời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-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1650" dirty="0" spc="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1650" dirty="0" spc="1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-6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650" dirty="0" spc="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dối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4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Phản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</a:t>
            </a:r>
            <a:r>
              <a:rPr lang="en-US" sz="1650" dirty="0" spc="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650" dirty="0" spc="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17/38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798b216-c103-455f-81bb-911b42b344e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TÌNH HUỐNG GIẢ ĐỊNH 1</a:t>
            </a:r>
            <a:endParaRPr lang="en-US" sz="1950" dirty="0"/>
          </a:p>
        </p:txBody>
      </p:sp>
      <p:pic>
        <p:nvPicPr>
          <p:cNvPr id="3" name="Moda flattened rect-1792822615927-65662650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1: Hà</a:t>
            </a:r>
            <a:r>
              <a:rPr lang="en-US" sz="4500" b="1" dirty="0" spc="-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ngại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phát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âm</a:t>
            </a:r>
            <a:r>
              <a:rPr lang="en-US" sz="4500" b="1" dirty="0" spc="-2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ngoại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ngữ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38175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CDE1D7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 ở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giá?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200150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Tránh</a:t>
            </a:r>
            <a:r>
              <a:rPr lang="en-US" sz="2850" b="1" dirty="0" spc="-2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 lặng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complex.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thuật;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 phát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hiểu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 càng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inferiority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complex.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 nên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thiếu,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khuôn phản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lời</a:t>
            </a:r>
            <a:r>
              <a:rPr lang="en-US" sz="1650" dirty="0" spc="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</a:t>
            </a:r>
            <a:r>
              <a:rPr lang="en-US" sz="1650" dirty="0" spc="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E1 ·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e714dcf5-bdac-46e3-a006-69c76cca2df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TÌNH HUỐNG GIẢ ĐỊNH 2</a:t>
            </a:r>
            <a:endParaRPr lang="en-US" sz="1950" dirty="0"/>
          </a:p>
        </p:txBody>
      </p:sp>
      <p:pic>
        <p:nvPicPr>
          <p:cNvPr id="3" name="Moda flattened rect-1792822619981-68771436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2: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Minh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luôn nhận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thêm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việc</a:t>
            </a:r>
            <a:endParaRPr lang="en-US" sz="4500" dirty="0"/>
          </a:p>
        </p:txBody>
      </p:sp>
      <p:pic>
        <p:nvPicPr>
          <p:cNvPr id="5" name="Moda image rect-1792822620307-77874091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12031" y="2952750"/>
            <a:ext cx="6357938" cy="423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7477125"/>
            <a:ext cx="685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1725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1725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 làm</a:t>
            </a:r>
            <a:r>
              <a:rPr lang="en-US" sz="1725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 không</a:t>
            </a:r>
            <a:r>
              <a:rPr lang="en-US" sz="1725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725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1725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Minh.</a:t>
            </a:r>
            <a:endParaRPr lang="en-US" sz="1725" dirty="0"/>
          </a:p>
          <a:p>
            <a:pPr algn="l" indent="0" marL="0">
              <a:buNone/>
            </a:pPr>
            <a:r>
              <a:rPr lang="en-US" sz="1725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Dylan Gillis</a:t>
            </a:r>
            <a:r>
              <a:rPr lang="en-US" sz="1725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725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725" dirty="0"/>
          </a:p>
        </p:txBody>
      </p:sp>
      <p:sp>
        <p:nvSpPr>
          <p:cNvPr id="7" name="Text 3"/>
          <p:cNvSpPr/>
          <p:nvPr/>
        </p:nvSpPr>
        <p:spPr>
          <a:xfrm>
            <a:off x="8667750" y="3000375"/>
            <a:ext cx="8572500" cy="509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có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62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 với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 năng,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625" dirty="0" spc="-2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62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 Cũng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62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62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thiếu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62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nguyện.</a:t>
            </a:r>
            <a:r>
              <a:rPr lang="en-US" sz="262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</a:t>
            </a:r>
            <a:r>
              <a:rPr lang="en-US" sz="2625" dirty="0" spc="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62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khó. Không</a:t>
            </a:r>
            <a:r>
              <a:rPr lang="en-US" sz="262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62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lao</a:t>
            </a:r>
            <a:r>
              <a:rPr lang="en-US" sz="262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62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 niềm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62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vì</a:t>
            </a:r>
            <a:r>
              <a:rPr lang="en-US" sz="262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62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62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62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62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62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62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2625" dirty="0"/>
          </a:p>
        </p:txBody>
      </p:sp>
      <p:sp>
        <p:nvSpPr>
          <p:cNvPr id="8" name="Text 4"/>
          <p:cNvSpPr/>
          <p:nvPr/>
        </p:nvSpPr>
        <p:spPr>
          <a:xfrm>
            <a:off x="8667750" y="8286750"/>
            <a:ext cx="857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9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250" dirty="0" spc="-3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250" dirty="0" spc="5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250" dirty="0" spc="1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dirty="0" spc="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1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nguyện</a:t>
            </a:r>
            <a:r>
              <a:rPr lang="en-US" sz="2250" dirty="0" spc="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250" dirty="0" spc="17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-9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650" dirty="0" spc="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E2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Do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19/38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049cef68-919b-43a7-b796-d20f1b352859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TÌNH HUỐNG GIẢ ĐỊNH 3</a:t>
            </a:r>
            <a:endParaRPr lang="en-US" sz="1950" dirty="0"/>
          </a:p>
        </p:txBody>
      </p:sp>
      <p:pic>
        <p:nvPicPr>
          <p:cNvPr id="3" name="Moda flattened rect-1792822623172-70491614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 3: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hai anh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em</a:t>
            </a:r>
            <a:r>
              <a:rPr lang="en-US" sz="4500" b="1" dirty="0" spc="-4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khuôn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thứ tự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sinh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4766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Biểu</a:t>
            </a: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hiện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38150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im.</a:t>
            </a:r>
            <a:endParaRPr lang="en-US" sz="2400" dirty="0"/>
          </a:p>
        </p:txBody>
      </p:sp>
      <p:sp>
        <p:nvSpPr>
          <p:cNvPr id="8" name="Connector line-1792822623176-932683667"/>
          <p:cNvSpPr/>
          <p:nvPr/>
        </p:nvSpPr>
        <p:spPr>
          <a:xfrm>
            <a:off x="6000750" y="4476750"/>
            <a:ext cx="28575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6"/>
          <p:cNvSpPr/>
          <p:nvPr/>
        </p:nvSpPr>
        <p:spPr>
          <a:xfrm>
            <a:off x="6381750" y="323850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CDE1D7"/>
          </a:solidFill>
          <a:ln/>
        </p:spPr>
      </p:sp>
      <p:sp>
        <p:nvSpPr>
          <p:cNvPr id="10" name="Text 7"/>
          <p:cNvSpPr/>
          <p:nvPr/>
        </p:nvSpPr>
        <p:spPr>
          <a:xfrm>
            <a:off x="6648450" y="34766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Giải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thích khác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6648450" y="438150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làm.</a:t>
            </a:r>
            <a:endParaRPr lang="en-US" sz="2400" dirty="0"/>
          </a:p>
        </p:txBody>
      </p:sp>
      <p:sp>
        <p:nvSpPr>
          <p:cNvPr id="12" name="Connector line-1792822623178-260940888"/>
          <p:cNvSpPr/>
          <p:nvPr/>
        </p:nvSpPr>
        <p:spPr>
          <a:xfrm>
            <a:off x="11620500" y="4476750"/>
            <a:ext cx="28575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0"/>
          <p:cNvSpPr/>
          <p:nvPr/>
        </p:nvSpPr>
        <p:spPr>
          <a:xfrm>
            <a:off x="12001500" y="3238500"/>
            <a:ext cx="5191125" cy="2476500"/>
          </a:xfrm>
          <a:prstGeom prst="roundRect">
            <a:avLst>
              <a:gd name="adj" fmla="val 4615"/>
            </a:avLst>
          </a:prstGeom>
          <a:solidFill>
            <a:srgbClr val="E7E0D4"/>
          </a:solidFill>
          <a:ln/>
        </p:spPr>
      </p:sp>
      <p:sp>
        <p:nvSpPr>
          <p:cNvPr id="14" name="Text 11"/>
          <p:cNvSpPr/>
          <p:nvPr/>
        </p:nvSpPr>
        <p:spPr>
          <a:xfrm>
            <a:off x="12268200" y="34766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Bài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12268200" y="4381500"/>
            <a:ext cx="46577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Chị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chuyến</a:t>
            </a:r>
            <a:r>
              <a:rPr lang="en-US" sz="2400" dirty="0" spc="3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 út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biểu.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“con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lãnh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đạo,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út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thuộc”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 chỉ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giàu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vé,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400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400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 phân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3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như</a:t>
            </a:r>
            <a:r>
              <a:rPr lang="en-US" sz="1650" dirty="0" spc="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mệnh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E3 · Do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20/38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bb694f0-7242-4bc4-bde0-9a0cff01673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1</a:t>
            </a:r>
            <a:endParaRPr lang="en-US" sz="1950" dirty="0"/>
          </a:p>
        </p:txBody>
      </p:sp>
      <p:pic>
        <p:nvPicPr>
          <p:cNvPr id="3" name="Moda flattened rect-1792822626132-10016340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Case</a:t>
            </a:r>
            <a:r>
              <a:rPr lang="en-US" sz="4500" b="1" dirty="0" spc="-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An: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giữ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dữ kiện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hẹp</a:t>
            </a:r>
            <a:r>
              <a:rPr lang="en-US" sz="4500" b="1" dirty="0" spc="-4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diễn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0" y="2857500"/>
            <a:ext cx="5619750" cy="3810000"/>
          </a:xfrm>
          <a:prstGeom prst="rect">
            <a:avLst/>
          </a:prstGeom>
          <a:solidFill>
            <a:srgbClr val="14695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81375"/>
            <a:ext cx="4095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Có</a:t>
            </a:r>
            <a:r>
              <a:rPr lang="en-US" sz="3375" b="1" dirty="0" spc="-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endParaRPr lang="en-US" sz="3375" dirty="0"/>
          </a:p>
        </p:txBody>
      </p:sp>
      <p:sp>
        <p:nvSpPr>
          <p:cNvPr id="7" name="Text 4"/>
          <p:cNvSpPr/>
          <p:nvPr/>
        </p:nvSpPr>
        <p:spPr>
          <a:xfrm>
            <a:off x="762000" y="4667250"/>
            <a:ext cx="409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 bị</a:t>
            </a:r>
            <a:r>
              <a:rPr lang="en-US" sz="262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625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62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625" dirty="0"/>
          </a:p>
        </p:txBody>
      </p:sp>
      <p:sp>
        <p:nvSpPr>
          <p:cNvPr id="8" name="Text 5"/>
          <p:cNvSpPr/>
          <p:nvPr/>
        </p:nvSpPr>
        <p:spPr>
          <a:xfrm>
            <a:off x="6858000" y="3095625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9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Chưa</a:t>
            </a:r>
            <a:r>
              <a:rPr lang="en-US" sz="2850" b="1" dirty="0" spc="-3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0572750" y="3095625"/>
            <a:ext cx="642937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55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lớp.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858000" y="5000625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Bối</a:t>
            </a:r>
            <a:r>
              <a:rPr lang="en-US" sz="2850" b="1" dirty="0" spc="0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10572750" y="5000625"/>
            <a:ext cx="642937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An,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nhà</a:t>
            </a:r>
            <a:r>
              <a:rPr lang="en-US" sz="240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nộp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lớp.</a:t>
            </a:r>
            <a:r>
              <a:rPr lang="en-US" sz="2400" dirty="0" spc="-4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“phải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dám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lên”.</a:t>
            </a:r>
            <a:r>
              <a:rPr lang="en-US" sz="2400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cười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nhầm.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thuyết;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40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là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 vụ, không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“lười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thứ”.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1650" dirty="0" spc="-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thật;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4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1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1650" dirty="0" spc="1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21/38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c75065e9-d963-4476-ad54-4cdbc8f5e10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2</a:t>
            </a:r>
            <a:endParaRPr lang="en-US" sz="1950" dirty="0"/>
          </a:p>
        </p:txBody>
      </p:sp>
      <p:pic>
        <p:nvPicPr>
          <p:cNvPr id="3" name="Moda flattened rect-1792822629036-59060007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Case</a:t>
            </a:r>
            <a:r>
              <a:rPr lang="en-US" sz="4500" b="1" dirty="0" spc="-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An: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giữ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ít</a:t>
            </a:r>
            <a:r>
              <a:rPr lang="en-US" sz="4500" b="1" dirty="0" spc="-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nhất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hai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cạnh</a:t>
            </a:r>
            <a:r>
              <a:rPr lang="en-US" sz="4500" b="1" dirty="0" spc="-1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tranh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5275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14325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7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Hướng</a:t>
            </a:r>
            <a:r>
              <a:rPr lang="en-US" sz="2700" b="1" dirty="0" spc="8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đích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715000" y="314325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5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Tránh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đứng?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143375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CDE1D7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333875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Kỹ</a:t>
            </a:r>
            <a:r>
              <a:rPr lang="en-US" sz="2700" b="1" dirty="0" spc="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năng/nhiệm</a:t>
            </a:r>
            <a:r>
              <a:rPr lang="en-US" sz="2700" b="1" dirty="0" spc="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vụ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715000" y="4333875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hồ?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33400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52450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Môi</a:t>
            </a:r>
            <a:r>
              <a:rPr lang="en-US" sz="2700" b="1" dirty="0" spc="-1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trường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715000" y="552450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475" dirty="0" spc="-2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toàn?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Adlerian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dirty="0" spc="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bị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kém.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nói,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trêu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“phải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toàn”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mọi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phối.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giả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-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650" dirty="0" spc="-1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9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F2–F4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61662cf-1104-4aed-8646-2ee42fc4a43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3</a:t>
            </a:r>
            <a:endParaRPr lang="en-US" sz="1950" dirty="0"/>
          </a:p>
        </p:txBody>
      </p:sp>
      <p:pic>
        <p:nvPicPr>
          <p:cNvPr id="3" name="Moda flattened rect-1792822631991-83886940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Case</a:t>
            </a:r>
            <a:r>
              <a:rPr lang="en-US" sz="4500" b="1" dirty="0" spc="-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An:</a:t>
            </a:r>
            <a:r>
              <a:rPr lang="en-US" sz="4500" b="1" dirty="0" spc="-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tìm</a:t>
            </a:r>
            <a:r>
              <a:rPr lang="en-US" sz="4500" b="1" dirty="0" spc="1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biệt</a:t>
            </a:r>
            <a:r>
              <a:rPr lang="en-US" sz="4500" b="1" dirty="0" spc="-4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-3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sửa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 hiểu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667125"/>
            <a:ext cx="4476750" cy="2190750"/>
          </a:xfrm>
          <a:prstGeom prst="roundRect">
            <a:avLst>
              <a:gd name="adj" fmla="val 5217"/>
            </a:avLst>
          </a:prstGeom>
          <a:solidFill>
            <a:srgbClr val="CDE1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905250"/>
            <a:ext cx="3943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Đồng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thuận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810125"/>
            <a:ext cx="3943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00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572500" y="2857500"/>
            <a:ext cx="8572500" cy="1714500"/>
          </a:xfrm>
          <a:prstGeom prst="roundRect">
            <a:avLst>
              <a:gd name="adj" fmla="val 6667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8839200" y="3095625"/>
            <a:ext cx="8039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8839200" y="4000500"/>
            <a:ext cx="8039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chí, quy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572500" y="4953000"/>
            <a:ext cx="8572500" cy="1714500"/>
          </a:xfrm>
          <a:prstGeom prst="roundRect">
            <a:avLst>
              <a:gd name="adj" fmla="val 6667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8839200" y="5191125"/>
            <a:ext cx="8039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Kết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8839200" y="6096000"/>
            <a:ext cx="8039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400" dirty="0"/>
          </a:p>
        </p:txBody>
      </p:sp>
      <p:sp>
        <p:nvSpPr>
          <p:cNvPr id="14" name="Connector line-1792822631999-45101757"/>
          <p:cNvSpPr/>
          <p:nvPr/>
        </p:nvSpPr>
        <p:spPr>
          <a:xfrm>
            <a:off x="5238750" y="4762500"/>
            <a:ext cx="17145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5" name="Connector line-1792822631999-653841147"/>
          <p:cNvSpPr/>
          <p:nvPr/>
        </p:nvSpPr>
        <p:spPr>
          <a:xfrm>
            <a:off x="6953250" y="3714750"/>
            <a:ext cx="0" cy="209550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6" name="Connector line-1792822631999-548149362"/>
          <p:cNvSpPr/>
          <p:nvPr/>
        </p:nvSpPr>
        <p:spPr>
          <a:xfrm>
            <a:off x="6953250" y="3714750"/>
            <a:ext cx="15240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822631999-988318423"/>
          <p:cNvSpPr/>
          <p:nvPr/>
        </p:nvSpPr>
        <p:spPr>
          <a:xfrm>
            <a:off x="6953250" y="5810250"/>
            <a:ext cx="15240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5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00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400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chí</a:t>
            </a:r>
            <a:r>
              <a:rPr lang="en-US" sz="2400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nhỏ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2400" dirty="0" spc="3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dứt</a:t>
            </a:r>
            <a:r>
              <a:rPr lang="en-US" sz="2400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trêu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00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 dục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thuận,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gia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an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400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trường.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tăng,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hiểu;</a:t>
            </a:r>
            <a:r>
              <a:rPr lang="en-US" sz="2400" dirty="0" spc="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400" dirty="0" spc="-3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muốn hợp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đấu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1650" dirty="0" spc="-19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1650" dirty="0" spc="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650" dirty="0" spc="-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chuyên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môn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F5–F6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Phân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bài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23/38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4c2712c-df22-406f-9c5d-db354429274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MODERN SCIENTIFIC PERSPECTIVE</a:t>
            </a:r>
            <a:endParaRPr lang="en-US" sz="1950" dirty="0"/>
          </a:p>
        </p:txBody>
      </p:sp>
      <p:pic>
        <p:nvPicPr>
          <p:cNvPr id="3" name="Moda flattened rect-1792822635062-28481160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Rohrer</a:t>
            </a:r>
            <a:r>
              <a:rPr lang="en-US" sz="4500" b="1" dirty="0" spc="-1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2015:</a:t>
            </a:r>
            <a:r>
              <a:rPr lang="en-US" sz="4500" b="1" dirty="0" spc="-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phép kiểm</a:t>
            </a:r>
            <a:r>
              <a:rPr lang="en-US" sz="4500" b="1" dirty="0" spc="-4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thứ tự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sinh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5275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14325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Dữ</a:t>
            </a:r>
            <a:r>
              <a:rPr lang="en-US" sz="2700" b="1" dirty="0" spc="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liệu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715000" y="314325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panel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Mỹ,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Anh,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143375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CDE1D7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333875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Thiết</a:t>
            </a:r>
            <a:r>
              <a:rPr lang="en-US" sz="2700" b="1" dirty="0" spc="-18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715000" y="4333875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5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33400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52450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Phạm</a:t>
            </a:r>
            <a:r>
              <a:rPr lang="en-US" sz="2700" b="1" dirty="0" spc="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715000" y="552450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Nét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75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panel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quốc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đình.</a:t>
            </a:r>
            <a:r>
              <a:rPr lang="en-US" sz="2400" dirty="0" spc="-5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nét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chịu,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tận tâm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 tượng;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 có</a:t>
            </a:r>
            <a:r>
              <a:rPr lang="en-US" sz="2400" dirty="0" spc="-3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400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phép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thể, không mọi quan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650" dirty="0" spc="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lục.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r>
              <a:rPr lang="en-US" sz="1650" dirty="0" spc="-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 và</a:t>
            </a:r>
            <a:r>
              <a:rPr lang="en-US" sz="1650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trang14224–14225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3072cb2-973c-41cf-846b-ec97353b7c4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BẰNG CHỨNG TRÁI CHIỀU</a:t>
            </a:r>
            <a:endParaRPr lang="en-US" sz="1950" dirty="0"/>
          </a:p>
        </p:txBody>
      </p:sp>
      <p:pic>
        <p:nvPicPr>
          <p:cNvPr id="3" name="Moda flattened rect-1792822638213-9560334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3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Ashton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&amp;</a:t>
            </a:r>
            <a:r>
              <a:rPr lang="en-US" sz="4500" b="1" dirty="0" spc="-1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Lee 2025: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thêm</a:t>
            </a:r>
            <a:r>
              <a:rPr lang="en-US" sz="4500" b="1" dirty="0" spc="-2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quả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đối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chiếu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5275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14325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Thông</a:t>
            </a:r>
            <a:r>
              <a:rPr lang="en-US" sz="2700" b="1" dirty="0" spc="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tin</a:t>
            </a:r>
            <a:r>
              <a:rPr lang="en-US" sz="2700" b="1" dirty="0" spc="-9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mới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715000" y="314325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HEXACO.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143375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CDE1D7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333875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270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tách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715000" y="4333875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33400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52450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Mức</a:t>
            </a:r>
            <a:r>
              <a:rPr lang="en-US" sz="2700" b="1" dirty="0" spc="9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</a:t>
            </a:r>
            <a:r>
              <a:rPr lang="en-US" sz="2700" b="1" dirty="0" spc="7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715000" y="552450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Metadata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excerpts.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Abstract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của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HEXACO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sinh,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chiều,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Honesty–Humility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Agreeableness.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vị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 hơn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em.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kiểm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 đoạn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abstract,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văn.</a:t>
            </a:r>
            <a:r>
              <a:rPr lang="en-US" sz="2400" dirty="0" spc="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vậy,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3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00" dirty="0" spc="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effect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size,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 toàn</a:t>
            </a:r>
            <a:r>
              <a:rPr lang="en-US" sz="1650" dirty="0" spc="-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650" dirty="0" spc="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kiểm; PMC</a:t>
            </a:r>
            <a:r>
              <a:rPr lang="en-US" sz="1650" dirty="0" spc="-2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CAPTCHA/PNAS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PNAS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122(1),e2416709121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online</a:t>
            </a: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23-12-2024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bcd8996-b104-4b0e-9c16-5626bfd7523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PHÉP ĐO VÀ MẪU</a:t>
            </a:r>
            <a:endParaRPr lang="en-US" sz="1950" dirty="0"/>
          </a:p>
        </p:txBody>
      </p:sp>
      <p:pic>
        <p:nvPicPr>
          <p:cNvPr id="3" name="Moda flattened rect-1792822657220-8857124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Vì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sao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2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khẩu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hiệu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hai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nghiên</a:t>
            </a:r>
            <a:r>
              <a:rPr lang="en-US" sz="4500" b="1" dirty="0" spc="-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cứu?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CDE1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Construct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Thang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91625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9458325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Sample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9458325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đương?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62000" y="5524500"/>
            <a:ext cx="16525875" cy="952500"/>
          </a:xfrm>
          <a:prstGeom prst="roundRect">
            <a:avLst>
              <a:gd name="adj" fmla="val 12000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743575"/>
            <a:ext cx="428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Design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5619750" y="5715000"/>
            <a:ext cx="1123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giống?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trung bình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thang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 khác nhau;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HEXACO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Agreeableness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 đương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Big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Five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Agreeableness.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cứu,</a:t>
            </a:r>
            <a:r>
              <a:rPr lang="en-US" sz="2400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thuẫn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S6/S9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kiểm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Individual</a:t>
            </a:r>
            <a:r>
              <a:rPr lang="en-US" sz="1650" dirty="0" spc="-9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[S6–S9]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e61ee45a-fafe-480d-8519-6b4d09830f9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LỊCH SỬ, LÝ THUYẾT, CAN THIỆP</a:t>
            </a:r>
            <a:endParaRPr lang="en-US" sz="1950" dirty="0"/>
          </a:p>
        </p:txBody>
      </p:sp>
      <p:pic>
        <p:nvPicPr>
          <p:cNvPr id="3" name="Moda flattened rect-1792822660391-84495724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cấp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bằng</a:t>
            </a:r>
            <a:r>
              <a:rPr lang="en-US" sz="4500" b="1" dirty="0" spc="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-4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giữ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riêng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5275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234E48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14325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Lịch</a:t>
            </a:r>
            <a:r>
              <a:rPr lang="en-US" sz="2700" b="1" dirty="0" spc="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715000" y="314325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7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nói/gia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nhập/viết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143375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234E48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333875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9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Lý</a:t>
            </a:r>
            <a:r>
              <a:rPr lang="en-US" sz="2700" b="1" dirty="0" spc="3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715000" y="4333875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475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75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-3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75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33400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234E48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52450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Can</a:t>
            </a:r>
            <a:r>
              <a:rPr lang="en-US" sz="2700" b="1" dirty="0" spc="4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thiệp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715000" y="552450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5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 cho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ai,</a:t>
            </a:r>
            <a:r>
              <a:rPr lang="en-US" sz="2475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75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Individual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Psychology.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 có</a:t>
            </a:r>
            <a:r>
              <a:rPr lang="en-US" sz="2400" dirty="0" spc="-3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ai,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r>
              <a:rPr lang="en-US" sz="2400" dirty="0" spc="-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A01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Adlerian</a:t>
            </a:r>
            <a:r>
              <a:rPr lang="en-US" sz="2400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psychotherapy;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-9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tuyên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quả</a:t>
            </a:r>
            <a:r>
              <a:rPr lang="en-US" sz="1650" dirty="0" spc="1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4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7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1650" dirty="0" spc="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hấp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650" dirty="0" spc="4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4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650" dirty="0" spc="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6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074e2db-1c67-4ec7-b70f-678b6e83929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🧭 H · PRACTICAL APPLICATIONS 1</a:t>
            </a:r>
            <a:endParaRPr lang="en-US" sz="1950" dirty="0"/>
          </a:p>
        </p:txBody>
      </p:sp>
      <p:pic>
        <p:nvPicPr>
          <p:cNvPr id="3" name="Moda flattened rect-1792822663346-5634279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8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Vận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dụng: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thêm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thay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cho</a:t>
            </a:r>
            <a:r>
              <a:rPr lang="en-US" sz="4500" b="1" dirty="0" spc="-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gắn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nhãn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05125"/>
            <a:ext cx="7620000" cy="2333625"/>
          </a:xfrm>
          <a:prstGeom prst="roundRect">
            <a:avLst>
              <a:gd name="adj" fmla="val 4898"/>
            </a:avLst>
          </a:prstGeom>
          <a:solidFill>
            <a:srgbClr val="CDE1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708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mở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048125"/>
            <a:ext cx="70866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67875" y="3381375"/>
            <a:ext cx="7620000" cy="2333625"/>
          </a:xfrm>
          <a:prstGeom prst="roundRect">
            <a:avLst>
              <a:gd name="adj" fmla="val 4898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9934575" y="3619500"/>
            <a:ext cx="7086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Phân</a:t>
            </a:r>
            <a:r>
              <a:rPr lang="en-US" sz="2850" b="1" dirty="0" spc="-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biệt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9934575" y="4524375"/>
            <a:ext cx="70866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Nhiệm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000500" y="6000750"/>
            <a:ext cx="1328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475" dirty="0" spc="7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75" dirty="0" spc="8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75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75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75" dirty="0" spc="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75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75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khác?</a:t>
            </a:r>
            <a:endParaRPr lang="en-US" sz="2475" dirty="0"/>
          </a:p>
        </p:txBody>
      </p:sp>
      <p:sp>
        <p:nvSpPr>
          <p:cNvPr id="12" name="Text 9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“bạn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thua”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“điều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đây?”.</a:t>
            </a:r>
            <a:r>
              <a:rPr lang="en-US" sz="2400" dirty="0" spc="-4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 khỏi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con</a:t>
            </a:r>
            <a:r>
              <a:rPr lang="en-US" sz="2400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có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giao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khích lệ hoặc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không</a:t>
            </a:r>
            <a:r>
              <a:rPr lang="en-US" sz="1650" dirty="0" spc="-1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650" dirty="0" spc="-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 ·</a:t>
            </a:r>
            <a:r>
              <a:rPr lang="en-US" sz="1650" dirty="0" spc="-1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dirty="0" spc="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28/38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670485d-33d2-49e2-a8c1-393e60e2d17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🧭 H · PRACTICAL APPLICATIONS 2</a:t>
            </a:r>
            <a:endParaRPr lang="en-US" sz="1950" dirty="0"/>
          </a:p>
        </p:txBody>
      </p:sp>
      <p:pic>
        <p:nvPicPr>
          <p:cNvPr id="3" name="Moda flattened rect-1792822666241-31598673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8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Vận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dụng:</a:t>
            </a:r>
            <a:r>
              <a:rPr lang="en-US" sz="4500" b="1" dirty="0" spc="-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tâm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lý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5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xóa</a:t>
            </a:r>
            <a:r>
              <a:rPr lang="en-US" sz="4500" b="1" dirty="0" spc="1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r>
              <a:rPr lang="en-US" sz="4500" b="1" dirty="0" spc="-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thật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5275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14325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</a:t>
            </a:r>
            <a:r>
              <a:rPr lang="en-US" sz="2700" b="1" dirty="0" spc="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715000" y="314325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6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3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143375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CDE1D7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4333875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7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2700" b="1" dirty="0" spc="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715000" y="4333875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475" dirty="0" spc="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 quanh.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334000"/>
            <a:ext cx="16525875" cy="1000125"/>
          </a:xfrm>
          <a:prstGeom prst="roundRect">
            <a:avLst>
              <a:gd name="adj" fmla="val 11429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524500"/>
            <a:ext cx="4095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2700" b="1" dirty="0" spc="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715000" y="5524500"/>
            <a:ext cx="1114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phân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bằng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niềm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 nhân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 nguồn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nguyện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 chủ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quan. Chọn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của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 mọi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nạn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 · Phân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1650" dirty="0" spc="-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dục/giao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1ea82e5-d442-4485-8e64-3a133141e30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🗺️ I · VISUAL EXPLANATION</a:t>
            </a:r>
            <a:endParaRPr lang="en-US" sz="1950" dirty="0"/>
          </a:p>
        </p:txBody>
      </p:sp>
      <p:pic>
        <p:nvPicPr>
          <p:cNvPr id="3" name="Moda flattened rect-1792822669151-29010219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Cùng</a:t>
            </a:r>
            <a:r>
              <a:rPr lang="en-US" sz="4500" b="1" dirty="0" spc="-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hành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vi,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nhiều câu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667125"/>
            <a:ext cx="4476750" cy="2190750"/>
          </a:xfrm>
          <a:prstGeom prst="roundRect">
            <a:avLst>
              <a:gd name="adj" fmla="val 5217"/>
            </a:avLst>
          </a:prstGeom>
          <a:solidFill>
            <a:srgbClr val="CDE1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905250"/>
            <a:ext cx="3943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Hành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810125"/>
            <a:ext cx="3943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572500" y="2857500"/>
            <a:ext cx="8572500" cy="1714500"/>
          </a:xfrm>
          <a:prstGeom prst="roundRect">
            <a:avLst>
              <a:gd name="adj" fmla="val 6667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8839200" y="3095625"/>
            <a:ext cx="8039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 câu hỏi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8839200" y="4000500"/>
            <a:ext cx="8039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 mục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tiêu, quan hệ.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572500" y="4953000"/>
            <a:ext cx="8572500" cy="1714500"/>
          </a:xfrm>
          <a:prstGeom prst="roundRect">
            <a:avLst>
              <a:gd name="adj" fmla="val 6667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8839200" y="5191125"/>
            <a:ext cx="8039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Nhánh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thay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thế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8839200" y="6096000"/>
            <a:ext cx="8039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8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400" dirty="0"/>
          </a:p>
        </p:txBody>
      </p:sp>
      <p:sp>
        <p:nvSpPr>
          <p:cNvPr id="14" name="Connector line-1792822669158-228145675"/>
          <p:cNvSpPr/>
          <p:nvPr/>
        </p:nvSpPr>
        <p:spPr>
          <a:xfrm>
            <a:off x="5238750" y="4762500"/>
            <a:ext cx="17145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5" name="Connector line-1792822669159-280993217"/>
          <p:cNvSpPr/>
          <p:nvPr/>
        </p:nvSpPr>
        <p:spPr>
          <a:xfrm>
            <a:off x="6953250" y="3714750"/>
            <a:ext cx="0" cy="209550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6" name="Connector line-1792822669159-828399856"/>
          <p:cNvSpPr/>
          <p:nvPr/>
        </p:nvSpPr>
        <p:spPr>
          <a:xfrm>
            <a:off x="6953250" y="3714750"/>
            <a:ext cx="15240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822669159-401652688"/>
          <p:cNvSpPr/>
          <p:nvPr/>
        </p:nvSpPr>
        <p:spPr>
          <a:xfrm>
            <a:off x="6953250" y="5810250"/>
            <a:ext cx="15240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5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Sơ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giữa: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00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nào; phía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 nhân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00" dirty="0" spc="-3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duy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chẩn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650" dirty="0" spc="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giảng</a:t>
            </a: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dạy,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1650" dirty="0" spc="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1650" dirty="0" spc="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I/D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giảng</a:t>
            </a:r>
            <a:r>
              <a:rPr lang="en-US" sz="1650" dirty="0" spc="-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dạy;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[S1–S4],[S8]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30/38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01e2566-444a-4a32-892c-3412662018b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💡 J · KEY TAKEAWAYS</a:t>
            </a:r>
            <a:endParaRPr lang="en-US" sz="1950" dirty="0"/>
          </a:p>
        </p:txBody>
      </p:sp>
      <p:pic>
        <p:nvPicPr>
          <p:cNvPr id="3" name="Moda flattened rect-1792822672824-70418053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Tám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 giữ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sau bài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234E48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Định</a:t>
            </a:r>
            <a:r>
              <a:rPr lang="en-US" sz="2850" b="1" dirty="0" spc="-3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vị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thể.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381750" y="3286125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234E48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524250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Hiểu</a:t>
            </a:r>
            <a:r>
              <a:rPr lang="en-US" sz="2850" b="1" dirty="0" spc="4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đúng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429125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+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đồng,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2001500" y="352425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234E48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76237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Đánh</a:t>
            </a:r>
            <a:r>
              <a:rPr lang="en-US" sz="2850" b="1" dirty="0" spc="-3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giá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66725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Phạm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 giới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</a:t>
            </a:r>
            <a:r>
              <a:rPr lang="en-US" sz="2400" dirty="0" spc="3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phái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 sử.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Individual nói</a:t>
            </a:r>
            <a:r>
              <a:rPr lang="en-US" sz="240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thể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cảnh;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cơ.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40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social</a:t>
            </a:r>
            <a:r>
              <a:rPr lang="en-US" sz="2400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interest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náo.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-3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-2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kế;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 cơ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có8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ý;</a:t>
            </a:r>
            <a:r>
              <a:rPr lang="en-US" sz="1650" dirty="0" spc="-1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slide nhóm3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1650" dirty="0" spc="16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650" dirty="0" spc="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650" dirty="0" spc="-16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5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874c262-eadd-4fa7-bd49-be7857d2f8a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1</a:t>
            </a:r>
            <a:endParaRPr lang="en-US" sz="1950" dirty="0"/>
          </a:p>
        </p:txBody>
      </p:sp>
      <p:pic>
        <p:nvPicPr>
          <p:cNvPr id="3" name="Moda flattened rect-1792822675804-264974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1.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Individual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 cần</a:t>
            </a:r>
            <a:r>
              <a:rPr lang="en-US" sz="4500" b="1" dirty="0" spc="-2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xã</a:t>
            </a:r>
            <a:r>
              <a:rPr lang="en-US" sz="4500" b="1" dirty="0" spc="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hội?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0" y="2857500"/>
            <a:ext cx="5619750" cy="3810000"/>
          </a:xfrm>
          <a:prstGeom prst="rect">
            <a:avLst/>
          </a:prstGeom>
          <a:solidFill>
            <a:srgbClr val="14695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381375"/>
            <a:ext cx="4095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75" b="1" dirty="0" spc="-5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Trả</a:t>
            </a:r>
            <a:r>
              <a:rPr lang="en-US" sz="3375" b="1" dirty="0" spc="-1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lời</a:t>
            </a:r>
            <a:endParaRPr lang="en-US" sz="3375" dirty="0"/>
          </a:p>
        </p:txBody>
      </p:sp>
      <p:sp>
        <p:nvSpPr>
          <p:cNvPr id="7" name="Text 4"/>
          <p:cNvSpPr/>
          <p:nvPr/>
        </p:nvSpPr>
        <p:spPr>
          <a:xfrm>
            <a:off x="762000" y="4667250"/>
            <a:ext cx="409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endParaRPr lang="en-US" sz="2625" dirty="0"/>
          </a:p>
        </p:txBody>
      </p:sp>
      <p:sp>
        <p:nvSpPr>
          <p:cNvPr id="8" name="Text 5"/>
          <p:cNvSpPr/>
          <p:nvPr/>
        </p:nvSpPr>
        <p:spPr>
          <a:xfrm>
            <a:off x="6858000" y="3095625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Lý</a:t>
            </a: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do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0572750" y="3095625"/>
            <a:ext cx="642937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Chỉnh</a:t>
            </a:r>
            <a:r>
              <a:rPr lang="en-US" sz="255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6858000" y="5000625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Lỗi</a:t>
            </a: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dễ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mắc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10572750" y="5000625"/>
            <a:ext cx="642937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</a:t>
            </a:r>
            <a:r>
              <a:rPr lang="en-US" sz="255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nhân=người</a:t>
            </a:r>
            <a:r>
              <a:rPr lang="en-US" sz="25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55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hiểu.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nghĩ,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r>
              <a:rPr lang="en-US" sz="2400" dirty="0" spc="-2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“cá nhân”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 nhân chủ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2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cộng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650" dirty="0" spc="-1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650" dirty="0" spc="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32/38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fbbac623-fd66-4605-8f49-f8891e0e32a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2</a:t>
            </a:r>
            <a:endParaRPr lang="en-US" sz="1950" dirty="0"/>
          </a:p>
        </p:txBody>
      </p:sp>
      <p:pic>
        <p:nvPicPr>
          <p:cNvPr id="3" name="Moda flattened rect-1792822678604-91373309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2.</a:t>
            </a:r>
            <a:r>
              <a:rPr lang="en-US" sz="4500" b="1" dirty="0" spc="-6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Tách</a:t>
            </a:r>
            <a:r>
              <a:rPr lang="en-US" sz="4500" b="1" dirty="0" spc="-1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Freud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năm</a:t>
            </a:r>
            <a:r>
              <a:rPr lang="en-US" sz="4500" b="1" dirty="0" spc="-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1911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bỏ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quá</a:t>
            </a:r>
            <a:r>
              <a:rPr lang="en-US" sz="4500" b="1" dirty="0" spc="3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khứ?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CDE1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Dữ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1911.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91625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9458325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Không suy</a:t>
            </a:r>
            <a:r>
              <a:rPr lang="en-US" sz="2850" b="1" dirty="0" spc="-3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9458325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khứ.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62000" y="5524500"/>
            <a:ext cx="16525875" cy="952500"/>
          </a:xfrm>
          <a:prstGeom prst="roundRect">
            <a:avLst>
              <a:gd name="adj" fmla="val 12000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743575"/>
            <a:ext cx="428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 kiểm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5619750" y="5715000"/>
            <a:ext cx="1123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lịch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mọi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niệm.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 nhận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đây.</a:t>
            </a:r>
            <a:r>
              <a:rPr lang="en-US" sz="2400" dirty="0" spc="-3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3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phẩm,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trộn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650" dirty="0" spc="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1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lý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K2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[S1–S2],[S5]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b1e75d2d-33e9-4405-ba3e-a8b454370ea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3</a:t>
            </a:r>
            <a:endParaRPr lang="en-US" sz="1950" dirty="0"/>
          </a:p>
        </p:txBody>
      </p:sp>
      <p:pic>
        <p:nvPicPr>
          <p:cNvPr id="3" name="Moda flattened rect-1792822681529-13834740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3.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Chăm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chỉ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minh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muốn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thống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trị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không?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biểu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hiện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38175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CDE1D7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Nhiều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khả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năng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giúp,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tiền,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200150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Kết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luận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 chắn.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 Cùng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 hỗ</a:t>
            </a:r>
            <a:r>
              <a:rPr lang="en-US" sz="2400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nhập,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chức.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-3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biệt.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vẻ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00" dirty="0" spc="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vì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câu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650" dirty="0" spc="-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K3/E2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044a26ae-673c-4fc0-8d18-ad8348fc451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4</a:t>
            </a:r>
            <a:endParaRPr lang="en-US" sz="1950" dirty="0"/>
          </a:p>
        </p:txBody>
      </p:sp>
      <p:pic>
        <p:nvPicPr>
          <p:cNvPr id="3" name="Moda flattened rect-1792822684993-3686540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4.</a:t>
            </a:r>
            <a:r>
              <a:rPr lang="en-US" sz="4500" b="1" dirty="0" spc="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-1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 giả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4500" b="1" dirty="0" spc="-4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r>
              <a:rPr lang="en-US" sz="4500" b="1" dirty="0" spc="-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An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yếu</a:t>
            </a:r>
            <a:r>
              <a:rPr lang="en-US" sz="4500" b="1" dirty="0" spc="2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đi?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667125"/>
            <a:ext cx="4476750" cy="2190750"/>
          </a:xfrm>
          <a:prstGeom prst="roundRect">
            <a:avLst>
              <a:gd name="adj" fmla="val 5217"/>
            </a:avLst>
          </a:prstGeom>
          <a:solidFill>
            <a:srgbClr val="CDE1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905250"/>
            <a:ext cx="3943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đổi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810125"/>
            <a:ext cx="39433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Rõ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572500" y="2857500"/>
            <a:ext cx="8572500" cy="1714500"/>
          </a:xfrm>
          <a:prstGeom prst="roundRect">
            <a:avLst>
              <a:gd name="adj" fmla="val 6667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8839200" y="3095625"/>
            <a:ext cx="8039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r>
              <a:rPr lang="en-US" sz="2850" b="1" dirty="0" spc="-1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mới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8839200" y="4000500"/>
            <a:ext cx="8039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 gia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572500" y="4953000"/>
            <a:ext cx="8572500" cy="1714500"/>
          </a:xfrm>
          <a:prstGeom prst="roundRect">
            <a:avLst>
              <a:gd name="adj" fmla="val 6667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8839200" y="5191125"/>
            <a:ext cx="8039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7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Sửa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hiểu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8839200" y="6096000"/>
            <a:ext cx="8039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đối.</a:t>
            </a:r>
            <a:endParaRPr lang="en-US" sz="2400" dirty="0"/>
          </a:p>
        </p:txBody>
      </p:sp>
      <p:sp>
        <p:nvSpPr>
          <p:cNvPr id="14" name="Connector line-1792822685001-706446429"/>
          <p:cNvSpPr/>
          <p:nvPr/>
        </p:nvSpPr>
        <p:spPr>
          <a:xfrm>
            <a:off x="5238750" y="4762500"/>
            <a:ext cx="17145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5" name="Connector line-1792822685001-802332943"/>
          <p:cNvSpPr/>
          <p:nvPr/>
        </p:nvSpPr>
        <p:spPr>
          <a:xfrm>
            <a:off x="6953250" y="3714750"/>
            <a:ext cx="0" cy="209550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none"/>
          </a:ln>
        </p:spPr>
      </p:sp>
      <p:sp>
        <p:nvSpPr>
          <p:cNvPr id="16" name="Connector line-1792822685001-15400824"/>
          <p:cNvSpPr/>
          <p:nvPr/>
        </p:nvSpPr>
        <p:spPr>
          <a:xfrm>
            <a:off x="6953250" y="3714750"/>
            <a:ext cx="15240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822685001-198718546"/>
          <p:cNvSpPr/>
          <p:nvPr/>
        </p:nvSpPr>
        <p:spPr>
          <a:xfrm>
            <a:off x="6953250" y="5810250"/>
            <a:ext cx="1524000" cy="0"/>
          </a:xfrm>
          <a:prstGeom prst="line">
            <a:avLst/>
          </a:prstGeom>
          <a:noFill/>
          <a:ln w="28575">
            <a:solidFill>
              <a:srgbClr val="9B714F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5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400" dirty="0" spc="-3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2400" dirty="0" spc="3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dứt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trêu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chọc,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400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“em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chống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viên”</a:t>
            </a:r>
            <a:r>
              <a:rPr lang="en-US" sz="2400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400" dirty="0" spc="2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đi,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có ích phải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</a:t>
            </a:r>
            <a:r>
              <a:rPr lang="en-US" sz="2400" dirty="0" spc="-3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bằng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chiều.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1650" dirty="0" spc="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-9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1650" dirty="0" spc="-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K4/F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650" dirty="0" spc="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35/38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3522aec-0e92-4b7a-9e2d-04ff8c69a96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5</a:t>
            </a:r>
            <a:endParaRPr lang="en-US" sz="1950" dirty="0"/>
          </a:p>
        </p:txBody>
      </p:sp>
      <p:pic>
        <p:nvPicPr>
          <p:cNvPr id="3" name="Moda flattened rect-1792822687782-35661503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5.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thấy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hiệu</a:t>
            </a:r>
            <a:r>
              <a:rPr lang="en-US" sz="4500" b="1" dirty="0" spc="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ứng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 gia</a:t>
            </a:r>
            <a:r>
              <a:rPr lang="en-US" sz="4500" b="1" dirty="0" spc="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đình</a:t>
            </a:r>
            <a:r>
              <a:rPr lang="en-US" sz="4500" b="1" dirty="0" spc="-4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vô</a:t>
            </a:r>
            <a:r>
              <a:rPr lang="en-US" sz="4500" b="1" dirty="0" spc="-1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nghĩa?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CDE1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Giữ</a:t>
            </a: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phạm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thang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91625" y="2905125"/>
            <a:ext cx="8096250" cy="2286000"/>
          </a:xfrm>
          <a:prstGeom prst="roundRect">
            <a:avLst>
              <a:gd name="adj" fmla="val 5000"/>
            </a:avLst>
          </a:prstGeom>
          <a:solidFill>
            <a:srgbClr val="E7E0D4"/>
          </a:solidFill>
          <a:ln/>
        </p:spPr>
      </p:sp>
      <p:sp>
        <p:nvSpPr>
          <p:cNvPr id="9" name="Text 6"/>
          <p:cNvSpPr/>
          <p:nvPr/>
        </p:nvSpPr>
        <p:spPr>
          <a:xfrm>
            <a:off x="9458325" y="3143250"/>
            <a:ext cx="7562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Giữ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cập</a:t>
            </a: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nhật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9458325" y="4048125"/>
            <a:ext cx="75628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62000" y="5524500"/>
            <a:ext cx="16525875" cy="952500"/>
          </a:xfrm>
          <a:prstGeom prst="roundRect">
            <a:avLst>
              <a:gd name="adj" fmla="val 12000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750" y="5743575"/>
            <a:ext cx="428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Giữ</a:t>
            </a:r>
            <a:r>
              <a:rPr lang="en-US" sz="2625" b="1" dirty="0" spc="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</a:t>
            </a:r>
            <a:r>
              <a:rPr lang="en-US" sz="2625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5619750" y="5715000"/>
            <a:ext cx="1123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sinh,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nét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2400" dirty="0" spc="-3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phải</a:t>
            </a:r>
            <a:r>
              <a:rPr lang="en-US" sz="240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kế.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HEXACO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 cần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construct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đình;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trung bình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00" dirty="0" spc="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400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theo vị</a:t>
            </a:r>
            <a:r>
              <a:rPr lang="en-US" sz="2400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S9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9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650" dirty="0" spc="-16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metadata/abstract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excerpts,</a:t>
            </a:r>
            <a:r>
              <a:rPr lang="en-US" sz="1650" dirty="0" spc="4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650" dirty="0" spc="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650" dirty="0" spc="-7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 văn.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K5/G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[S6],[S9]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57d30ee-32e4-404b-a419-393a939c576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1</a:t>
            </a:r>
            <a:endParaRPr lang="en-US" sz="1950" dirty="0"/>
          </a:p>
        </p:txBody>
      </p:sp>
      <p:pic>
        <p:nvPicPr>
          <p:cNvPr id="3" name="Moda flattened rect-1792822923888-37006471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lịch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</a:t>
            </a:r>
            <a:r>
              <a:rPr lang="en-US" sz="4500" b="1" dirty="0" spc="-4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-3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văn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bản:</a:t>
            </a:r>
            <a:r>
              <a:rPr lang="en-US" sz="4500" b="1" dirty="0" spc="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khoảng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E7E0D4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[S1–S2]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học;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38175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CDE1D7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[S3–S5]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Tuyển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Adler;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3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200150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E7E0D4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[S7–S8]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mục;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qua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Vienna.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Boeree,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tuyển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Stein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tử;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rõ.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400" dirty="0" spc="-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Lecture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II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1910.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Understanding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Human</a:t>
            </a:r>
            <a:r>
              <a:rPr lang="en-US" sz="2400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tên/năm,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research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 cung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 URL,</a:t>
            </a:r>
            <a:r>
              <a:rPr lang="en-US" sz="240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locator</a:t>
            </a:r>
            <a:r>
              <a:rPr lang="en-US" sz="2400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reviewer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lại.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650" dirty="0" spc="-1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References</a:t>
            </a:r>
            <a:r>
              <a:rPr lang="en-US" sz="1650" dirty="0" spc="-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-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650" dirty="0" spc="1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650" dirty="0" spc="-9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5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u="sng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Đọc</a:t>
            </a:r>
            <a:r>
              <a:rPr lang="en-US" sz="1650" u="sng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bài</a:t>
            </a:r>
            <a:r>
              <a:rPr lang="en-US" sz="1650" u="sng" dirty="0" spc="-1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A01,</a:t>
            </a:r>
            <a:r>
              <a:rPr lang="en-US" sz="1650" u="sng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nguồn [S1–S9]</a:t>
            </a:r>
            <a:r>
              <a:rPr lang="en-US" sz="1650" u="sng" dirty="0" spc="-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và</a:t>
            </a:r>
            <a:r>
              <a:rPr lang="en-US" sz="1650" u="sng" dirty="0" spc="-18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research</a:t>
            </a:r>
            <a:r>
              <a:rPr lang="en-US" sz="1650" u="sng" dirty="0" spc="-3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log</a:t>
            </a:r>
            <a:r>
              <a:rPr lang="en-US" sz="1650" u="sng" dirty="0" spc="-1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trên</a:t>
            </a:r>
            <a:r>
              <a:rPr lang="en-US" sz="1650" u="sng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GitHub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2" kern="0">
                <a:solidFill>
                  <a:srgbClr val="6668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55cc556a-1146-4889-a767-bb9ff832ab6d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1543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2 / BÀN GIAO</a:t>
            </a:r>
            <a:endParaRPr lang="en-US" sz="1950" dirty="0"/>
          </a:p>
        </p:txBody>
      </p:sp>
      <p:pic>
        <p:nvPicPr>
          <p:cNvPr id="3" name="Moda flattened rect-1792822930070-58892809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9575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43000"/>
            <a:ext cx="1676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00" b="1" dirty="0" spc="-2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thực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nghiệm,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ảnh</a:t>
            </a:r>
            <a:r>
              <a:rPr lang="en-US" sz="4500" b="1" dirty="0" spc="-4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phần việc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còn</a:t>
            </a:r>
            <a:r>
              <a:rPr lang="en-US" sz="45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lại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234E48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2850" b="1" dirty="0" spc="-6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khoa</a:t>
            </a:r>
            <a:r>
              <a:rPr lang="en-US" sz="2850" b="1" dirty="0" spc="-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[S6]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2015;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 2025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38175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234E48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Hình</a:t>
            </a:r>
            <a:r>
              <a:rPr lang="en-US" sz="2850" b="1" dirty="0" spc="-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minh</a:t>
            </a:r>
            <a:r>
              <a:rPr lang="en-US" sz="2850" b="1" dirty="0" spc="-5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họa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credit.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2001500" y="3048000"/>
            <a:ext cx="5191125" cy="2714625"/>
          </a:xfrm>
          <a:prstGeom prst="roundRect">
            <a:avLst>
              <a:gd name="adj" fmla="val 4211"/>
            </a:avLst>
          </a:prstGeom>
          <a:solidFill>
            <a:srgbClr val="234E48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286125"/>
            <a:ext cx="46577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Bài</a:t>
            </a:r>
            <a:r>
              <a:rPr lang="en-US" sz="2850" b="1" dirty="0" spc="-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tiếp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191000"/>
            <a:ext cx="4657725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A02: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thể</a:t>
            </a:r>
            <a:r>
              <a:rPr lang="en-US" sz="240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Individual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Psychology.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7250" y="7000875"/>
            <a:ext cx="163830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S6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đầu;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S9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 và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 đoạn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abstract.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systematic</a:t>
            </a:r>
            <a:r>
              <a:rPr lang="en-US" sz="2400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review.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 liệu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credit;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minh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 Khi</a:t>
            </a:r>
            <a:r>
              <a:rPr lang="en-US" sz="240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A02,</a:t>
            </a:r>
            <a:r>
              <a:rPr lang="en-US" sz="240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câu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40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-3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00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đâu,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khác?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09625" y="9096375"/>
            <a:ext cx="16478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học</a:t>
            </a:r>
            <a:r>
              <a:rPr lang="en-US" sz="1650" dirty="0" spc="-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 phản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biện;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-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-6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1650" dirty="0" spc="7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650" dirty="0" spc="4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62000" y="9620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u="sng" dirty="0" spc="-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Đọc</a:t>
            </a:r>
            <a:r>
              <a:rPr lang="en-US" sz="1650" u="sng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bài</a:t>
            </a:r>
            <a:r>
              <a:rPr lang="en-US" sz="1650" u="sng" dirty="0" spc="-1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A01,</a:t>
            </a:r>
            <a:r>
              <a:rPr lang="en-US" sz="1650" u="sng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nguồn [S1–S9]</a:t>
            </a:r>
            <a:r>
              <a:rPr lang="en-US" sz="1650" u="sng" dirty="0" spc="-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và</a:t>
            </a:r>
            <a:r>
              <a:rPr lang="en-US" sz="1650" u="sng" dirty="0" spc="-18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research</a:t>
            </a:r>
            <a:r>
              <a:rPr lang="en-US" sz="1650" u="sng" dirty="0" spc="-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log</a:t>
            </a:r>
            <a:r>
              <a:rPr lang="en-US" sz="1650" u="sng" dirty="0" spc="-1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trên</a:t>
            </a:r>
            <a:r>
              <a:rPr lang="en-US" sz="1650" u="sng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GitHub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19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1650" dirty="0" spc="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2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Editorial</a:t>
            </a:r>
            <a:r>
              <a:rPr lang="en-US" sz="1650" dirty="0" spc="-10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650" dirty="0" spc="1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3" kern="0">
                <a:solidFill>
                  <a:srgbClr val="C3D3C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38/38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978f0b4-42ae-44f8-b01d-a7a521217144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2026-10-24T06:23:03Z</dcterms:created>
  <dcterms:modified xsi:type="dcterms:W3CDTF">2026-10-24T06:23:03Z</dcterms:modified>
</cp:coreProperties>
</file>